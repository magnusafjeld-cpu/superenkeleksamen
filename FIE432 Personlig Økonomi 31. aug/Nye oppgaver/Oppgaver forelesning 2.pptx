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6301"/>
  </p:normalViewPr>
  <p:slideViewPr>
    <p:cSldViewPr snapToGrid="0">
      <p:cViewPr varScale="1">
        <p:scale>
          <a:sx n="127" d="100"/>
          <a:sy n="127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ttorm Schjelderup" userId="e0ac67c0-b505-4405-ab95-266cbfcd4586" providerId="ADAL" clId="{495AF721-4E66-5624-A6F1-D11890231467}"/>
    <pc:docChg chg="modSld">
      <pc:chgData name="Guttorm Schjelderup" userId="e0ac67c0-b505-4405-ab95-266cbfcd4586" providerId="ADAL" clId="{495AF721-4E66-5624-A6F1-D11890231467}" dt="2026-06-30T12:17:24.159" v="4" actId="20577"/>
      <pc:docMkLst>
        <pc:docMk/>
      </pc:docMkLst>
      <pc:sldChg chg="modSp mod">
        <pc:chgData name="Guttorm Schjelderup" userId="e0ac67c0-b505-4405-ab95-266cbfcd4586" providerId="ADAL" clId="{495AF721-4E66-5624-A6F1-D11890231467}" dt="2026-06-30T12:17:24.159" v="4" actId="20577"/>
        <pc:sldMkLst>
          <pc:docMk/>
          <pc:sldMk cId="3419096964" sldId="262"/>
        </pc:sldMkLst>
        <pc:spChg chg="mod">
          <ac:chgData name="Guttorm Schjelderup" userId="e0ac67c0-b505-4405-ab95-266cbfcd4586" providerId="ADAL" clId="{495AF721-4E66-5624-A6F1-D11890231467}" dt="2026-06-30T12:17:24.159" v="4" actId="20577"/>
          <ac:spMkLst>
            <pc:docMk/>
            <pc:sldMk cId="3419096964" sldId="262"/>
            <ac:spMk id="3" creationId="{A7C84648-44DF-4738-AECC-29A14D715A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671E-3B82-4322-A57E-7626A1EA3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CC79F-C028-4545-BC6C-CC498600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D2B1-D4E5-4451-851D-D4608AB3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DA15B-1041-4EAC-8845-C03FF08A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0F8F5-DD67-4C3B-8181-9B013C1D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6500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DD5-B470-44B6-A1B2-5CB399AF8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B6CE4-AD4F-4AD3-9535-B70FEAAD3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B1341-A977-4B5C-8532-39672A9F1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C379-8DEB-4012-93A3-E7DD6EFF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46518-FA95-44E9-BE4F-058AF89C3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460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E70D-E906-4CE5-8A77-A08ADD593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FF3A7-2255-4D29-8897-5CECD2E6A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3FA9C-BCEE-4E20-A5A5-9BEC19A5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5063D-DDB0-45C3-8729-385EA606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12B75-CC29-483C-A302-9186229F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447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874E-EE87-47A7-B9D0-F50078CF6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D0691-06DF-4BAB-A4E4-ADB275508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7A815-A96C-4C44-A151-3D5DA297C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C5B08-DAD4-4070-A255-C4AA4942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9D9D7-5DE1-4103-8856-AC6C09BD9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A7485-1652-4230-BCA3-54BFD17C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91265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0E7E-38AB-46EC-A92F-5E80658E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8EFE-EC3B-4C4C-9160-5E279B3FC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3DAE5-A209-401A-90C1-D47D5B632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0DDC7-F6FE-4571-AE3B-EDB752D75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B4CF20-9C99-4B2E-BDF7-7D2C25CB9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37514A-6E65-45E0-AF49-71B283648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15DB23-E234-4100-9E55-5BB1ECF0C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8C8AF-49BE-4630-BB1E-F1E8D2EC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9157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41ED-78D4-43B7-8D58-3E678D81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F4186-E395-462C-A77E-F40FF6B88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AF748-01C2-476C-AB2D-C4DD90D4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03987-1237-47EA-B9B5-68B91CC9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62563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C97BC4-C03F-4FA3-A21B-A1A5EE12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F5B5B-55B0-433A-93BF-591538971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6CC7F-93BF-4A54-BD84-ABF655C2D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798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34A26-0475-4433-9DE2-0F4EC609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12CC6-E7BF-43AF-81C6-363BEFF9F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615A0-9703-4B05-A9C1-4BBABCB78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4E80-9635-4620-B87C-FB090F60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2617A-1C39-49BE-A2B4-BE6820B81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5AD2B-1EDD-47A9-A0B2-D1D6D8F3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8845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69DA-53CA-4289-9673-70AA6A7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046F16-EB86-4B97-B8FB-C153CB973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B5E7E-3820-4048-84B2-45BF1BB4E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9EB1D-EF40-454B-B3D0-9B3F27347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DBA7-73F0-49AF-A00B-73BBA4503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D87FF-6FE7-46B4-BF69-E71F3C67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55250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B7191-40A1-472C-9D29-6C22938F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D42712-044D-4D28-91B9-331BF98EC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FC2CA-F09B-4DAC-8DF7-C8D45DDD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8D70A-0AD3-493F-A980-B2E87529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5E03B-860B-4207-A28F-77D0CE52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133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CB60BA-8B67-4139-88AD-BD4BCBA146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9D510-3D06-4E41-9639-FFA498A80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CD0F5-3522-49E3-8594-C1735003E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2FB18-31DB-45CC-8849-E57447D80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048E9-B375-4AF0-967E-9EF673BF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116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53BAB-6FC7-4B4C-8E41-D9BAB62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D709F-1497-4752-9BCF-DF6B4A7CA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7082-1C58-4005-9D70-08775C0BC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D90C5-A766-4BA7-B09F-23BC2A4ADEEF}" type="datetimeFigureOut">
              <a:rPr lang="nb-NO" smtClean="0"/>
              <a:t>30.06.2026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4A46-3739-4112-8BE6-65EB0C049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3326E-B3BA-4BD1-948A-78D9374DA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38515-E3F1-4A8F-84A0-65875C6B433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78476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2C96-256E-4AAD-9E29-614A46DDA2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Oppgaver </a:t>
            </a:r>
            <a:r>
              <a:rPr lang="nb-NO"/>
              <a:t>til forelesning </a:t>
            </a:r>
            <a:r>
              <a:rPr lang="nb-NO" dirty="0"/>
              <a:t>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98FCB8-6C75-483A-8F00-034C4CCB5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4403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E0FF-A7AE-4E2D-89F6-6CFF548CE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Oppgave 1: Om aksjen Norske Furutrær er det gitt følgende informasjon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1AD28-04A0-4A59-87F8-057DA0C5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Vi kjøper aksjen 1.12022 og selger 01.01.2023</a:t>
            </a:r>
          </a:p>
          <a:p>
            <a:r>
              <a:rPr lang="nb-NO" dirty="0"/>
              <a:t>Kurs 01.01.2022 kr 100</a:t>
            </a:r>
          </a:p>
          <a:p>
            <a:r>
              <a:rPr lang="nb-NO" dirty="0"/>
              <a:t>Kur 01.01 2023 kr 110</a:t>
            </a:r>
          </a:p>
          <a:p>
            <a:r>
              <a:rPr lang="nb-NO" dirty="0"/>
              <a:t>Utbytte kr 5</a:t>
            </a:r>
          </a:p>
        </p:txBody>
      </p:sp>
    </p:spTree>
    <p:extLst>
      <p:ext uri="{BB962C8B-B14F-4D97-AF65-F5344CB8AC3E}">
        <p14:creationId xmlns:p14="http://schemas.microsoft.com/office/powerpoint/2010/main" val="78992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FBC2-3C05-4D0F-A2E1-0C8F51E8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Spørsmål oppgave 1 (om Norske Furutrær)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082FB-D34E-406F-A289-778A5FC890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dirty="0"/>
                  <a:t>Hva er realavkastningen på aksjen Norske Furutrær? Anta at inflasjonen,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b="0" i="1" smtClean="0">
                        <a:latin typeface="Cambria Math" panose="02040503050406030204" pitchFamily="18" charset="0"/>
                      </a:rPr>
                      <m:t>=9%</m:t>
                    </m:r>
                  </m:oMath>
                </a14:m>
                <a:endParaRPr lang="nb-NO" b="0" dirty="0"/>
              </a:p>
              <a:p>
                <a:endParaRPr lang="nb-NO" dirty="0"/>
              </a:p>
              <a:p>
                <a:r>
                  <a:rPr lang="nb-NO" dirty="0"/>
                  <a:t>Hva er superprofitt/avkastningen? Anta at 3 måneders statskasseveksler er 2%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1082FB-D34E-406F-A289-778A5FC890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167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FE2B-0358-4909-BA58-142E3FCEA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nb-NO" sz="3200" dirty="0"/>
              <a:t>Oppgave 2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84648-44DF-4738-AECC-29A14D715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r>
              <a:rPr lang="nb-NO" dirty="0"/>
              <a:t>Milla har investert i en utleiebolig og kjøpte sekundærboligen for utleie for kr 4 mill. ved begynnelsen av år 1 og selger den for 3,9 mill. ved slutten av året fordi hun frykter ytterligere prisfall. Hun har hatt leieinntekter etter skatt i året </a:t>
            </a:r>
            <a:r>
              <a:rPr lang="nb-NO"/>
              <a:t>hun eide </a:t>
            </a:r>
            <a:r>
              <a:rPr lang="nb-NO" dirty="0"/>
              <a:t>boligen på kr 200 000. Anta at inflasjonen er 6%</a:t>
            </a:r>
          </a:p>
          <a:p>
            <a:endParaRPr lang="nb-NO" dirty="0"/>
          </a:p>
          <a:p>
            <a:r>
              <a:rPr lang="nb-NO" dirty="0"/>
              <a:t>Finn nominell avkastning og realavkastning på boliginvesteringen.</a:t>
            </a:r>
          </a:p>
        </p:txBody>
      </p:sp>
    </p:spTree>
    <p:extLst>
      <p:ext uri="{BB962C8B-B14F-4D97-AF65-F5344CB8AC3E}">
        <p14:creationId xmlns:p14="http://schemas.microsoft.com/office/powerpoint/2010/main" val="3419096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53022-B529-4FA0-8807-E0D37F95D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Fasit oppgaver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9E27B-C709-451C-A4A8-1A7A5A7D4D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31932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4B14B-7ADD-46FB-A142-CAE1ADD87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22757" cy="1325563"/>
          </a:xfrm>
        </p:spPr>
        <p:txBody>
          <a:bodyPr>
            <a:normAutofit/>
          </a:bodyPr>
          <a:lstStyle/>
          <a:p>
            <a:r>
              <a:rPr lang="nb-NO" sz="2800" dirty="0"/>
              <a:t>Fasit oppgave 1</a:t>
            </a:r>
            <a:br>
              <a:rPr lang="nb-NO" sz="2800" dirty="0"/>
            </a:br>
            <a:r>
              <a:rPr lang="nb-NO" sz="2800" dirty="0"/>
              <a:t>Nominell avkastning, realavkastning og superprofitt på Norske Furutrær 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A9FCD-F9E9-4B5B-A5C6-D0F47FAD2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5878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𝑁𝑜𝑚𝑖𝑛𝑒𝑙𝑙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𝑎𝑣𝑘𝑎𝑠𝑡𝑛𝑖𝑛𝑔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110−100</m:t>
                        </m:r>
                      </m:num>
                      <m:den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=15%</m:t>
                    </m:r>
                  </m:oMath>
                </a14:m>
                <a:endParaRPr lang="nb-NO" sz="2400" b="0" dirty="0"/>
              </a:p>
              <a:p>
                <a:endParaRPr lang="nb-NO" sz="2400" dirty="0"/>
              </a:p>
              <a:p>
                <a14:m>
                  <m:oMath xmlns:m="http://schemas.openxmlformats.org/officeDocument/2006/math"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𝑅𝑒𝑎𝑙𝑎𝑣𝑘𝑎𝑠𝑡𝑛𝑖𝑛𝑔</m:t>
                    </m:r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nb-NO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=15%−9%=6%</m:t>
                    </m:r>
                  </m:oMath>
                </a14:m>
                <a:endParaRPr lang="nb-NO" sz="2400" dirty="0"/>
              </a:p>
              <a:p>
                <a:endParaRPr lang="nb-NO" sz="2400" dirty="0"/>
              </a:p>
              <a:p>
                <a14:m>
                  <m:oMath xmlns:m="http://schemas.openxmlformats.org/officeDocument/2006/math">
                    <m:r>
                      <a:rPr lang="nb-NO" sz="2400" i="1" dirty="0" smtClean="0">
                        <a:latin typeface="Cambria Math" panose="02040503050406030204" pitchFamily="18" charset="0"/>
                      </a:rPr>
                      <m:t>𝑆𝑢𝑝𝑒𝑟𝑝𝑟𝑜𝑓𝑖𝑡</m:t>
                    </m:r>
                    <m:r>
                      <a:rPr lang="nb-NO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nb-NO" sz="2400" b="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𝐸𝑅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  <m:r>
                      <a:rPr lang="nb-NO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𝑎𝑠𝑠𝑒𝑡</m:t>
                        </m:r>
                      </m:sub>
                    </m:sSub>
                    <m:r>
                      <m:rPr>
                        <m:nor/>
                      </m:rPr>
                      <a:rPr lang="nb-NO" sz="2400" dirty="0"/>
                      <m:t>− 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,3 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𝑚𝑛𝑑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𝑠𝑡𝑎𝑡𝑠𝑘𝑎𝑠𝑠𝑒𝑣𝑒𝑘𝑠𝑙𝑒𝑟</m:t>
                        </m:r>
                        <m:r>
                          <a:rPr lang="nb-NO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=6%−2%=4%</m:t>
                    </m:r>
                  </m:oMath>
                </a14:m>
                <a:endParaRPr lang="nb-NO" sz="2400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57A9FCD-F9E9-4B5B-A5C6-D0F47FAD2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5878" cy="4351338"/>
              </a:xfrm>
              <a:blipFill>
                <a:blip r:embed="rId2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8425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012B-7F21-43AB-AC63-A7AB51E1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Fasit oppgave 2 Millas </a:t>
            </a:r>
            <a:r>
              <a:rPr lang="nb-NO" sz="3600" dirty="0" err="1"/>
              <a:t>eiendomsskjøp</a:t>
            </a:r>
            <a:endParaRPr lang="nb-NO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C846D-916C-4E07-B637-9C176BC7EF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b-NO" sz="24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𝑁𝑜𝑚𝑖𝑛𝑒𝑙𝑙</m:t>
                        </m:r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𝑎𝑣𝑘𝑎𝑠𝑡𝑛𝑖𝑛𝑔</m:t>
                        </m:r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nb-NO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nb-NO" sz="24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𝑈𝑡𝑏𝑦𝑡𝑡𝑒</m:t>
                        </m:r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nb-NO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𝑔𝑒𝑣𝑖𝑛𝑠𝑡</m:t>
                        </m:r>
                      </m:num>
                      <m:den>
                        <m:sSub>
                          <m:sSubPr>
                            <m:ctrlP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b-NO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  <m:r>
                      <a:rPr lang="nb-NO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3,9−4+0,2</m:t>
                        </m:r>
                      </m:num>
                      <m:den>
                        <m:r>
                          <a:rPr lang="nb-NO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nb-NO" sz="24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=2,5%</m:t>
                    </m:r>
                  </m:oMath>
                </a14:m>
                <a:endParaRPr lang="nb-NO" sz="2400" b="0" dirty="0">
                  <a:solidFill>
                    <a:prstClr val="black"/>
                  </a:solidFill>
                </a:endParaRPr>
              </a:p>
              <a:p>
                <a:endParaRPr kumimoji="0" lang="nb-NO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r>
                      <a:rPr kumimoji="0" lang="nb-NO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𝑅𝑒𝑎𝑙𝑎𝑣𝑘𝑎𝑠𝑡𝑛𝑖𝑛𝑔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nb-NO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b-NO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b-NO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nb-NO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b-NO" sz="2400" b="0" i="0" smtClean="0">
                        <a:latin typeface="Cambria Math" panose="02040503050406030204" pitchFamily="18" charset="0"/>
                      </a:rPr>
                      <m:t>=2,5%−6%=−3,5%</m:t>
                    </m:r>
                  </m:oMath>
                </a14:m>
                <a:endParaRPr lang="nb-NO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7C846D-916C-4E07-B637-9C176BC7EF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21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230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Oppgaver til forelesning 2</vt:lpstr>
      <vt:lpstr>Oppgave 1: Om aksjen Norske Furutrær er det gitt følgende informasjon</vt:lpstr>
      <vt:lpstr>Spørsmål oppgave 1 (om Norske Furutrær)</vt:lpstr>
      <vt:lpstr>Oppgave 2</vt:lpstr>
      <vt:lpstr>Fasit oppgaver</vt:lpstr>
      <vt:lpstr>Fasit oppgave 1 Nominell avkastning, realavkastning og superprofitt på Norske Furutrær AS</vt:lpstr>
      <vt:lpstr>Fasit oppgave 2 Millas eiendomsskjøp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Oppgaver til modul 1</dc:title>
  <dc:creator>Guttorm Schjelderup</dc:creator>
  <cp:lastModifiedBy>Tiki</cp:lastModifiedBy>
  <cp:revision>2</cp:revision>
  <dcterms:created xsi:type="dcterms:W3CDTF">2023-04-27T13:58:11Z</dcterms:created>
  <dcterms:modified xsi:type="dcterms:W3CDTF">2026-06-30T12:17:32Z</dcterms:modified>
</cp:coreProperties>
</file>