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ink/inkAction1.xml" ContentType="application/vnd.ms-office.inkAction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3" r:id="rId5"/>
  </p:sldMasterIdLst>
  <p:notesMasterIdLst>
    <p:notesMasterId r:id="rId89"/>
  </p:notesMasterIdLst>
  <p:handoutMasterIdLst>
    <p:handoutMasterId r:id="rId90"/>
  </p:handoutMasterIdLst>
  <p:sldIdLst>
    <p:sldId id="256" r:id="rId6"/>
    <p:sldId id="622" r:id="rId7"/>
    <p:sldId id="440" r:id="rId8"/>
    <p:sldId id="667" r:id="rId9"/>
    <p:sldId id="441" r:id="rId10"/>
    <p:sldId id="616" r:id="rId11"/>
    <p:sldId id="443" r:id="rId12"/>
    <p:sldId id="668" r:id="rId13"/>
    <p:sldId id="678" r:id="rId14"/>
    <p:sldId id="674" r:id="rId15"/>
    <p:sldId id="640" r:id="rId16"/>
    <p:sldId id="658" r:id="rId17"/>
    <p:sldId id="659" r:id="rId18"/>
    <p:sldId id="669" r:id="rId19"/>
    <p:sldId id="347" r:id="rId20"/>
    <p:sldId id="346" r:id="rId21"/>
    <p:sldId id="470" r:id="rId22"/>
    <p:sldId id="350" r:id="rId23"/>
    <p:sldId id="376" r:id="rId24"/>
    <p:sldId id="672" r:id="rId25"/>
    <p:sldId id="673" r:id="rId26"/>
    <p:sldId id="577" r:id="rId27"/>
    <p:sldId id="624" r:id="rId28"/>
    <p:sldId id="625" r:id="rId29"/>
    <p:sldId id="411" r:id="rId30"/>
    <p:sldId id="446" r:id="rId31"/>
    <p:sldId id="364" r:id="rId32"/>
    <p:sldId id="361" r:id="rId33"/>
    <p:sldId id="472" r:id="rId34"/>
    <p:sldId id="415" r:id="rId35"/>
    <p:sldId id="405" r:id="rId36"/>
    <p:sldId id="355" r:id="rId37"/>
    <p:sldId id="448" r:id="rId38"/>
    <p:sldId id="343" r:id="rId39"/>
    <p:sldId id="388" r:id="rId40"/>
    <p:sldId id="363" r:id="rId41"/>
    <p:sldId id="679" r:id="rId42"/>
    <p:sldId id="257" r:id="rId43"/>
    <p:sldId id="680" r:id="rId44"/>
    <p:sldId id="696" r:id="rId45"/>
    <p:sldId id="688" r:id="rId46"/>
    <p:sldId id="395" r:id="rId47"/>
    <p:sldId id="689" r:id="rId48"/>
    <p:sldId id="646" r:id="rId49"/>
    <p:sldId id="445" r:id="rId50"/>
    <p:sldId id="431" r:id="rId51"/>
    <p:sldId id="480" r:id="rId52"/>
    <p:sldId id="690" r:id="rId53"/>
    <p:sldId id="434" r:id="rId54"/>
    <p:sldId id="436" r:id="rId55"/>
    <p:sldId id="647" r:id="rId56"/>
    <p:sldId id="648" r:id="rId57"/>
    <p:sldId id="634" r:id="rId58"/>
    <p:sldId id="686" r:id="rId59"/>
    <p:sldId id="683" r:id="rId60"/>
    <p:sldId id="692" r:id="rId61"/>
    <p:sldId id="693" r:id="rId62"/>
    <p:sldId id="694" r:id="rId63"/>
    <p:sldId id="695" r:id="rId64"/>
    <p:sldId id="259" r:id="rId65"/>
    <p:sldId id="631" r:id="rId66"/>
    <p:sldId id="607" r:id="rId67"/>
    <p:sldId id="608" r:id="rId68"/>
    <p:sldId id="629" r:id="rId69"/>
    <p:sldId id="627" r:id="rId70"/>
    <p:sldId id="641" r:id="rId71"/>
    <p:sldId id="652" r:id="rId72"/>
    <p:sldId id="664" r:id="rId73"/>
    <p:sldId id="474" r:id="rId74"/>
    <p:sldId id="637" r:id="rId75"/>
    <p:sldId id="410" r:id="rId76"/>
    <p:sldId id="619" r:id="rId77"/>
    <p:sldId id="618" r:id="rId78"/>
    <p:sldId id="649" r:id="rId79"/>
    <p:sldId id="650" r:id="rId80"/>
    <p:sldId id="651" r:id="rId81"/>
    <p:sldId id="439" r:id="rId82"/>
    <p:sldId id="428" r:id="rId83"/>
    <p:sldId id="429" r:id="rId84"/>
    <p:sldId id="430" r:id="rId85"/>
    <p:sldId id="390" r:id="rId86"/>
    <p:sldId id="391" r:id="rId87"/>
    <p:sldId id="398" r:id="rId88"/>
  </p:sldIdLst>
  <p:sldSz cx="12192000" cy="6858000"/>
  <p:notesSz cx="6669088" cy="97536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2B80B-DC9A-43DC-B956-25D5A8C84A8B}" v="25" dt="2026-08-28T07:36:29.733"/>
    <p1510:client id="{531CF0E0-E022-C241-B895-A5AB67299AD6}" v="2576" dt="2026-08-27T13:56:25.4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52" autoAdjust="0"/>
    <p:restoredTop sz="96084"/>
  </p:normalViewPr>
  <p:slideViewPr>
    <p:cSldViewPr snapToGrid="0">
      <p:cViewPr varScale="1">
        <p:scale>
          <a:sx n="68" d="100"/>
          <a:sy n="68" d="100"/>
        </p:scale>
        <p:origin x="106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handoutMaster" Target="handoutMasters/handoutMaster1.xml"/><Relationship Id="rId95" Type="http://schemas.microsoft.com/office/2016/11/relationships/changesInfo" Target="changesInfos/changesInfo1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torm Schjelderup" userId="e0ac67c0-b505-4405-ab95-266cbfcd4586" providerId="ADAL" clId="{495AF721-4E66-5624-A6F1-D11890231467}"/>
    <pc:docChg chg="undo redo custSel addSld delSld modSld sldOrd delMainMaster">
      <pc:chgData name="Guttorm Schjelderup" userId="e0ac67c0-b505-4405-ab95-266cbfcd4586" providerId="ADAL" clId="{495AF721-4E66-5624-A6F1-D11890231467}" dt="2026-08-27T13:56:25.400" v="11279"/>
      <pc:docMkLst>
        <pc:docMk/>
      </pc:docMkLst>
      <pc:sldChg chg="modSp add del mod modAnim">
        <pc:chgData name="Guttorm Schjelderup" userId="e0ac67c0-b505-4405-ab95-266cbfcd4586" providerId="ADAL" clId="{495AF721-4E66-5624-A6F1-D11890231467}" dt="2026-08-27T13:12:53.857" v="9999" actId="20577"/>
        <pc:sldMkLst>
          <pc:docMk/>
          <pc:sldMk cId="352643143" sldId="257"/>
        </pc:sldMkLst>
        <pc:spChg chg="mod">
          <ac:chgData name="Guttorm Schjelderup" userId="e0ac67c0-b505-4405-ab95-266cbfcd4586" providerId="ADAL" clId="{495AF721-4E66-5624-A6F1-D11890231467}" dt="2026-08-15T13:18:15.163" v="766" actId="20577"/>
          <ac:spMkLst>
            <pc:docMk/>
            <pc:sldMk cId="352643143" sldId="257"/>
            <ac:spMk id="2" creationId="{1F74C4C5-9C7A-170C-5682-893CF8460FB2}"/>
          </ac:spMkLst>
        </pc:spChg>
        <pc:spChg chg="mod">
          <ac:chgData name="Guttorm Schjelderup" userId="e0ac67c0-b505-4405-ab95-266cbfcd4586" providerId="ADAL" clId="{495AF721-4E66-5624-A6F1-D11890231467}" dt="2026-08-27T13:12:53.857" v="9999" actId="20577"/>
          <ac:spMkLst>
            <pc:docMk/>
            <pc:sldMk cId="352643143" sldId="257"/>
            <ac:spMk id="3" creationId="{1D77431C-0140-FE48-A62C-753C5C8B4F8F}"/>
          </ac:spMkLst>
        </pc:spChg>
      </pc:sldChg>
      <pc:sldChg chg="modSp mod">
        <pc:chgData name="Guttorm Schjelderup" userId="e0ac67c0-b505-4405-ab95-266cbfcd4586" providerId="ADAL" clId="{495AF721-4E66-5624-A6F1-D11890231467}" dt="2026-08-27T13:40:28.146" v="11277" actId="20577"/>
        <pc:sldMkLst>
          <pc:docMk/>
          <pc:sldMk cId="4155933556" sldId="259"/>
        </pc:sldMkLst>
        <pc:spChg chg="mod">
          <ac:chgData name="Guttorm Schjelderup" userId="e0ac67c0-b505-4405-ab95-266cbfcd4586" providerId="ADAL" clId="{495AF721-4E66-5624-A6F1-D11890231467}" dt="2026-08-27T13:40:28.146" v="11277" actId="20577"/>
          <ac:spMkLst>
            <pc:docMk/>
            <pc:sldMk cId="4155933556" sldId="259"/>
            <ac:spMk id="3" creationId="{E48F5FC5-174B-A762-D4EB-CAB172657E24}"/>
          </ac:spMkLst>
        </pc:spChg>
      </pc:sldChg>
      <pc:sldChg chg="modSp add mod">
        <pc:chgData name="Guttorm Schjelderup" userId="e0ac67c0-b505-4405-ab95-266cbfcd4586" providerId="ADAL" clId="{495AF721-4E66-5624-A6F1-D11890231467}" dt="2026-08-27T12:45:12.771" v="9920" actId="14734"/>
        <pc:sldMkLst>
          <pc:docMk/>
          <pc:sldMk cId="419900870" sldId="343"/>
        </pc:sldMkLst>
        <pc:graphicFrameChg chg="modGraphic">
          <ac:chgData name="Guttorm Schjelderup" userId="e0ac67c0-b505-4405-ab95-266cbfcd4586" providerId="ADAL" clId="{495AF721-4E66-5624-A6F1-D11890231467}" dt="2026-08-27T12:45:12.771" v="9920" actId="14734"/>
          <ac:graphicFrameMkLst>
            <pc:docMk/>
            <pc:sldMk cId="419900870" sldId="343"/>
            <ac:graphicFrameMk id="7" creationId="{00000000-0000-0000-0000-000000000000}"/>
          </ac:graphicFrameMkLst>
        </pc:graphicFrameChg>
      </pc:sldChg>
      <pc:sldChg chg="modSp modAnim">
        <pc:chgData name="Guttorm Schjelderup" userId="e0ac67c0-b505-4405-ab95-266cbfcd4586" providerId="ADAL" clId="{495AF721-4E66-5624-A6F1-D11890231467}" dt="2026-08-27T12:43:48.766" v="9918" actId="20577"/>
        <pc:sldMkLst>
          <pc:docMk/>
          <pc:sldMk cId="236000273" sldId="355"/>
        </pc:sldMkLst>
        <pc:spChg chg="mod">
          <ac:chgData name="Guttorm Schjelderup" userId="e0ac67c0-b505-4405-ab95-266cbfcd4586" providerId="ADAL" clId="{495AF721-4E66-5624-A6F1-D11890231467}" dt="2026-08-27T12:43:48.766" v="9918" actId="20577"/>
          <ac:spMkLst>
            <pc:docMk/>
            <pc:sldMk cId="236000273" sldId="355"/>
            <ac:spMk id="3" creationId="{80450C16-43A4-E4CD-C60B-A436EB26544C}"/>
          </ac:spMkLst>
        </pc:spChg>
      </pc:sldChg>
      <pc:sldChg chg="add">
        <pc:chgData name="Guttorm Schjelderup" userId="e0ac67c0-b505-4405-ab95-266cbfcd4586" providerId="ADAL" clId="{495AF721-4E66-5624-A6F1-D11890231467}" dt="2026-08-24T07:38:31.723" v="7120"/>
        <pc:sldMkLst>
          <pc:docMk/>
          <pc:sldMk cId="701160945" sldId="363"/>
        </pc:sldMkLst>
      </pc:sldChg>
      <pc:sldChg chg="modSp mod">
        <pc:chgData name="Guttorm Schjelderup" userId="e0ac67c0-b505-4405-ab95-266cbfcd4586" providerId="ADAL" clId="{495AF721-4E66-5624-A6F1-D11890231467}" dt="2026-08-23T16:56:25.727" v="6007" actId="27636"/>
        <pc:sldMkLst>
          <pc:docMk/>
          <pc:sldMk cId="4131684337" sldId="364"/>
        </pc:sldMkLst>
        <pc:spChg chg="mod">
          <ac:chgData name="Guttorm Schjelderup" userId="e0ac67c0-b505-4405-ab95-266cbfcd4586" providerId="ADAL" clId="{495AF721-4E66-5624-A6F1-D11890231467}" dt="2026-08-23T16:56:25.727" v="6007" actId="27636"/>
          <ac:spMkLst>
            <pc:docMk/>
            <pc:sldMk cId="4131684337" sldId="364"/>
            <ac:spMk id="3" creationId="{01602003-3545-4A89-A3F9-A4C99934F043}"/>
          </ac:spMkLst>
        </pc:spChg>
      </pc:sldChg>
      <pc:sldChg chg="modSp">
        <pc:chgData name="Guttorm Schjelderup" userId="e0ac67c0-b505-4405-ab95-266cbfcd4586" providerId="ADAL" clId="{495AF721-4E66-5624-A6F1-D11890231467}" dt="2026-08-14T11:02:05.624" v="181" actId="20577"/>
        <pc:sldMkLst>
          <pc:docMk/>
          <pc:sldMk cId="1413018607" sldId="376"/>
        </pc:sldMkLst>
        <pc:spChg chg="mod">
          <ac:chgData name="Guttorm Schjelderup" userId="e0ac67c0-b505-4405-ab95-266cbfcd4586" providerId="ADAL" clId="{495AF721-4E66-5624-A6F1-D11890231467}" dt="2026-08-14T11:02:05.624" v="181" actId="20577"/>
          <ac:spMkLst>
            <pc:docMk/>
            <pc:sldMk cId="1413018607" sldId="376"/>
            <ac:spMk id="3" creationId="{3F3C30A6-8C14-DA67-9CE8-D948335EFA5E}"/>
          </ac:spMkLst>
        </pc:spChg>
      </pc:sldChg>
      <pc:sldChg chg="add">
        <pc:chgData name="Guttorm Schjelderup" userId="e0ac67c0-b505-4405-ab95-266cbfcd4586" providerId="ADAL" clId="{495AF721-4E66-5624-A6F1-D11890231467}" dt="2026-08-24T07:38:31.723" v="7120"/>
        <pc:sldMkLst>
          <pc:docMk/>
          <pc:sldMk cId="2025293152" sldId="388"/>
        </pc:sldMkLst>
      </pc:sldChg>
      <pc:sldChg chg="modSp add mod modAnim">
        <pc:chgData name="Guttorm Schjelderup" userId="e0ac67c0-b505-4405-ab95-266cbfcd4586" providerId="ADAL" clId="{495AF721-4E66-5624-A6F1-D11890231467}" dt="2026-08-27T13:32:51.218" v="11174" actId="20577"/>
        <pc:sldMkLst>
          <pc:docMk/>
          <pc:sldMk cId="3040626739" sldId="395"/>
        </pc:sldMkLst>
        <pc:spChg chg="mod">
          <ac:chgData name="Guttorm Schjelderup" userId="e0ac67c0-b505-4405-ab95-266cbfcd4586" providerId="ADAL" clId="{495AF721-4E66-5624-A6F1-D11890231467}" dt="2026-08-27T13:32:51.218" v="11174" actId="20577"/>
          <ac:spMkLst>
            <pc:docMk/>
            <pc:sldMk cId="3040626739" sldId="395"/>
            <ac:spMk id="4" creationId="{F5291D20-FB34-22F0-C437-FE6B9DCADC26}"/>
          </ac:spMkLst>
        </pc:spChg>
      </pc:sldChg>
      <pc:sldChg chg="modSp ord">
        <pc:chgData name="Guttorm Schjelderup" userId="e0ac67c0-b505-4405-ab95-266cbfcd4586" providerId="ADAL" clId="{495AF721-4E66-5624-A6F1-D11890231467}" dt="2026-08-24T07:14:46.035" v="6445" actId="255"/>
        <pc:sldMkLst>
          <pc:docMk/>
          <pc:sldMk cId="3248934148" sldId="405"/>
        </pc:sldMkLst>
        <pc:graphicFrameChg chg="mod">
          <ac:chgData name="Guttorm Schjelderup" userId="e0ac67c0-b505-4405-ab95-266cbfcd4586" providerId="ADAL" clId="{495AF721-4E66-5624-A6F1-D11890231467}" dt="2026-08-24T07:14:46.035" v="6445" actId="255"/>
          <ac:graphicFrameMkLst>
            <pc:docMk/>
            <pc:sldMk cId="3248934148" sldId="405"/>
            <ac:graphicFrameMk id="6" creationId="{7C105F1B-111C-7553-018D-3AE1BD6687CB}"/>
          </ac:graphicFrameMkLst>
        </pc:graphicFrameChg>
      </pc:sldChg>
      <pc:sldChg chg="modSp">
        <pc:chgData name="Guttorm Schjelderup" userId="e0ac67c0-b505-4405-ab95-266cbfcd4586" providerId="ADAL" clId="{495AF721-4E66-5624-A6F1-D11890231467}" dt="2026-08-27T12:21:39.954" v="9678" actId="20577"/>
        <pc:sldMkLst>
          <pc:docMk/>
          <pc:sldMk cId="2744514793" sldId="415"/>
        </pc:sldMkLst>
        <pc:spChg chg="mod">
          <ac:chgData name="Guttorm Schjelderup" userId="e0ac67c0-b505-4405-ab95-266cbfcd4586" providerId="ADAL" clId="{495AF721-4E66-5624-A6F1-D11890231467}" dt="2026-08-27T12:21:39.954" v="9678" actId="20577"/>
          <ac:spMkLst>
            <pc:docMk/>
            <pc:sldMk cId="2744514793" sldId="415"/>
            <ac:spMk id="3" creationId="{94F52942-EB0C-9DC3-C7BB-49E5B0F852E4}"/>
          </ac:spMkLst>
        </pc:spChg>
      </pc:sldChg>
      <pc:sldChg chg="addSp delSp modSp add mod addAnim delAnim modAnim">
        <pc:chgData name="Guttorm Schjelderup" userId="e0ac67c0-b505-4405-ab95-266cbfcd4586" providerId="ADAL" clId="{495AF721-4E66-5624-A6F1-D11890231467}" dt="2026-08-27T13:32:34.204" v="11168" actId="313"/>
        <pc:sldMkLst>
          <pc:docMk/>
          <pc:sldMk cId="3084479412" sldId="431"/>
        </pc:sldMkLst>
        <pc:spChg chg="mod">
          <ac:chgData name="Guttorm Schjelderup" userId="e0ac67c0-b505-4405-ab95-266cbfcd4586" providerId="ADAL" clId="{495AF721-4E66-5624-A6F1-D11890231467}" dt="2026-08-24T07:48:02.602" v="7929" actId="20577"/>
          <ac:spMkLst>
            <pc:docMk/>
            <pc:sldMk cId="3084479412" sldId="431"/>
            <ac:spMk id="2" creationId="{98478CDA-7487-B9DA-E2F9-05F7DC901D72}"/>
          </ac:spMkLst>
        </pc:spChg>
        <pc:spChg chg="add del mod">
          <ac:chgData name="Guttorm Schjelderup" userId="e0ac67c0-b505-4405-ab95-266cbfcd4586" providerId="ADAL" clId="{495AF721-4E66-5624-A6F1-D11890231467}" dt="2026-08-27T13:32:34.204" v="11168" actId="313"/>
          <ac:spMkLst>
            <pc:docMk/>
            <pc:sldMk cId="3084479412" sldId="431"/>
            <ac:spMk id="3" creationId="{D01C8F6C-4EC7-B71D-215E-B1FF1D83B5AD}"/>
          </ac:spMkLst>
        </pc:spChg>
        <pc:spChg chg="add del mod">
          <ac:chgData name="Guttorm Schjelderup" userId="e0ac67c0-b505-4405-ab95-266cbfcd4586" providerId="ADAL" clId="{495AF721-4E66-5624-A6F1-D11890231467}" dt="2026-08-24T08:18:35.425" v="8317" actId="478"/>
          <ac:spMkLst>
            <pc:docMk/>
            <pc:sldMk cId="3084479412" sldId="431"/>
            <ac:spMk id="4" creationId="{2CE23A79-70FF-9CA4-2E84-91A524DF8C56}"/>
          </ac:spMkLst>
        </pc:spChg>
      </pc:sldChg>
      <pc:sldChg chg="add">
        <pc:chgData name="Guttorm Schjelderup" userId="e0ac67c0-b505-4405-ab95-266cbfcd4586" providerId="ADAL" clId="{495AF721-4E66-5624-A6F1-D11890231467}" dt="2026-08-24T07:40:45.612" v="7165"/>
        <pc:sldMkLst>
          <pc:docMk/>
          <pc:sldMk cId="174947664" sldId="434"/>
        </pc:sldMkLst>
      </pc:sldChg>
      <pc:sldChg chg="add">
        <pc:chgData name="Guttorm Schjelderup" userId="e0ac67c0-b505-4405-ab95-266cbfcd4586" providerId="ADAL" clId="{495AF721-4E66-5624-A6F1-D11890231467}" dt="2026-08-24T07:40:45.612" v="7165"/>
        <pc:sldMkLst>
          <pc:docMk/>
          <pc:sldMk cId="1441123145" sldId="436"/>
        </pc:sldMkLst>
      </pc:sldChg>
      <pc:sldChg chg="modSp mod">
        <pc:chgData name="Guttorm Schjelderup" userId="e0ac67c0-b505-4405-ab95-266cbfcd4586" providerId="ADAL" clId="{495AF721-4E66-5624-A6F1-D11890231467}" dt="2026-08-24T15:23:00.212" v="9499" actId="20577"/>
        <pc:sldMkLst>
          <pc:docMk/>
          <pc:sldMk cId="3273657347" sldId="439"/>
        </pc:sldMkLst>
        <pc:spChg chg="mod">
          <ac:chgData name="Guttorm Schjelderup" userId="e0ac67c0-b505-4405-ab95-266cbfcd4586" providerId="ADAL" clId="{495AF721-4E66-5624-A6F1-D11890231467}" dt="2026-08-24T15:23:00.212" v="9499" actId="20577"/>
          <ac:spMkLst>
            <pc:docMk/>
            <pc:sldMk cId="3273657347" sldId="439"/>
            <ac:spMk id="2" creationId="{0B213E7C-76FE-0E95-7366-3ECBBAA02DEC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7T12:12:21.257" v="9535" actId="27636"/>
        <pc:sldMkLst>
          <pc:docMk/>
          <pc:sldMk cId="2558211306" sldId="441"/>
        </pc:sldMkLst>
        <pc:spChg chg="mod">
          <ac:chgData name="Guttorm Schjelderup" userId="e0ac67c0-b505-4405-ab95-266cbfcd4586" providerId="ADAL" clId="{495AF721-4E66-5624-A6F1-D11890231467}" dt="2026-08-27T12:12:21.257" v="9535" actId="27636"/>
          <ac:spMkLst>
            <pc:docMk/>
            <pc:sldMk cId="2558211306" sldId="441"/>
            <ac:spMk id="3" creationId="{D72A6948-BCA2-A5DF-2322-F6F882C01EE6}"/>
          </ac:spMkLst>
        </pc:spChg>
      </pc:sldChg>
      <pc:sldChg chg="modSp mod modAnim">
        <pc:chgData name="Guttorm Schjelderup" userId="e0ac67c0-b505-4405-ab95-266cbfcd4586" providerId="ADAL" clId="{495AF721-4E66-5624-A6F1-D11890231467}" dt="2026-08-14T10:20:35.819" v="9" actId="5793"/>
        <pc:sldMkLst>
          <pc:docMk/>
          <pc:sldMk cId="2339019078" sldId="443"/>
        </pc:sldMkLst>
        <pc:spChg chg="mod">
          <ac:chgData name="Guttorm Schjelderup" userId="e0ac67c0-b505-4405-ab95-266cbfcd4586" providerId="ADAL" clId="{495AF721-4E66-5624-A6F1-D11890231467}" dt="2026-08-14T10:20:35.819" v="9" actId="5793"/>
          <ac:spMkLst>
            <pc:docMk/>
            <pc:sldMk cId="2339019078" sldId="443"/>
            <ac:spMk id="3" creationId="{3A29D8F6-315B-8FFE-3403-8121C7124E15}"/>
          </ac:spMkLst>
        </pc:spChg>
      </pc:sldChg>
      <pc:sldChg chg="modSp add mod">
        <pc:chgData name="Guttorm Schjelderup" userId="e0ac67c0-b505-4405-ab95-266cbfcd4586" providerId="ADAL" clId="{495AF721-4E66-5624-A6F1-D11890231467}" dt="2026-08-27T13:31:54.408" v="11062" actId="20577"/>
        <pc:sldMkLst>
          <pc:docMk/>
          <pc:sldMk cId="1639026989" sldId="445"/>
        </pc:sldMkLst>
        <pc:spChg chg="mod">
          <ac:chgData name="Guttorm Schjelderup" userId="e0ac67c0-b505-4405-ab95-266cbfcd4586" providerId="ADAL" clId="{495AF721-4E66-5624-A6F1-D11890231467}" dt="2026-08-27T13:31:54.408" v="11062" actId="20577"/>
          <ac:spMkLst>
            <pc:docMk/>
            <pc:sldMk cId="1639026989" sldId="445"/>
            <ac:spMk id="3" creationId="{679DEB48-04D6-B533-5CB9-69828D3331E9}"/>
          </ac:spMkLst>
        </pc:spChg>
      </pc:sldChg>
      <pc:sldChg chg="modSp mod">
        <pc:chgData name="Guttorm Schjelderup" userId="e0ac67c0-b505-4405-ab95-266cbfcd4586" providerId="ADAL" clId="{495AF721-4E66-5624-A6F1-D11890231467}" dt="2026-08-27T12:36:27.823" v="9807" actId="20577"/>
        <pc:sldMkLst>
          <pc:docMk/>
          <pc:sldMk cId="1790201898" sldId="448"/>
        </pc:sldMkLst>
        <pc:spChg chg="mod">
          <ac:chgData name="Guttorm Schjelderup" userId="e0ac67c0-b505-4405-ab95-266cbfcd4586" providerId="ADAL" clId="{495AF721-4E66-5624-A6F1-D11890231467}" dt="2026-08-27T12:36:27.823" v="9807" actId="20577"/>
          <ac:spMkLst>
            <pc:docMk/>
            <pc:sldMk cId="1790201898" sldId="448"/>
            <ac:spMk id="3" creationId="{91EA3E7D-B413-5319-A93E-990E88749A3F}"/>
          </ac:spMkLst>
        </pc:spChg>
      </pc:sldChg>
      <pc:sldChg chg="modSp">
        <pc:chgData name="Guttorm Schjelderup" userId="e0ac67c0-b505-4405-ab95-266cbfcd4586" providerId="ADAL" clId="{495AF721-4E66-5624-A6F1-D11890231467}" dt="2026-08-15T13:42:03.360" v="1960" actId="404"/>
        <pc:sldMkLst>
          <pc:docMk/>
          <pc:sldMk cId="1185425427" sldId="474"/>
        </pc:sldMkLst>
        <pc:spChg chg="mod">
          <ac:chgData name="Guttorm Schjelderup" userId="e0ac67c0-b505-4405-ab95-266cbfcd4586" providerId="ADAL" clId="{495AF721-4E66-5624-A6F1-D11890231467}" dt="2026-08-15T13:42:03.360" v="1960" actId="404"/>
          <ac:spMkLst>
            <pc:docMk/>
            <pc:sldMk cId="1185425427" sldId="474"/>
            <ac:spMk id="2" creationId="{F4C13FDD-3085-4BF0-9261-ED28A5FDDC1C}"/>
          </ac:spMkLst>
        </pc:spChg>
      </pc:sldChg>
      <pc:sldChg chg="modSp add mod modAnim">
        <pc:chgData name="Guttorm Schjelderup" userId="e0ac67c0-b505-4405-ab95-266cbfcd4586" providerId="ADAL" clId="{495AF721-4E66-5624-A6F1-D11890231467}" dt="2026-08-24T15:12:30.271" v="9347" actId="20577"/>
        <pc:sldMkLst>
          <pc:docMk/>
          <pc:sldMk cId="96939259" sldId="480"/>
        </pc:sldMkLst>
        <pc:spChg chg="mod">
          <ac:chgData name="Guttorm Schjelderup" userId="e0ac67c0-b505-4405-ab95-266cbfcd4586" providerId="ADAL" clId="{495AF721-4E66-5624-A6F1-D11890231467}" dt="2026-08-24T07:48:36.886" v="7944" actId="20577"/>
          <ac:spMkLst>
            <pc:docMk/>
            <pc:sldMk cId="96939259" sldId="480"/>
            <ac:spMk id="2" creationId="{99538CBA-8787-DBC5-F779-38730FD5A96E}"/>
          </ac:spMkLst>
        </pc:spChg>
        <pc:spChg chg="mod">
          <ac:chgData name="Guttorm Schjelderup" userId="e0ac67c0-b505-4405-ab95-266cbfcd4586" providerId="ADAL" clId="{495AF721-4E66-5624-A6F1-D11890231467}" dt="2026-08-24T15:12:30.271" v="9347" actId="20577"/>
          <ac:spMkLst>
            <pc:docMk/>
            <pc:sldMk cId="96939259" sldId="480"/>
            <ac:spMk id="3" creationId="{378957DB-7E56-E26C-589F-1E0CF06593C4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7T13:56:10.955" v="11278"/>
        <pc:sldMkLst>
          <pc:docMk/>
          <pc:sldMk cId="3893222195" sldId="607"/>
        </pc:sldMkLst>
        <pc:spChg chg="mod">
          <ac:chgData name="Guttorm Schjelderup" userId="e0ac67c0-b505-4405-ab95-266cbfcd4586" providerId="ADAL" clId="{495AF721-4E66-5624-A6F1-D11890231467}" dt="2026-08-24T15:17:45.502" v="9427" actId="20577"/>
          <ac:spMkLst>
            <pc:docMk/>
            <pc:sldMk cId="3893222195" sldId="607"/>
            <ac:spMk id="3" creationId="{D6833803-6E0E-C12C-E1F5-8F07D5B17D99}"/>
          </ac:spMkLst>
        </pc:spChg>
      </pc:sldChg>
      <pc:sldChg chg="modAnim">
        <pc:chgData name="Guttorm Schjelderup" userId="e0ac67c0-b505-4405-ab95-266cbfcd4586" providerId="ADAL" clId="{495AF721-4E66-5624-A6F1-D11890231467}" dt="2026-08-27T13:56:25.400" v="11279"/>
        <pc:sldMkLst>
          <pc:docMk/>
          <pc:sldMk cId="2721964950" sldId="608"/>
        </pc:sldMkLst>
      </pc:sldChg>
      <pc:sldChg chg="modSp">
        <pc:chgData name="Guttorm Schjelderup" userId="e0ac67c0-b505-4405-ab95-266cbfcd4586" providerId="ADAL" clId="{495AF721-4E66-5624-A6F1-D11890231467}" dt="2026-08-24T15:20:34.275" v="9432" actId="20577"/>
        <pc:sldMkLst>
          <pc:docMk/>
          <pc:sldMk cId="237794456" sldId="618"/>
        </pc:sldMkLst>
        <pc:spChg chg="mod">
          <ac:chgData name="Guttorm Schjelderup" userId="e0ac67c0-b505-4405-ab95-266cbfcd4586" providerId="ADAL" clId="{495AF721-4E66-5624-A6F1-D11890231467}" dt="2026-08-24T15:20:34.275" v="9432" actId="20577"/>
          <ac:spMkLst>
            <pc:docMk/>
            <pc:sldMk cId="237794456" sldId="618"/>
            <ac:spMk id="3" creationId="{D2D4D8A2-622C-287A-03A9-8FAEEA7C39CB}"/>
          </ac:spMkLst>
        </pc:spChg>
      </pc:sldChg>
      <pc:sldChg chg="modSp mod">
        <pc:chgData name="Guttorm Schjelderup" userId="e0ac67c0-b505-4405-ab95-266cbfcd4586" providerId="ADAL" clId="{495AF721-4E66-5624-A6F1-D11890231467}" dt="2026-08-15T13:40:37.654" v="1953" actId="20577"/>
        <pc:sldMkLst>
          <pc:docMk/>
          <pc:sldMk cId="2173165157" sldId="622"/>
        </pc:sldMkLst>
        <pc:spChg chg="mod">
          <ac:chgData name="Guttorm Schjelderup" userId="e0ac67c0-b505-4405-ab95-266cbfcd4586" providerId="ADAL" clId="{495AF721-4E66-5624-A6F1-D11890231467}" dt="2026-08-15T13:40:37.654" v="1953" actId="20577"/>
          <ac:spMkLst>
            <pc:docMk/>
            <pc:sldMk cId="2173165157" sldId="622"/>
            <ac:spMk id="3" creationId="{7DE54A02-9583-3DC7-5AD1-F26FB87BD0A4}"/>
          </ac:spMkLst>
        </pc:spChg>
      </pc:sldChg>
      <pc:sldChg chg="modSp">
        <pc:chgData name="Guttorm Schjelderup" userId="e0ac67c0-b505-4405-ab95-266cbfcd4586" providerId="ADAL" clId="{495AF721-4E66-5624-A6F1-D11890231467}" dt="2026-08-27T12:20:04.839" v="9671" actId="20577"/>
        <pc:sldMkLst>
          <pc:docMk/>
          <pc:sldMk cId="252377995" sldId="624"/>
        </pc:sldMkLst>
        <pc:spChg chg="mod">
          <ac:chgData name="Guttorm Schjelderup" userId="e0ac67c0-b505-4405-ab95-266cbfcd4586" providerId="ADAL" clId="{495AF721-4E66-5624-A6F1-D11890231467}" dt="2026-08-27T12:20:04.839" v="9671" actId="20577"/>
          <ac:spMkLst>
            <pc:docMk/>
            <pc:sldMk cId="252377995" sldId="624"/>
            <ac:spMk id="3" creationId="{AA53823A-A0C1-117C-94A5-88FC173FBBFB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7T12:20:41.145" v="9677" actId="27636"/>
        <pc:sldMkLst>
          <pc:docMk/>
          <pc:sldMk cId="1326396163" sldId="625"/>
        </pc:sldMkLst>
        <pc:spChg chg="mod">
          <ac:chgData name="Guttorm Schjelderup" userId="e0ac67c0-b505-4405-ab95-266cbfcd4586" providerId="ADAL" clId="{495AF721-4E66-5624-A6F1-D11890231467}" dt="2026-08-14T14:07:07.508" v="642" actId="20577"/>
          <ac:spMkLst>
            <pc:docMk/>
            <pc:sldMk cId="1326396163" sldId="625"/>
            <ac:spMk id="2" creationId="{582BA807-F31D-99AF-733C-4D6F7576B68D}"/>
          </ac:spMkLst>
        </pc:spChg>
        <pc:spChg chg="mod">
          <ac:chgData name="Guttorm Schjelderup" userId="e0ac67c0-b505-4405-ab95-266cbfcd4586" providerId="ADAL" clId="{495AF721-4E66-5624-A6F1-D11890231467}" dt="2026-08-27T12:20:41.145" v="9677" actId="27636"/>
          <ac:spMkLst>
            <pc:docMk/>
            <pc:sldMk cId="1326396163" sldId="625"/>
            <ac:spMk id="3" creationId="{32BA1D03-ADD8-85ED-EC5C-A81ACFEE6E2C}"/>
          </ac:spMkLst>
        </pc:spChg>
      </pc:sldChg>
      <pc:sldChg chg="modSp mod modAnim">
        <pc:chgData name="Guttorm Schjelderup" userId="e0ac67c0-b505-4405-ab95-266cbfcd4586" providerId="ADAL" clId="{495AF721-4E66-5624-A6F1-D11890231467}" dt="2026-08-18T11:14:38.043" v="5909" actId="20577"/>
        <pc:sldMkLst>
          <pc:docMk/>
          <pc:sldMk cId="3119304323" sldId="629"/>
        </pc:sldMkLst>
        <pc:spChg chg="mod">
          <ac:chgData name="Guttorm Schjelderup" userId="e0ac67c0-b505-4405-ab95-266cbfcd4586" providerId="ADAL" clId="{495AF721-4E66-5624-A6F1-D11890231467}" dt="2026-08-18T11:13:43.802" v="5754" actId="20577"/>
          <ac:spMkLst>
            <pc:docMk/>
            <pc:sldMk cId="3119304323" sldId="629"/>
            <ac:spMk id="2" creationId="{7459A7B3-AFE4-7EA4-A2B5-1EA9B9CBA892}"/>
          </ac:spMkLst>
        </pc:spChg>
        <pc:spChg chg="mod">
          <ac:chgData name="Guttorm Schjelderup" userId="e0ac67c0-b505-4405-ab95-266cbfcd4586" providerId="ADAL" clId="{495AF721-4E66-5624-A6F1-D11890231467}" dt="2026-08-18T11:14:38.043" v="5909" actId="20577"/>
          <ac:spMkLst>
            <pc:docMk/>
            <pc:sldMk cId="3119304323" sldId="629"/>
            <ac:spMk id="8" creationId="{8B81D29C-7326-59FC-2CB5-66F329C3C2F6}"/>
          </ac:spMkLst>
        </pc:spChg>
      </pc:sldChg>
      <pc:sldChg chg="modSp mod ord">
        <pc:chgData name="Guttorm Schjelderup" userId="e0ac67c0-b505-4405-ab95-266cbfcd4586" providerId="ADAL" clId="{495AF721-4E66-5624-A6F1-D11890231467}" dt="2026-08-17T13:39:03.589" v="4449" actId="20577"/>
        <pc:sldMkLst>
          <pc:docMk/>
          <pc:sldMk cId="3829084046" sldId="634"/>
        </pc:sldMkLst>
        <pc:spChg chg="mod">
          <ac:chgData name="Guttorm Schjelderup" userId="e0ac67c0-b505-4405-ab95-266cbfcd4586" providerId="ADAL" clId="{495AF721-4E66-5624-A6F1-D11890231467}" dt="2026-08-17T13:32:23.952" v="4431" actId="20577"/>
          <ac:spMkLst>
            <pc:docMk/>
            <pc:sldMk cId="3829084046" sldId="634"/>
            <ac:spMk id="3" creationId="{D4D84895-48DF-6CE4-39D6-F8429EEBD09F}"/>
          </ac:spMkLst>
        </pc:spChg>
        <pc:spChg chg="mod">
          <ac:chgData name="Guttorm Schjelderup" userId="e0ac67c0-b505-4405-ab95-266cbfcd4586" providerId="ADAL" clId="{495AF721-4E66-5624-A6F1-D11890231467}" dt="2026-08-17T13:39:03.589" v="4449" actId="20577"/>
          <ac:spMkLst>
            <pc:docMk/>
            <pc:sldMk cId="3829084046" sldId="634"/>
            <ac:spMk id="6" creationId="{0BB7E7EC-B343-ED22-54FC-C759509B9ECD}"/>
          </ac:spMkLst>
        </pc:spChg>
      </pc:sldChg>
      <pc:sldChg chg="modSp mod">
        <pc:chgData name="Guttorm Schjelderup" userId="e0ac67c0-b505-4405-ab95-266cbfcd4586" providerId="ADAL" clId="{495AF721-4E66-5624-A6F1-D11890231467}" dt="2026-08-15T13:41:06.435" v="1955" actId="113"/>
        <pc:sldMkLst>
          <pc:docMk/>
          <pc:sldMk cId="326855179" sldId="640"/>
        </pc:sldMkLst>
        <pc:spChg chg="mod">
          <ac:chgData name="Guttorm Schjelderup" userId="e0ac67c0-b505-4405-ab95-266cbfcd4586" providerId="ADAL" clId="{495AF721-4E66-5624-A6F1-D11890231467}" dt="2026-08-15T13:41:06.435" v="1955" actId="113"/>
          <ac:spMkLst>
            <pc:docMk/>
            <pc:sldMk cId="326855179" sldId="640"/>
            <ac:spMk id="2" creationId="{01673F26-4804-F7F3-D8B4-A0ED28F4548E}"/>
          </ac:spMkLst>
        </pc:spChg>
      </pc:sldChg>
      <pc:sldChg chg="modSp add mod">
        <pc:chgData name="Guttorm Schjelderup" userId="e0ac67c0-b505-4405-ab95-266cbfcd4586" providerId="ADAL" clId="{495AF721-4E66-5624-A6F1-D11890231467}" dt="2026-08-24T15:03:29.035" v="8908" actId="20577"/>
        <pc:sldMkLst>
          <pc:docMk/>
          <pc:sldMk cId="4066130776" sldId="646"/>
        </pc:sldMkLst>
        <pc:spChg chg="mod">
          <ac:chgData name="Guttorm Schjelderup" userId="e0ac67c0-b505-4405-ab95-266cbfcd4586" providerId="ADAL" clId="{495AF721-4E66-5624-A6F1-D11890231467}" dt="2026-08-24T08:51:39.642" v="8474" actId="14100"/>
          <ac:spMkLst>
            <pc:docMk/>
            <pc:sldMk cId="4066130776" sldId="646"/>
            <ac:spMk id="2" creationId="{CF49A25E-5E8B-0DCE-4E55-16A0CDB86CF7}"/>
          </ac:spMkLst>
        </pc:spChg>
        <pc:spChg chg="mod">
          <ac:chgData name="Guttorm Schjelderup" userId="e0ac67c0-b505-4405-ab95-266cbfcd4586" providerId="ADAL" clId="{495AF721-4E66-5624-A6F1-D11890231467}" dt="2026-08-24T15:03:29.035" v="8908" actId="20577"/>
          <ac:spMkLst>
            <pc:docMk/>
            <pc:sldMk cId="4066130776" sldId="646"/>
            <ac:spMk id="3" creationId="{78CE3B17-5DC5-3692-DCB1-72776C24CB1C}"/>
          </ac:spMkLst>
        </pc:spChg>
      </pc:sldChg>
      <pc:sldChg chg="modSp mod">
        <pc:chgData name="Guttorm Schjelderup" userId="e0ac67c0-b505-4405-ab95-266cbfcd4586" providerId="ADAL" clId="{495AF721-4E66-5624-A6F1-D11890231467}" dt="2026-08-24T08:51:19.029" v="8472" actId="403"/>
        <pc:sldMkLst>
          <pc:docMk/>
          <pc:sldMk cId="1886530967" sldId="647"/>
        </pc:sldMkLst>
        <pc:spChg chg="mod">
          <ac:chgData name="Guttorm Schjelderup" userId="e0ac67c0-b505-4405-ab95-266cbfcd4586" providerId="ADAL" clId="{495AF721-4E66-5624-A6F1-D11890231467}" dt="2026-08-24T08:51:19.029" v="8472" actId="403"/>
          <ac:spMkLst>
            <pc:docMk/>
            <pc:sldMk cId="1886530967" sldId="647"/>
            <ac:spMk id="3" creationId="{7FDFA38D-01BC-F629-C845-CE988AEC4DD4}"/>
          </ac:spMkLst>
        </pc:spChg>
      </pc:sldChg>
      <pc:sldChg chg="modSp mod ord modAnim">
        <pc:chgData name="Guttorm Schjelderup" userId="e0ac67c0-b505-4405-ab95-266cbfcd4586" providerId="ADAL" clId="{495AF721-4E66-5624-A6F1-D11890231467}" dt="2026-08-27T13:35:18.695" v="11175" actId="20577"/>
        <pc:sldMkLst>
          <pc:docMk/>
          <pc:sldMk cId="1235701407" sldId="648"/>
        </pc:sldMkLst>
        <pc:spChg chg="mod">
          <ac:chgData name="Guttorm Schjelderup" userId="e0ac67c0-b505-4405-ab95-266cbfcd4586" providerId="ADAL" clId="{495AF721-4E66-5624-A6F1-D11890231467}" dt="2026-08-27T13:35:18.695" v="11175" actId="20577"/>
          <ac:spMkLst>
            <pc:docMk/>
            <pc:sldMk cId="1235701407" sldId="648"/>
            <ac:spMk id="3" creationId="{A9A6CE89-4144-AB5B-9B2E-E53CE476E02F}"/>
          </ac:spMkLst>
        </pc:spChg>
        <pc:spChg chg="mod">
          <ac:chgData name="Guttorm Schjelderup" userId="e0ac67c0-b505-4405-ab95-266cbfcd4586" providerId="ADAL" clId="{495AF721-4E66-5624-A6F1-D11890231467}" dt="2026-08-17T13:30:19.595" v="4419" actId="790"/>
          <ac:spMkLst>
            <pc:docMk/>
            <pc:sldMk cId="1235701407" sldId="648"/>
            <ac:spMk id="4" creationId="{8F111D31-F84E-EB59-D4F8-EDE15ADE6918}"/>
          </ac:spMkLst>
        </pc:spChg>
      </pc:sldChg>
      <pc:sldChg chg="modSp mod">
        <pc:chgData name="Guttorm Schjelderup" userId="e0ac67c0-b505-4405-ab95-266cbfcd4586" providerId="ADAL" clId="{495AF721-4E66-5624-A6F1-D11890231467}" dt="2026-08-24T15:21:42.163" v="9489" actId="27636"/>
        <pc:sldMkLst>
          <pc:docMk/>
          <pc:sldMk cId="1446125607" sldId="649"/>
        </pc:sldMkLst>
        <pc:spChg chg="mod">
          <ac:chgData name="Guttorm Schjelderup" userId="e0ac67c0-b505-4405-ab95-266cbfcd4586" providerId="ADAL" clId="{495AF721-4E66-5624-A6F1-D11890231467}" dt="2026-08-24T15:21:42.163" v="9489" actId="27636"/>
          <ac:spMkLst>
            <pc:docMk/>
            <pc:sldMk cId="1446125607" sldId="649"/>
            <ac:spMk id="3" creationId="{A3A1E773-E2AC-B051-FED3-A80FD9DA5230}"/>
          </ac:spMkLst>
        </pc:spChg>
      </pc:sldChg>
      <pc:sldChg chg="modSp mod">
        <pc:chgData name="Guttorm Schjelderup" userId="e0ac67c0-b505-4405-ab95-266cbfcd4586" providerId="ADAL" clId="{495AF721-4E66-5624-A6F1-D11890231467}" dt="2026-08-24T15:18:48.644" v="9429" actId="2711"/>
        <pc:sldMkLst>
          <pc:docMk/>
          <pc:sldMk cId="243750237" sldId="652"/>
        </pc:sldMkLst>
        <pc:spChg chg="mod">
          <ac:chgData name="Guttorm Schjelderup" userId="e0ac67c0-b505-4405-ab95-266cbfcd4586" providerId="ADAL" clId="{495AF721-4E66-5624-A6F1-D11890231467}" dt="2026-08-24T15:18:48.644" v="9429" actId="2711"/>
          <ac:spMkLst>
            <pc:docMk/>
            <pc:sldMk cId="243750237" sldId="652"/>
            <ac:spMk id="2" creationId="{58B64BC3-6DC0-8E44-E247-5F957AAC7F96}"/>
          </ac:spMkLst>
        </pc:spChg>
      </pc:sldChg>
      <pc:sldChg chg="modSp add del mod modAnim">
        <pc:chgData name="Guttorm Schjelderup" userId="e0ac67c0-b505-4405-ab95-266cbfcd4586" providerId="ADAL" clId="{495AF721-4E66-5624-A6F1-D11890231467}" dt="2026-08-27T12:16:09.518" v="9620" actId="20577"/>
        <pc:sldMkLst>
          <pc:docMk/>
          <pc:sldMk cId="2055266921" sldId="658"/>
        </pc:sldMkLst>
        <pc:spChg chg="mod">
          <ac:chgData name="Guttorm Schjelderup" userId="e0ac67c0-b505-4405-ab95-266cbfcd4586" providerId="ADAL" clId="{495AF721-4E66-5624-A6F1-D11890231467}" dt="2026-08-27T12:16:09.518" v="9620" actId="20577"/>
          <ac:spMkLst>
            <pc:docMk/>
            <pc:sldMk cId="2055266921" sldId="658"/>
            <ac:spMk id="3" creationId="{ED6A4122-CBF9-99A2-AD02-F8B4DCE46A29}"/>
          </ac:spMkLst>
        </pc:spChg>
      </pc:sldChg>
      <pc:sldChg chg="modSp add del mod">
        <pc:chgData name="Guttorm Schjelderup" userId="e0ac67c0-b505-4405-ab95-266cbfcd4586" providerId="ADAL" clId="{495AF721-4E66-5624-A6F1-D11890231467}" dt="2026-08-27T12:17:05.741" v="9624" actId="20577"/>
        <pc:sldMkLst>
          <pc:docMk/>
          <pc:sldMk cId="3373586055" sldId="659"/>
        </pc:sldMkLst>
        <pc:spChg chg="mod">
          <ac:chgData name="Guttorm Schjelderup" userId="e0ac67c0-b505-4405-ab95-266cbfcd4586" providerId="ADAL" clId="{495AF721-4E66-5624-A6F1-D11890231467}" dt="2026-08-27T12:16:31.772" v="9622" actId="2711"/>
          <ac:spMkLst>
            <pc:docMk/>
            <pc:sldMk cId="3373586055" sldId="659"/>
            <ac:spMk id="2" creationId="{2C3FD85A-B2D0-5B22-9291-D77C3B38E9A3}"/>
          </ac:spMkLst>
        </pc:spChg>
        <pc:spChg chg="mod">
          <ac:chgData name="Guttorm Schjelderup" userId="e0ac67c0-b505-4405-ab95-266cbfcd4586" providerId="ADAL" clId="{495AF721-4E66-5624-A6F1-D11890231467}" dt="2026-08-27T12:17:05.741" v="9624" actId="20577"/>
          <ac:spMkLst>
            <pc:docMk/>
            <pc:sldMk cId="3373586055" sldId="659"/>
            <ac:spMk id="3" creationId="{588BA6F6-13E4-EA45-C67A-74DD9977C33B}"/>
          </ac:spMkLst>
        </pc:spChg>
      </pc:sldChg>
      <pc:sldChg chg="delSp modSp mod">
        <pc:chgData name="Guttorm Schjelderup" userId="e0ac67c0-b505-4405-ab95-266cbfcd4586" providerId="ADAL" clId="{495AF721-4E66-5624-A6F1-D11890231467}" dt="2026-08-14T11:00:11.752" v="161" actId="20577"/>
        <pc:sldMkLst>
          <pc:docMk/>
          <pc:sldMk cId="571079418" sldId="668"/>
        </pc:sldMkLst>
        <pc:spChg chg="mod">
          <ac:chgData name="Guttorm Schjelderup" userId="e0ac67c0-b505-4405-ab95-266cbfcd4586" providerId="ADAL" clId="{495AF721-4E66-5624-A6F1-D11890231467}" dt="2026-08-14T11:00:11.752" v="161" actId="20577"/>
          <ac:spMkLst>
            <pc:docMk/>
            <pc:sldMk cId="571079418" sldId="668"/>
            <ac:spMk id="2" creationId="{5BF0D3CE-1816-1F9F-7012-9B21FB954956}"/>
          </ac:spMkLst>
        </pc:spChg>
      </pc:sldChg>
      <pc:sldChg chg="modSp mod">
        <pc:chgData name="Guttorm Schjelderup" userId="e0ac67c0-b505-4405-ab95-266cbfcd4586" providerId="ADAL" clId="{495AF721-4E66-5624-A6F1-D11890231467}" dt="2026-08-27T12:17:43.902" v="9664" actId="313"/>
        <pc:sldMkLst>
          <pc:docMk/>
          <pc:sldMk cId="2452804985" sldId="669"/>
        </pc:sldMkLst>
        <pc:spChg chg="mod">
          <ac:chgData name="Guttorm Schjelderup" userId="e0ac67c0-b505-4405-ab95-266cbfcd4586" providerId="ADAL" clId="{495AF721-4E66-5624-A6F1-D11890231467}" dt="2026-08-27T12:17:43.902" v="9664" actId="313"/>
          <ac:spMkLst>
            <pc:docMk/>
            <pc:sldMk cId="2452804985" sldId="669"/>
            <ac:spMk id="3" creationId="{CB7A0BAE-956C-EC75-538A-6DB064E37156}"/>
          </ac:spMkLst>
        </pc:spChg>
      </pc:sldChg>
      <pc:sldChg chg="addSp delSp modSp mod">
        <pc:chgData name="Guttorm Schjelderup" userId="e0ac67c0-b505-4405-ab95-266cbfcd4586" providerId="ADAL" clId="{495AF721-4E66-5624-A6F1-D11890231467}" dt="2026-08-14T11:02:55.059" v="186" actId="14100"/>
        <pc:sldMkLst>
          <pc:docMk/>
          <pc:sldMk cId="2512725358" sldId="672"/>
        </pc:sldMkLst>
        <pc:picChg chg="mod">
          <ac:chgData name="Guttorm Schjelderup" userId="e0ac67c0-b505-4405-ab95-266cbfcd4586" providerId="ADAL" clId="{495AF721-4E66-5624-A6F1-D11890231467}" dt="2026-08-14T11:02:55.059" v="186" actId="14100"/>
          <ac:picMkLst>
            <pc:docMk/>
            <pc:sldMk cId="2512725358" sldId="672"/>
            <ac:picMk id="7" creationId="{DAB99167-B8A4-FA6E-01B1-0DF15E326810}"/>
          </ac:picMkLst>
        </pc:picChg>
      </pc:sldChg>
      <pc:sldChg chg="modSp modAnim">
        <pc:chgData name="Guttorm Schjelderup" userId="e0ac67c0-b505-4405-ab95-266cbfcd4586" providerId="ADAL" clId="{495AF721-4E66-5624-A6F1-D11890231467}" dt="2026-08-14T11:14:03.352" v="581" actId="20577"/>
        <pc:sldMkLst>
          <pc:docMk/>
          <pc:sldMk cId="3154350323" sldId="673"/>
        </pc:sldMkLst>
        <pc:spChg chg="mod">
          <ac:chgData name="Guttorm Schjelderup" userId="e0ac67c0-b505-4405-ab95-266cbfcd4586" providerId="ADAL" clId="{495AF721-4E66-5624-A6F1-D11890231467}" dt="2026-08-14T11:14:03.352" v="581" actId="20577"/>
          <ac:spMkLst>
            <pc:docMk/>
            <pc:sldMk cId="3154350323" sldId="673"/>
            <ac:spMk id="3" creationId="{47EE2A4F-4C30-C597-69C9-BD0B6635B3E1}"/>
          </ac:spMkLst>
        </pc:spChg>
      </pc:sldChg>
      <pc:sldChg chg="modSp">
        <pc:chgData name="Guttorm Schjelderup" userId="e0ac67c0-b505-4405-ab95-266cbfcd4586" providerId="ADAL" clId="{495AF721-4E66-5624-A6F1-D11890231467}" dt="2026-08-27T12:14:04.084" v="9581" actId="20577"/>
        <pc:sldMkLst>
          <pc:docMk/>
          <pc:sldMk cId="1297579060" sldId="674"/>
        </pc:sldMkLst>
        <pc:spChg chg="mod">
          <ac:chgData name="Guttorm Schjelderup" userId="e0ac67c0-b505-4405-ab95-266cbfcd4586" providerId="ADAL" clId="{495AF721-4E66-5624-A6F1-D11890231467}" dt="2026-08-27T12:14:04.084" v="9581" actId="20577"/>
          <ac:spMkLst>
            <pc:docMk/>
            <pc:sldMk cId="1297579060" sldId="674"/>
            <ac:spMk id="3" creationId="{F3B82F83-B688-56A0-1010-A0A3CC97DE46}"/>
          </ac:spMkLst>
        </pc:spChg>
      </pc:sldChg>
      <pc:sldChg chg="modSp new mod">
        <pc:chgData name="Guttorm Schjelderup" userId="e0ac67c0-b505-4405-ab95-266cbfcd4586" providerId="ADAL" clId="{495AF721-4E66-5624-A6F1-D11890231467}" dt="2026-08-27T12:13:15.738" v="9566" actId="790"/>
        <pc:sldMkLst>
          <pc:docMk/>
          <pc:sldMk cId="532284244" sldId="678"/>
        </pc:sldMkLst>
        <pc:spChg chg="mod">
          <ac:chgData name="Guttorm Schjelderup" userId="e0ac67c0-b505-4405-ab95-266cbfcd4586" providerId="ADAL" clId="{495AF721-4E66-5624-A6F1-D11890231467}" dt="2026-08-27T12:13:15.738" v="9566" actId="790"/>
          <ac:spMkLst>
            <pc:docMk/>
            <pc:sldMk cId="532284244" sldId="678"/>
            <ac:spMk id="2" creationId="{DAC1C56C-C9B9-2E8E-495C-09F3D749D95A}"/>
          </ac:spMkLst>
        </pc:spChg>
        <pc:spChg chg="mod">
          <ac:chgData name="Guttorm Schjelderup" userId="e0ac67c0-b505-4405-ab95-266cbfcd4586" providerId="ADAL" clId="{495AF721-4E66-5624-A6F1-D11890231467}" dt="2026-08-27T12:13:15.738" v="9566" actId="790"/>
          <ac:spMkLst>
            <pc:docMk/>
            <pc:sldMk cId="532284244" sldId="678"/>
            <ac:spMk id="3" creationId="{33E26E4D-B655-DD7B-8F23-1F7487F79FC4}"/>
          </ac:spMkLst>
        </pc:spChg>
        <pc:spChg chg="mod">
          <ac:chgData name="Guttorm Schjelderup" userId="e0ac67c0-b505-4405-ab95-266cbfcd4586" providerId="ADAL" clId="{495AF721-4E66-5624-A6F1-D11890231467}" dt="2026-08-27T12:13:15.738" v="9566" actId="790"/>
          <ac:spMkLst>
            <pc:docMk/>
            <pc:sldMk cId="532284244" sldId="678"/>
            <ac:spMk id="4" creationId="{BD889B8F-D50C-D4F0-0460-956F9BD82967}"/>
          </ac:spMkLst>
        </pc:spChg>
      </pc:sldChg>
      <pc:sldChg chg="modSp new mod">
        <pc:chgData name="Guttorm Schjelderup" userId="e0ac67c0-b505-4405-ab95-266cbfcd4586" providerId="ADAL" clId="{495AF721-4E66-5624-A6F1-D11890231467}" dt="2026-08-27T13:07:20.836" v="9921" actId="20577"/>
        <pc:sldMkLst>
          <pc:docMk/>
          <pc:sldMk cId="214221290" sldId="679"/>
        </pc:sldMkLst>
        <pc:spChg chg="mod">
          <ac:chgData name="Guttorm Schjelderup" userId="e0ac67c0-b505-4405-ab95-266cbfcd4586" providerId="ADAL" clId="{495AF721-4E66-5624-A6F1-D11890231467}" dt="2026-08-15T13:27:47.230" v="1248" actId="790"/>
          <ac:spMkLst>
            <pc:docMk/>
            <pc:sldMk cId="214221290" sldId="679"/>
            <ac:spMk id="2" creationId="{2F8203D7-DDBB-66B6-A77C-CA4A79668C2C}"/>
          </ac:spMkLst>
        </pc:spChg>
        <pc:spChg chg="mod">
          <ac:chgData name="Guttorm Schjelderup" userId="e0ac67c0-b505-4405-ab95-266cbfcd4586" providerId="ADAL" clId="{495AF721-4E66-5624-A6F1-D11890231467}" dt="2026-08-27T13:07:20.836" v="9921" actId="20577"/>
          <ac:spMkLst>
            <pc:docMk/>
            <pc:sldMk cId="214221290" sldId="679"/>
            <ac:spMk id="3" creationId="{E2DA56D3-8D69-F3F0-3546-75FF75F46E20}"/>
          </ac:spMkLst>
        </pc:spChg>
        <pc:spChg chg="mod">
          <ac:chgData name="Guttorm Schjelderup" userId="e0ac67c0-b505-4405-ab95-266cbfcd4586" providerId="ADAL" clId="{495AF721-4E66-5624-A6F1-D11890231467}" dt="2026-08-15T13:27:47.230" v="1248" actId="790"/>
          <ac:spMkLst>
            <pc:docMk/>
            <pc:sldMk cId="214221290" sldId="679"/>
            <ac:spMk id="4" creationId="{0603F5BB-6FBB-23D8-52DF-D8BD8202E52B}"/>
          </ac:spMkLst>
        </pc:spChg>
      </pc:sldChg>
      <pc:sldChg chg="modSp new mod modAnim">
        <pc:chgData name="Guttorm Schjelderup" userId="e0ac67c0-b505-4405-ab95-266cbfcd4586" providerId="ADAL" clId="{495AF721-4E66-5624-A6F1-D11890231467}" dt="2026-08-24T07:37:42.074" v="7118"/>
        <pc:sldMkLst>
          <pc:docMk/>
          <pc:sldMk cId="1689582176" sldId="680"/>
        </pc:sldMkLst>
        <pc:spChg chg="mod">
          <ac:chgData name="Guttorm Schjelderup" userId="e0ac67c0-b505-4405-ab95-266cbfcd4586" providerId="ADAL" clId="{495AF721-4E66-5624-A6F1-D11890231467}" dt="2026-08-24T07:37:34" v="7117" actId="790"/>
          <ac:spMkLst>
            <pc:docMk/>
            <pc:sldMk cId="1689582176" sldId="680"/>
            <ac:spMk id="2" creationId="{19890D3F-CF3C-96C3-01B0-B9F9465EE4D5}"/>
          </ac:spMkLst>
        </pc:spChg>
        <pc:spChg chg="mod">
          <ac:chgData name="Guttorm Schjelderup" userId="e0ac67c0-b505-4405-ab95-266cbfcd4586" providerId="ADAL" clId="{495AF721-4E66-5624-A6F1-D11890231467}" dt="2026-08-24T07:37:34" v="7117" actId="790"/>
          <ac:spMkLst>
            <pc:docMk/>
            <pc:sldMk cId="1689582176" sldId="680"/>
            <ac:spMk id="3" creationId="{262CC61F-20D6-9BAD-CE5D-DA1A8300AD9D}"/>
          </ac:spMkLst>
        </pc:spChg>
      </pc:sldChg>
      <pc:sldChg chg="add del">
        <pc:chgData name="Guttorm Schjelderup" userId="e0ac67c0-b505-4405-ab95-266cbfcd4586" providerId="ADAL" clId="{495AF721-4E66-5624-A6F1-D11890231467}" dt="2026-08-27T12:44:02.299" v="9919" actId="2696"/>
        <pc:sldMkLst>
          <pc:docMk/>
          <pc:sldMk cId="3204592247" sldId="682"/>
        </pc:sldMkLst>
      </pc:sldChg>
      <pc:sldChg chg="modSp new mod modAnim">
        <pc:chgData name="Guttorm Schjelderup" userId="e0ac67c0-b505-4405-ab95-266cbfcd4586" providerId="ADAL" clId="{495AF721-4E66-5624-A6F1-D11890231467}" dt="2026-08-27T13:36:36.032" v="11205" actId="27636"/>
        <pc:sldMkLst>
          <pc:docMk/>
          <pc:sldMk cId="671142906" sldId="683"/>
        </pc:sldMkLst>
        <pc:spChg chg="mod">
          <ac:chgData name="Guttorm Schjelderup" userId="e0ac67c0-b505-4405-ab95-266cbfcd4586" providerId="ADAL" clId="{495AF721-4E66-5624-A6F1-D11890231467}" dt="2026-08-17T13:40:30.980" v="4488" actId="14100"/>
          <ac:spMkLst>
            <pc:docMk/>
            <pc:sldMk cId="671142906" sldId="683"/>
            <ac:spMk id="2" creationId="{5F5EFBBC-B24A-F969-D93E-259FD9C524C8}"/>
          </ac:spMkLst>
        </pc:spChg>
        <pc:spChg chg="mod">
          <ac:chgData name="Guttorm Schjelderup" userId="e0ac67c0-b505-4405-ab95-266cbfcd4586" providerId="ADAL" clId="{495AF721-4E66-5624-A6F1-D11890231467}" dt="2026-08-27T13:36:36.032" v="11205" actId="27636"/>
          <ac:spMkLst>
            <pc:docMk/>
            <pc:sldMk cId="671142906" sldId="683"/>
            <ac:spMk id="3" creationId="{2E871C83-B908-C23E-0253-262130D8484F}"/>
          </ac:spMkLst>
        </pc:spChg>
      </pc:sldChg>
      <pc:sldChg chg="delSp modSp new mod">
        <pc:chgData name="Guttorm Schjelderup" userId="e0ac67c0-b505-4405-ab95-266cbfcd4586" providerId="ADAL" clId="{495AF721-4E66-5624-A6F1-D11890231467}" dt="2026-08-18T11:16:02.182" v="5936" actId="20577"/>
        <pc:sldMkLst>
          <pc:docMk/>
          <pc:sldMk cId="1457424135" sldId="686"/>
        </pc:sldMkLst>
        <pc:spChg chg="mod">
          <ac:chgData name="Guttorm Schjelderup" userId="e0ac67c0-b505-4405-ab95-266cbfcd4586" providerId="ADAL" clId="{495AF721-4E66-5624-A6F1-D11890231467}" dt="2026-08-18T11:16:02.182" v="5936" actId="20577"/>
          <ac:spMkLst>
            <pc:docMk/>
            <pc:sldMk cId="1457424135" sldId="686"/>
            <ac:spMk id="3" creationId="{DBDE294B-3C24-F47F-D06C-5F33DBC0500E}"/>
          </ac:spMkLst>
        </pc:spChg>
      </pc:sldChg>
      <pc:sldChg chg="modSp new mod modAnim">
        <pc:chgData name="Guttorm Schjelderup" userId="e0ac67c0-b505-4405-ab95-266cbfcd4586" providerId="ADAL" clId="{495AF721-4E66-5624-A6F1-D11890231467}" dt="2026-08-27T13:24:34.790" v="10996" actId="20577"/>
        <pc:sldMkLst>
          <pc:docMk/>
          <pc:sldMk cId="1192672544" sldId="688"/>
        </pc:sldMkLst>
        <pc:spChg chg="mod">
          <ac:chgData name="Guttorm Schjelderup" userId="e0ac67c0-b505-4405-ab95-266cbfcd4586" providerId="ADAL" clId="{495AF721-4E66-5624-A6F1-D11890231467}" dt="2026-08-27T13:24:25.087" v="10982" actId="790"/>
          <ac:spMkLst>
            <pc:docMk/>
            <pc:sldMk cId="1192672544" sldId="688"/>
            <ac:spMk id="2" creationId="{55339161-CACE-9190-A429-1138B841325F}"/>
          </ac:spMkLst>
        </pc:spChg>
        <pc:spChg chg="mod">
          <ac:chgData name="Guttorm Schjelderup" userId="e0ac67c0-b505-4405-ab95-266cbfcd4586" providerId="ADAL" clId="{495AF721-4E66-5624-A6F1-D11890231467}" dt="2026-08-27T13:24:34.790" v="10996" actId="20577"/>
          <ac:spMkLst>
            <pc:docMk/>
            <pc:sldMk cId="1192672544" sldId="688"/>
            <ac:spMk id="3" creationId="{F31A34CE-87CD-897C-245A-42D77408E776}"/>
          </ac:spMkLst>
        </pc:spChg>
      </pc:sldChg>
      <pc:sldChg chg="modSp add mod ord modAnim">
        <pc:chgData name="Guttorm Schjelderup" userId="e0ac67c0-b505-4405-ab95-266cbfcd4586" providerId="ADAL" clId="{495AF721-4E66-5624-A6F1-D11890231467}" dt="2026-08-27T13:31:23.770" v="11051" actId="20577"/>
        <pc:sldMkLst>
          <pc:docMk/>
          <pc:sldMk cId="515856490" sldId="689"/>
        </pc:sldMkLst>
        <pc:spChg chg="mod">
          <ac:chgData name="Guttorm Schjelderup" userId="e0ac67c0-b505-4405-ab95-266cbfcd4586" providerId="ADAL" clId="{495AF721-4E66-5624-A6F1-D11890231467}" dt="2026-08-24T13:12:00.288" v="8482" actId="313"/>
          <ac:spMkLst>
            <pc:docMk/>
            <pc:sldMk cId="515856490" sldId="689"/>
            <ac:spMk id="2" creationId="{9F4DED31-2CD0-E82F-7BD8-C78C81B05180}"/>
          </ac:spMkLst>
        </pc:spChg>
        <pc:spChg chg="mod">
          <ac:chgData name="Guttorm Schjelderup" userId="e0ac67c0-b505-4405-ab95-266cbfcd4586" providerId="ADAL" clId="{495AF721-4E66-5624-A6F1-D11890231467}" dt="2026-08-27T13:31:23.770" v="11051" actId="20577"/>
          <ac:spMkLst>
            <pc:docMk/>
            <pc:sldMk cId="515856490" sldId="689"/>
            <ac:spMk id="3" creationId="{6CFC5D64-4998-DD90-56E9-EF9009E1143D}"/>
          </ac:spMkLst>
        </pc:spChg>
      </pc:sldChg>
      <pc:sldChg chg="modSp new mod">
        <pc:chgData name="Guttorm Schjelderup" userId="e0ac67c0-b505-4405-ab95-266cbfcd4586" providerId="ADAL" clId="{495AF721-4E66-5624-A6F1-D11890231467}" dt="2026-08-24T08:50:26.367" v="8470" actId="20577"/>
        <pc:sldMkLst>
          <pc:docMk/>
          <pc:sldMk cId="414611506" sldId="690"/>
        </pc:sldMkLst>
        <pc:spChg chg="mod">
          <ac:chgData name="Guttorm Schjelderup" userId="e0ac67c0-b505-4405-ab95-266cbfcd4586" providerId="ADAL" clId="{495AF721-4E66-5624-A6F1-D11890231467}" dt="2026-08-24T08:50:19.646" v="8468" actId="20577"/>
          <ac:spMkLst>
            <pc:docMk/>
            <pc:sldMk cId="414611506" sldId="690"/>
            <ac:spMk id="2" creationId="{75F8FA7D-6F18-F72B-6E41-5F9991C0E409}"/>
          </ac:spMkLst>
        </pc:spChg>
        <pc:spChg chg="mod">
          <ac:chgData name="Guttorm Schjelderup" userId="e0ac67c0-b505-4405-ab95-266cbfcd4586" providerId="ADAL" clId="{495AF721-4E66-5624-A6F1-D11890231467}" dt="2026-08-24T08:50:26.367" v="8470" actId="20577"/>
          <ac:spMkLst>
            <pc:docMk/>
            <pc:sldMk cId="414611506" sldId="690"/>
            <ac:spMk id="3" creationId="{3168B8C6-EC28-B989-EAE0-3E6A4E17AABD}"/>
          </ac:spMkLst>
        </pc:spChg>
      </pc:sldChg>
      <pc:sldChg chg="modSp add mod">
        <pc:chgData name="Guttorm Schjelderup" userId="e0ac67c0-b505-4405-ab95-266cbfcd4586" providerId="ADAL" clId="{495AF721-4E66-5624-A6F1-D11890231467}" dt="2026-08-27T13:37:37.133" v="11206" actId="20577"/>
        <pc:sldMkLst>
          <pc:docMk/>
          <pc:sldMk cId="869663916" sldId="692"/>
        </pc:sldMkLst>
        <pc:spChg chg="mod">
          <ac:chgData name="Guttorm Schjelderup" userId="e0ac67c0-b505-4405-ab95-266cbfcd4586" providerId="ADAL" clId="{495AF721-4E66-5624-A6F1-D11890231467}" dt="2026-08-24T15:16:15.548" v="9425" actId="790"/>
          <ac:spMkLst>
            <pc:docMk/>
            <pc:sldMk cId="869663916" sldId="692"/>
            <ac:spMk id="2" creationId="{E7ED164E-D854-5FB7-D311-591CED4B40F9}"/>
          </ac:spMkLst>
        </pc:spChg>
        <pc:spChg chg="mod">
          <ac:chgData name="Guttorm Schjelderup" userId="e0ac67c0-b505-4405-ab95-266cbfcd4586" providerId="ADAL" clId="{495AF721-4E66-5624-A6F1-D11890231467}" dt="2026-08-27T13:37:37.133" v="11206" actId="20577"/>
          <ac:spMkLst>
            <pc:docMk/>
            <pc:sldMk cId="869663916" sldId="692"/>
            <ac:spMk id="3" creationId="{2B5CA4DC-5C1D-8F77-2D17-87419F4C7CC0}"/>
          </ac:spMkLst>
        </pc:spChg>
      </pc:sldChg>
      <pc:sldChg chg="add">
        <pc:chgData name="Guttorm Schjelderup" userId="e0ac67c0-b505-4405-ab95-266cbfcd4586" providerId="ADAL" clId="{495AF721-4E66-5624-A6F1-D11890231467}" dt="2026-08-24T13:10:37.373" v="8475"/>
        <pc:sldMkLst>
          <pc:docMk/>
          <pc:sldMk cId="0" sldId="693"/>
        </pc:sldMkLst>
      </pc:sldChg>
      <pc:sldChg chg="delSp add mod">
        <pc:chgData name="Guttorm Schjelderup" userId="e0ac67c0-b505-4405-ab95-266cbfcd4586" providerId="ADAL" clId="{495AF721-4E66-5624-A6F1-D11890231467}" dt="2026-08-27T13:38:49.977" v="11207" actId="478"/>
        <pc:sldMkLst>
          <pc:docMk/>
          <pc:sldMk cId="0" sldId="694"/>
        </pc:sldMkLst>
        <pc:spChg chg="del">
          <ac:chgData name="Guttorm Schjelderup" userId="e0ac67c0-b505-4405-ab95-266cbfcd4586" providerId="ADAL" clId="{495AF721-4E66-5624-A6F1-D11890231467}" dt="2026-08-27T13:38:49.977" v="11207" actId="478"/>
          <ac:spMkLst>
            <pc:docMk/>
            <pc:sldMk cId="0" sldId="694"/>
            <ac:spMk id="15" creationId="{00000000-0000-0000-0000-000000000000}"/>
          </ac:spMkLst>
        </pc:spChg>
      </pc:sldChg>
      <pc:sldChg chg="modSp add mod">
        <pc:chgData name="Guttorm Schjelderup" userId="e0ac67c0-b505-4405-ab95-266cbfcd4586" providerId="ADAL" clId="{495AF721-4E66-5624-A6F1-D11890231467}" dt="2026-08-27T13:39:49.617" v="11256" actId="20577"/>
        <pc:sldMkLst>
          <pc:docMk/>
          <pc:sldMk cId="1643444490" sldId="695"/>
        </pc:sldMkLst>
        <pc:spChg chg="mod">
          <ac:chgData name="Guttorm Schjelderup" userId="e0ac67c0-b505-4405-ab95-266cbfcd4586" providerId="ADAL" clId="{495AF721-4E66-5624-A6F1-D11890231467}" dt="2026-08-27T13:39:49.617" v="11256" actId="20577"/>
          <ac:spMkLst>
            <pc:docMk/>
            <pc:sldMk cId="1643444490" sldId="695"/>
            <ac:spMk id="3" creationId="{9AA458FC-A133-4C16-D0CA-BD232A09DFAE}"/>
          </ac:spMkLst>
        </pc:spChg>
      </pc:sldChg>
      <pc:sldChg chg="modSp new mod">
        <pc:chgData name="Guttorm Schjelderup" userId="e0ac67c0-b505-4405-ab95-266cbfcd4586" providerId="ADAL" clId="{495AF721-4E66-5624-A6F1-D11890231467}" dt="2026-08-27T13:16:19.504" v="10216" actId="5793"/>
        <pc:sldMkLst>
          <pc:docMk/>
          <pc:sldMk cId="820577858" sldId="696"/>
        </pc:sldMkLst>
        <pc:spChg chg="mod">
          <ac:chgData name="Guttorm Schjelderup" userId="e0ac67c0-b505-4405-ab95-266cbfcd4586" providerId="ADAL" clId="{495AF721-4E66-5624-A6F1-D11890231467}" dt="2026-08-27T13:15:59.964" v="10213" actId="20577"/>
          <ac:spMkLst>
            <pc:docMk/>
            <pc:sldMk cId="820577858" sldId="696"/>
            <ac:spMk id="2" creationId="{BB9D0C3D-D30F-BCD9-45E7-83F906AD0000}"/>
          </ac:spMkLst>
        </pc:spChg>
        <pc:spChg chg="mod">
          <ac:chgData name="Guttorm Schjelderup" userId="e0ac67c0-b505-4405-ab95-266cbfcd4586" providerId="ADAL" clId="{495AF721-4E66-5624-A6F1-D11890231467}" dt="2026-08-27T13:16:19.504" v="10216" actId="5793"/>
          <ac:spMkLst>
            <pc:docMk/>
            <pc:sldMk cId="820577858" sldId="696"/>
            <ac:spMk id="3" creationId="{1A13BA3C-2207-58AD-CC7A-A0D4E3779504}"/>
          </ac:spMkLst>
        </pc:spChg>
      </pc:sldChg>
      <pc:sldChg chg="new del">
        <pc:chgData name="Guttorm Schjelderup" userId="e0ac67c0-b505-4405-ab95-266cbfcd4586" providerId="ADAL" clId="{495AF721-4E66-5624-A6F1-D11890231467}" dt="2026-08-27T12:30:57.054" v="9688" actId="680"/>
        <pc:sldMkLst>
          <pc:docMk/>
          <pc:sldMk cId="118623333" sldId="697"/>
        </pc:sldMkLst>
      </pc:sldChg>
    </pc:docChg>
  </pc:docChgLst>
  <pc:docChgLst>
    <pc:chgData name="Guttorm Schjelderup" userId="e0ac67c0-b505-4405-ab95-266cbfcd4586" providerId="ADAL" clId="{A6A39AE8-E1CF-4F5D-BBAC-CEB80C096350}"/>
    <pc:docChg chg="undo custSel modSld">
      <pc:chgData name="Guttorm Schjelderup" userId="e0ac67c0-b505-4405-ab95-266cbfcd4586" providerId="ADAL" clId="{A6A39AE8-E1CF-4F5D-BBAC-CEB80C096350}" dt="2026-08-28T07:36:29.733" v="972" actId="20577"/>
      <pc:docMkLst>
        <pc:docMk/>
      </pc:docMkLst>
      <pc:sldChg chg="modSp">
        <pc:chgData name="Guttorm Schjelderup" userId="e0ac67c0-b505-4405-ab95-266cbfcd4586" providerId="ADAL" clId="{A6A39AE8-E1CF-4F5D-BBAC-CEB80C096350}" dt="2026-08-28T07:36:29.733" v="972" actId="20577"/>
        <pc:sldMkLst>
          <pc:docMk/>
          <pc:sldMk cId="236000273" sldId="355"/>
        </pc:sldMkLst>
        <pc:spChg chg="mod">
          <ac:chgData name="Guttorm Schjelderup" userId="e0ac67c0-b505-4405-ab95-266cbfcd4586" providerId="ADAL" clId="{A6A39AE8-E1CF-4F5D-BBAC-CEB80C096350}" dt="2026-08-28T07:36:29.733" v="972" actId="20577"/>
          <ac:spMkLst>
            <pc:docMk/>
            <pc:sldMk cId="236000273" sldId="355"/>
            <ac:spMk id="3" creationId="{80450C16-43A4-E4CD-C60B-A436EB26544C}"/>
          </ac:spMkLst>
        </pc:spChg>
      </pc:sldChg>
      <pc:sldChg chg="modSp mod modAnim">
        <pc:chgData name="Guttorm Schjelderup" userId="e0ac67c0-b505-4405-ab95-266cbfcd4586" providerId="ADAL" clId="{A6A39AE8-E1CF-4F5D-BBAC-CEB80C096350}" dt="2026-08-23T09:17:10.552" v="130" actId="20577"/>
        <pc:sldMkLst>
          <pc:docMk/>
          <pc:sldMk cId="2558211306" sldId="441"/>
        </pc:sldMkLst>
        <pc:spChg chg="mod">
          <ac:chgData name="Guttorm Schjelderup" userId="e0ac67c0-b505-4405-ab95-266cbfcd4586" providerId="ADAL" clId="{A6A39AE8-E1CF-4F5D-BBAC-CEB80C096350}" dt="2026-08-23T09:16:42.039" v="114" actId="2711"/>
          <ac:spMkLst>
            <pc:docMk/>
            <pc:sldMk cId="2558211306" sldId="441"/>
            <ac:spMk id="2" creationId="{B5A750C4-489F-54FD-8C8A-52844CAA5E70}"/>
          </ac:spMkLst>
        </pc:spChg>
        <pc:spChg chg="mod">
          <ac:chgData name="Guttorm Schjelderup" userId="e0ac67c0-b505-4405-ab95-266cbfcd4586" providerId="ADAL" clId="{A6A39AE8-E1CF-4F5D-BBAC-CEB80C096350}" dt="2026-08-23T09:17:10.552" v="130" actId="20577"/>
          <ac:spMkLst>
            <pc:docMk/>
            <pc:sldMk cId="2558211306" sldId="441"/>
            <ac:spMk id="3" creationId="{D72A6948-BCA2-A5DF-2322-F6F882C01EE6}"/>
          </ac:spMkLst>
        </pc:spChg>
      </pc:sldChg>
      <pc:sldChg chg="modSp mod modAnim">
        <pc:chgData name="Guttorm Schjelderup" userId="e0ac67c0-b505-4405-ab95-266cbfcd4586" providerId="ADAL" clId="{A6A39AE8-E1CF-4F5D-BBAC-CEB80C096350}" dt="2026-08-23T09:22:46.688" v="232" actId="5793"/>
        <pc:sldMkLst>
          <pc:docMk/>
          <pc:sldMk cId="2339019078" sldId="443"/>
        </pc:sldMkLst>
        <pc:spChg chg="mod">
          <ac:chgData name="Guttorm Schjelderup" userId="e0ac67c0-b505-4405-ab95-266cbfcd4586" providerId="ADAL" clId="{A6A39AE8-E1CF-4F5D-BBAC-CEB80C096350}" dt="2026-08-23T09:22:46.688" v="232" actId="5793"/>
          <ac:spMkLst>
            <pc:docMk/>
            <pc:sldMk cId="2339019078" sldId="443"/>
            <ac:spMk id="3" creationId="{3A29D8F6-315B-8FFE-3403-8121C7124E15}"/>
          </ac:spMkLst>
        </pc:spChg>
      </pc:sldChg>
      <pc:sldChg chg="modSp mod modAnim">
        <pc:chgData name="Guttorm Schjelderup" userId="e0ac67c0-b505-4405-ab95-266cbfcd4586" providerId="ADAL" clId="{A6A39AE8-E1CF-4F5D-BBAC-CEB80C096350}" dt="2026-08-28T07:25:02.397" v="954" actId="20577"/>
        <pc:sldMkLst>
          <pc:docMk/>
          <pc:sldMk cId="2243948738" sldId="616"/>
        </pc:sldMkLst>
        <pc:spChg chg="mod">
          <ac:chgData name="Guttorm Schjelderup" userId="e0ac67c0-b505-4405-ab95-266cbfcd4586" providerId="ADAL" clId="{A6A39AE8-E1CF-4F5D-BBAC-CEB80C096350}" dt="2026-08-23T09:21:27.094" v="190" actId="1076"/>
          <ac:spMkLst>
            <pc:docMk/>
            <pc:sldMk cId="2243948738" sldId="616"/>
            <ac:spMk id="2" creationId="{64003810-8036-0C6E-460A-A39C8396639D}"/>
          </ac:spMkLst>
        </pc:spChg>
        <pc:spChg chg="mod">
          <ac:chgData name="Guttorm Schjelderup" userId="e0ac67c0-b505-4405-ab95-266cbfcd4586" providerId="ADAL" clId="{A6A39AE8-E1CF-4F5D-BBAC-CEB80C096350}" dt="2026-08-28T07:25:02.397" v="954" actId="20577"/>
          <ac:spMkLst>
            <pc:docMk/>
            <pc:sldMk cId="2243948738" sldId="616"/>
            <ac:spMk id="3" creationId="{265F13E0-07DD-FA02-3B6B-71EBD12B8055}"/>
          </ac:spMkLst>
        </pc:spChg>
      </pc:sldChg>
      <pc:sldChg chg="modSp mod">
        <pc:chgData name="Guttorm Schjelderup" userId="e0ac67c0-b505-4405-ab95-266cbfcd4586" providerId="ADAL" clId="{A6A39AE8-E1CF-4F5D-BBAC-CEB80C096350}" dt="2026-08-28T07:23:52.891" v="946" actId="20577"/>
        <pc:sldMkLst>
          <pc:docMk/>
          <pc:sldMk cId="2173165157" sldId="622"/>
        </pc:sldMkLst>
        <pc:spChg chg="mod">
          <ac:chgData name="Guttorm Schjelderup" userId="e0ac67c0-b505-4405-ab95-266cbfcd4586" providerId="ADAL" clId="{A6A39AE8-E1CF-4F5D-BBAC-CEB80C096350}" dt="2026-08-28T07:23:52.891" v="946" actId="20577"/>
          <ac:spMkLst>
            <pc:docMk/>
            <pc:sldMk cId="2173165157" sldId="622"/>
            <ac:spMk id="3" creationId="{7DE54A02-9583-3DC7-5AD1-F26FB87BD0A4}"/>
          </ac:spMkLst>
        </pc:spChg>
      </pc:sldChg>
      <pc:sldChg chg="modSp">
        <pc:chgData name="Guttorm Schjelderup" userId="e0ac67c0-b505-4405-ab95-266cbfcd4586" providerId="ADAL" clId="{A6A39AE8-E1CF-4F5D-BBAC-CEB80C096350}" dt="2026-08-23T09:35:41.970" v="703" actId="20577"/>
        <pc:sldMkLst>
          <pc:docMk/>
          <pc:sldMk cId="252377995" sldId="624"/>
        </pc:sldMkLst>
        <pc:spChg chg="mod">
          <ac:chgData name="Guttorm Schjelderup" userId="e0ac67c0-b505-4405-ab95-266cbfcd4586" providerId="ADAL" clId="{A6A39AE8-E1CF-4F5D-BBAC-CEB80C096350}" dt="2026-08-23T09:35:41.970" v="703" actId="20577"/>
          <ac:spMkLst>
            <pc:docMk/>
            <pc:sldMk cId="252377995" sldId="624"/>
            <ac:spMk id="3" creationId="{AA53823A-A0C1-117C-94A5-88FC173FBBFB}"/>
          </ac:spMkLst>
        </pc:spChg>
      </pc:sldChg>
      <pc:sldChg chg="modSp mod">
        <pc:chgData name="Guttorm Schjelderup" userId="e0ac67c0-b505-4405-ab95-266cbfcd4586" providerId="ADAL" clId="{A6A39AE8-E1CF-4F5D-BBAC-CEB80C096350}" dt="2026-08-23T09:37:45.812" v="945" actId="20577"/>
        <pc:sldMkLst>
          <pc:docMk/>
          <pc:sldMk cId="1326396163" sldId="625"/>
        </pc:sldMkLst>
        <pc:spChg chg="mod">
          <ac:chgData name="Guttorm Schjelderup" userId="e0ac67c0-b505-4405-ab95-266cbfcd4586" providerId="ADAL" clId="{A6A39AE8-E1CF-4F5D-BBAC-CEB80C096350}" dt="2026-08-23T09:35:56.367" v="705" actId="2711"/>
          <ac:spMkLst>
            <pc:docMk/>
            <pc:sldMk cId="1326396163" sldId="625"/>
            <ac:spMk id="2" creationId="{582BA807-F31D-99AF-733C-4D6F7576B68D}"/>
          </ac:spMkLst>
        </pc:spChg>
        <pc:spChg chg="mod">
          <ac:chgData name="Guttorm Schjelderup" userId="e0ac67c0-b505-4405-ab95-266cbfcd4586" providerId="ADAL" clId="{A6A39AE8-E1CF-4F5D-BBAC-CEB80C096350}" dt="2026-08-23T09:37:45.812" v="945" actId="20577"/>
          <ac:spMkLst>
            <pc:docMk/>
            <pc:sldMk cId="1326396163" sldId="625"/>
            <ac:spMk id="3" creationId="{32BA1D03-ADD8-85ED-EC5C-A81ACFEE6E2C}"/>
          </ac:spMkLst>
        </pc:spChg>
      </pc:sldChg>
      <pc:sldChg chg="modSp mod modAnim">
        <pc:chgData name="Guttorm Schjelderup" userId="e0ac67c0-b505-4405-ab95-266cbfcd4586" providerId="ADAL" clId="{A6A39AE8-E1CF-4F5D-BBAC-CEB80C096350}" dt="2026-08-23T09:29:58.168" v="622"/>
        <pc:sldMkLst>
          <pc:docMk/>
          <pc:sldMk cId="2055266921" sldId="658"/>
        </pc:sldMkLst>
        <pc:spChg chg="mod">
          <ac:chgData name="Guttorm Schjelderup" userId="e0ac67c0-b505-4405-ab95-266cbfcd4586" providerId="ADAL" clId="{A6A39AE8-E1CF-4F5D-BBAC-CEB80C096350}" dt="2026-08-23T09:29:02.486" v="515" actId="2711"/>
          <ac:spMkLst>
            <pc:docMk/>
            <pc:sldMk cId="2055266921" sldId="658"/>
            <ac:spMk id="2" creationId="{DA1D8BC4-C2E9-56EB-1ACE-92CB61B98537}"/>
          </ac:spMkLst>
        </pc:spChg>
        <pc:spChg chg="mod">
          <ac:chgData name="Guttorm Schjelderup" userId="e0ac67c0-b505-4405-ab95-266cbfcd4586" providerId="ADAL" clId="{A6A39AE8-E1CF-4F5D-BBAC-CEB80C096350}" dt="2026-08-23T09:29:52.701" v="621" actId="20577"/>
          <ac:spMkLst>
            <pc:docMk/>
            <pc:sldMk cId="2055266921" sldId="658"/>
            <ac:spMk id="3" creationId="{ED6A4122-CBF9-99A2-AD02-F8B4DCE46A29}"/>
          </ac:spMkLst>
        </pc:spChg>
      </pc:sldChg>
      <pc:sldChg chg="modSp mod">
        <pc:chgData name="Guttorm Schjelderup" userId="e0ac67c0-b505-4405-ab95-266cbfcd4586" providerId="ADAL" clId="{A6A39AE8-E1CF-4F5D-BBAC-CEB80C096350}" dt="2026-08-23T09:30:28.198" v="660" actId="20577"/>
        <pc:sldMkLst>
          <pc:docMk/>
          <pc:sldMk cId="3373586055" sldId="659"/>
        </pc:sldMkLst>
        <pc:spChg chg="mod">
          <ac:chgData name="Guttorm Schjelderup" userId="e0ac67c0-b505-4405-ab95-266cbfcd4586" providerId="ADAL" clId="{A6A39AE8-E1CF-4F5D-BBAC-CEB80C096350}" dt="2026-08-23T09:30:28.198" v="660" actId="20577"/>
          <ac:spMkLst>
            <pc:docMk/>
            <pc:sldMk cId="3373586055" sldId="659"/>
            <ac:spMk id="3" creationId="{588BA6F6-13E4-EA45-C67A-74DD9977C33B}"/>
          </ac:spMkLst>
        </pc:spChg>
      </pc:sldChg>
      <pc:sldChg chg="modSp mod">
        <pc:chgData name="Guttorm Schjelderup" userId="e0ac67c0-b505-4405-ab95-266cbfcd4586" providerId="ADAL" clId="{A6A39AE8-E1CF-4F5D-BBAC-CEB80C096350}" dt="2026-08-23T09:14:55.106" v="14" actId="20577"/>
        <pc:sldMkLst>
          <pc:docMk/>
          <pc:sldMk cId="3175502172" sldId="667"/>
        </pc:sldMkLst>
        <pc:spChg chg="mod">
          <ac:chgData name="Guttorm Schjelderup" userId="e0ac67c0-b505-4405-ab95-266cbfcd4586" providerId="ADAL" clId="{A6A39AE8-E1CF-4F5D-BBAC-CEB80C096350}" dt="2026-08-23T09:14:55.106" v="14" actId="20577"/>
          <ac:spMkLst>
            <pc:docMk/>
            <pc:sldMk cId="3175502172" sldId="667"/>
            <ac:spMk id="3" creationId="{FA375042-D07D-5095-11CB-90B8D12C5CAE}"/>
          </ac:spMkLst>
        </pc:spChg>
      </pc:sldChg>
      <pc:sldChg chg="modSp mod">
        <pc:chgData name="Guttorm Schjelderup" userId="e0ac67c0-b505-4405-ab95-266cbfcd4586" providerId="ADAL" clId="{A6A39AE8-E1CF-4F5D-BBAC-CEB80C096350}" dt="2026-08-28T07:26:54.355" v="955" actId="20577"/>
        <pc:sldMkLst>
          <pc:docMk/>
          <pc:sldMk cId="571079418" sldId="668"/>
        </pc:sldMkLst>
        <pc:spChg chg="mod">
          <ac:chgData name="Guttorm Schjelderup" userId="e0ac67c0-b505-4405-ab95-266cbfcd4586" providerId="ADAL" clId="{A6A39AE8-E1CF-4F5D-BBAC-CEB80C096350}" dt="2026-08-28T07:26:54.355" v="955" actId="20577"/>
          <ac:spMkLst>
            <pc:docMk/>
            <pc:sldMk cId="571079418" sldId="668"/>
            <ac:spMk id="2" creationId="{5BF0D3CE-1816-1F9F-7012-9B21FB954956}"/>
          </ac:spMkLst>
        </pc:spChg>
      </pc:sldChg>
      <pc:sldChg chg="modSp">
        <pc:chgData name="Guttorm Schjelderup" userId="e0ac67c0-b505-4405-ab95-266cbfcd4586" providerId="ADAL" clId="{A6A39AE8-E1CF-4F5D-BBAC-CEB80C096350}" dt="2026-08-23T09:34:57.916" v="685" actId="20577"/>
        <pc:sldMkLst>
          <pc:docMk/>
          <pc:sldMk cId="3154350323" sldId="673"/>
        </pc:sldMkLst>
        <pc:spChg chg="mod">
          <ac:chgData name="Guttorm Schjelderup" userId="e0ac67c0-b505-4405-ab95-266cbfcd4586" providerId="ADAL" clId="{A6A39AE8-E1CF-4F5D-BBAC-CEB80C096350}" dt="2026-08-23T09:34:57.916" v="685" actId="20577"/>
          <ac:spMkLst>
            <pc:docMk/>
            <pc:sldMk cId="3154350323" sldId="673"/>
            <ac:spMk id="3" creationId="{47EE2A4F-4C30-C597-69C9-BD0B6635B3E1}"/>
          </ac:spMkLst>
        </pc:spChg>
      </pc:sldChg>
      <pc:sldChg chg="modSp mod modAnim">
        <pc:chgData name="Guttorm Schjelderup" userId="e0ac67c0-b505-4405-ab95-266cbfcd4586" providerId="ADAL" clId="{A6A39AE8-E1CF-4F5D-BBAC-CEB80C096350}" dt="2026-08-23T09:28:44.929" v="513" actId="2711"/>
        <pc:sldMkLst>
          <pc:docMk/>
          <pc:sldMk cId="1297579060" sldId="674"/>
        </pc:sldMkLst>
        <pc:spChg chg="mod">
          <ac:chgData name="Guttorm Schjelderup" userId="e0ac67c0-b505-4405-ab95-266cbfcd4586" providerId="ADAL" clId="{A6A39AE8-E1CF-4F5D-BBAC-CEB80C096350}" dt="2026-08-23T09:28:44.929" v="513" actId="2711"/>
          <ac:spMkLst>
            <pc:docMk/>
            <pc:sldMk cId="1297579060" sldId="674"/>
            <ac:spMk id="2" creationId="{695C1107-6CF1-7147-0B55-C732FFB38665}"/>
          </ac:spMkLst>
        </pc:spChg>
        <pc:spChg chg="mod">
          <ac:chgData name="Guttorm Schjelderup" userId="e0ac67c0-b505-4405-ab95-266cbfcd4586" providerId="ADAL" clId="{A6A39AE8-E1CF-4F5D-BBAC-CEB80C096350}" dt="2026-08-23T09:28:38.013" v="511" actId="403"/>
          <ac:spMkLst>
            <pc:docMk/>
            <pc:sldMk cId="1297579060" sldId="674"/>
            <ac:spMk id="3" creationId="{F3B82F83-B688-56A0-1010-A0A3CC97DE46}"/>
          </ac:spMkLst>
        </pc:spChg>
      </pc:sldChg>
      <pc:sldChg chg="modSp mod modAnim">
        <pc:chgData name="Guttorm Schjelderup" userId="e0ac67c0-b505-4405-ab95-266cbfcd4586" providerId="ADAL" clId="{A6A39AE8-E1CF-4F5D-BBAC-CEB80C096350}" dt="2026-08-23T09:24:46.582" v="474"/>
        <pc:sldMkLst>
          <pc:docMk/>
          <pc:sldMk cId="532284244" sldId="678"/>
        </pc:sldMkLst>
        <pc:spChg chg="mod">
          <ac:chgData name="Guttorm Schjelderup" userId="e0ac67c0-b505-4405-ab95-266cbfcd4586" providerId="ADAL" clId="{A6A39AE8-E1CF-4F5D-BBAC-CEB80C096350}" dt="2026-08-23T09:24:37.843" v="473" actId="207"/>
          <ac:spMkLst>
            <pc:docMk/>
            <pc:sldMk cId="532284244" sldId="678"/>
            <ac:spMk id="3" creationId="{33E26E4D-B655-DD7B-8F23-1F7487F79FC4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image" Target="../media/image1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4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4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F335AA-382F-4D47-9249-361BEA1AFC77}" type="doc">
      <dgm:prSet loTypeId="urn:microsoft.com/office/officeart/2008/layout/LinedList" loCatId="list" qsTypeId="urn:microsoft.com/office/officeart/2005/8/quickstyle/simple1#89" qsCatId="simple" csTypeId="urn:microsoft.com/office/officeart/2005/8/colors/accent1_2#45" csCatId="accent1" phldr="1"/>
      <dgm:spPr/>
      <dgm:t>
        <a:bodyPr/>
        <a:lstStyle/>
        <a:p>
          <a:endParaRPr lang="en-US"/>
        </a:p>
      </dgm:t>
    </dgm:pt>
    <dgm:pt modelId="{CF1B1BB9-F812-4008-8CB8-B4591430D477}">
      <dgm:prSet custT="1"/>
      <dgm:spPr/>
      <dgm:t>
        <a:bodyPr/>
        <a:lstStyle/>
        <a:p>
          <a:r>
            <a:rPr lang="nb-NO" sz="3000" noProof="0"/>
            <a:t>Skattbar eierinntekt = utbetalt utbytte – skjermingsfradrag</a:t>
          </a:r>
          <a:endParaRPr lang="nb-NO" sz="3000" noProof="0" dirty="0"/>
        </a:p>
      </dgm:t>
    </dgm:pt>
    <dgm:pt modelId="{697E93FF-AB1D-4417-82D1-0AF7B39D1E89}" type="parTrans" cxnId="{49FDBEC6-46E2-44C7-9161-B77D2E058842}">
      <dgm:prSet/>
      <dgm:spPr/>
      <dgm:t>
        <a:bodyPr/>
        <a:lstStyle/>
        <a:p>
          <a:endParaRPr lang="en-US"/>
        </a:p>
      </dgm:t>
    </dgm:pt>
    <dgm:pt modelId="{0B56659B-3A58-4AB0-8791-F3D44276E474}" type="sibTrans" cxnId="{49FDBEC6-46E2-44C7-9161-B77D2E058842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93BAF0EB-F442-4D4F-BD3A-EE9663E52D6B}">
          <dgm:prSet custT="1"/>
          <dgm:spPr/>
          <dgm:t>
            <a:bodyPr/>
            <a:lstStyle/>
            <a:p>
              <a:r>
                <a:rPr lang="nb-NO" sz="3000" noProof="0" dirty="0"/>
                <a:t>Skjermingsfradraget = skjermingsgrunnlaget * skjermingsrenten (</a:t>
              </a:r>
              <a14:m>
                <m:oMath xmlns:m="http://schemas.openxmlformats.org/officeDocument/2006/math">
                  <m:r>
                    <a:rPr lang="nb-NO" sz="3000" i="1" noProof="0" dirty="0" smtClean="0">
                      <a:solidFill>
                        <a:srgbClr val="FF0000"/>
                      </a:solidFill>
                      <a:latin typeface="Cambria Math" panose="02040503050406030204" pitchFamily="18" charset="0"/>
                    </a:rPr>
                    <m:t>𝑅</m:t>
                  </m:r>
                </m:oMath>
              </a14:m>
              <a:r>
                <a:rPr lang="nb-NO" sz="3000" noProof="0" dirty="0"/>
                <a:t>).</a:t>
              </a:r>
            </a:p>
          </dgm:t>
        </dgm:pt>
      </mc:Choice>
      <mc:Fallback>
        <dgm:pt modelId="{93BAF0EB-F442-4D4F-BD3A-EE9663E52D6B}">
          <dgm:prSet custT="1"/>
          <dgm:spPr/>
          <dgm:t>
            <a:bodyPr/>
            <a:lstStyle/>
            <a:p>
              <a:r>
                <a:rPr lang="nb-NO" sz="3000" noProof="0" dirty="0"/>
                <a:t>Skjermingsfradraget = skjermingsgrunnlaget * skjermingsrenten (</a:t>
              </a:r>
              <a:r>
                <a:rPr lang="nb-NO" sz="3000" i="0" noProof="0" dirty="0">
                  <a:solidFill>
                    <a:srgbClr val="FF0000"/>
                  </a:solidFill>
                  <a:latin typeface="Cambria Math" panose="02040503050406030204" pitchFamily="18" charset="0"/>
                </a:rPr>
                <a:t>𝑅</a:t>
              </a:r>
              <a:r>
                <a:rPr lang="nb-NO" sz="3000" noProof="0" dirty="0"/>
                <a:t>).</a:t>
              </a:r>
            </a:p>
          </dgm:t>
        </dgm:pt>
      </mc:Fallback>
    </mc:AlternateContent>
    <dgm:pt modelId="{9ABC3A82-3100-407E-8024-5903E316402D}" type="parTrans" cxnId="{C8D469E7-E7DC-4F07-BAFB-09B8C142F11D}">
      <dgm:prSet/>
      <dgm:spPr/>
      <dgm:t>
        <a:bodyPr/>
        <a:lstStyle/>
        <a:p>
          <a:endParaRPr lang="en-US"/>
        </a:p>
      </dgm:t>
    </dgm:pt>
    <dgm:pt modelId="{DC785CFD-0FBC-4F5D-B79D-FD9CA4F49FFA}" type="sibTrans" cxnId="{C8D469E7-E7DC-4F07-BAFB-09B8C142F11D}">
      <dgm:prSet/>
      <dgm:spPr/>
      <dgm:t>
        <a:bodyPr/>
        <a:lstStyle/>
        <a:p>
          <a:endParaRPr lang="en-US"/>
        </a:p>
      </dgm:t>
    </dgm:pt>
    <dgm:pt modelId="{49215797-34D9-4572-8E42-B0C507CCCD75}">
      <dgm:prSet custT="1"/>
      <dgm:spPr/>
      <dgm:t>
        <a:bodyPr/>
        <a:lstStyle/>
        <a:p>
          <a:r>
            <a:rPr lang="nb-NO" sz="3000" noProof="0"/>
            <a:t>Skjermingsgrunnlaget er aksjens kostpris (det du kjøpte aksjen for)</a:t>
          </a:r>
          <a:endParaRPr lang="nb-NO" sz="3000" noProof="0" dirty="0"/>
        </a:p>
      </dgm:t>
    </dgm:pt>
    <dgm:pt modelId="{EE9EA27D-7B9C-4946-8478-8D037AA6A45E}" type="parTrans" cxnId="{145EF059-2E79-443E-AAF3-E584B5A6A5F1}">
      <dgm:prSet/>
      <dgm:spPr/>
      <dgm:t>
        <a:bodyPr/>
        <a:lstStyle/>
        <a:p>
          <a:endParaRPr lang="en-US"/>
        </a:p>
      </dgm:t>
    </dgm:pt>
    <dgm:pt modelId="{9073B1A9-7D79-4A4B-8456-6440EE6D157A}" type="sibTrans" cxnId="{145EF059-2E79-443E-AAF3-E584B5A6A5F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DC5D1F55-C19C-4B5A-9963-6556CDE41DF3}">
          <dgm:prSet custT="1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nb-NO" sz="3000" i="1" noProof="0" dirty="0" smtClean="0">
                      <a:solidFill>
                        <a:srgbClr val="FF0000"/>
                      </a:solidFill>
                      <a:latin typeface="Cambria Math" panose="02040503050406030204" pitchFamily="18" charset="0"/>
                    </a:rPr>
                    <m:t>𝑅</m:t>
                  </m:r>
                </m:oMath>
              </a14:m>
              <a:r>
                <a:rPr lang="nb-NO" sz="3000" noProof="0" dirty="0"/>
                <a:t>= rente 3 mnd. statskasseveksler (</a:t>
              </a:r>
              <a:r>
                <a:rPr lang="nb-NO" sz="3000" noProof="0" dirty="0">
                  <a:solidFill>
                    <a:srgbClr val="FF0000"/>
                  </a:solidFill>
                </a:rPr>
                <a:t>r</a:t>
              </a:r>
              <a:r>
                <a:rPr lang="nb-NO" sz="3000" noProof="0" dirty="0"/>
                <a:t>) + risikotillegg (</a:t>
              </a:r>
              <a:r>
                <a:rPr lang="nb-NO" sz="3000" noProof="0" dirty="0">
                  <a:solidFill>
                    <a:schemeClr val="tx1"/>
                  </a:solidFill>
                </a:rPr>
                <a:t>0,5%) </a:t>
              </a:r>
              <a:r>
                <a:rPr lang="nb-NO" sz="3000" noProof="0" dirty="0"/>
                <a:t>men justert for den alminnelige skattesatsen (</a:t>
              </a:r>
              <a:r>
                <a:rPr lang="nb-NO" sz="3000" noProof="0" dirty="0">
                  <a:solidFill>
                    <a:schemeClr val="tx1"/>
                  </a:solidFill>
                </a:rPr>
                <a:t>22%</a:t>
              </a:r>
              <a:r>
                <a:rPr lang="nb-NO" sz="3000" noProof="0" dirty="0"/>
                <a:t>): </a:t>
              </a:r>
            </a:p>
            <a:p>
              <a:pPr/>
              <a14:m>
                <m:oMathPara xmlns:m="http://schemas.openxmlformats.org/officeDocument/2006/math">
                  <m:oMath>
                    <m:r>
                      <a:rPr lang="en-US" sz="3000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000" b="0" i="1" noProof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000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000" b="0" i="1" noProof="0" smtClean="0">
                        <a:latin typeface="Cambria Math" panose="02040503050406030204" pitchFamily="18" charset="0"/>
                      </a:rPr>
                      <m:t>+0,5)(100%−22%)</m:t>
                    </m:r>
                  </m:oMath>
                </m:oMathPara>
              </a14:m>
              <a:endParaRPr lang="nb-NO" sz="3000" noProof="0" dirty="0"/>
            </a:p>
            <a:p>
              <a:r>
                <a:rPr lang="nb-NO" sz="2800" noProof="0" dirty="0"/>
                <a:t>	</a:t>
              </a:r>
            </a:p>
          </dgm:t>
        </dgm:pt>
      </mc:Choice>
      <mc:Fallback>
        <dgm:pt modelId="{DC5D1F55-C19C-4B5A-9963-6556CDE41DF3}">
          <dgm:prSet custT="1"/>
          <dgm:spPr/>
          <dgm:t>
            <a:bodyPr/>
            <a:lstStyle/>
            <a:p>
              <a:r>
                <a:rPr lang="nb-NO" sz="3000" i="0" noProof="0" dirty="0">
                  <a:solidFill>
                    <a:srgbClr val="FF0000"/>
                  </a:solidFill>
                  <a:latin typeface="Cambria Math" panose="02040503050406030204" pitchFamily="18" charset="0"/>
                </a:rPr>
                <a:t>𝑅</a:t>
              </a:r>
              <a:r>
                <a:rPr lang="nb-NO" sz="3000" noProof="0" dirty="0"/>
                <a:t>= rente 3 mnd. statskasseveksler (</a:t>
              </a:r>
              <a:r>
                <a:rPr lang="nb-NO" sz="3000" noProof="0" dirty="0">
                  <a:solidFill>
                    <a:srgbClr val="FF0000"/>
                  </a:solidFill>
                </a:rPr>
                <a:t>r</a:t>
              </a:r>
              <a:r>
                <a:rPr lang="nb-NO" sz="3000" noProof="0" dirty="0"/>
                <a:t>) + risikotillegg (</a:t>
              </a:r>
              <a:r>
                <a:rPr lang="nb-NO" sz="3000" noProof="0" dirty="0">
                  <a:solidFill>
                    <a:schemeClr val="tx1"/>
                  </a:solidFill>
                </a:rPr>
                <a:t>0,5%) </a:t>
              </a:r>
              <a:r>
                <a:rPr lang="nb-NO" sz="3000" noProof="0" dirty="0"/>
                <a:t>men justert for den alminnelige skattesatsen (</a:t>
              </a:r>
              <a:r>
                <a:rPr lang="nb-NO" sz="3000" noProof="0" dirty="0">
                  <a:solidFill>
                    <a:schemeClr val="tx1"/>
                  </a:solidFill>
                </a:rPr>
                <a:t>22%</a:t>
              </a:r>
              <a:r>
                <a:rPr lang="nb-NO" sz="3000" noProof="0" dirty="0"/>
                <a:t>): </a:t>
              </a:r>
            </a:p>
            <a:p>
              <a:pPr/>
              <a:r>
                <a:rPr lang="en-US" sz="3000" b="0" i="0" noProof="0">
                  <a:solidFill>
                    <a:srgbClr val="FF0000"/>
                  </a:solidFill>
                  <a:latin typeface="Cambria Math" panose="02040503050406030204" pitchFamily="18" charset="0"/>
                </a:rPr>
                <a:t>𝑅</a:t>
              </a:r>
              <a:r>
                <a:rPr lang="en-US" sz="3000" b="0" i="0" noProof="0">
                  <a:latin typeface="Cambria Math" panose="02040503050406030204" pitchFamily="18" charset="0"/>
                </a:rPr>
                <a:t>=(</a:t>
              </a:r>
              <a:r>
                <a:rPr lang="en-US" sz="3000" b="0" i="0" noProof="0">
                  <a:solidFill>
                    <a:srgbClr val="FF0000"/>
                  </a:solidFill>
                  <a:latin typeface="Cambria Math" panose="02040503050406030204" pitchFamily="18" charset="0"/>
                </a:rPr>
                <a:t>𝑟</a:t>
              </a:r>
              <a:r>
                <a:rPr lang="en-US" sz="3000" b="0" i="0" noProof="0">
                  <a:latin typeface="Cambria Math" panose="02040503050406030204" pitchFamily="18" charset="0"/>
                </a:rPr>
                <a:t>+0,5)(100%−22%)</a:t>
              </a:r>
              <a:endParaRPr lang="nb-NO" sz="3000" noProof="0" dirty="0"/>
            </a:p>
            <a:p>
              <a:r>
                <a:rPr lang="nb-NO" sz="2800" noProof="0" dirty="0"/>
                <a:t>	</a:t>
              </a:r>
            </a:p>
          </dgm:t>
        </dgm:pt>
      </mc:Fallback>
    </mc:AlternateContent>
    <dgm:pt modelId="{2F7341D4-987C-4748-AD7E-F4188C1C5BDF}" type="parTrans" cxnId="{5EB12D93-2ADD-4D64-9406-C5AE8AC1C145}">
      <dgm:prSet/>
      <dgm:spPr/>
      <dgm:t>
        <a:bodyPr/>
        <a:lstStyle/>
        <a:p>
          <a:endParaRPr lang="en-US"/>
        </a:p>
      </dgm:t>
    </dgm:pt>
    <dgm:pt modelId="{F2A2931E-55BD-4C25-B45B-664B9966566A}" type="sibTrans" cxnId="{5EB12D93-2ADD-4D64-9406-C5AE8AC1C145}">
      <dgm:prSet/>
      <dgm:spPr/>
      <dgm:t>
        <a:bodyPr/>
        <a:lstStyle/>
        <a:p>
          <a:endParaRPr lang="en-US"/>
        </a:p>
      </dgm:t>
    </dgm:pt>
    <dgm:pt modelId="{DB8B8A0B-90F1-4590-AE1C-F256E99076BD}" type="pres">
      <dgm:prSet presAssocID="{89F335AA-382F-4D47-9249-361BEA1AFC77}" presName="vert0" presStyleCnt="0">
        <dgm:presLayoutVars>
          <dgm:dir/>
          <dgm:animOne val="branch"/>
          <dgm:animLvl val="lvl"/>
        </dgm:presLayoutVars>
      </dgm:prSet>
      <dgm:spPr/>
    </dgm:pt>
    <dgm:pt modelId="{DAF83A94-61FE-4D56-901C-7B21C4840072}" type="pres">
      <dgm:prSet presAssocID="{CF1B1BB9-F812-4008-8CB8-B4591430D477}" presName="thickLine" presStyleLbl="alignNode1" presStyleIdx="0" presStyleCnt="4"/>
      <dgm:spPr/>
    </dgm:pt>
    <dgm:pt modelId="{0B322A21-9CD8-42B3-A36F-FC3C391D9149}" type="pres">
      <dgm:prSet presAssocID="{CF1B1BB9-F812-4008-8CB8-B4591430D477}" presName="horz1" presStyleCnt="0"/>
      <dgm:spPr/>
    </dgm:pt>
    <dgm:pt modelId="{0B3EACD1-E824-471C-AF46-CA11F46BC540}" type="pres">
      <dgm:prSet presAssocID="{CF1B1BB9-F812-4008-8CB8-B4591430D477}" presName="tx1" presStyleLbl="revTx" presStyleIdx="0" presStyleCnt="4"/>
      <dgm:spPr/>
    </dgm:pt>
    <dgm:pt modelId="{F77204C6-EBC3-4601-A9DA-74926695FB98}" type="pres">
      <dgm:prSet presAssocID="{CF1B1BB9-F812-4008-8CB8-B4591430D477}" presName="vert1" presStyleCnt="0"/>
      <dgm:spPr/>
    </dgm:pt>
    <dgm:pt modelId="{3390C0E8-BDA3-4E2F-9858-E1EA7A4EAEBA}" type="pres">
      <dgm:prSet presAssocID="{93BAF0EB-F442-4D4F-BD3A-EE9663E52D6B}" presName="thickLine" presStyleLbl="alignNode1" presStyleIdx="1" presStyleCnt="4"/>
      <dgm:spPr/>
    </dgm:pt>
    <dgm:pt modelId="{F6DC9F93-48A3-4DAA-9EB8-8ABD8912066A}" type="pres">
      <dgm:prSet presAssocID="{93BAF0EB-F442-4D4F-BD3A-EE9663E52D6B}" presName="horz1" presStyleCnt="0"/>
      <dgm:spPr/>
    </dgm:pt>
    <dgm:pt modelId="{5CCA136C-92C5-4BAC-AC4E-C4CE738ECE00}" type="pres">
      <dgm:prSet presAssocID="{93BAF0EB-F442-4D4F-BD3A-EE9663E52D6B}" presName="tx1" presStyleLbl="revTx" presStyleIdx="1" presStyleCnt="4"/>
      <dgm:spPr/>
    </dgm:pt>
    <dgm:pt modelId="{243D8D3E-CF8F-4741-9FC6-30E09A81750C}" type="pres">
      <dgm:prSet presAssocID="{93BAF0EB-F442-4D4F-BD3A-EE9663E52D6B}" presName="vert1" presStyleCnt="0"/>
      <dgm:spPr/>
    </dgm:pt>
    <dgm:pt modelId="{1EDC6418-EB77-44C6-834C-5A42F8CF5798}" type="pres">
      <dgm:prSet presAssocID="{49215797-34D9-4572-8E42-B0C507CCCD75}" presName="thickLine" presStyleLbl="alignNode1" presStyleIdx="2" presStyleCnt="4"/>
      <dgm:spPr/>
    </dgm:pt>
    <dgm:pt modelId="{1E1B2DF5-2013-4711-AF75-6131529DD278}" type="pres">
      <dgm:prSet presAssocID="{49215797-34D9-4572-8E42-B0C507CCCD75}" presName="horz1" presStyleCnt="0"/>
      <dgm:spPr/>
    </dgm:pt>
    <dgm:pt modelId="{8DDB9416-D494-4A0E-966B-44752C728066}" type="pres">
      <dgm:prSet presAssocID="{49215797-34D9-4572-8E42-B0C507CCCD75}" presName="tx1" presStyleLbl="revTx" presStyleIdx="2" presStyleCnt="4"/>
      <dgm:spPr/>
    </dgm:pt>
    <dgm:pt modelId="{C0716C7D-E19B-4503-9136-D5A613BFCCBF}" type="pres">
      <dgm:prSet presAssocID="{49215797-34D9-4572-8E42-B0C507CCCD75}" presName="vert1" presStyleCnt="0"/>
      <dgm:spPr/>
    </dgm:pt>
    <dgm:pt modelId="{AC5E0303-668F-4FAA-B95F-055F0F5ABAB7}" type="pres">
      <dgm:prSet presAssocID="{DC5D1F55-C19C-4B5A-9963-6556CDE41DF3}" presName="thickLine" presStyleLbl="alignNode1" presStyleIdx="3" presStyleCnt="4"/>
      <dgm:spPr/>
    </dgm:pt>
    <dgm:pt modelId="{0FBB3259-79F3-4833-8054-F89583CEA106}" type="pres">
      <dgm:prSet presAssocID="{DC5D1F55-C19C-4B5A-9963-6556CDE41DF3}" presName="horz1" presStyleCnt="0"/>
      <dgm:spPr/>
    </dgm:pt>
    <dgm:pt modelId="{5E7F82F6-A3BA-4D6F-910F-165BD26FF739}" type="pres">
      <dgm:prSet presAssocID="{DC5D1F55-C19C-4B5A-9963-6556CDE41DF3}" presName="tx1" presStyleLbl="revTx" presStyleIdx="3" presStyleCnt="4" custScaleY="152898"/>
      <dgm:spPr/>
    </dgm:pt>
    <dgm:pt modelId="{BB9EC775-BEF5-4DF6-B4B5-B2F5064D8C73}" type="pres">
      <dgm:prSet presAssocID="{DC5D1F55-C19C-4B5A-9963-6556CDE41DF3}" presName="vert1" presStyleCnt="0"/>
      <dgm:spPr/>
    </dgm:pt>
  </dgm:ptLst>
  <dgm:cxnLst>
    <dgm:cxn modelId="{44D7D75B-2AB1-4E77-AB1A-C7611EAE53B4}" type="presOf" srcId="{49215797-34D9-4572-8E42-B0C507CCCD75}" destId="{8DDB9416-D494-4A0E-966B-44752C728066}" srcOrd="0" destOrd="0" presId="urn:microsoft.com/office/officeart/2008/layout/LinedList"/>
    <dgm:cxn modelId="{D50E0653-C3ED-450C-B7FD-226E312FB52B}" type="presOf" srcId="{93BAF0EB-F442-4D4F-BD3A-EE9663E52D6B}" destId="{5CCA136C-92C5-4BAC-AC4E-C4CE738ECE00}" srcOrd="0" destOrd="0" presId="urn:microsoft.com/office/officeart/2008/layout/LinedList"/>
    <dgm:cxn modelId="{145EF059-2E79-443E-AAF3-E584B5A6A5F1}" srcId="{89F335AA-382F-4D47-9249-361BEA1AFC77}" destId="{49215797-34D9-4572-8E42-B0C507CCCD75}" srcOrd="2" destOrd="0" parTransId="{EE9EA27D-7B9C-4946-8478-8D037AA6A45E}" sibTransId="{9073B1A9-7D79-4A4B-8456-6440EE6D157A}"/>
    <dgm:cxn modelId="{4BEAF48B-5E32-46C0-857C-4DF3EBF69A7C}" type="presOf" srcId="{DC5D1F55-C19C-4B5A-9963-6556CDE41DF3}" destId="{5E7F82F6-A3BA-4D6F-910F-165BD26FF739}" srcOrd="0" destOrd="0" presId="urn:microsoft.com/office/officeart/2008/layout/LinedList"/>
    <dgm:cxn modelId="{5EB12D93-2ADD-4D64-9406-C5AE8AC1C145}" srcId="{89F335AA-382F-4D47-9249-361BEA1AFC77}" destId="{DC5D1F55-C19C-4B5A-9963-6556CDE41DF3}" srcOrd="3" destOrd="0" parTransId="{2F7341D4-987C-4748-AD7E-F4188C1C5BDF}" sibTransId="{F2A2931E-55BD-4C25-B45B-664B9966566A}"/>
    <dgm:cxn modelId="{2EC0CEC3-7AAC-4D23-9472-57B235D0DC84}" type="presOf" srcId="{CF1B1BB9-F812-4008-8CB8-B4591430D477}" destId="{0B3EACD1-E824-471C-AF46-CA11F46BC540}" srcOrd="0" destOrd="0" presId="urn:microsoft.com/office/officeart/2008/layout/LinedList"/>
    <dgm:cxn modelId="{49FDBEC6-46E2-44C7-9161-B77D2E058842}" srcId="{89F335AA-382F-4D47-9249-361BEA1AFC77}" destId="{CF1B1BB9-F812-4008-8CB8-B4591430D477}" srcOrd="0" destOrd="0" parTransId="{697E93FF-AB1D-4417-82D1-0AF7B39D1E89}" sibTransId="{0B56659B-3A58-4AB0-8791-F3D44276E474}"/>
    <dgm:cxn modelId="{C8D469E7-E7DC-4F07-BAFB-09B8C142F11D}" srcId="{89F335AA-382F-4D47-9249-361BEA1AFC77}" destId="{93BAF0EB-F442-4D4F-BD3A-EE9663E52D6B}" srcOrd="1" destOrd="0" parTransId="{9ABC3A82-3100-407E-8024-5903E316402D}" sibTransId="{DC785CFD-0FBC-4F5D-B79D-FD9CA4F49FFA}"/>
    <dgm:cxn modelId="{20C316FB-5422-45EF-8F5E-4122858C071D}" type="presOf" srcId="{89F335AA-382F-4D47-9249-361BEA1AFC77}" destId="{DB8B8A0B-90F1-4590-AE1C-F256E99076BD}" srcOrd="0" destOrd="0" presId="urn:microsoft.com/office/officeart/2008/layout/LinedList"/>
    <dgm:cxn modelId="{7C3BE74D-4D20-4029-8D1F-1D92F659948A}" type="presParOf" srcId="{DB8B8A0B-90F1-4590-AE1C-F256E99076BD}" destId="{DAF83A94-61FE-4D56-901C-7B21C4840072}" srcOrd="0" destOrd="0" presId="urn:microsoft.com/office/officeart/2008/layout/LinedList"/>
    <dgm:cxn modelId="{61E20561-4F1D-4B7F-8505-21EA7A69DA3E}" type="presParOf" srcId="{DB8B8A0B-90F1-4590-AE1C-F256E99076BD}" destId="{0B322A21-9CD8-42B3-A36F-FC3C391D9149}" srcOrd="1" destOrd="0" presId="urn:microsoft.com/office/officeart/2008/layout/LinedList"/>
    <dgm:cxn modelId="{1A0A137A-D844-49AC-B72D-E9C1EB2A9851}" type="presParOf" srcId="{0B322A21-9CD8-42B3-A36F-FC3C391D9149}" destId="{0B3EACD1-E824-471C-AF46-CA11F46BC540}" srcOrd="0" destOrd="0" presId="urn:microsoft.com/office/officeart/2008/layout/LinedList"/>
    <dgm:cxn modelId="{F6CBB664-0E5D-4E92-948B-9D04C2ACE7C5}" type="presParOf" srcId="{0B322A21-9CD8-42B3-A36F-FC3C391D9149}" destId="{F77204C6-EBC3-4601-A9DA-74926695FB98}" srcOrd="1" destOrd="0" presId="urn:microsoft.com/office/officeart/2008/layout/LinedList"/>
    <dgm:cxn modelId="{57814E56-F13F-40EA-BA39-C0078B692F7C}" type="presParOf" srcId="{DB8B8A0B-90F1-4590-AE1C-F256E99076BD}" destId="{3390C0E8-BDA3-4E2F-9858-E1EA7A4EAEBA}" srcOrd="2" destOrd="0" presId="urn:microsoft.com/office/officeart/2008/layout/LinedList"/>
    <dgm:cxn modelId="{DE482BBA-93A5-4E33-BF48-B20AC34C9630}" type="presParOf" srcId="{DB8B8A0B-90F1-4590-AE1C-F256E99076BD}" destId="{F6DC9F93-48A3-4DAA-9EB8-8ABD8912066A}" srcOrd="3" destOrd="0" presId="urn:microsoft.com/office/officeart/2008/layout/LinedList"/>
    <dgm:cxn modelId="{802A970D-5B55-404E-9C2C-FCBED490EC7A}" type="presParOf" srcId="{F6DC9F93-48A3-4DAA-9EB8-8ABD8912066A}" destId="{5CCA136C-92C5-4BAC-AC4E-C4CE738ECE00}" srcOrd="0" destOrd="0" presId="urn:microsoft.com/office/officeart/2008/layout/LinedList"/>
    <dgm:cxn modelId="{ECC094F8-B784-423A-B70B-036ADE0CF0BF}" type="presParOf" srcId="{F6DC9F93-48A3-4DAA-9EB8-8ABD8912066A}" destId="{243D8D3E-CF8F-4741-9FC6-30E09A81750C}" srcOrd="1" destOrd="0" presId="urn:microsoft.com/office/officeart/2008/layout/LinedList"/>
    <dgm:cxn modelId="{19847A3C-9087-4BD1-AD95-91F75AB0EDD4}" type="presParOf" srcId="{DB8B8A0B-90F1-4590-AE1C-F256E99076BD}" destId="{1EDC6418-EB77-44C6-834C-5A42F8CF5798}" srcOrd="4" destOrd="0" presId="urn:microsoft.com/office/officeart/2008/layout/LinedList"/>
    <dgm:cxn modelId="{BE6E51CD-2FB6-4CD8-9F9F-D2FF138A4788}" type="presParOf" srcId="{DB8B8A0B-90F1-4590-AE1C-F256E99076BD}" destId="{1E1B2DF5-2013-4711-AF75-6131529DD278}" srcOrd="5" destOrd="0" presId="urn:microsoft.com/office/officeart/2008/layout/LinedList"/>
    <dgm:cxn modelId="{3D77864A-D00D-45FC-9F8F-A274618838F6}" type="presParOf" srcId="{1E1B2DF5-2013-4711-AF75-6131529DD278}" destId="{8DDB9416-D494-4A0E-966B-44752C728066}" srcOrd="0" destOrd="0" presId="urn:microsoft.com/office/officeart/2008/layout/LinedList"/>
    <dgm:cxn modelId="{03E7A519-C550-46DB-B7EF-C6E00E59ABDB}" type="presParOf" srcId="{1E1B2DF5-2013-4711-AF75-6131529DD278}" destId="{C0716C7D-E19B-4503-9136-D5A613BFCCBF}" srcOrd="1" destOrd="0" presId="urn:microsoft.com/office/officeart/2008/layout/LinedList"/>
    <dgm:cxn modelId="{104580E7-222D-4B6D-897A-D82F2C51E463}" type="presParOf" srcId="{DB8B8A0B-90F1-4590-AE1C-F256E99076BD}" destId="{AC5E0303-668F-4FAA-B95F-055F0F5ABAB7}" srcOrd="6" destOrd="0" presId="urn:microsoft.com/office/officeart/2008/layout/LinedList"/>
    <dgm:cxn modelId="{7A954284-EF8E-4056-A195-E1E9749B959B}" type="presParOf" srcId="{DB8B8A0B-90F1-4590-AE1C-F256E99076BD}" destId="{0FBB3259-79F3-4833-8054-F89583CEA106}" srcOrd="7" destOrd="0" presId="urn:microsoft.com/office/officeart/2008/layout/LinedList"/>
    <dgm:cxn modelId="{804D5FE3-0CEA-4D46-88B1-DEA680A32A4F}" type="presParOf" srcId="{0FBB3259-79F3-4833-8054-F89583CEA106}" destId="{5E7F82F6-A3BA-4D6F-910F-165BD26FF739}" srcOrd="0" destOrd="0" presId="urn:microsoft.com/office/officeart/2008/layout/LinedList"/>
    <dgm:cxn modelId="{7232B08B-6632-458C-BE38-77BD8CFF95EA}" type="presParOf" srcId="{0FBB3259-79F3-4833-8054-F89583CEA106}" destId="{BB9EC775-BEF5-4DF6-B4B5-B2F5064D8C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F335AA-382F-4D47-9249-361BEA1AFC77}" type="doc">
      <dgm:prSet loTypeId="urn:microsoft.com/office/officeart/2008/layout/LinedList" loCatId="list" qsTypeId="urn:microsoft.com/office/officeart/2005/8/quickstyle/simple1#89" qsCatId="simple" csTypeId="urn:microsoft.com/office/officeart/2005/8/colors/accent1_2#45" csCatId="accent1" phldr="1"/>
      <dgm:spPr/>
      <dgm:t>
        <a:bodyPr/>
        <a:lstStyle/>
        <a:p>
          <a:endParaRPr lang="en-US"/>
        </a:p>
      </dgm:t>
    </dgm:pt>
    <dgm:pt modelId="{CF1B1BB9-F812-4008-8CB8-B4591430D477}">
      <dgm:prSet custT="1"/>
      <dgm:spPr/>
      <dgm:t>
        <a:bodyPr/>
        <a:lstStyle/>
        <a:p>
          <a:r>
            <a:rPr lang="nb-NO" sz="3000" noProof="0" dirty="0"/>
            <a:t>Skattbar eierinntekt = utbetalt utbytte – skjermingsfradrag</a:t>
          </a:r>
        </a:p>
      </dgm:t>
    </dgm:pt>
    <dgm:pt modelId="{697E93FF-AB1D-4417-82D1-0AF7B39D1E89}" type="parTrans" cxnId="{49FDBEC6-46E2-44C7-9161-B77D2E058842}">
      <dgm:prSet/>
      <dgm:spPr/>
      <dgm:t>
        <a:bodyPr/>
        <a:lstStyle/>
        <a:p>
          <a:endParaRPr lang="en-US"/>
        </a:p>
      </dgm:t>
    </dgm:pt>
    <dgm:pt modelId="{0B56659B-3A58-4AB0-8791-F3D44276E474}" type="sibTrans" cxnId="{49FDBEC6-46E2-44C7-9161-B77D2E058842}">
      <dgm:prSet/>
      <dgm:spPr/>
      <dgm:t>
        <a:bodyPr/>
        <a:lstStyle/>
        <a:p>
          <a:endParaRPr lang="en-US"/>
        </a:p>
      </dgm:t>
    </dgm:pt>
    <dgm:pt modelId="{93BAF0EB-F442-4D4F-BD3A-EE9663E52D6B}">
      <dgm:prSet custT="1"/>
      <dgm:spPr>
        <a:blipFill>
          <a:blip xmlns:r="http://schemas.openxmlformats.org/officeDocument/2006/relationships" r:embed="rId1"/>
          <a:stretch>
            <a:fillRect l="-1111" t="-467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ABC3A82-3100-407E-8024-5903E316402D}" type="parTrans" cxnId="{C8D469E7-E7DC-4F07-BAFB-09B8C142F11D}">
      <dgm:prSet/>
      <dgm:spPr/>
      <dgm:t>
        <a:bodyPr/>
        <a:lstStyle/>
        <a:p>
          <a:endParaRPr lang="en-US"/>
        </a:p>
      </dgm:t>
    </dgm:pt>
    <dgm:pt modelId="{DC785CFD-0FBC-4F5D-B79D-FD9CA4F49FFA}" type="sibTrans" cxnId="{C8D469E7-E7DC-4F07-BAFB-09B8C142F11D}">
      <dgm:prSet/>
      <dgm:spPr/>
      <dgm:t>
        <a:bodyPr/>
        <a:lstStyle/>
        <a:p>
          <a:endParaRPr lang="en-US"/>
        </a:p>
      </dgm:t>
    </dgm:pt>
    <dgm:pt modelId="{49215797-34D9-4572-8E42-B0C507CCCD75}">
      <dgm:prSet custT="1"/>
      <dgm:spPr/>
      <dgm:t>
        <a:bodyPr/>
        <a:lstStyle/>
        <a:p>
          <a:r>
            <a:rPr lang="nb-NO" sz="3000" noProof="0" dirty="0"/>
            <a:t>Skjermingsgrunnlaget er aksjens kostpris (det du kjøpte aksjen for)</a:t>
          </a:r>
        </a:p>
      </dgm:t>
    </dgm:pt>
    <dgm:pt modelId="{EE9EA27D-7B9C-4946-8478-8D037AA6A45E}" type="parTrans" cxnId="{145EF059-2E79-443E-AAF3-E584B5A6A5F1}">
      <dgm:prSet/>
      <dgm:spPr/>
      <dgm:t>
        <a:bodyPr/>
        <a:lstStyle/>
        <a:p>
          <a:endParaRPr lang="en-US"/>
        </a:p>
      </dgm:t>
    </dgm:pt>
    <dgm:pt modelId="{9073B1A9-7D79-4A4B-8456-6440EE6D157A}" type="sibTrans" cxnId="{145EF059-2E79-443E-AAF3-E584B5A6A5F1}">
      <dgm:prSet/>
      <dgm:spPr/>
      <dgm:t>
        <a:bodyPr/>
        <a:lstStyle/>
        <a:p>
          <a:endParaRPr lang="en-US"/>
        </a:p>
      </dgm:t>
    </dgm:pt>
    <dgm:pt modelId="{DC5D1F55-C19C-4B5A-9963-6556CDE41DF3}">
      <dgm:prSet custT="1"/>
      <dgm:spPr>
        <a:blipFill>
          <a:blip xmlns:r="http://schemas.openxmlformats.org/officeDocument/2006/relationships" r:embed="rId2"/>
          <a:stretch>
            <a:fillRect l="-1112" t="-3067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2F7341D4-987C-4748-AD7E-F4188C1C5BDF}" type="parTrans" cxnId="{5EB12D93-2ADD-4D64-9406-C5AE8AC1C145}">
      <dgm:prSet/>
      <dgm:spPr/>
      <dgm:t>
        <a:bodyPr/>
        <a:lstStyle/>
        <a:p>
          <a:endParaRPr lang="en-US"/>
        </a:p>
      </dgm:t>
    </dgm:pt>
    <dgm:pt modelId="{F2A2931E-55BD-4C25-B45B-664B9966566A}" type="sibTrans" cxnId="{5EB12D93-2ADD-4D64-9406-C5AE8AC1C145}">
      <dgm:prSet/>
      <dgm:spPr/>
      <dgm:t>
        <a:bodyPr/>
        <a:lstStyle/>
        <a:p>
          <a:endParaRPr lang="en-US"/>
        </a:p>
      </dgm:t>
    </dgm:pt>
    <dgm:pt modelId="{DB8B8A0B-90F1-4590-AE1C-F256E99076BD}" type="pres">
      <dgm:prSet presAssocID="{89F335AA-382F-4D47-9249-361BEA1AFC77}" presName="vert0" presStyleCnt="0">
        <dgm:presLayoutVars>
          <dgm:dir/>
          <dgm:animOne val="branch"/>
          <dgm:animLvl val="lvl"/>
        </dgm:presLayoutVars>
      </dgm:prSet>
      <dgm:spPr/>
    </dgm:pt>
    <dgm:pt modelId="{DAF83A94-61FE-4D56-901C-7B21C4840072}" type="pres">
      <dgm:prSet presAssocID="{CF1B1BB9-F812-4008-8CB8-B4591430D477}" presName="thickLine" presStyleLbl="alignNode1" presStyleIdx="0" presStyleCnt="4"/>
      <dgm:spPr/>
    </dgm:pt>
    <dgm:pt modelId="{0B322A21-9CD8-42B3-A36F-FC3C391D9149}" type="pres">
      <dgm:prSet presAssocID="{CF1B1BB9-F812-4008-8CB8-B4591430D477}" presName="horz1" presStyleCnt="0"/>
      <dgm:spPr/>
    </dgm:pt>
    <dgm:pt modelId="{0B3EACD1-E824-471C-AF46-CA11F46BC540}" type="pres">
      <dgm:prSet presAssocID="{CF1B1BB9-F812-4008-8CB8-B4591430D477}" presName="tx1" presStyleLbl="revTx" presStyleIdx="0" presStyleCnt="4"/>
      <dgm:spPr/>
    </dgm:pt>
    <dgm:pt modelId="{F77204C6-EBC3-4601-A9DA-74926695FB98}" type="pres">
      <dgm:prSet presAssocID="{CF1B1BB9-F812-4008-8CB8-B4591430D477}" presName="vert1" presStyleCnt="0"/>
      <dgm:spPr/>
    </dgm:pt>
    <dgm:pt modelId="{3390C0E8-BDA3-4E2F-9858-E1EA7A4EAEBA}" type="pres">
      <dgm:prSet presAssocID="{93BAF0EB-F442-4D4F-BD3A-EE9663E52D6B}" presName="thickLine" presStyleLbl="alignNode1" presStyleIdx="1" presStyleCnt="4"/>
      <dgm:spPr/>
    </dgm:pt>
    <dgm:pt modelId="{F6DC9F93-48A3-4DAA-9EB8-8ABD8912066A}" type="pres">
      <dgm:prSet presAssocID="{93BAF0EB-F442-4D4F-BD3A-EE9663E52D6B}" presName="horz1" presStyleCnt="0"/>
      <dgm:spPr/>
    </dgm:pt>
    <dgm:pt modelId="{5CCA136C-92C5-4BAC-AC4E-C4CE738ECE00}" type="pres">
      <dgm:prSet presAssocID="{93BAF0EB-F442-4D4F-BD3A-EE9663E52D6B}" presName="tx1" presStyleLbl="revTx" presStyleIdx="1" presStyleCnt="4"/>
      <dgm:spPr/>
    </dgm:pt>
    <dgm:pt modelId="{243D8D3E-CF8F-4741-9FC6-30E09A81750C}" type="pres">
      <dgm:prSet presAssocID="{93BAF0EB-F442-4D4F-BD3A-EE9663E52D6B}" presName="vert1" presStyleCnt="0"/>
      <dgm:spPr/>
    </dgm:pt>
    <dgm:pt modelId="{1EDC6418-EB77-44C6-834C-5A42F8CF5798}" type="pres">
      <dgm:prSet presAssocID="{49215797-34D9-4572-8E42-B0C507CCCD75}" presName="thickLine" presStyleLbl="alignNode1" presStyleIdx="2" presStyleCnt="4"/>
      <dgm:spPr/>
    </dgm:pt>
    <dgm:pt modelId="{1E1B2DF5-2013-4711-AF75-6131529DD278}" type="pres">
      <dgm:prSet presAssocID="{49215797-34D9-4572-8E42-B0C507CCCD75}" presName="horz1" presStyleCnt="0"/>
      <dgm:spPr/>
    </dgm:pt>
    <dgm:pt modelId="{8DDB9416-D494-4A0E-966B-44752C728066}" type="pres">
      <dgm:prSet presAssocID="{49215797-34D9-4572-8E42-B0C507CCCD75}" presName="tx1" presStyleLbl="revTx" presStyleIdx="2" presStyleCnt="4"/>
      <dgm:spPr/>
    </dgm:pt>
    <dgm:pt modelId="{C0716C7D-E19B-4503-9136-D5A613BFCCBF}" type="pres">
      <dgm:prSet presAssocID="{49215797-34D9-4572-8E42-B0C507CCCD75}" presName="vert1" presStyleCnt="0"/>
      <dgm:spPr/>
    </dgm:pt>
    <dgm:pt modelId="{AC5E0303-668F-4FAA-B95F-055F0F5ABAB7}" type="pres">
      <dgm:prSet presAssocID="{DC5D1F55-C19C-4B5A-9963-6556CDE41DF3}" presName="thickLine" presStyleLbl="alignNode1" presStyleIdx="3" presStyleCnt="4"/>
      <dgm:spPr/>
    </dgm:pt>
    <dgm:pt modelId="{0FBB3259-79F3-4833-8054-F89583CEA106}" type="pres">
      <dgm:prSet presAssocID="{DC5D1F55-C19C-4B5A-9963-6556CDE41DF3}" presName="horz1" presStyleCnt="0"/>
      <dgm:spPr/>
    </dgm:pt>
    <dgm:pt modelId="{5E7F82F6-A3BA-4D6F-910F-165BD26FF739}" type="pres">
      <dgm:prSet presAssocID="{DC5D1F55-C19C-4B5A-9963-6556CDE41DF3}" presName="tx1" presStyleLbl="revTx" presStyleIdx="3" presStyleCnt="4" custScaleY="152898"/>
      <dgm:spPr/>
    </dgm:pt>
    <dgm:pt modelId="{BB9EC775-BEF5-4DF6-B4B5-B2F5064D8C73}" type="pres">
      <dgm:prSet presAssocID="{DC5D1F55-C19C-4B5A-9963-6556CDE41DF3}" presName="vert1" presStyleCnt="0"/>
      <dgm:spPr/>
    </dgm:pt>
  </dgm:ptLst>
  <dgm:cxnLst>
    <dgm:cxn modelId="{D50E0653-C3ED-450C-B7FD-226E312FB52B}" type="presOf" srcId="{93BAF0EB-F442-4D4F-BD3A-EE9663E52D6B}" destId="{5CCA136C-92C5-4BAC-AC4E-C4CE738ECE00}" srcOrd="0" destOrd="0" presId="urn:microsoft.com/office/officeart/2008/layout/LinedList"/>
    <dgm:cxn modelId="{145EF059-2E79-443E-AAF3-E584B5A6A5F1}" srcId="{89F335AA-382F-4D47-9249-361BEA1AFC77}" destId="{49215797-34D9-4572-8E42-B0C507CCCD75}" srcOrd="2" destOrd="0" parTransId="{EE9EA27D-7B9C-4946-8478-8D037AA6A45E}" sibTransId="{9073B1A9-7D79-4A4B-8456-6440EE6D157A}"/>
    <dgm:cxn modelId="{44D7D75B-2AB1-4E77-AB1A-C7611EAE53B4}" type="presOf" srcId="{49215797-34D9-4572-8E42-B0C507CCCD75}" destId="{8DDB9416-D494-4A0E-966B-44752C728066}" srcOrd="0" destOrd="0" presId="urn:microsoft.com/office/officeart/2008/layout/LinedList"/>
    <dgm:cxn modelId="{4BEAF48B-5E32-46C0-857C-4DF3EBF69A7C}" type="presOf" srcId="{DC5D1F55-C19C-4B5A-9963-6556CDE41DF3}" destId="{5E7F82F6-A3BA-4D6F-910F-165BD26FF739}" srcOrd="0" destOrd="0" presId="urn:microsoft.com/office/officeart/2008/layout/LinedList"/>
    <dgm:cxn modelId="{5EB12D93-2ADD-4D64-9406-C5AE8AC1C145}" srcId="{89F335AA-382F-4D47-9249-361BEA1AFC77}" destId="{DC5D1F55-C19C-4B5A-9963-6556CDE41DF3}" srcOrd="3" destOrd="0" parTransId="{2F7341D4-987C-4748-AD7E-F4188C1C5BDF}" sibTransId="{F2A2931E-55BD-4C25-B45B-664B9966566A}"/>
    <dgm:cxn modelId="{2EC0CEC3-7AAC-4D23-9472-57B235D0DC84}" type="presOf" srcId="{CF1B1BB9-F812-4008-8CB8-B4591430D477}" destId="{0B3EACD1-E824-471C-AF46-CA11F46BC540}" srcOrd="0" destOrd="0" presId="urn:microsoft.com/office/officeart/2008/layout/LinedList"/>
    <dgm:cxn modelId="{49FDBEC6-46E2-44C7-9161-B77D2E058842}" srcId="{89F335AA-382F-4D47-9249-361BEA1AFC77}" destId="{CF1B1BB9-F812-4008-8CB8-B4591430D477}" srcOrd="0" destOrd="0" parTransId="{697E93FF-AB1D-4417-82D1-0AF7B39D1E89}" sibTransId="{0B56659B-3A58-4AB0-8791-F3D44276E474}"/>
    <dgm:cxn modelId="{C8D469E7-E7DC-4F07-BAFB-09B8C142F11D}" srcId="{89F335AA-382F-4D47-9249-361BEA1AFC77}" destId="{93BAF0EB-F442-4D4F-BD3A-EE9663E52D6B}" srcOrd="1" destOrd="0" parTransId="{9ABC3A82-3100-407E-8024-5903E316402D}" sibTransId="{DC785CFD-0FBC-4F5D-B79D-FD9CA4F49FFA}"/>
    <dgm:cxn modelId="{20C316FB-5422-45EF-8F5E-4122858C071D}" type="presOf" srcId="{89F335AA-382F-4D47-9249-361BEA1AFC77}" destId="{DB8B8A0B-90F1-4590-AE1C-F256E99076BD}" srcOrd="0" destOrd="0" presId="urn:microsoft.com/office/officeart/2008/layout/LinedList"/>
    <dgm:cxn modelId="{7C3BE74D-4D20-4029-8D1F-1D92F659948A}" type="presParOf" srcId="{DB8B8A0B-90F1-4590-AE1C-F256E99076BD}" destId="{DAF83A94-61FE-4D56-901C-7B21C4840072}" srcOrd="0" destOrd="0" presId="urn:microsoft.com/office/officeart/2008/layout/LinedList"/>
    <dgm:cxn modelId="{61E20561-4F1D-4B7F-8505-21EA7A69DA3E}" type="presParOf" srcId="{DB8B8A0B-90F1-4590-AE1C-F256E99076BD}" destId="{0B322A21-9CD8-42B3-A36F-FC3C391D9149}" srcOrd="1" destOrd="0" presId="urn:microsoft.com/office/officeart/2008/layout/LinedList"/>
    <dgm:cxn modelId="{1A0A137A-D844-49AC-B72D-E9C1EB2A9851}" type="presParOf" srcId="{0B322A21-9CD8-42B3-A36F-FC3C391D9149}" destId="{0B3EACD1-E824-471C-AF46-CA11F46BC540}" srcOrd="0" destOrd="0" presId="urn:microsoft.com/office/officeart/2008/layout/LinedList"/>
    <dgm:cxn modelId="{F6CBB664-0E5D-4E92-948B-9D04C2ACE7C5}" type="presParOf" srcId="{0B322A21-9CD8-42B3-A36F-FC3C391D9149}" destId="{F77204C6-EBC3-4601-A9DA-74926695FB98}" srcOrd="1" destOrd="0" presId="urn:microsoft.com/office/officeart/2008/layout/LinedList"/>
    <dgm:cxn modelId="{57814E56-F13F-40EA-BA39-C0078B692F7C}" type="presParOf" srcId="{DB8B8A0B-90F1-4590-AE1C-F256E99076BD}" destId="{3390C0E8-BDA3-4E2F-9858-E1EA7A4EAEBA}" srcOrd="2" destOrd="0" presId="urn:microsoft.com/office/officeart/2008/layout/LinedList"/>
    <dgm:cxn modelId="{DE482BBA-93A5-4E33-BF48-B20AC34C9630}" type="presParOf" srcId="{DB8B8A0B-90F1-4590-AE1C-F256E99076BD}" destId="{F6DC9F93-48A3-4DAA-9EB8-8ABD8912066A}" srcOrd="3" destOrd="0" presId="urn:microsoft.com/office/officeart/2008/layout/LinedList"/>
    <dgm:cxn modelId="{802A970D-5B55-404E-9C2C-FCBED490EC7A}" type="presParOf" srcId="{F6DC9F93-48A3-4DAA-9EB8-8ABD8912066A}" destId="{5CCA136C-92C5-4BAC-AC4E-C4CE738ECE00}" srcOrd="0" destOrd="0" presId="urn:microsoft.com/office/officeart/2008/layout/LinedList"/>
    <dgm:cxn modelId="{ECC094F8-B784-423A-B70B-036ADE0CF0BF}" type="presParOf" srcId="{F6DC9F93-48A3-4DAA-9EB8-8ABD8912066A}" destId="{243D8D3E-CF8F-4741-9FC6-30E09A81750C}" srcOrd="1" destOrd="0" presId="urn:microsoft.com/office/officeart/2008/layout/LinedList"/>
    <dgm:cxn modelId="{19847A3C-9087-4BD1-AD95-91F75AB0EDD4}" type="presParOf" srcId="{DB8B8A0B-90F1-4590-AE1C-F256E99076BD}" destId="{1EDC6418-EB77-44C6-834C-5A42F8CF5798}" srcOrd="4" destOrd="0" presId="urn:microsoft.com/office/officeart/2008/layout/LinedList"/>
    <dgm:cxn modelId="{BE6E51CD-2FB6-4CD8-9F9F-D2FF138A4788}" type="presParOf" srcId="{DB8B8A0B-90F1-4590-AE1C-F256E99076BD}" destId="{1E1B2DF5-2013-4711-AF75-6131529DD278}" srcOrd="5" destOrd="0" presId="urn:microsoft.com/office/officeart/2008/layout/LinedList"/>
    <dgm:cxn modelId="{3D77864A-D00D-45FC-9F8F-A274618838F6}" type="presParOf" srcId="{1E1B2DF5-2013-4711-AF75-6131529DD278}" destId="{8DDB9416-D494-4A0E-966B-44752C728066}" srcOrd="0" destOrd="0" presId="urn:microsoft.com/office/officeart/2008/layout/LinedList"/>
    <dgm:cxn modelId="{03E7A519-C550-46DB-B7EF-C6E00E59ABDB}" type="presParOf" srcId="{1E1B2DF5-2013-4711-AF75-6131529DD278}" destId="{C0716C7D-E19B-4503-9136-D5A613BFCCBF}" srcOrd="1" destOrd="0" presId="urn:microsoft.com/office/officeart/2008/layout/LinedList"/>
    <dgm:cxn modelId="{104580E7-222D-4B6D-897A-D82F2C51E463}" type="presParOf" srcId="{DB8B8A0B-90F1-4590-AE1C-F256E99076BD}" destId="{AC5E0303-668F-4FAA-B95F-055F0F5ABAB7}" srcOrd="6" destOrd="0" presId="urn:microsoft.com/office/officeart/2008/layout/LinedList"/>
    <dgm:cxn modelId="{7A954284-EF8E-4056-A195-E1E9749B959B}" type="presParOf" srcId="{DB8B8A0B-90F1-4590-AE1C-F256E99076BD}" destId="{0FBB3259-79F3-4833-8054-F89583CEA106}" srcOrd="7" destOrd="0" presId="urn:microsoft.com/office/officeart/2008/layout/LinedList"/>
    <dgm:cxn modelId="{804D5FE3-0CEA-4D46-88B1-DEA680A32A4F}" type="presParOf" srcId="{0FBB3259-79F3-4833-8054-F89583CEA106}" destId="{5E7F82F6-A3BA-4D6F-910F-165BD26FF739}" srcOrd="0" destOrd="0" presId="urn:microsoft.com/office/officeart/2008/layout/LinedList"/>
    <dgm:cxn modelId="{7232B08B-6632-458C-BE38-77BD8CFF95EA}" type="presParOf" srcId="{0FBB3259-79F3-4833-8054-F89583CEA106}" destId="{BB9EC775-BEF5-4DF6-B4B5-B2F5064D8C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83A94-61FE-4D56-901C-7B21C4840072}">
      <dsp:nvSpPr>
        <dsp:cNvPr id="0" name=""/>
        <dsp:cNvSpPr/>
      </dsp:nvSpPr>
      <dsp:spPr>
        <a:xfrm>
          <a:off x="0" y="1344"/>
          <a:ext cx="114189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EACD1-E824-471C-AF46-CA11F46BC540}">
      <dsp:nvSpPr>
        <dsp:cNvPr id="0" name=""/>
        <dsp:cNvSpPr/>
      </dsp:nvSpPr>
      <dsp:spPr>
        <a:xfrm>
          <a:off x="0" y="1344"/>
          <a:ext cx="11418939" cy="1349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000" kern="1200" noProof="0"/>
            <a:t>Skattbar eierinntekt = utbetalt utbytte – skjermingsfradrag</a:t>
          </a:r>
          <a:endParaRPr lang="nb-NO" sz="3000" kern="1200" noProof="0" dirty="0"/>
        </a:p>
      </dsp:txBody>
      <dsp:txXfrm>
        <a:off x="0" y="1344"/>
        <a:ext cx="11418939" cy="1349363"/>
      </dsp:txXfrm>
    </dsp:sp>
    <dsp:sp modelId="{3390C0E8-BDA3-4E2F-9858-E1EA7A4EAEBA}">
      <dsp:nvSpPr>
        <dsp:cNvPr id="0" name=""/>
        <dsp:cNvSpPr/>
      </dsp:nvSpPr>
      <dsp:spPr>
        <a:xfrm>
          <a:off x="0" y="1350708"/>
          <a:ext cx="114189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A136C-92C5-4BAC-AC4E-C4CE738ECE00}">
      <dsp:nvSpPr>
        <dsp:cNvPr id="0" name=""/>
        <dsp:cNvSpPr/>
      </dsp:nvSpPr>
      <dsp:spPr>
        <a:xfrm>
          <a:off x="0" y="1350708"/>
          <a:ext cx="11418939" cy="1349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000" kern="1200" noProof="0" dirty="0"/>
            <a:t>Skjermingsfradraget = skjermingsgrunnlaget * skjermingsrenten (</a:t>
          </a:r>
          <a14:m xmlns:a14="http://schemas.microsoft.com/office/drawing/2010/main">
            <m:oMath xmlns:m="http://schemas.openxmlformats.org/officeDocument/2006/math">
              <m:r>
                <a:rPr lang="nb-NO" sz="3000" i="1" kern="1200" noProof="0" dirty="0" smtClean="0">
                  <a:solidFill>
                    <a:srgbClr val="FF0000"/>
                  </a:solidFill>
                  <a:latin typeface="Cambria Math" panose="02040503050406030204" pitchFamily="18" charset="0"/>
                </a:rPr>
                <m:t>𝑅</m:t>
              </m:r>
            </m:oMath>
          </a14:m>
          <a:r>
            <a:rPr lang="nb-NO" sz="3000" kern="1200" noProof="0" dirty="0"/>
            <a:t>).</a:t>
          </a:r>
        </a:p>
      </dsp:txBody>
      <dsp:txXfrm>
        <a:off x="0" y="1350708"/>
        <a:ext cx="11418939" cy="1349363"/>
      </dsp:txXfrm>
    </dsp:sp>
    <dsp:sp modelId="{1EDC6418-EB77-44C6-834C-5A42F8CF5798}">
      <dsp:nvSpPr>
        <dsp:cNvPr id="0" name=""/>
        <dsp:cNvSpPr/>
      </dsp:nvSpPr>
      <dsp:spPr>
        <a:xfrm>
          <a:off x="0" y="2700071"/>
          <a:ext cx="114189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B9416-D494-4A0E-966B-44752C728066}">
      <dsp:nvSpPr>
        <dsp:cNvPr id="0" name=""/>
        <dsp:cNvSpPr/>
      </dsp:nvSpPr>
      <dsp:spPr>
        <a:xfrm>
          <a:off x="0" y="2700071"/>
          <a:ext cx="11418939" cy="1349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000" kern="1200" noProof="0"/>
            <a:t>Skjermingsgrunnlaget er aksjens kostpris (det du kjøpte aksjen for)</a:t>
          </a:r>
          <a:endParaRPr lang="nb-NO" sz="3000" kern="1200" noProof="0" dirty="0"/>
        </a:p>
      </dsp:txBody>
      <dsp:txXfrm>
        <a:off x="0" y="2700071"/>
        <a:ext cx="11418939" cy="1349363"/>
      </dsp:txXfrm>
    </dsp:sp>
    <dsp:sp modelId="{AC5E0303-668F-4FAA-B95F-055F0F5ABAB7}">
      <dsp:nvSpPr>
        <dsp:cNvPr id="0" name=""/>
        <dsp:cNvSpPr/>
      </dsp:nvSpPr>
      <dsp:spPr>
        <a:xfrm>
          <a:off x="0" y="4049435"/>
          <a:ext cx="114189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F82F6-A3BA-4D6F-910F-165BD26FF739}">
      <dsp:nvSpPr>
        <dsp:cNvPr id="0" name=""/>
        <dsp:cNvSpPr/>
      </dsp:nvSpPr>
      <dsp:spPr>
        <a:xfrm>
          <a:off x="0" y="4049435"/>
          <a:ext cx="11407787" cy="2063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nb-NO" sz="3000" i="1" kern="1200" noProof="0" dirty="0" smtClean="0">
                  <a:solidFill>
                    <a:srgbClr val="FF0000"/>
                  </a:solidFill>
                  <a:latin typeface="Cambria Math" panose="02040503050406030204" pitchFamily="18" charset="0"/>
                </a:rPr>
                <m:t>𝑅</m:t>
              </m:r>
            </m:oMath>
          </a14:m>
          <a:r>
            <a:rPr lang="nb-NO" sz="3000" kern="1200" noProof="0" dirty="0"/>
            <a:t>= rente 3 mnd. statskasseveksler (</a:t>
          </a:r>
          <a:r>
            <a:rPr lang="nb-NO" sz="3000" kern="1200" noProof="0" dirty="0">
              <a:solidFill>
                <a:srgbClr val="FF0000"/>
              </a:solidFill>
            </a:rPr>
            <a:t>r</a:t>
          </a:r>
          <a:r>
            <a:rPr lang="nb-NO" sz="3000" kern="1200" noProof="0" dirty="0"/>
            <a:t>) + risikotillegg (</a:t>
          </a:r>
          <a:r>
            <a:rPr lang="nb-NO" sz="3000" kern="1200" noProof="0" dirty="0">
              <a:solidFill>
                <a:schemeClr val="tx1"/>
              </a:solidFill>
            </a:rPr>
            <a:t>0,5%) </a:t>
          </a:r>
          <a:r>
            <a:rPr lang="nb-NO" sz="3000" kern="1200" noProof="0" dirty="0"/>
            <a:t>men justert for den alminnelige skattesatsen (</a:t>
          </a:r>
          <a:r>
            <a:rPr lang="nb-NO" sz="3000" kern="1200" noProof="0" dirty="0">
              <a:solidFill>
                <a:schemeClr val="tx1"/>
              </a:solidFill>
            </a:rPr>
            <a:t>22%</a:t>
          </a:r>
          <a:r>
            <a:rPr lang="nb-NO" sz="3000" kern="1200" noProof="0" dirty="0"/>
            <a:t>): 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>
                <m:r>
                  <a:rPr lang="en-US" sz="3000" b="0" i="1" kern="1200" noProof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m:t>𝑅</m:t>
                </m:r>
                <m:r>
                  <a:rPr lang="en-US" sz="3000" b="0" i="1" kern="1200" noProof="0" smtClean="0">
                    <a:latin typeface="Cambria Math" panose="02040503050406030204" pitchFamily="18" charset="0"/>
                  </a:rPr>
                  <m:t>=(</m:t>
                </m:r>
                <m:r>
                  <a:rPr lang="en-US" sz="3000" b="0" i="1" kern="1200" noProof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m:t>𝑟</m:t>
                </m:r>
                <m:r>
                  <a:rPr lang="en-US" sz="3000" b="0" i="1" kern="1200" noProof="0" smtClean="0">
                    <a:latin typeface="Cambria Math" panose="02040503050406030204" pitchFamily="18" charset="0"/>
                  </a:rPr>
                  <m:t>+0,5)(100%−22%)</m:t>
                </m:r>
              </m:oMath>
            </m:oMathPara>
          </a14:m>
          <a:endParaRPr lang="nb-NO" sz="3000" kern="1200" noProof="0" dirty="0"/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800" kern="1200" noProof="0" dirty="0"/>
            <a:t>	</a:t>
          </a:r>
        </a:p>
      </dsp:txBody>
      <dsp:txXfrm>
        <a:off x="0" y="4049435"/>
        <a:ext cx="11407787" cy="2063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8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8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889938" cy="489374"/>
          </a:xfrm>
          <a:prstGeom prst="rect">
            <a:avLst/>
          </a:prstGeom>
        </p:spPr>
        <p:txBody>
          <a:bodyPr vert="horz" lIns="89904" tIns="44952" rIns="89904" bIns="44952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608" y="2"/>
            <a:ext cx="2889938" cy="489374"/>
          </a:xfrm>
          <a:prstGeom prst="rect">
            <a:avLst/>
          </a:prstGeom>
        </p:spPr>
        <p:txBody>
          <a:bodyPr vert="horz" lIns="89904" tIns="44952" rIns="89904" bIns="44952" rtlCol="0"/>
          <a:lstStyle>
            <a:lvl1pPr algn="r">
              <a:defRPr sz="1200"/>
            </a:lvl1pPr>
          </a:lstStyle>
          <a:p>
            <a:fld id="{307A48F2-FF29-4C49-8ED3-017BE51BE69C}" type="datetimeFigureOut">
              <a:rPr lang="nb-NO" smtClean="0"/>
              <a:t>28.08.2026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64228"/>
            <a:ext cx="2889938" cy="489373"/>
          </a:xfrm>
          <a:prstGeom prst="rect">
            <a:avLst/>
          </a:prstGeom>
        </p:spPr>
        <p:txBody>
          <a:bodyPr vert="horz" lIns="89904" tIns="44952" rIns="89904" bIns="44952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608" y="9264228"/>
            <a:ext cx="2889938" cy="489373"/>
          </a:xfrm>
          <a:prstGeom prst="rect">
            <a:avLst/>
          </a:prstGeom>
        </p:spPr>
        <p:txBody>
          <a:bodyPr vert="horz" lIns="89904" tIns="44952" rIns="89904" bIns="44952" rtlCol="0" anchor="b"/>
          <a:lstStyle>
            <a:lvl1pPr algn="r">
              <a:defRPr sz="1200"/>
            </a:lvl1pPr>
          </a:lstStyle>
          <a:p>
            <a:fld id="{C11394D0-3B13-4F15-9A89-885FEBED6BF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39672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3840" max="3840" units="cm"/>
          <inkml:channel name="Y" type="integer" max="2164" units="cm"/>
          <inkml:channel name="T" type="integer" max="2.14748E9" units="dev"/>
        </inkml:traceFormat>
        <inkml:channelProperties>
          <inkml:channelProperty channel="X" name="resolution" value="128.64322" units="1/cm"/>
          <inkml:channelProperty channel="Y" name="resolution" value="64.40476" units="1/cm"/>
          <inkml:channelProperty channel="T" name="resolution" value="1" units="1/dev"/>
        </inkml:channelProperties>
      </inkml:inkSource>
      <inkml:timestamp xml:id="ts0" timeString="2020-08-25T10:45:47.150"/>
    </inkml:context>
    <inkml:brush xml:id="br0">
      <inkml:brushProperty name="width" value="0.08819" units="cm"/>
      <inkml:brushProperty name="height" value="0.35278" units="cm"/>
      <inkml:brushProperty name="tip" value="rectangle"/>
      <inkml:brushProperty name="rasterOp" value="maskPen"/>
    </inkml:brush>
  </inkml:definitions>
  <iact:action type="add" startTime="309815">
    <iact:property name="dataType"/>
    <iact:actionData xml:id="d0">
      <inkml:trace xmlns:inkml="http://www.w3.org/2003/InkML" xml:id="stk0" contextRef="#ctx0" brushRef="#br0">7137 18998 0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889938" cy="489374"/>
          </a:xfrm>
          <a:prstGeom prst="rect">
            <a:avLst/>
          </a:prstGeom>
        </p:spPr>
        <p:txBody>
          <a:bodyPr vert="horz" lIns="89904" tIns="44952" rIns="89904" bIns="44952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8" y="2"/>
            <a:ext cx="2889938" cy="489374"/>
          </a:xfrm>
          <a:prstGeom prst="rect">
            <a:avLst/>
          </a:prstGeom>
        </p:spPr>
        <p:txBody>
          <a:bodyPr vert="horz" lIns="89904" tIns="44952" rIns="89904" bIns="44952" rtlCol="0"/>
          <a:lstStyle>
            <a:lvl1pPr algn="r">
              <a:defRPr sz="1200"/>
            </a:lvl1pPr>
          </a:lstStyle>
          <a:p>
            <a:fld id="{94ED3731-67CD-415D-88FF-39CAC956E6B6}" type="datetimeFigureOut">
              <a:rPr lang="nb-NO" smtClean="0"/>
              <a:t>28.08.2026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1219200"/>
            <a:ext cx="5856288" cy="32940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904" tIns="44952" rIns="89904" bIns="44952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10" y="4693920"/>
            <a:ext cx="5335270" cy="3840481"/>
          </a:xfrm>
          <a:prstGeom prst="rect">
            <a:avLst/>
          </a:prstGeom>
        </p:spPr>
        <p:txBody>
          <a:bodyPr vert="horz" lIns="89904" tIns="44952" rIns="89904" bIns="4495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228"/>
            <a:ext cx="2889938" cy="489373"/>
          </a:xfrm>
          <a:prstGeom prst="rect">
            <a:avLst/>
          </a:prstGeom>
        </p:spPr>
        <p:txBody>
          <a:bodyPr vert="horz" lIns="89904" tIns="44952" rIns="89904" bIns="44952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8" y="9264228"/>
            <a:ext cx="2889938" cy="489373"/>
          </a:xfrm>
          <a:prstGeom prst="rect">
            <a:avLst/>
          </a:prstGeom>
        </p:spPr>
        <p:txBody>
          <a:bodyPr vert="horz" lIns="89904" tIns="44952" rIns="89904" bIns="44952" rtlCol="0" anchor="b"/>
          <a:lstStyle>
            <a:lvl1pPr algn="r">
              <a:defRPr sz="1200"/>
            </a:lvl1pPr>
          </a:lstStyle>
          <a:p>
            <a:fld id="{45429662-A1D8-433E-B37E-584E1DC0F9A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1273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29662-A1D8-433E-B37E-584E1DC0F9AC}" type="slidenum">
              <a:rPr lang="nb-NO" smtClean="0"/>
              <a:t>31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03859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29662-A1D8-433E-B37E-584E1DC0F9AC}" type="slidenum">
              <a:rPr lang="nb-NO" smtClean="0"/>
              <a:t>34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43657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29662-A1D8-433E-B37E-584E1DC0F9AC}" type="slidenum">
              <a:rPr lang="nb-NO" smtClean="0"/>
              <a:t>75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7186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9C2E-11F1-4201-92BA-CDE5252698D3}" type="datetime1">
              <a:rPr lang="nb-NO" smtClean="0"/>
              <a:t>28.08.2026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1461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22A9-E993-4488-8D0B-60C97AD6964F}" type="datetime1">
              <a:rPr lang="nb-NO" smtClean="0"/>
              <a:t>28.08.2026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95670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5FEF-AB21-4C9D-8C5C-7DEB3DB8A868}" type="datetime1">
              <a:rPr lang="nb-NO" smtClean="0"/>
              <a:t>28.08.2026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97841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811A-934B-4BC5-B44A-B6580599A644}" type="datetime1">
              <a:rPr lang="nb-NO" smtClean="0"/>
              <a:t>28.08.2026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2228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3346-8F7F-4EC2-BFAC-7DC95807ACD9}" type="datetime1">
              <a:rPr lang="nb-NO" smtClean="0"/>
              <a:t>28.08.2026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53064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ECE0-A05E-48F4-8691-D7A4C5BBF505}" type="datetime1">
              <a:rPr lang="nb-NO" smtClean="0"/>
              <a:t>28.08.2026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2023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0B6E6-8071-4623-B194-0CC736B65393}" type="datetime1">
              <a:rPr lang="nb-NO" smtClean="0"/>
              <a:t>28.08.2026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8313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AFC1-86E6-46CD-8498-D50CB9B7B210}" type="datetime1">
              <a:rPr lang="nb-NO" smtClean="0"/>
              <a:t>28.08.2026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68788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90B6-DB26-44E7-BDCD-98475B823E22}" type="datetime1">
              <a:rPr lang="nb-NO" smtClean="0"/>
              <a:t>28.08.2026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07121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068C1-5E84-4CD3-BAC6-7E62F610096C}" type="datetime1">
              <a:rPr lang="nb-NO" smtClean="0"/>
              <a:t>28.08.2026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48785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0BA5-B4E2-46F6-83D6-1CD58AC43C8D}" type="datetime1">
              <a:rPr lang="nb-NO" smtClean="0"/>
              <a:t>28.08.2026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6549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986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9B06-9D24-4240-6BDF-64349D9EF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F5B3D-264E-2530-90A1-F24FBE104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EEB1F-AB88-3E62-B716-1E7FACF2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FF94E-4784-8863-7544-59AD1BE0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90F2D-A301-2A03-A14D-C3A8368C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77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CB69-0595-6FF5-EECF-A29E22776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989A0-7101-0CDC-B733-6929577F6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19D9F-BE48-E2DC-A28E-330F165BC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0558E-A7D2-2BF0-5152-497F1592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F98E8-4B3A-B9F1-172C-A1568BD6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87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8C456-8228-79D2-0750-C847C2C1E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A2BA0-A912-5596-936E-7274F0136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36F8A-7AAB-F0C0-6664-741F3266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127AE-19A7-425E-87F0-AC840ADD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0CF7F-C2EC-CA74-D3E0-30631FA8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2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8D60-5A4F-EA41-63FB-42E063A1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CED85-A8BA-DF67-BAA3-8AA005213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97857-E7A6-F8C9-0332-921F59342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D1BFB-D473-8498-47A1-CBFC0559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C89A8-B057-BE13-CD2A-5FE4E3CB0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AC783-D1F8-D888-7AE0-FFA98428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43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6135-F4C6-1E6D-5D2D-2AE389F7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E5F16-5E57-FF60-0383-25C928AD9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632A1-CD3B-0617-F174-57CEFB7B6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D4562-DF8E-CEBA-38B4-FA81D6579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62863-8337-C08F-8124-18B9EEB8D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AF043-02CE-6D18-DF12-88886842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6F0EB-4C4A-2FEB-07D8-30868AA8F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556B8-E90C-967A-F5E3-4103C067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76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8DF47-F3F4-8484-3EA7-181006D4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70C033-F52A-9D77-19DE-8DE606AE7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15998-6B3C-C600-4BDF-2C434CEC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F2FCB-25B8-15D8-14C2-2A7A1FE5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050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77C87-3E77-ACDD-32F3-3EB9222C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51828-7940-5E18-9160-E4E222EC4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1FA0B-3911-5517-EB8A-41BE45F8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232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2D5F-C016-9850-FE75-367CE768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22B92-A0F1-BCE0-3D41-23E0B8561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64C76-27E9-641D-279C-1D76BB566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F1337-92C7-4596-066C-9C8A5783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9E20E-CCAD-C743-2B91-49057DADD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BA36F-EB57-4A29-6528-021FB6BC0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65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8919-E243-EAD0-37FA-AC67026D9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36D5D-69CF-763C-F644-B829A0511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E5872-0570-2241-FC90-4D5CF2E8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2BA3F-2105-12D3-6431-78A9FCF71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B666F-983A-87D6-A25D-BFF641EC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7B667-E0BA-B048-4047-FA5B26A98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278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D08E-4346-B9EE-E30F-CDB7DB6F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BB1C31-E7D8-44E1-4492-63C06FF71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76EB4-48D5-37BE-CAD3-C94F92C2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5E2F1-273A-21B1-5651-518E41BF0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0F75F-93D4-FB3A-2D68-72AA508A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74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BF0C81-F3E9-B708-D16B-9BAC8CC54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F3B82-DAD8-6F4F-E5AF-C4EDE7F6F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5DD00-635B-9C85-6D5F-35A5B1474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E3DE2-6C9C-423E-AB4A-C308C522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7C372-F520-D665-0719-0A989870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3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F2316-5C91-455B-8CBB-EA67624C6712}" type="datetime1">
              <a:rPr lang="nb-NO" smtClean="0"/>
              <a:t>28.08.2026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CA8B5-DBB4-47BA-9127-F945AE107A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5428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B89B8-6AF6-A2C0-C13F-00E3B902F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8BAA0-BD75-99F7-5B65-3779619C9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39F2-EFFE-C9C8-A862-7755ADE95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9D47C-221E-7542-BB18-6379C5CCC97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C9805-1BB5-49DB-A38D-1F4D749DF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14909-888A-2C22-2D2F-B2AB4F26B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61FEE-42A0-8941-B2A4-05B92D17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2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dn.no/magasinet/dokumentar/skatt/formue/fritaksmetoden/norges-rikeste-far-80-milliarder-i-skattefrie-inntekter-i-aret/7-1-z_r7vzct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11/relationships/inkAction" Target="../ink/inkAction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ssb.no/virksomheter-foretak-og-regnskap/skatt-for-naeringsvirksomhet/artikler/latente-eierinntekter-og-skatteforpliktelser-pa-unoterte-aksjer-i-perioden-20112022/_/attachment/inline/0e7995b2-e27c-4deb-b21b-e17a96b97615:fb1c45e53aadbce5fc7c6dbbb74dc6ba6b135b50/RAPP2025-21.pdf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7EEB1D-2C7F-9064-E584-3DF5A62555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7977" b="775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nb-NO" noProof="0" dirty="0">
                <a:solidFill>
                  <a:srgbClr val="FFFFFF"/>
                </a:solidFill>
              </a:rPr>
              <a:t>Aksjonærmodellen og Fritaksmetoden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nb-NO" noProof="0" dirty="0">
                <a:solidFill>
                  <a:srgbClr val="FFFFFF"/>
                </a:solidFill>
              </a:rPr>
              <a:t>FIE 432 Personlig Økonomi </a:t>
            </a:r>
          </a:p>
          <a:p>
            <a:r>
              <a:rPr lang="nb-NO" noProof="0" dirty="0">
                <a:solidFill>
                  <a:srgbClr val="FFFFFF"/>
                </a:solidFill>
              </a:rPr>
              <a:t>Professor Guttorm Schjelderup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92CA8B5-DBB4-47BA-9127-F945AE107A35}" type="slidenum">
              <a:rPr lang="nb-NO" noProof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nb-NO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62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7222"/>
    </mc:Choice>
    <mc:Fallback xmlns="">
      <p:transition spd="slow" advTm="3722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07A1-04FA-F301-62DC-55A91F11D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063"/>
          </a:xfrm>
        </p:spPr>
        <p:txBody>
          <a:bodyPr>
            <a:normAutofit/>
          </a:bodyPr>
          <a:lstStyle/>
          <a:p>
            <a:r>
              <a:rPr lang="nb-NO" sz="3200" dirty="0"/>
              <a:t>Disposisjon for forelesningene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54A02-9583-3DC7-5AD1-F26FB87BD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094"/>
            <a:ext cx="10515600" cy="493086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b-NO" sz="2800" noProof="0" dirty="0"/>
              <a:t>Skattereformen i 1992</a:t>
            </a:r>
            <a:r>
              <a:rPr lang="nb-NO" dirty="0"/>
              <a:t>. Tilpasninger</a:t>
            </a:r>
            <a:endParaRPr lang="nb-NO" sz="2800" noProof="0" dirty="0"/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Skattereformen i 2006: Tilpasninger og konsekvenser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Fritaksmetoden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Aksjonærmodellen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Inntektsskiftningsligningen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Nominelle og effektive skattesatser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2800" noProof="0" dirty="0"/>
              <a:t>De rikeste og kapitalbeskatningen i Norge</a:t>
            </a: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1C8C0-7B8E-9575-06DB-A66D70A7D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7316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6302-D6BD-B633-AEB7-FA4E0D090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19" y="198999"/>
            <a:ext cx="10913806" cy="4075802"/>
          </a:xfrm>
        </p:spPr>
        <p:txBody>
          <a:bodyPr>
            <a:noAutofit/>
          </a:bodyPr>
          <a:lstStyle/>
          <a:p>
            <a:r>
              <a:rPr lang="nb-NO" sz="4000" noProof="0" dirty="0"/>
              <a:t>1. Skattereformen i 1992 og dens konsekvenser for skattepolitikken i dag </a:t>
            </a:r>
          </a:p>
        </p:txBody>
      </p:sp>
    </p:spTree>
    <p:extLst>
      <p:ext uri="{BB962C8B-B14F-4D97-AF65-F5344CB8AC3E}">
        <p14:creationId xmlns:p14="http://schemas.microsoft.com/office/powerpoint/2010/main" val="132151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A2480-3102-4FE8-B313-AA6C5136D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Før skattereformen i 1992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5042-D07D-5095-11CB-90B8D12C5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Høyeste marginalskatt på lønn 70%</a:t>
            </a:r>
          </a:p>
          <a:p>
            <a:endParaRPr lang="nb-NO" sz="3600" dirty="0"/>
          </a:p>
          <a:p>
            <a:r>
              <a:rPr lang="nb-NO" sz="3600" dirty="0"/>
              <a:t>Bedriftsskattesatsen var 50,8%</a:t>
            </a:r>
          </a:p>
          <a:p>
            <a:endParaRPr lang="nb-NO" sz="3600" dirty="0"/>
          </a:p>
          <a:p>
            <a:r>
              <a:rPr lang="nb-NO" sz="3600" dirty="0"/>
              <a:t>Utbytte flere satser, høyeste sats var 19,5%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AB8C7-FC44-D159-D844-6DDDBEEA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75502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750C4-489F-54FD-8C8A-52844CAA5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r>
              <a:rPr lang="nb-NO" sz="3600" b="1" noProof="0" dirty="0">
                <a:latin typeface="+mn-lt"/>
              </a:rPr>
              <a:t>Skattereformen i 1992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A6948-BCA2-A5DF-2322-F6F882C01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742" y="1517911"/>
            <a:ext cx="11523407" cy="5250424"/>
          </a:xfrm>
        </p:spPr>
        <p:txBody>
          <a:bodyPr>
            <a:normAutofit/>
          </a:bodyPr>
          <a:lstStyle/>
          <a:p>
            <a:r>
              <a:rPr lang="nb-NO" noProof="0" dirty="0"/>
              <a:t>Man innførte den alminnelige skattesatsen på alle inntekter </a:t>
            </a:r>
          </a:p>
          <a:p>
            <a:pPr lvl="1"/>
            <a:r>
              <a:rPr lang="nb-NO" noProof="0" dirty="0"/>
              <a:t>Lønn og k</a:t>
            </a:r>
            <a:r>
              <a:rPr lang="nb-NO" dirty="0" err="1"/>
              <a:t>apitalinntekt</a:t>
            </a:r>
            <a:r>
              <a:rPr lang="nb-NO" dirty="0"/>
              <a:t> (selskaper og aksjegevinster og renter) skattlagt med 28%</a:t>
            </a:r>
          </a:p>
          <a:p>
            <a:pPr lvl="1"/>
            <a:r>
              <a:rPr lang="nb-NO" dirty="0"/>
              <a:t>I 2026 er den alminnelige skattesatsen 22%</a:t>
            </a:r>
          </a:p>
          <a:p>
            <a:pPr lvl="1"/>
            <a:r>
              <a:rPr lang="nb-NO" dirty="0"/>
              <a:t>Ingen skatt på utbytte </a:t>
            </a:r>
          </a:p>
          <a:p>
            <a:endParaRPr lang="nb-NO" dirty="0"/>
          </a:p>
          <a:p>
            <a:r>
              <a:rPr lang="nb-NO" dirty="0"/>
              <a:t>Personinntekt (lønn) ble skattlagt med den alminnelige skattesatsen på 28%</a:t>
            </a:r>
          </a:p>
          <a:p>
            <a:pPr lvl="1"/>
            <a:r>
              <a:rPr lang="nb-NO" sz="2800" noProof="0" dirty="0"/>
              <a:t>På toppen av 28% kom trinnskatt som sikret progressivitet</a:t>
            </a:r>
          </a:p>
          <a:p>
            <a:pPr lvl="1"/>
            <a:r>
              <a:rPr lang="nb-NO" sz="2800" dirty="0"/>
              <a:t>Fordelingspolitikken var rettet mot lønnsmottakere. </a:t>
            </a:r>
          </a:p>
          <a:p>
            <a:pPr lvl="1"/>
            <a:endParaRPr lang="nb-NO" noProof="0" dirty="0"/>
          </a:p>
          <a:p>
            <a:r>
              <a:rPr lang="nb-NO" dirty="0"/>
              <a:t>Eiere av en bedrift som jobbet i egen bedrift fikk tilordnet lønnsinntekt gjennom </a:t>
            </a:r>
            <a:r>
              <a:rPr lang="nb-NO" b="1" dirty="0"/>
              <a:t>delingsmodellen (hvorfor det?)</a:t>
            </a:r>
          </a:p>
          <a:p>
            <a:pPr marL="0" indent="0">
              <a:buNone/>
            </a:pPr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55821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3810-8036-0C6E-460A-A39C8396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7632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+mn-lt"/>
              </a:rPr>
              <a:t>Delingsmodellen</a:t>
            </a:r>
            <a:r>
              <a:rPr lang="en-US" sz="3600" dirty="0">
                <a:latin typeface="+mn-lt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F13E0-07DD-FA02-3B6B-71EBD12B8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0954"/>
            <a:ext cx="10515600" cy="5684943"/>
          </a:xfrm>
        </p:spPr>
        <p:txBody>
          <a:bodyPr>
            <a:noAutofit/>
          </a:bodyPr>
          <a:lstStyle/>
          <a:p>
            <a:r>
              <a:rPr lang="nb-NO" sz="2600" noProof="0" dirty="0"/>
              <a:t>Hva skulle man gjøre med bedriftseiere som jobbet full tid i egen bedrift? De </a:t>
            </a:r>
            <a:r>
              <a:rPr lang="nb-NO" sz="2600" dirty="0"/>
              <a:t>skulle ha lønnsinntekt men kunne selvsagt velge å heller ta utbytte til 28% i stedet for lønn med marginalskatt over 50%.</a:t>
            </a:r>
          </a:p>
          <a:p>
            <a:endParaRPr lang="nb-NO" sz="2600" noProof="0" dirty="0"/>
          </a:p>
          <a:p>
            <a:r>
              <a:rPr lang="nb-NO" sz="2600" dirty="0"/>
              <a:t>Politikerne (bredt flertall på Stortinget) mente at</a:t>
            </a:r>
            <a:r>
              <a:rPr lang="nb-NO" sz="2600" noProof="0" dirty="0"/>
              <a:t> bedriftseiere som jobbet i egen bedrift og eide 66,67% eller mer av aksjene var aktive eiere og skulle tilordnes en lønnsinntekt.</a:t>
            </a:r>
          </a:p>
          <a:p>
            <a:endParaRPr lang="nb-NO" sz="2600" dirty="0"/>
          </a:p>
          <a:p>
            <a:r>
              <a:rPr lang="nb-NO" sz="2600" dirty="0"/>
              <a:t>Hvorfor 66,67%? I norsk selskapsrett er 2/3 flertall (kvalifisert flertall) det som skal til for å gjøre de virkelig inngripende beslutningene i et aksjeselskap</a:t>
            </a:r>
          </a:p>
          <a:p>
            <a:endParaRPr lang="nb-NO" sz="2600" noProof="0" dirty="0"/>
          </a:p>
          <a:p>
            <a:r>
              <a:rPr lang="nb-NO" sz="2600" dirty="0"/>
              <a:t>Juristene vant over fornuften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B8A77-D077-C64D-B7ED-2FD0A02C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4394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63D9-E750-D1BF-61A0-7E921C34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14"/>
            <a:ext cx="10515600" cy="540310"/>
          </a:xfrm>
        </p:spPr>
        <p:txBody>
          <a:bodyPr>
            <a:normAutofit fontScale="90000"/>
          </a:bodyPr>
          <a:lstStyle/>
          <a:p>
            <a:r>
              <a:rPr lang="nb-NO" sz="3600" b="1" noProof="0" dirty="0">
                <a:latin typeface="+mn-lt"/>
              </a:rPr>
              <a:t>Delingsmodellen i praksis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D8F6-315B-8FFE-3403-8121C7124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102659"/>
            <a:ext cx="10860741" cy="5265497"/>
          </a:xfrm>
        </p:spPr>
        <p:txBody>
          <a:bodyPr>
            <a:normAutofit/>
          </a:bodyPr>
          <a:lstStyle/>
          <a:p>
            <a:r>
              <a:rPr lang="nb-NO" sz="3200" dirty="0"/>
              <a:t>Aktive eiere fikk </a:t>
            </a:r>
            <a:r>
              <a:rPr lang="nb-NO" sz="3200" i="1" dirty="0"/>
              <a:t>tilordnet en lønnsinntekt basert på bedriftens overskudd minus fratrekk for en estimert avkastning på investert kapital. </a:t>
            </a:r>
            <a:r>
              <a:rPr lang="nb-NO" sz="3200" i="1" dirty="0" err="1"/>
              <a:t>Residualen</a:t>
            </a:r>
            <a:r>
              <a:rPr lang="nb-NO" sz="3200" i="1" dirty="0"/>
              <a:t> var lønn. </a:t>
            </a:r>
          </a:p>
          <a:p>
            <a:endParaRPr lang="nb-NO" sz="3200" i="1" noProof="0" dirty="0"/>
          </a:p>
          <a:p>
            <a:pPr marL="0" indent="0">
              <a:buNone/>
            </a:pPr>
            <a:r>
              <a:rPr lang="nb-NO" sz="3200" b="1" dirty="0"/>
              <a:t>EKSEMPEL</a:t>
            </a:r>
            <a:endParaRPr lang="nb-NO" sz="3000" b="1" noProof="0" dirty="0"/>
          </a:p>
          <a:p>
            <a:r>
              <a:rPr lang="nb-NO" sz="3000" noProof="0" dirty="0"/>
              <a:t>Bedriftens overskudd </a:t>
            </a:r>
            <a:r>
              <a:rPr lang="nb-NO" sz="3000" noProof="0" dirty="0">
                <a:solidFill>
                  <a:srgbClr val="0070C0"/>
                </a:solidFill>
              </a:rPr>
              <a:t>kr 100</a:t>
            </a:r>
            <a:r>
              <a:rPr lang="nb-NO" sz="3000" noProof="0" dirty="0"/>
              <a:t>.  Investert kapital i selskapet </a:t>
            </a:r>
            <a:r>
              <a:rPr lang="nb-NO" sz="3000" noProof="0" dirty="0">
                <a:solidFill>
                  <a:srgbClr val="FF0000"/>
                </a:solidFill>
              </a:rPr>
              <a:t>kr 1000</a:t>
            </a:r>
          </a:p>
          <a:p>
            <a:r>
              <a:rPr lang="nb-NO" sz="3000" noProof="0" dirty="0"/>
              <a:t>Sjablongmessig avkastning på kapital: 6% dvs. kr 60 (=</a:t>
            </a:r>
            <a:r>
              <a:rPr lang="nb-NO" sz="3000" noProof="0" dirty="0">
                <a:solidFill>
                  <a:srgbClr val="FF0000"/>
                </a:solidFill>
              </a:rPr>
              <a:t>1000</a:t>
            </a:r>
            <a:r>
              <a:rPr lang="nb-NO" sz="3000" noProof="0" dirty="0"/>
              <a:t>*6%)</a:t>
            </a:r>
          </a:p>
          <a:p>
            <a:r>
              <a:rPr lang="nb-NO" sz="3000" noProof="0" dirty="0" err="1"/>
              <a:t>Løn</a:t>
            </a:r>
            <a:r>
              <a:rPr lang="nb-NO" sz="3000" dirty="0" err="1"/>
              <a:t>nsinntekt</a:t>
            </a:r>
            <a:r>
              <a:rPr lang="nb-NO" sz="3000" noProof="0" dirty="0"/>
              <a:t> aktiv eier: kr 40 (= </a:t>
            </a:r>
            <a:r>
              <a:rPr lang="nb-NO" sz="3000" noProof="0" dirty="0">
                <a:solidFill>
                  <a:srgbClr val="0070C0"/>
                </a:solidFill>
              </a:rPr>
              <a:t>kr 100</a:t>
            </a:r>
            <a:r>
              <a:rPr lang="nb-NO" sz="3000" noProof="0" dirty="0"/>
              <a:t> – kr 60) </a:t>
            </a:r>
            <a:endParaRPr lang="nb-NO" sz="3000" dirty="0"/>
          </a:p>
          <a:p>
            <a:r>
              <a:rPr lang="nb-NO" sz="3000" dirty="0"/>
              <a:t>Bedriften betalte skatt av kr 100</a:t>
            </a:r>
            <a:r>
              <a:rPr lang="nb-NO" sz="3000" noProof="0" dirty="0"/>
              <a:t> (28% skatt)</a:t>
            </a:r>
          </a:p>
        </p:txBody>
      </p:sp>
    </p:spTree>
    <p:extLst>
      <p:ext uri="{BB962C8B-B14F-4D97-AF65-F5344CB8AC3E}">
        <p14:creationId xmlns:p14="http://schemas.microsoft.com/office/powerpoint/2010/main" val="233901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D3CE-1816-1F9F-7012-9B21FB95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Hva ville dere gjort om dere var ene-eier av et aksjeselskap og dermed eide 100% av aksjene og var aktiv eier (eide mer enn 2/3 av aksjene)?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18F41-70F6-91AC-08EB-F3B58E84F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71079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1C56C-C9B9-2E8E-495C-09F3D749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Dere </a:t>
            </a:r>
            <a:r>
              <a:rPr lang="en-US" noProof="0" dirty="0" err="1"/>
              <a:t>ville</a:t>
            </a:r>
            <a:r>
              <a:rPr lang="en-US" noProof="0" dirty="0"/>
              <a:t> </a:t>
            </a:r>
            <a:r>
              <a:rPr lang="en-US" noProof="0" dirty="0" err="1"/>
              <a:t>solgt</a:t>
            </a:r>
            <a:r>
              <a:rPr lang="en-US" noProof="0" dirty="0"/>
              <a:t> </a:t>
            </a:r>
            <a:r>
              <a:rPr lang="en-US" noProof="0" dirty="0" err="1"/>
              <a:t>dere</a:t>
            </a:r>
            <a:r>
              <a:rPr lang="en-US" noProof="0" dirty="0"/>
              <a:t> </a:t>
            </a:r>
            <a:r>
              <a:rPr lang="en-US" noProof="0" dirty="0" err="1"/>
              <a:t>ned</a:t>
            </a:r>
            <a:r>
              <a:rPr lang="en-US" noProof="0" dirty="0"/>
              <a:t> under </a:t>
            </a:r>
            <a:r>
              <a:rPr lang="en-US" noProof="0" dirty="0" err="1"/>
              <a:t>grensen</a:t>
            </a:r>
            <a:r>
              <a:rPr lang="en-US" noProof="0" dirty="0"/>
              <a:t> </a:t>
            </a:r>
            <a:r>
              <a:rPr lang="en-US" noProof="0" dirty="0" err="1"/>
              <a:t>på</a:t>
            </a:r>
            <a:r>
              <a:rPr lang="en-US" noProof="0" dirty="0"/>
              <a:t> 67,67%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26E4D-B655-DD7B-8F23-1F7487F79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noProof="0" dirty="0">
                <a:solidFill>
                  <a:schemeClr val="tx1"/>
                </a:solidFill>
              </a:rPr>
              <a:t>Ved </a:t>
            </a:r>
            <a:r>
              <a:rPr lang="en-US" sz="3600" noProof="0" dirty="0" err="1">
                <a:solidFill>
                  <a:schemeClr val="tx1"/>
                </a:solidFill>
              </a:rPr>
              <a:t>å</a:t>
            </a:r>
            <a:r>
              <a:rPr lang="en-US" sz="3600" noProof="0" dirty="0">
                <a:solidFill>
                  <a:schemeClr val="tx1"/>
                </a:solidFill>
              </a:rPr>
              <a:t> </a:t>
            </a:r>
            <a:r>
              <a:rPr lang="en-US" sz="3600" noProof="0" dirty="0" err="1">
                <a:solidFill>
                  <a:schemeClr val="tx1"/>
                </a:solidFill>
              </a:rPr>
              <a:t>eie</a:t>
            </a:r>
            <a:r>
              <a:rPr lang="en-US" sz="3600" noProof="0" dirty="0">
                <a:solidFill>
                  <a:schemeClr val="tx1"/>
                </a:solidFill>
              </a:rPr>
              <a:t> 67% av </a:t>
            </a:r>
            <a:r>
              <a:rPr lang="en-US" sz="3600" noProof="0" dirty="0" err="1">
                <a:solidFill>
                  <a:schemeClr val="tx1"/>
                </a:solidFill>
              </a:rPr>
              <a:t>aksjene</a:t>
            </a:r>
            <a:r>
              <a:rPr lang="en-US" sz="3600" noProof="0" dirty="0">
                <a:solidFill>
                  <a:schemeClr val="tx1"/>
                </a:solidFill>
              </a:rPr>
              <a:t> </a:t>
            </a:r>
            <a:r>
              <a:rPr lang="en-US" sz="3600" noProof="0" dirty="0" err="1">
                <a:solidFill>
                  <a:schemeClr val="tx1"/>
                </a:solidFill>
              </a:rPr>
              <a:t>kontrollerer</a:t>
            </a:r>
            <a:r>
              <a:rPr lang="en-US" sz="3600" noProof="0" dirty="0">
                <a:solidFill>
                  <a:schemeClr val="tx1"/>
                </a:solidFill>
              </a:rPr>
              <a:t> </a:t>
            </a:r>
            <a:r>
              <a:rPr lang="en-US" sz="3600" noProof="0" dirty="0" err="1">
                <a:solidFill>
                  <a:schemeClr val="tx1"/>
                </a:solidFill>
              </a:rPr>
              <a:t>dere</a:t>
            </a:r>
            <a:r>
              <a:rPr lang="en-US" sz="3600" noProof="0" dirty="0">
                <a:solidFill>
                  <a:schemeClr val="tx1"/>
                </a:solidFill>
              </a:rPr>
              <a:t> </a:t>
            </a:r>
            <a:r>
              <a:rPr lang="en-US" sz="3600" noProof="0" dirty="0" err="1">
                <a:solidFill>
                  <a:schemeClr val="tx1"/>
                </a:solidFill>
              </a:rPr>
              <a:t>fortsatt</a:t>
            </a:r>
            <a:r>
              <a:rPr lang="en-US" sz="3600" noProof="0" dirty="0">
                <a:solidFill>
                  <a:schemeClr val="tx1"/>
                </a:solidFill>
              </a:rPr>
              <a:t> </a:t>
            </a:r>
            <a:r>
              <a:rPr lang="en-US" sz="3600" noProof="0" dirty="0" err="1">
                <a:solidFill>
                  <a:schemeClr val="tx1"/>
                </a:solidFill>
              </a:rPr>
              <a:t>selskapet</a:t>
            </a:r>
            <a:r>
              <a:rPr lang="en-US" sz="3600" noProof="0" dirty="0">
                <a:solidFill>
                  <a:schemeClr val="tx1"/>
                </a:solidFill>
              </a:rPr>
              <a:t> </a:t>
            </a:r>
            <a:r>
              <a:rPr lang="en-US" sz="3600" noProof="0" dirty="0" err="1">
                <a:solidFill>
                  <a:schemeClr val="tx1"/>
                </a:solidFill>
              </a:rPr>
              <a:t>og</a:t>
            </a:r>
            <a:r>
              <a:rPr lang="en-US" sz="3600" noProof="0" dirty="0">
                <a:solidFill>
                  <a:schemeClr val="tx1"/>
                </a:solidFill>
              </a:rPr>
              <a:t> slipper </a:t>
            </a:r>
            <a:r>
              <a:rPr lang="en-US" sz="3600" noProof="0" dirty="0" err="1">
                <a:solidFill>
                  <a:schemeClr val="tx1"/>
                </a:solidFill>
              </a:rPr>
              <a:t>skatt</a:t>
            </a:r>
            <a:r>
              <a:rPr lang="en-US" sz="3600" noProof="0" dirty="0">
                <a:solidFill>
                  <a:schemeClr val="tx1"/>
                </a:solidFill>
              </a:rPr>
              <a:t> </a:t>
            </a:r>
            <a:r>
              <a:rPr lang="en-US" sz="3600" noProof="0" dirty="0" err="1">
                <a:solidFill>
                  <a:schemeClr val="tx1"/>
                </a:solidFill>
              </a:rPr>
              <a:t>på</a:t>
            </a:r>
            <a:r>
              <a:rPr lang="en-US" sz="3600" noProof="0" dirty="0">
                <a:solidFill>
                  <a:schemeClr val="tx1"/>
                </a:solidFill>
              </a:rPr>
              <a:t> </a:t>
            </a:r>
            <a:r>
              <a:rPr lang="en-US" sz="3600" noProof="0" dirty="0" err="1">
                <a:solidFill>
                  <a:schemeClr val="tx1"/>
                </a:solidFill>
              </a:rPr>
              <a:t>utbytte</a:t>
            </a:r>
            <a:r>
              <a:rPr lang="en-US" sz="3600" noProof="0" dirty="0">
                <a:solidFill>
                  <a:schemeClr val="tx1"/>
                </a:solidFill>
              </a:rPr>
              <a:t>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89B8F-D50C-D4F0-0460-956F9BD8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228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1107-6CF1-7147-0B55-C732FFB38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>
                <a:latin typeface="+mn-lt"/>
              </a:rPr>
              <a:t>Norgesparadokset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82F83-B688-56A0-1010-A0A3CC97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b-NO" sz="3200" dirty="0"/>
              <a:t>Norge: stor forskjell i skattesats mellom lønn og kapital</a:t>
            </a:r>
          </a:p>
          <a:p>
            <a:endParaRPr lang="nb-NO" sz="3200" dirty="0"/>
          </a:p>
          <a:p>
            <a:r>
              <a:rPr lang="nb-NO" sz="3200" dirty="0"/>
              <a:t>Det var svært lønnsomt å omdanne arbeidsinntekt til kapitalinntekt ved å unngå delingsmodellen (selge seg ned) </a:t>
            </a:r>
          </a:p>
          <a:p>
            <a:endParaRPr lang="nb-NO" sz="3200" dirty="0"/>
          </a:p>
          <a:p>
            <a:r>
              <a:rPr lang="nb-NO" sz="3200" dirty="0"/>
              <a:t>I 2006 var det nesten ingen aktive eiere igjen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C5E68-FAF9-B05F-1D83-8B60F44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9757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9757A-5654-4404-21A5-840364F4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3F26-4804-F7F3-D8B4-A0ED28F45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113" y="560295"/>
            <a:ext cx="10913806" cy="5625352"/>
          </a:xfrm>
        </p:spPr>
        <p:txBody>
          <a:bodyPr>
            <a:noAutofit/>
          </a:bodyPr>
          <a:lstStyle/>
          <a:p>
            <a:r>
              <a:rPr lang="nb-NO" sz="4000" b="1" dirty="0"/>
              <a:t>2. </a:t>
            </a:r>
            <a:r>
              <a:rPr lang="nb-NO" sz="4400" b="1" dirty="0"/>
              <a:t>Skattereformen i 2006: </a:t>
            </a:r>
            <a:br>
              <a:rPr lang="nb-NO" sz="4400" dirty="0"/>
            </a:br>
            <a:br>
              <a:rPr lang="nb-NO" sz="4400" dirty="0"/>
            </a:br>
            <a:r>
              <a:rPr lang="nb-NO" sz="4400" dirty="0"/>
              <a:t>Man innførte:</a:t>
            </a:r>
            <a:br>
              <a:rPr lang="nb-NO" sz="4400" dirty="0"/>
            </a:br>
            <a:r>
              <a:rPr lang="nb-NO" sz="3600" dirty="0"/>
              <a:t> </a:t>
            </a:r>
            <a:r>
              <a:rPr lang="nb-NO" sz="3600" b="1" dirty="0">
                <a:solidFill>
                  <a:srgbClr val="FF0000"/>
                </a:solidFill>
              </a:rPr>
              <a:t>Fritaksmetoden</a:t>
            </a:r>
            <a:br>
              <a:rPr lang="nb-NO" sz="3600" b="1" dirty="0">
                <a:solidFill>
                  <a:srgbClr val="FF0000"/>
                </a:solidFill>
              </a:rPr>
            </a:br>
            <a:r>
              <a:rPr lang="nb-NO" sz="3600" b="1" dirty="0">
                <a:solidFill>
                  <a:srgbClr val="FF0000"/>
                </a:solidFill>
              </a:rPr>
              <a:t> og Aksjonærmodellen</a:t>
            </a:r>
            <a:br>
              <a:rPr lang="nb-NO" sz="3600" dirty="0"/>
            </a:br>
            <a:br>
              <a:rPr lang="nb-NO" sz="3600" dirty="0"/>
            </a:br>
            <a:r>
              <a:rPr lang="nb-NO" sz="4400" dirty="0"/>
              <a:t>Begge er i bruk i dag</a:t>
            </a:r>
            <a:endParaRPr lang="nb-NO" sz="4000" noProof="0" dirty="0"/>
          </a:p>
        </p:txBody>
      </p:sp>
    </p:spTree>
    <p:extLst>
      <p:ext uri="{BB962C8B-B14F-4D97-AF65-F5344CB8AC3E}">
        <p14:creationId xmlns:p14="http://schemas.microsoft.com/office/powerpoint/2010/main" val="326855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8BC4-C2E9-56EB-1ACE-92CB61B9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>
                <a:latin typeface="+mn-lt"/>
              </a:rPr>
              <a:t>Aksjonærmodellen (personlig skattyter)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A4122-CBF9-99A2-AD02-F8B4DCE4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Aksjeinntekter og aksjeutbytte er etter et </a:t>
            </a:r>
            <a:r>
              <a:rPr lang="nb-NO" sz="3600" b="1" i="1" dirty="0">
                <a:solidFill>
                  <a:srgbClr val="FF0000"/>
                </a:solidFill>
              </a:rPr>
              <a:t>skjermingsfradrag</a:t>
            </a:r>
            <a:r>
              <a:rPr lang="nb-NO" sz="3600" dirty="0"/>
              <a:t> </a:t>
            </a:r>
            <a:r>
              <a:rPr lang="nb-NO" sz="3600" b="1" i="1" dirty="0"/>
              <a:t>skattepliktig for personlige skattytere. </a:t>
            </a:r>
          </a:p>
          <a:p>
            <a:pPr lvl="1"/>
            <a:r>
              <a:rPr lang="nb-NO" sz="3200" i="1" dirty="0"/>
              <a:t>Slike inntekter skattlegges ved </a:t>
            </a:r>
            <a:r>
              <a:rPr lang="nb-NO" sz="3200" i="1" dirty="0">
                <a:solidFill>
                  <a:srgbClr val="FF0000"/>
                </a:solidFill>
              </a:rPr>
              <a:t>eierskatten</a:t>
            </a:r>
            <a:r>
              <a:rPr lang="nb-NO" sz="3200" i="1" dirty="0"/>
              <a:t> (37,8%) </a:t>
            </a:r>
            <a:r>
              <a:rPr lang="nb-NO" sz="2800" dirty="0"/>
              <a:t>	</a:t>
            </a:r>
          </a:p>
          <a:p>
            <a:pPr lvl="1"/>
            <a:r>
              <a:rPr lang="nb-NO" sz="3200" dirty="0"/>
              <a:t>Hvis utbytte er kr 100 og skjermingsfradraget kr 20, er kun kr 80 skattepliktig utbytte.</a:t>
            </a:r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595C0-C75B-B14E-52B2-5EF57171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5526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FD85A-B2D0-5B22-9291-D77C3B38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>
                <a:latin typeface="+mn-lt"/>
              </a:rPr>
              <a:t>Fritaksmetoden (selskapsaksjonærer)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BA6F6-13E4-EA45-C67A-74DD9977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3200" dirty="0"/>
              <a:t>Aksjeinntekter, aksjeutbytte og aksjegevinster er i </a:t>
            </a:r>
            <a:r>
              <a:rPr lang="nb-NO" sz="3200" i="1" u="sng" dirty="0"/>
              <a:t>hovedsak</a:t>
            </a:r>
            <a:r>
              <a:rPr lang="nb-NO" sz="3200" dirty="0"/>
              <a:t> </a:t>
            </a:r>
            <a:r>
              <a:rPr lang="nb-NO" sz="3200" b="1" i="1" dirty="0"/>
              <a:t>skattefri  for aksjeselskaper (AS, ANS mm)</a:t>
            </a:r>
            <a:r>
              <a:rPr lang="nb-NO" sz="3200" dirty="0"/>
              <a:t> for å unngå kjedebeskatning av selskaper.</a:t>
            </a:r>
          </a:p>
          <a:p>
            <a:endParaRPr lang="nb-NO" sz="3200" dirty="0"/>
          </a:p>
          <a:p>
            <a:r>
              <a:rPr lang="nb-NO" sz="3200" dirty="0"/>
              <a:t>Et holdingselskap, som eier aksjer i datterselskaper, kan motta utbytte og aksjegevinster (</a:t>
            </a:r>
            <a:r>
              <a:rPr lang="nb-NO" sz="3200" dirty="0" err="1"/>
              <a:t>feks</a:t>
            </a:r>
            <a:r>
              <a:rPr lang="nb-NO" sz="3200" dirty="0"/>
              <a:t>. gevinster på salg av aksjer) tilnærmet skattefritt i holdingselskapet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14608-8C0F-62A1-7856-B122C27B0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3586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0AF30B-FAAF-6CE5-9CC4-A3B5BFB8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14</a:t>
            </a:fld>
            <a:endParaRPr lang="nb-NO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7A0BAE-956C-EC75-538A-6DB064E37156}"/>
              </a:ext>
            </a:extLst>
          </p:cNvPr>
          <p:cNvSpPr/>
          <p:nvPr/>
        </p:nvSpPr>
        <p:spPr>
          <a:xfrm>
            <a:off x="408189" y="693491"/>
            <a:ext cx="3610019" cy="1920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4000" b="1" dirty="0">
                <a:solidFill>
                  <a:srgbClr val="FFFF00"/>
                </a:solidFill>
              </a:rPr>
              <a:t>Mor-selskap</a:t>
            </a:r>
          </a:p>
          <a:p>
            <a:pPr algn="ctr"/>
            <a:r>
              <a:rPr lang="nb-NO" sz="2000" b="1" dirty="0">
                <a:solidFill>
                  <a:srgbClr val="FFFF00"/>
                </a:solidFill>
              </a:rPr>
              <a:t>Aksjegevinster fritatt for skatt</a:t>
            </a:r>
            <a:endParaRPr lang="nb-NO" sz="1050" b="1" dirty="0">
              <a:solidFill>
                <a:srgbClr val="FFFF00"/>
              </a:solidFill>
            </a:endParaRPr>
          </a:p>
        </p:txBody>
      </p:sp>
      <p:pic>
        <p:nvPicPr>
          <p:cNvPr id="4" name="Picture 3" descr="Flat vector illustration of a generic fictional person, not based on any real individual, with soft rounded facial features, friendly neutral expression, simple modern clothing, clean silhouette, and minimal detail. Use a restrained palette that matches the slide style: medium blue, warm yellow accents, and neutral off-white/gray tones. Compose as a professional half-body portrait facing slightly toward the center, with crisp shapes, no photo realism, no skin-detail rendering, no texture, no dramatic shadows, and no text. Background should be a subtle light neutral environment with gentle abstract shapes, visually rich but understated, consistent with a minimalist presentation graphic style.">
            <a:extLst>
              <a:ext uri="{FF2B5EF4-FFF2-40B4-BE49-F238E27FC236}">
                <a16:creationId xmlns:a16="http://schemas.microsoft.com/office/drawing/2014/main" id="{E807CBF8-D218-4B13-9566-E81EBC6F7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97000"/>
            <a:ext cx="3048000" cy="4572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A83E11-9BBF-74CD-A038-66B9B91910F6}"/>
              </a:ext>
            </a:extLst>
          </p:cNvPr>
          <p:cNvSpPr/>
          <p:nvPr/>
        </p:nvSpPr>
        <p:spPr>
          <a:xfrm>
            <a:off x="334851" y="4435430"/>
            <a:ext cx="3610019" cy="1920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4000" b="1" dirty="0">
                <a:solidFill>
                  <a:srgbClr val="FFFF00"/>
                </a:solidFill>
              </a:rPr>
              <a:t>Datter-selskap</a:t>
            </a:r>
            <a:endParaRPr lang="nb-NO" b="1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7F892-5C71-BF6F-9430-2D18CB616DB9}"/>
              </a:ext>
            </a:extLst>
          </p:cNvPr>
          <p:cNvSpPr txBox="1"/>
          <p:nvPr/>
        </p:nvSpPr>
        <p:spPr>
          <a:xfrm>
            <a:off x="7049025" y="5461000"/>
            <a:ext cx="2933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Personlig aksjonær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218D6063-DB2E-08AD-CCB4-0D0C0AE79C66}"/>
              </a:ext>
            </a:extLst>
          </p:cNvPr>
          <p:cNvSpPr/>
          <p:nvPr/>
        </p:nvSpPr>
        <p:spPr>
          <a:xfrm>
            <a:off x="1184856" y="2707783"/>
            <a:ext cx="444321" cy="14424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3B80A1-C9B6-7B0F-8F4B-438F8FF60992}"/>
              </a:ext>
            </a:extLst>
          </p:cNvPr>
          <p:cNvSpPr txBox="1"/>
          <p:nvPr/>
        </p:nvSpPr>
        <p:spPr>
          <a:xfrm>
            <a:off x="1629176" y="3105833"/>
            <a:ext cx="4399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Utbytte fra datter til mor</a:t>
            </a:r>
          </a:p>
          <a:p>
            <a:r>
              <a:rPr lang="nb-NO" sz="2400" dirty="0"/>
              <a:t> er skattefritt (Fritaksmetoden)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1ABC712-6A46-F60E-CA72-091CEB183B4F}"/>
              </a:ext>
            </a:extLst>
          </p:cNvPr>
          <p:cNvSpPr/>
          <p:nvPr/>
        </p:nvSpPr>
        <p:spPr>
          <a:xfrm>
            <a:off x="4330521" y="1397000"/>
            <a:ext cx="2215166" cy="700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8927D-9953-EF7C-6048-4228AB5D5599}"/>
              </a:ext>
            </a:extLst>
          </p:cNvPr>
          <p:cNvSpPr txBox="1"/>
          <p:nvPr/>
        </p:nvSpPr>
        <p:spPr>
          <a:xfrm>
            <a:off x="4597520" y="388440"/>
            <a:ext cx="5528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Utbytte (eierinntekt) til personlig aksjonær skattlegges ved Aksjonærmodellen</a:t>
            </a:r>
          </a:p>
        </p:txBody>
      </p:sp>
    </p:spTree>
    <p:extLst>
      <p:ext uri="{BB962C8B-B14F-4D97-AF65-F5344CB8AC3E}">
        <p14:creationId xmlns:p14="http://schemas.microsoft.com/office/powerpoint/2010/main" val="2452804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AF773F-A83B-ED4E-2FB5-D9B176E12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866" y="0"/>
            <a:ext cx="9582267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B352A5-B9AC-E0CF-F2E4-CF0830308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785" y="474210"/>
            <a:ext cx="4134427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48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864D3-295D-558D-8435-9375241CE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b-NO" sz="2400" b="1" noProof="0" dirty="0"/>
              <a:t>DN Magasinet 13 desember 2019</a:t>
            </a:r>
            <a:br>
              <a:rPr lang="nb-NO" sz="2400" noProof="0" dirty="0"/>
            </a:br>
            <a:r>
              <a:rPr lang="nb-NO" sz="2400" noProof="0" dirty="0">
                <a:hlinkClick r:id="rId2"/>
              </a:rPr>
              <a:t>https://www.dn.no/magasinet/dokumentar/skatt/formue/fritaksmetoden/norges-rikeste-far-80-milliarder-i-skattefrie-inntekter-i-aret/7-1-z_r7vzct</a:t>
            </a:r>
            <a:br>
              <a:rPr lang="nb-NO" sz="2400" noProof="0" dirty="0"/>
            </a:br>
            <a:endParaRPr lang="nb-NO" sz="2400" noProof="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27FDD6-BA27-18BC-FE90-FC60BBDE33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453204"/>
            <a:ext cx="5181600" cy="309618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8EB5CC-6340-6BD7-38B1-B6116EEE84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38200" y="2453204"/>
            <a:ext cx="5181600" cy="30961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A15FB9-E61D-55CC-268C-019C630FD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586" y="5892716"/>
            <a:ext cx="4134427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88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44085F-3262-D1A9-9A46-655449F1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17</a:t>
            </a:fld>
            <a:endParaRPr lang="nb-NO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E15C3-7376-E4C0-9DAD-FB604F61C2EA}"/>
              </a:ext>
            </a:extLst>
          </p:cNvPr>
          <p:cNvSpPr txBox="1"/>
          <p:nvPr/>
        </p:nvSpPr>
        <p:spPr>
          <a:xfrm>
            <a:off x="292220" y="136525"/>
            <a:ext cx="1186753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3600" b="1" i="0" cap="all" noProof="0" dirty="0">
                <a:solidFill>
                  <a:srgbClr val="000000"/>
                </a:solidFill>
                <a:effectLst/>
                <a:latin typeface="Crimson Text"/>
              </a:rPr>
              <a:t>MILLIARDKUPPET (Dagens Næringsliv 13.12 2019)</a:t>
            </a:r>
          </a:p>
          <a:p>
            <a:pPr algn="l"/>
            <a:endParaRPr lang="nb-NO" sz="3600" b="0" i="0" noProof="0" dirty="0">
              <a:solidFill>
                <a:srgbClr val="000000"/>
              </a:solidFill>
              <a:effectLst/>
              <a:latin typeface="Crimson Text"/>
            </a:endParaRPr>
          </a:p>
          <a:p>
            <a:pPr algn="l"/>
            <a:r>
              <a:rPr lang="nb-NO" sz="3600" b="0" i="0" noProof="0" dirty="0">
                <a:solidFill>
                  <a:srgbClr val="000000"/>
                </a:solidFill>
                <a:effectLst/>
                <a:latin typeface="Crimson Text"/>
              </a:rPr>
              <a:t>Bergens-milliardæren Trond Mohn melder om at han har solgt pumpeprodusenten </a:t>
            </a:r>
            <a:r>
              <a:rPr lang="nb-NO" sz="3600" b="0" i="0" noProof="0" dirty="0" err="1">
                <a:solidFill>
                  <a:srgbClr val="000000"/>
                </a:solidFill>
                <a:effectLst/>
                <a:latin typeface="Crimson Text"/>
              </a:rPr>
              <a:t>Framo</a:t>
            </a:r>
            <a:r>
              <a:rPr lang="nb-NO" sz="3600" b="0" i="0" noProof="0" dirty="0">
                <a:solidFill>
                  <a:srgbClr val="000000"/>
                </a:solidFill>
                <a:effectLst/>
                <a:latin typeface="Crimson Text"/>
              </a:rPr>
              <a:t> til svenske Alfa </a:t>
            </a:r>
            <a:r>
              <a:rPr lang="nb-NO" sz="3600" b="0" i="0" noProof="0" dirty="0" err="1">
                <a:solidFill>
                  <a:srgbClr val="000000"/>
                </a:solidFill>
                <a:effectLst/>
                <a:latin typeface="Crimson Text"/>
              </a:rPr>
              <a:t>Laval</a:t>
            </a:r>
            <a:r>
              <a:rPr lang="nb-NO" sz="3600" b="0" i="0" noProof="0" dirty="0">
                <a:solidFill>
                  <a:srgbClr val="000000"/>
                </a:solidFill>
                <a:effectLst/>
                <a:latin typeface="Crimson Text"/>
              </a:rPr>
              <a:t>. </a:t>
            </a:r>
            <a:r>
              <a:rPr lang="nb-NO" sz="3600" noProof="0" dirty="0">
                <a:solidFill>
                  <a:srgbClr val="000000"/>
                </a:solidFill>
                <a:latin typeface="Crimson Text"/>
              </a:rPr>
              <a:t>N</a:t>
            </a:r>
            <a:r>
              <a:rPr lang="nb-NO" sz="3600" b="0" i="0" noProof="0" dirty="0">
                <a:solidFill>
                  <a:srgbClr val="000000"/>
                </a:solidFill>
                <a:effectLst/>
                <a:latin typeface="Crimson Text"/>
              </a:rPr>
              <a:t>år Mohn nå velger å selge til Sverige, kan han og søsteren Marit putte </a:t>
            </a:r>
            <a:r>
              <a:rPr lang="nb-NO" sz="3600" b="0" i="0" noProof="0" dirty="0">
                <a:solidFill>
                  <a:srgbClr val="FF0000"/>
                </a:solidFill>
                <a:effectLst/>
                <a:latin typeface="Crimson Text"/>
              </a:rPr>
              <a:t>13 milliarder </a:t>
            </a:r>
            <a:r>
              <a:rPr lang="nb-NO" sz="3600" b="0" i="0" noProof="0" dirty="0">
                <a:solidFill>
                  <a:srgbClr val="000000"/>
                </a:solidFill>
                <a:effectLst/>
                <a:latin typeface="Crimson Text"/>
              </a:rPr>
              <a:t>kroner i gevinst på bok i sitt private holdingselskap </a:t>
            </a:r>
            <a:r>
              <a:rPr lang="nb-NO" sz="3600" b="0" i="0" noProof="0" dirty="0" err="1">
                <a:solidFill>
                  <a:srgbClr val="000000"/>
                </a:solidFill>
                <a:effectLst/>
                <a:latin typeface="Crimson Text"/>
              </a:rPr>
              <a:t>Wimoh</a:t>
            </a:r>
            <a:r>
              <a:rPr lang="nb-NO" sz="3600" b="0" i="0" noProof="0" dirty="0">
                <a:solidFill>
                  <a:srgbClr val="000000"/>
                </a:solidFill>
                <a:effectLst/>
                <a:latin typeface="Crimson Text"/>
              </a:rPr>
              <a:t> uten å betale skatt.</a:t>
            </a:r>
          </a:p>
          <a:p>
            <a:endParaRPr lang="nb-NO" sz="3600" b="0" i="0" noProof="0" dirty="0">
              <a:solidFill>
                <a:srgbClr val="000000"/>
              </a:solidFill>
              <a:effectLst/>
              <a:latin typeface="Crimson Text"/>
            </a:endParaRPr>
          </a:p>
          <a:p>
            <a:r>
              <a:rPr lang="nb-NO" sz="3600" b="0" i="0" noProof="0" dirty="0">
                <a:solidFill>
                  <a:srgbClr val="0070C0"/>
                </a:solidFill>
                <a:effectLst/>
                <a:latin typeface="Crimson Text"/>
              </a:rPr>
              <a:t>Mohns holdingselskap </a:t>
            </a:r>
            <a:r>
              <a:rPr lang="nb-NO" sz="3600" b="0" i="0" noProof="0" dirty="0" err="1">
                <a:solidFill>
                  <a:srgbClr val="0070C0"/>
                </a:solidFill>
                <a:effectLst/>
                <a:latin typeface="Crimson Text"/>
              </a:rPr>
              <a:t>Wimoh</a:t>
            </a:r>
            <a:r>
              <a:rPr lang="nb-NO" sz="3600" b="0" i="0" noProof="0" dirty="0">
                <a:solidFill>
                  <a:srgbClr val="0070C0"/>
                </a:solidFill>
                <a:effectLst/>
                <a:latin typeface="Crimson Text"/>
              </a:rPr>
              <a:t> eide datterselskapet </a:t>
            </a:r>
            <a:r>
              <a:rPr lang="nb-NO" sz="3600" b="0" i="0" noProof="0" dirty="0" err="1">
                <a:solidFill>
                  <a:srgbClr val="0070C0"/>
                </a:solidFill>
                <a:effectLst/>
                <a:latin typeface="Crimson Text"/>
              </a:rPr>
              <a:t>Framo</a:t>
            </a:r>
            <a:r>
              <a:rPr lang="nb-NO" sz="3600" b="0" i="0" noProof="0" dirty="0">
                <a:solidFill>
                  <a:srgbClr val="0070C0"/>
                </a:solidFill>
                <a:effectLst/>
                <a:latin typeface="Crimson Text"/>
              </a:rPr>
              <a:t>. I</a:t>
            </a:r>
            <a:r>
              <a:rPr lang="nb-NO" sz="3600" noProof="0" dirty="0">
                <a:solidFill>
                  <a:srgbClr val="0070C0"/>
                </a:solidFill>
                <a:latin typeface="Crimson Text"/>
              </a:rPr>
              <a:t>nntektene fra aksjesalget av </a:t>
            </a:r>
            <a:r>
              <a:rPr lang="nb-NO" sz="3600" noProof="0" dirty="0" err="1">
                <a:solidFill>
                  <a:srgbClr val="0070C0"/>
                </a:solidFill>
                <a:latin typeface="Crimson Text"/>
              </a:rPr>
              <a:t>Framo</a:t>
            </a:r>
            <a:r>
              <a:rPr lang="nb-NO" sz="3600" noProof="0" dirty="0">
                <a:solidFill>
                  <a:srgbClr val="0070C0"/>
                </a:solidFill>
                <a:latin typeface="Crimson Text"/>
              </a:rPr>
              <a:t> var skattefrie i </a:t>
            </a:r>
            <a:r>
              <a:rPr lang="nb-NO" sz="3600" noProof="0" dirty="0" err="1">
                <a:solidFill>
                  <a:srgbClr val="0070C0"/>
                </a:solidFill>
                <a:latin typeface="Crimson Text"/>
              </a:rPr>
              <a:t>Wimoh</a:t>
            </a:r>
            <a:r>
              <a:rPr lang="nb-NO" sz="3600" noProof="0" dirty="0">
                <a:solidFill>
                  <a:srgbClr val="0070C0"/>
                </a:solidFill>
                <a:latin typeface="Crimson Text"/>
              </a:rPr>
              <a:t>. </a:t>
            </a:r>
          </a:p>
          <a:p>
            <a:r>
              <a:rPr lang="nb-NO" sz="3600" b="0" i="0" noProof="0" dirty="0">
                <a:solidFill>
                  <a:srgbClr val="0070C0"/>
                </a:solidFill>
                <a:effectLst/>
                <a:latin typeface="Crimson Text"/>
              </a:rPr>
              <a:t>Før 2006 ville en slik overføring utløst skatt</a:t>
            </a:r>
            <a:r>
              <a:rPr lang="nb-NO" sz="2400" b="0" i="0" noProof="0" dirty="0">
                <a:solidFill>
                  <a:srgbClr val="0070C0"/>
                </a:solidFill>
                <a:effectLst/>
                <a:latin typeface="Crimson Text"/>
              </a:rPr>
              <a:t>. </a:t>
            </a:r>
          </a:p>
          <a:p>
            <a:endParaRPr lang="nb-NO" sz="2400" noProof="0" dirty="0">
              <a:solidFill>
                <a:srgbClr val="000000"/>
              </a:solidFill>
              <a:latin typeface="Crimson Text"/>
            </a:endParaRPr>
          </a:p>
          <a:p>
            <a:endParaRPr lang="nb-NO" sz="2400" b="0" i="0" noProof="0" dirty="0">
              <a:solidFill>
                <a:srgbClr val="000000"/>
              </a:solidFill>
              <a:effectLst/>
              <a:latin typeface="Crimson Text"/>
            </a:endParaRPr>
          </a:p>
          <a:p>
            <a:pPr algn="l"/>
            <a:endParaRPr lang="nb-NO" sz="2400" b="0" i="0" noProof="0" dirty="0">
              <a:solidFill>
                <a:srgbClr val="000000"/>
              </a:solidFill>
              <a:effectLst/>
              <a:latin typeface="Crimson Text"/>
            </a:endParaRPr>
          </a:p>
        </p:txBody>
      </p:sp>
    </p:spTree>
    <p:extLst>
      <p:ext uri="{BB962C8B-B14F-4D97-AF65-F5344CB8AC3E}">
        <p14:creationId xmlns:p14="http://schemas.microsoft.com/office/powerpoint/2010/main" val="139288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7A22EF-9A83-5BA3-28AC-EBAA78582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034" y="291413"/>
            <a:ext cx="12468594" cy="3503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DBDE39-D3E6-D10E-4B8F-89874873F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470" y="4662279"/>
            <a:ext cx="4489711" cy="2195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412F50-E1F2-634E-E527-75024EB97723}"/>
              </a:ext>
            </a:extLst>
          </p:cNvPr>
          <p:cNvSpPr txBox="1"/>
          <p:nvPr/>
        </p:nvSpPr>
        <p:spPr>
          <a:xfrm>
            <a:off x="6404284" y="6197256"/>
            <a:ext cx="228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b="1" noProof="0" dirty="0"/>
              <a:t>DN 13.desember 2019</a:t>
            </a:r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B3B31795-93A2-4493-BD67-BDD1AE063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40" y="4057748"/>
            <a:ext cx="8500844" cy="145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37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4F280-BE24-8248-F6CD-DB8C3CAB9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2398"/>
          </a:xfrm>
        </p:spPr>
        <p:txBody>
          <a:bodyPr>
            <a:normAutofit/>
          </a:bodyPr>
          <a:lstStyle/>
          <a:p>
            <a:r>
              <a:rPr lang="nb-NO" sz="3200" noProof="0" dirty="0">
                <a:latin typeface="Amasis MT Pro Black" panose="02040A04050005020304" pitchFamily="18" charset="0"/>
              </a:rPr>
              <a:t>Hva er Oligark-øyeblikket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C30A6-8C14-DA67-9CE8-D948335EF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1417320"/>
            <a:ext cx="11228438" cy="5360670"/>
          </a:xfrm>
        </p:spPr>
        <p:txBody>
          <a:bodyPr>
            <a:noAutofit/>
          </a:bodyPr>
          <a:lstStyle/>
          <a:p>
            <a:r>
              <a:rPr lang="nb-NO" sz="3600" noProof="0" dirty="0"/>
              <a:t>Bondevik II regjeringen (H + Krf + V) annonserte i 2004 at man ville innføre utbytteskatt (</a:t>
            </a:r>
            <a:r>
              <a:rPr lang="nb-NO" sz="3600" noProof="0" dirty="0">
                <a:solidFill>
                  <a:srgbClr val="FF0000"/>
                </a:solidFill>
              </a:rPr>
              <a:t>eierskatt</a:t>
            </a:r>
            <a:r>
              <a:rPr lang="nb-NO" sz="3600" noProof="0" dirty="0"/>
              <a:t>) i 2006</a:t>
            </a:r>
          </a:p>
          <a:p>
            <a:pPr marL="0" indent="0">
              <a:buNone/>
            </a:pPr>
            <a:endParaRPr lang="nb-NO" sz="3600" noProof="0" dirty="0"/>
          </a:p>
          <a:p>
            <a:r>
              <a:rPr lang="nb-NO" sz="3600" dirty="0"/>
              <a:t>D</a:t>
            </a:r>
            <a:r>
              <a:rPr lang="nb-NO" sz="3600" noProof="0" dirty="0"/>
              <a:t>e med etablerte selskaper kunne </a:t>
            </a:r>
            <a:r>
              <a:rPr lang="nb-NO" sz="3600" i="1" noProof="0" dirty="0"/>
              <a:t>sikre seg mot å betale </a:t>
            </a:r>
            <a:r>
              <a:rPr lang="nb-NO" sz="3600" i="1" dirty="0"/>
              <a:t>eierskatt</a:t>
            </a:r>
            <a:r>
              <a:rPr lang="nb-NO" sz="3600" i="1" noProof="0" dirty="0"/>
              <a:t> i mange år framover ved å ta ut </a:t>
            </a:r>
            <a:r>
              <a:rPr lang="nb-NO" sz="3600" noProof="0" dirty="0"/>
              <a:t>enorme utbytter skattefritt og skyte dem inn igjen i bedriftene de eide og så skrive ned EK uten å betale skatt av nedskrivningen! </a:t>
            </a:r>
          </a:p>
          <a:p>
            <a:endParaRPr lang="nb-NO" sz="3600" dirty="0"/>
          </a:p>
          <a:p>
            <a:r>
              <a:rPr lang="nb-NO" sz="3600" noProof="0" dirty="0"/>
              <a:t>Reformen gav en skattefordel til de med «gamle penger»</a:t>
            </a:r>
          </a:p>
        </p:txBody>
      </p:sp>
    </p:spTree>
    <p:extLst>
      <p:ext uri="{BB962C8B-B14F-4D97-AF65-F5344CB8AC3E}">
        <p14:creationId xmlns:p14="http://schemas.microsoft.com/office/powerpoint/2010/main" val="141301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8468727-63BE-4191-B4A6-C30C82C0E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355BB6-1BB8-4828-B246-CFB31742D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3483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52A9B9-B2B3-46F0-9D53-0EFF9905B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245238" y="1452646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 descr="A graph with green and blue lines&#10;&#10;AI-generated content may be incorrect.">
            <a:extLst>
              <a:ext uri="{FF2B5EF4-FFF2-40B4-BE49-F238E27FC236}">
                <a16:creationId xmlns:a16="http://schemas.microsoft.com/office/drawing/2014/main" id="{DAB99167-B8A4-FA6E-01B1-0DF15E3268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466" b="11216"/>
          <a:stretch>
            <a:fillRect/>
          </a:stretch>
        </p:blipFill>
        <p:spPr>
          <a:xfrm>
            <a:off x="20" y="523875"/>
            <a:ext cx="6400781" cy="633412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A6ECB4-6E3E-D1D4-AFFD-190E5FDAD9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39"/>
          <a:stretch>
            <a:fillRect/>
          </a:stretch>
        </p:blipFill>
        <p:spPr>
          <a:xfrm>
            <a:off x="6591299" y="1"/>
            <a:ext cx="5600701" cy="68579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27836-3CC3-08CB-EC37-FB5EA9D4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92CA8B5-DBB4-47BA-9127-F945AE107A35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725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0E5F-6DD0-C60E-10F4-C73A233B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588" y="0"/>
            <a:ext cx="10515600" cy="1325563"/>
          </a:xfrm>
        </p:spPr>
        <p:txBody>
          <a:bodyPr>
            <a:normAutofit/>
          </a:bodyPr>
          <a:lstStyle/>
          <a:p>
            <a:r>
              <a:rPr lang="nb-NO" sz="3200" b="1" dirty="0">
                <a:latin typeface="+mn-lt"/>
              </a:rPr>
              <a:t>Hvorfor store utbytter før innføringen av eierskatt i 2006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E2A4F-4C30-C597-69C9-BD0B6635B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839" y="1133474"/>
            <a:ext cx="11234736" cy="5324475"/>
          </a:xfrm>
        </p:spPr>
        <p:txBody>
          <a:bodyPr>
            <a:normAutofit/>
          </a:bodyPr>
          <a:lstStyle/>
          <a:p>
            <a:r>
              <a:rPr lang="nb-NO" dirty="0"/>
              <a:t>To strategier var mulige:</a:t>
            </a:r>
          </a:p>
          <a:p>
            <a:endParaRPr lang="nb-NO" dirty="0"/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Ta utbytte før innføring av utbytteskatt/ eierskatt i 2006</a:t>
            </a:r>
          </a:p>
          <a:p>
            <a:pPr lvl="1"/>
            <a:r>
              <a:rPr lang="nb-NO" dirty="0"/>
              <a:t>Investere pengene som privatperson (dum strategi)</a:t>
            </a:r>
          </a:p>
          <a:p>
            <a:pPr marL="457200" lvl="1" indent="0">
              <a:buNone/>
            </a:pPr>
            <a:endParaRPr lang="nb-NO" dirty="0"/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Ta utbytte og skyte det inn igjen i som ny EK i bedriften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nb-NO" dirty="0"/>
              <a:t>Innskutt egenkapital (EK) kan tas ut skattefritt ved nedskrivning av EK ( buffer mot å betale eierskatt frem i tid)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nb-NO" dirty="0"/>
              <a:t>Man økte </a:t>
            </a:r>
            <a:r>
              <a:rPr lang="nb-NO" b="1" dirty="0"/>
              <a:t>skjermingsfradraget</a:t>
            </a:r>
            <a:r>
              <a:rPr lang="nb-NO" dirty="0"/>
              <a:t> altså den skattefrie delen av  utbytte ved å skyte inn utbytte som EK</a:t>
            </a:r>
          </a:p>
          <a:p>
            <a:pPr marL="457200" lvl="1" indent="0">
              <a:buNone/>
            </a:pP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F2E65-5952-BCD8-0D15-30841E50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21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5435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F6FCED-7F12-3F3B-C772-09634858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22</a:t>
            </a:fld>
            <a:endParaRPr lang="nb-NO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57A8E5A-55BD-C522-6CB2-383FF8F2B0C3}"/>
              </a:ext>
            </a:extLst>
          </p:cNvPr>
          <p:cNvCxnSpPr>
            <a:cxnSpLocks/>
          </p:cNvCxnSpPr>
          <p:nvPr/>
        </p:nvCxnSpPr>
        <p:spPr>
          <a:xfrm>
            <a:off x="1121079" y="1777218"/>
            <a:ext cx="0" cy="40223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3977B0-CC53-6A2C-93C8-3A5C03391FF7}"/>
              </a:ext>
            </a:extLst>
          </p:cNvPr>
          <p:cNvCxnSpPr/>
          <p:nvPr/>
        </p:nvCxnSpPr>
        <p:spPr>
          <a:xfrm>
            <a:off x="1108553" y="5793288"/>
            <a:ext cx="561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657CB14-D1E3-4C5E-93CA-C6A2667F4F7E}"/>
              </a:ext>
            </a:extLst>
          </p:cNvPr>
          <p:cNvSpPr/>
          <p:nvPr/>
        </p:nvSpPr>
        <p:spPr>
          <a:xfrm>
            <a:off x="1772433" y="1935271"/>
            <a:ext cx="1409178" cy="3250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noProof="0" dirty="0"/>
              <a:t>Overskudd utdelt som utbytte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915696-5C7F-9B19-EE4E-440E4D8597B3}"/>
              </a:ext>
            </a:extLst>
          </p:cNvPr>
          <p:cNvSpPr/>
          <p:nvPr/>
        </p:nvSpPr>
        <p:spPr>
          <a:xfrm>
            <a:off x="1772433" y="4816261"/>
            <a:ext cx="1409175" cy="9707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noProof="0" dirty="0"/>
              <a:t>EK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1CCC7C-1ECA-8301-DA0A-0A4553E433B5}"/>
              </a:ext>
            </a:extLst>
          </p:cNvPr>
          <p:cNvSpPr/>
          <p:nvPr/>
        </p:nvSpPr>
        <p:spPr>
          <a:xfrm>
            <a:off x="4592871" y="1918571"/>
            <a:ext cx="1409178" cy="3256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noProof="0" dirty="0"/>
              <a:t>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15AA59-9B55-4CF5-12BC-ED85682F2260}"/>
              </a:ext>
            </a:extLst>
          </p:cNvPr>
          <p:cNvSpPr/>
          <p:nvPr/>
        </p:nvSpPr>
        <p:spPr>
          <a:xfrm>
            <a:off x="4592871" y="1935272"/>
            <a:ext cx="1409175" cy="38413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noProof="0" dirty="0"/>
              <a:t>EK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635C79-AEF4-3251-109E-C07ABA92B7B0}"/>
              </a:ext>
            </a:extLst>
          </p:cNvPr>
          <p:cNvSpPr txBox="1"/>
          <p:nvPr/>
        </p:nvSpPr>
        <p:spPr>
          <a:xfrm>
            <a:off x="2167003" y="608764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noProof="0" dirty="0"/>
              <a:t>2005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5C6853-DC12-0882-700D-0282C16B37B0}"/>
              </a:ext>
            </a:extLst>
          </p:cNvPr>
          <p:cNvSpPr txBox="1"/>
          <p:nvPr/>
        </p:nvSpPr>
        <p:spPr>
          <a:xfrm>
            <a:off x="4971086" y="608764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noProof="0" dirty="0"/>
              <a:t>2006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017FF9-473F-77D2-66F3-08B85333E6A8}"/>
              </a:ext>
            </a:extLst>
          </p:cNvPr>
          <p:cNvCxnSpPr/>
          <p:nvPr/>
        </p:nvCxnSpPr>
        <p:spPr>
          <a:xfrm>
            <a:off x="4592869" y="4885085"/>
            <a:ext cx="140917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93F7728D-400E-E3AA-649A-3058B81E7BD7}"/>
              </a:ext>
            </a:extLst>
          </p:cNvPr>
          <p:cNvSpPr/>
          <p:nvPr/>
        </p:nvSpPr>
        <p:spPr>
          <a:xfrm>
            <a:off x="3215148" y="1935271"/>
            <a:ext cx="294967" cy="288098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75C2484-2C77-B3C1-1F09-CEDA9F02E536}"/>
              </a:ext>
            </a:extLst>
          </p:cNvPr>
          <p:cNvCxnSpPr/>
          <p:nvPr/>
        </p:nvCxnSpPr>
        <p:spPr>
          <a:xfrm>
            <a:off x="3657601" y="3370005"/>
            <a:ext cx="550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4A31AB8-993E-6AFD-2B82-71114CD21F55}"/>
              </a:ext>
            </a:extLst>
          </p:cNvPr>
          <p:cNvSpPr txBox="1"/>
          <p:nvPr/>
        </p:nvSpPr>
        <p:spPr>
          <a:xfrm>
            <a:off x="3407856" y="2188305"/>
            <a:ext cx="12664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noProof="0" dirty="0"/>
              <a:t>Utbytte</a:t>
            </a:r>
          </a:p>
          <a:p>
            <a:r>
              <a:rPr lang="nb-NO" sz="2400" noProof="0" dirty="0"/>
              <a:t>skutt inn</a:t>
            </a:r>
          </a:p>
          <a:p>
            <a:r>
              <a:rPr lang="nb-NO" sz="2400" noProof="0" dirty="0"/>
              <a:t>som EK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DE2794-79F7-A963-FBE2-59455AD075B2}"/>
              </a:ext>
            </a:extLst>
          </p:cNvPr>
          <p:cNvSpPr txBox="1"/>
          <p:nvPr/>
        </p:nvSpPr>
        <p:spPr>
          <a:xfrm>
            <a:off x="6653402" y="2744378"/>
            <a:ext cx="48363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noProof="0" dirty="0"/>
              <a:t>Egenkapitalen økes med utbytte (skattefritt) før utbytteskatt i 2006</a:t>
            </a:r>
          </a:p>
          <a:p>
            <a:endParaRPr lang="nb-NO" sz="2400" dirty="0"/>
          </a:p>
          <a:p>
            <a:r>
              <a:rPr lang="nb-NO" sz="2400" dirty="0"/>
              <a:t>E</a:t>
            </a:r>
            <a:r>
              <a:rPr lang="nb-NO" sz="2400" noProof="0" dirty="0" err="1"/>
              <a:t>genkapitalen</a:t>
            </a:r>
            <a:r>
              <a:rPr lang="nb-NO" sz="2400" noProof="0" dirty="0"/>
              <a:t> kan nedskrives ned til minimum og nedskrivningen utbetales til aksjonærene skattefritt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788B43-32E8-119B-E423-F20A10AFD282}"/>
              </a:ext>
            </a:extLst>
          </p:cNvPr>
          <p:cNvSpPr txBox="1"/>
          <p:nvPr/>
        </p:nvSpPr>
        <p:spPr>
          <a:xfrm>
            <a:off x="7002406" y="5614885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noProof="0" dirty="0"/>
              <a:t>år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E71C3D-7546-2A6A-182B-45EF40DFEEF5}"/>
              </a:ext>
            </a:extLst>
          </p:cNvPr>
          <p:cNvSpPr txBox="1"/>
          <p:nvPr/>
        </p:nvSpPr>
        <p:spPr>
          <a:xfrm>
            <a:off x="4934183" y="5016021"/>
            <a:ext cx="726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noProof="0" dirty="0">
                <a:solidFill>
                  <a:schemeClr val="bg1"/>
                </a:solidFill>
              </a:rPr>
              <a:t>EK fra</a:t>
            </a:r>
          </a:p>
          <a:p>
            <a:r>
              <a:rPr lang="nb-NO" noProof="0" dirty="0">
                <a:solidFill>
                  <a:schemeClr val="bg1"/>
                </a:solidFill>
              </a:rPr>
              <a:t> 2005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64C1138E-3C80-DB5A-CB2D-2C8EA90E84B2}"/>
              </a:ext>
            </a:extLst>
          </p:cNvPr>
          <p:cNvSpPr/>
          <p:nvPr/>
        </p:nvSpPr>
        <p:spPr>
          <a:xfrm>
            <a:off x="6018775" y="1935271"/>
            <a:ext cx="367935" cy="2949814"/>
          </a:xfrm>
          <a:prstGeom prst="rightBrac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8EB7E-9A95-FDEC-2C87-6548497BCCAC}"/>
              </a:ext>
            </a:extLst>
          </p:cNvPr>
          <p:cNvSpPr txBox="1"/>
          <p:nvPr/>
        </p:nvSpPr>
        <p:spPr>
          <a:xfrm>
            <a:off x="299000" y="268850"/>
            <a:ext cx="11723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Tilpasning: Ta ut store skattefrie utbytter før 2006 og skyte inn utbyttet som EK (øker skjermingsfradraget ) og så skrive ned egenkapitalen og ta ut nedskrivningen skattefritt fremover i tid (unngå utbytteskatt i fremtiden).   </a:t>
            </a:r>
          </a:p>
        </p:txBody>
      </p:sp>
    </p:spTree>
    <p:extLst>
      <p:ext uri="{BB962C8B-B14F-4D97-AF65-F5344CB8AC3E}">
        <p14:creationId xmlns:p14="http://schemas.microsoft.com/office/powerpoint/2010/main" val="2250642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1029-499E-A22A-9C86-9C21D02B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917" y="0"/>
            <a:ext cx="10515600" cy="923365"/>
          </a:xfrm>
        </p:spPr>
        <p:txBody>
          <a:bodyPr>
            <a:normAutofit/>
          </a:bodyPr>
          <a:lstStyle/>
          <a:p>
            <a:r>
              <a:rPr lang="nb-NO" sz="3600" dirty="0"/>
              <a:t>Skattemessige konsekvenser av nedskrivning av 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3823A-A0C1-117C-94A5-88FC173FB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83" y="923366"/>
            <a:ext cx="11301046" cy="56970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b-NO" dirty="0"/>
          </a:p>
          <a:p>
            <a:r>
              <a:rPr lang="nb-NO" dirty="0"/>
              <a:t>Innskutt EK øker </a:t>
            </a:r>
            <a:r>
              <a:rPr lang="nb-NO" i="1" dirty="0">
                <a:solidFill>
                  <a:srgbClr val="FF0000"/>
                </a:solidFill>
              </a:rPr>
              <a:t>skjermingsgrunnlaget</a:t>
            </a:r>
            <a:r>
              <a:rPr lang="nb-NO" dirty="0"/>
              <a:t>. Nedskrivning av EK reduserer </a:t>
            </a:r>
            <a:r>
              <a:rPr lang="nb-NO" i="1" dirty="0"/>
              <a:t>skjermingsgrunnlaget</a:t>
            </a:r>
            <a:endParaRPr lang="nb-NO" dirty="0"/>
          </a:p>
          <a:p>
            <a:endParaRPr lang="nb-NO" dirty="0"/>
          </a:p>
          <a:p>
            <a:r>
              <a:rPr lang="nb-NO" dirty="0"/>
              <a:t>To konsekvenser av nedskriving av EK: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Lavere skjermingsgrunnlag i fremtiden gir økt utbytteskatt frem i tid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Lavere inngangsverdi/kostverdi for aksjer </a:t>
            </a:r>
            <a:r>
              <a:rPr lang="nb-NO" dirty="0" err="1"/>
              <a:t>pga</a:t>
            </a:r>
            <a:r>
              <a:rPr lang="nb-NO" dirty="0"/>
              <a:t> nedskrivning gir økt skatt om aksjen selges med gevinst av personlig skattyter</a:t>
            </a:r>
          </a:p>
          <a:p>
            <a:pPr marL="514350" indent="-514350">
              <a:buFont typeface="+mj-lt"/>
              <a:buAutoNum type="arabicPeriod"/>
            </a:pPr>
            <a:endParaRPr lang="nb-NO" dirty="0"/>
          </a:p>
          <a:p>
            <a:r>
              <a:rPr lang="nb-NO" dirty="0"/>
              <a:t>Ved nedskrivning av EK utnytter vi en skattekreditt (utsetter utbytteskatt). Det er lønnsomt.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2858D-F03B-8D11-9A1C-5BB9CC21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23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37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E9A59-A6DE-122D-7C44-E45876E8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A807-F31D-99AF-733C-4D6F7576B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576" y="136525"/>
            <a:ext cx="10515600" cy="686927"/>
          </a:xfrm>
        </p:spPr>
        <p:txBody>
          <a:bodyPr>
            <a:normAutofit/>
          </a:bodyPr>
          <a:lstStyle/>
          <a:p>
            <a:r>
              <a:rPr lang="nb-NO" sz="3600" b="1" noProof="0" dirty="0">
                <a:latin typeface="+mn-lt"/>
              </a:rPr>
              <a:t>Kapitalbeskatningen i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1D03-ADD8-85ED-EC5C-A81ACFEE6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914400"/>
            <a:ext cx="11375923" cy="5578475"/>
          </a:xfrm>
        </p:spPr>
        <p:txBody>
          <a:bodyPr>
            <a:normAutofit fontScale="92500" lnSpcReduction="10000"/>
          </a:bodyPr>
          <a:lstStyle/>
          <a:p>
            <a:r>
              <a:rPr lang="nb-NO" noProof="0" dirty="0"/>
              <a:t>Den nominelle skattesatsen på </a:t>
            </a:r>
            <a:r>
              <a:rPr lang="nb-NO" dirty="0"/>
              <a:t>alminnelig inntekt (lønn, renteinntekt, selskapsoverskudd)</a:t>
            </a:r>
            <a:r>
              <a:rPr lang="nb-NO" noProof="0" dirty="0"/>
              <a:t> er 22%</a:t>
            </a:r>
          </a:p>
          <a:p>
            <a:pPr marL="457200" lvl="1" indent="0">
              <a:buNone/>
            </a:pPr>
            <a:endParaRPr lang="nb-NO" noProof="0" dirty="0"/>
          </a:p>
          <a:p>
            <a:r>
              <a:rPr lang="nb-NO" dirty="0"/>
              <a:t>For personinntekt kommer det trinnskatt (5 trinn) i intervaller på toppen av den alminnelige skattesatsen</a:t>
            </a:r>
          </a:p>
          <a:p>
            <a:pPr marL="0" indent="0">
              <a:buNone/>
            </a:pPr>
            <a:endParaRPr lang="nb-NO" dirty="0"/>
          </a:p>
          <a:p>
            <a:r>
              <a:rPr lang="nb-NO" dirty="0"/>
              <a:t>Nominell skattesats på utbytte til personlige aksjonærer er 22% men </a:t>
            </a:r>
            <a:r>
              <a:rPr lang="nb-NO" dirty="0" err="1"/>
              <a:t>dene</a:t>
            </a:r>
            <a:r>
              <a:rPr lang="nb-NO" dirty="0"/>
              <a:t> satsen skal </a:t>
            </a:r>
            <a:r>
              <a:rPr lang="nb-NO" noProof="0" dirty="0"/>
              <a:t>oppjusteres med 1,72 slik; 22%*1,72 = 37,84%</a:t>
            </a:r>
          </a:p>
          <a:p>
            <a:endParaRPr lang="nb-NO" noProof="0" dirty="0"/>
          </a:p>
          <a:p>
            <a:r>
              <a:rPr lang="nb-NO" noProof="0" dirty="0"/>
              <a:t>Oppjusteringsfaktoren skal gjøre det på marginen like lønnsomt få tjene penger i bedriften som å være lønnsmottaker</a:t>
            </a:r>
            <a:r>
              <a:rPr lang="nb-NO" dirty="0"/>
              <a:t>. </a:t>
            </a:r>
          </a:p>
          <a:p>
            <a:endParaRPr lang="nb-NO" dirty="0"/>
          </a:p>
          <a:p>
            <a:r>
              <a:rPr lang="nb-NO" dirty="0"/>
              <a:t>Man vil unngå at skattyter gis insitamenter til å konvertere høyt beskattet lønnsinntekt til kapitalinntekt (utbytte). Såkalt inntektsskifting. </a:t>
            </a:r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1B5F8-A79D-0BED-EC21-563645D4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24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32639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pic>
        <p:nvPicPr>
          <p:cNvPr id="5" name="Picture 4" descr="A person standing in front of a white cube&#10;&#10;Description automatically generated">
            <a:extLst>
              <a:ext uri="{FF2B5EF4-FFF2-40B4-BE49-F238E27FC236}">
                <a16:creationId xmlns:a16="http://schemas.microsoft.com/office/drawing/2014/main" id="{29BE773C-5CF1-1F9F-E3E3-326BF7C799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8907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C13FDD-3085-4BF0-9261-ED28A5FDD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169982"/>
            <a:ext cx="10530318" cy="2736390"/>
          </a:xfrm>
        </p:spPr>
        <p:txBody>
          <a:bodyPr anchor="b">
            <a:normAutofit/>
          </a:bodyPr>
          <a:lstStyle/>
          <a:p>
            <a:pPr algn="l"/>
            <a:r>
              <a:rPr lang="nb-NO" sz="8000" noProof="0" dirty="0">
                <a:solidFill>
                  <a:schemeClr val="tx2"/>
                </a:solidFill>
              </a:rPr>
              <a:t>3. Fritaksmetoden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F5ECE-DFCE-4B5E-984B-BCCA08A10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530318" cy="1949813"/>
          </a:xfrm>
        </p:spPr>
        <p:txBody>
          <a:bodyPr anchor="t">
            <a:normAutofit/>
          </a:bodyPr>
          <a:lstStyle/>
          <a:p>
            <a:pPr algn="l"/>
            <a:endParaRPr lang="nb-NO" sz="2200" noProof="0" dirty="0">
              <a:solidFill>
                <a:schemeClr val="tx2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7945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9DA7-ECEA-17C3-AE97-0757BE68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604"/>
          </a:xfrm>
        </p:spPr>
        <p:txBody>
          <a:bodyPr>
            <a:normAutofit fontScale="90000"/>
          </a:bodyPr>
          <a:lstStyle/>
          <a:p>
            <a:r>
              <a:rPr lang="nb-NO" noProof="0" dirty="0"/>
              <a:t>Selskapsorganisering </a:t>
            </a:r>
            <a:r>
              <a:rPr lang="nb-NO" noProof="0" dirty="0" err="1"/>
              <a:t>pga</a:t>
            </a:r>
            <a:r>
              <a:rPr lang="nb-NO" noProof="0" dirty="0"/>
              <a:t> fritaksmetoden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5535E4-A94D-416F-FF43-C9925667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26</a:t>
            </a:fld>
            <a:endParaRPr lang="nb-NO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A2A7EA-EF3F-D77C-6F8C-0DF7F29B8280}"/>
              </a:ext>
            </a:extLst>
          </p:cNvPr>
          <p:cNvSpPr/>
          <p:nvPr/>
        </p:nvSpPr>
        <p:spPr>
          <a:xfrm>
            <a:off x="3581400" y="1386348"/>
            <a:ext cx="4186084" cy="1297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3200" noProof="0" dirty="0"/>
              <a:t>Holdingselskap</a:t>
            </a:r>
            <a:endParaRPr lang="nb-NO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313D59-2B75-12B1-70D4-ECF8E5A00824}"/>
              </a:ext>
            </a:extLst>
          </p:cNvPr>
          <p:cNvSpPr txBox="1"/>
          <p:nvPr/>
        </p:nvSpPr>
        <p:spPr>
          <a:xfrm>
            <a:off x="698090" y="4906298"/>
            <a:ext cx="1484671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nb-NO" sz="2400" noProof="0" dirty="0"/>
              <a:t>Selskap A</a:t>
            </a:r>
            <a:endParaRPr lang="nb-NO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273D4-0257-8FBD-0751-B2391556202F}"/>
              </a:ext>
            </a:extLst>
          </p:cNvPr>
          <p:cNvSpPr txBox="1"/>
          <p:nvPr/>
        </p:nvSpPr>
        <p:spPr>
          <a:xfrm>
            <a:off x="2689125" y="4921050"/>
            <a:ext cx="1484671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nb-NO" sz="2400" noProof="0" dirty="0"/>
              <a:t>Selskap B</a:t>
            </a:r>
            <a:endParaRPr lang="nb-NO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677C81-7E1E-012A-EA4F-2EFF0824ED8C}"/>
              </a:ext>
            </a:extLst>
          </p:cNvPr>
          <p:cNvSpPr txBox="1"/>
          <p:nvPr/>
        </p:nvSpPr>
        <p:spPr>
          <a:xfrm>
            <a:off x="4621165" y="4935802"/>
            <a:ext cx="1484671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nb-NO" sz="2400" noProof="0" dirty="0"/>
              <a:t>Selskap C</a:t>
            </a:r>
            <a:endParaRPr lang="nb-NO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D73B0-0583-4090-7A13-8E53DADA9549}"/>
              </a:ext>
            </a:extLst>
          </p:cNvPr>
          <p:cNvSpPr txBox="1"/>
          <p:nvPr/>
        </p:nvSpPr>
        <p:spPr>
          <a:xfrm>
            <a:off x="9055512" y="4945639"/>
            <a:ext cx="1484671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nb-NO" sz="2400" noProof="0" dirty="0"/>
              <a:t>Selskap E</a:t>
            </a:r>
            <a:endParaRPr lang="nb-NO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22EE7-027A-787D-A780-815A07B5F960}"/>
              </a:ext>
            </a:extLst>
          </p:cNvPr>
          <p:cNvSpPr txBox="1"/>
          <p:nvPr/>
        </p:nvSpPr>
        <p:spPr>
          <a:xfrm>
            <a:off x="6838338" y="4935820"/>
            <a:ext cx="1484671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nb-NO" sz="2400" noProof="0" dirty="0"/>
              <a:t>Selskap D</a:t>
            </a:r>
            <a:endParaRPr lang="nb-NO" noProof="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572891-0A01-859A-1E4F-437CE049F750}"/>
              </a:ext>
            </a:extLst>
          </p:cNvPr>
          <p:cNvCxnSpPr>
            <a:stCxn id="4" idx="2"/>
          </p:cNvCxnSpPr>
          <p:nvPr/>
        </p:nvCxnSpPr>
        <p:spPr>
          <a:xfrm flipH="1">
            <a:off x="1440425" y="2684206"/>
            <a:ext cx="4234017" cy="2084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D7D256-00A4-FD1D-68D4-252A927F8B15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3557433" y="2684206"/>
            <a:ext cx="2117009" cy="215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B43376-B157-92D4-BECD-191F457D76F7}"/>
              </a:ext>
            </a:extLst>
          </p:cNvPr>
          <p:cNvCxnSpPr>
            <a:cxnSpLocks/>
          </p:cNvCxnSpPr>
          <p:nvPr/>
        </p:nvCxnSpPr>
        <p:spPr>
          <a:xfrm flipH="1">
            <a:off x="5384394" y="2782537"/>
            <a:ext cx="290048" cy="2123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4A8314-B43D-E660-187E-780245670AEF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5674442" y="2684206"/>
            <a:ext cx="1906232" cy="2251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3E9E24-1436-6847-A9A4-654F994B9F3B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767847" y="2635023"/>
            <a:ext cx="4030001" cy="2310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6A18BDC-95B9-E702-7844-9E65A9ED29AF}"/>
              </a:ext>
            </a:extLst>
          </p:cNvPr>
          <p:cNvSpPr txBox="1"/>
          <p:nvPr/>
        </p:nvSpPr>
        <p:spPr>
          <a:xfrm>
            <a:off x="78658" y="5597166"/>
            <a:ext cx="12024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noProof="0" dirty="0"/>
              <a:t>Ved å eie andeler i andre selskaper kan holdingselskapet motta utbytter skattefritt. Disse kan reinvesteres av holdingselskapet. Man kan selge aksjene i for eksempel selskap B uten at det påløper gevinstskatt i holdingselskapet.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FE322C-CD7E-EE8A-9120-A33E61011A85}"/>
              </a:ext>
            </a:extLst>
          </p:cNvPr>
          <p:cNvSpPr txBox="1"/>
          <p:nvPr/>
        </p:nvSpPr>
        <p:spPr>
          <a:xfrm>
            <a:off x="8323009" y="1386348"/>
            <a:ext cx="3780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noProof="0" dirty="0"/>
              <a:t>Holdingselskapet har </a:t>
            </a:r>
          </a:p>
          <a:p>
            <a:r>
              <a:rPr lang="nb-NO" sz="2400" noProof="0" dirty="0"/>
              <a:t>eierandeler i en rekke selskaper</a:t>
            </a:r>
          </a:p>
        </p:txBody>
      </p:sp>
    </p:spTree>
    <p:extLst>
      <p:ext uri="{BB962C8B-B14F-4D97-AF65-F5344CB8AC3E}">
        <p14:creationId xmlns:p14="http://schemas.microsoft.com/office/powerpoint/2010/main" val="692872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15C2D0F-F128-4EA4-8331-64CADF0F6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97"/>
            <a:ext cx="10515600" cy="489640"/>
          </a:xfrm>
        </p:spPr>
        <p:txBody>
          <a:bodyPr>
            <a:normAutofit fontScale="90000"/>
          </a:bodyPr>
          <a:lstStyle/>
          <a:p>
            <a:r>
              <a:rPr lang="nb-NO" sz="3200" b="1" noProof="0" dirty="0">
                <a:solidFill>
                  <a:srgbClr val="FF0000"/>
                </a:solidFill>
              </a:rPr>
              <a:t>Mer utfyllende om Fritaksmetoden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1602003-3545-4A89-A3F9-A4C99934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635" y="801171"/>
            <a:ext cx="11109563" cy="5792369"/>
          </a:xfrm>
        </p:spPr>
        <p:txBody>
          <a:bodyPr>
            <a:normAutofit/>
          </a:bodyPr>
          <a:lstStyle/>
          <a:p>
            <a:r>
              <a:rPr lang="nb-NO" sz="2600" i="1" noProof="0" dirty="0"/>
              <a:t>Selskaper som eier 90% eller mer </a:t>
            </a:r>
            <a:r>
              <a:rPr lang="nb-NO" sz="2600" noProof="0" dirty="0"/>
              <a:t>av datterselskap fritas for skatt på utbytte</a:t>
            </a:r>
          </a:p>
          <a:p>
            <a:endParaRPr lang="nb-NO" sz="2600" noProof="0" dirty="0"/>
          </a:p>
          <a:p>
            <a:r>
              <a:rPr lang="nb-NO" sz="2600" noProof="0" dirty="0"/>
              <a:t>Dersom holdingselskapet eier mindre enn 90 % av aksjene i datterselskapet, betaler holdingselskapet </a:t>
            </a:r>
            <a:r>
              <a:rPr lang="nb-NO" sz="2600" i="1" noProof="0" dirty="0"/>
              <a:t>skatt på </a:t>
            </a:r>
            <a:r>
              <a:rPr lang="nb-NO" sz="2600" i="1" noProof="0" dirty="0">
                <a:solidFill>
                  <a:srgbClr val="FF0000"/>
                </a:solidFill>
              </a:rPr>
              <a:t>22% på 3% </a:t>
            </a:r>
            <a:r>
              <a:rPr lang="nb-NO" sz="2600" i="1" noProof="0" dirty="0"/>
              <a:t>av mottatt utbytte fra utdelende selskap </a:t>
            </a:r>
          </a:p>
          <a:p>
            <a:endParaRPr lang="nb-NO" sz="2600" i="1" noProof="0" dirty="0"/>
          </a:p>
          <a:p>
            <a:pPr>
              <a:buFont typeface="Calibri" panose="020F0502020204030204" pitchFamily="34" charset="0"/>
              <a:buChar char="→"/>
            </a:pPr>
            <a:r>
              <a:rPr lang="nb-NO" sz="2600" i="1" noProof="0" dirty="0"/>
              <a:t> Eksempel: Et selskap med eierandel &lt; 90% mottar kr 100 i utbytte </a:t>
            </a:r>
          </a:p>
          <a:p>
            <a:pPr>
              <a:buFont typeface="Calibri" panose="020F0502020204030204" pitchFamily="34" charset="0"/>
              <a:buChar char="→"/>
            </a:pPr>
            <a:endParaRPr lang="nb-NO" sz="2600" i="1" noProof="0" dirty="0"/>
          </a:p>
          <a:p>
            <a:pPr>
              <a:buFont typeface="Calibri" panose="020F0502020204030204" pitchFamily="34" charset="0"/>
              <a:buChar char="→"/>
            </a:pPr>
            <a:r>
              <a:rPr lang="nb-NO" sz="2600" i="1" noProof="0" dirty="0"/>
              <a:t>3% av utbyttet </a:t>
            </a:r>
            <a:r>
              <a:rPr lang="nb-NO" sz="2600" i="1" noProof="0" dirty="0" err="1"/>
              <a:t>dvs</a:t>
            </a:r>
            <a:r>
              <a:rPr lang="nb-NO" sz="2600" i="1" noProof="0" dirty="0"/>
              <a:t> 3 kr skal skattlegges med sats 22%. Skatten blir 3*22% = 66 øre eller 0,66% av utbyttet på kr 100!</a:t>
            </a:r>
          </a:p>
          <a:p>
            <a:pPr>
              <a:buFont typeface="Calibri" panose="020F0502020204030204" pitchFamily="34" charset="0"/>
              <a:buChar char="→"/>
            </a:pPr>
            <a:endParaRPr lang="nb-NO" sz="2600" i="1" noProof="0" dirty="0"/>
          </a:p>
          <a:p>
            <a:pPr>
              <a:buFont typeface="Calibri" panose="020F0502020204030204" pitchFamily="34" charset="0"/>
              <a:buChar char="→"/>
            </a:pPr>
            <a:r>
              <a:rPr lang="nb-NO" sz="2600" i="1" noProof="0" dirty="0"/>
              <a:t>I praksis kan vi glemme 3% regelen fordi den betyr så lite</a:t>
            </a:r>
            <a:endParaRPr lang="nb-NO" sz="2600" noProof="0" dirty="0"/>
          </a:p>
          <a:p>
            <a:pPr marL="457200" lvl="1" indent="0">
              <a:buNone/>
            </a:pPr>
            <a:endParaRPr lang="nb-NO" sz="1900" noProof="0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1DE84BF-DDE8-4E31-8CEF-058D5A41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27</a:t>
            </a:fld>
            <a:endParaRPr lang="nb-NO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168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170"/>
    </mc:Choice>
    <mc:Fallback xmlns="">
      <p:transition spd="slow" advTm="9017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C3B0-6EBE-A7E8-EFF7-0E29EC7D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21333"/>
          </a:xfrm>
        </p:spPr>
        <p:txBody>
          <a:bodyPr/>
          <a:lstStyle/>
          <a:p>
            <a:r>
              <a:rPr lang="nb-NO" noProof="0" dirty="0"/>
              <a:t>Fritaksmetoden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6B03E-C389-45CA-D1AD-A84CA6945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89211"/>
            <a:ext cx="11520487" cy="5401517"/>
          </a:xfrm>
        </p:spPr>
        <p:txBody>
          <a:bodyPr>
            <a:normAutofit/>
          </a:bodyPr>
          <a:lstStyle/>
          <a:p>
            <a:r>
              <a:rPr lang="nb-NO" sz="3200" noProof="0" dirty="0"/>
              <a:t>Poenget med fritaksmetoden er å unngå dobbeltbeskatning ved at utbytte skattlegges først i utdelende selskap og så på mottagende selskaps hånd (kjedebeskatning). </a:t>
            </a:r>
          </a:p>
          <a:p>
            <a:endParaRPr lang="nb-NO" sz="3200" noProof="0" dirty="0"/>
          </a:p>
          <a:p>
            <a:r>
              <a:rPr lang="nb-NO" sz="3200" noProof="0" dirty="0"/>
              <a:t>I tillegg kunne det tenkes at utbytte også ble skattlagt hos personlig aksjonær (trippel beskatning).</a:t>
            </a:r>
          </a:p>
          <a:p>
            <a:endParaRPr lang="nb-NO" sz="3200" noProof="0" dirty="0"/>
          </a:p>
          <a:p>
            <a:r>
              <a:rPr lang="nb-NO" sz="3200" noProof="0" dirty="0"/>
              <a:t>Før 2006 hadde vi et annet system som hindret dobbeltbeskatning av utbytte ved at utbytteskatt betalt av selskapet ble tatt hensyn til når personlig aksjonær mottok utbytte.</a:t>
            </a:r>
          </a:p>
          <a:p>
            <a:endParaRPr lang="nb-NO" sz="3200" noProof="0" dirty="0"/>
          </a:p>
          <a:p>
            <a:endParaRPr lang="nb-NO" noProof="0" dirty="0"/>
          </a:p>
          <a:p>
            <a:pPr marL="0" indent="0">
              <a:buNone/>
            </a:pPr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53507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pic>
        <p:nvPicPr>
          <p:cNvPr id="5" name="Picture 4" descr="A person standing in front of a white cube&#10;&#10;Description automatically generated">
            <a:extLst>
              <a:ext uri="{FF2B5EF4-FFF2-40B4-BE49-F238E27FC236}">
                <a16:creationId xmlns:a16="http://schemas.microsoft.com/office/drawing/2014/main" id="{29BE773C-5CF1-1F9F-E3E3-326BF7C799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8907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C13FDD-3085-4BF0-9261-ED28A5FDD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169982"/>
            <a:ext cx="10530318" cy="2736390"/>
          </a:xfrm>
        </p:spPr>
        <p:txBody>
          <a:bodyPr anchor="b">
            <a:normAutofit/>
          </a:bodyPr>
          <a:lstStyle/>
          <a:p>
            <a:pPr algn="l"/>
            <a:r>
              <a:rPr lang="nb-NO" sz="8000" noProof="0" dirty="0">
                <a:solidFill>
                  <a:schemeClr val="tx2"/>
                </a:solidFill>
              </a:rPr>
              <a:t>4. Aksjonærmodellen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F5ECE-DFCE-4B5E-984B-BCCA08A10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530318" cy="1949813"/>
          </a:xfrm>
        </p:spPr>
        <p:txBody>
          <a:bodyPr anchor="t">
            <a:normAutofit/>
          </a:bodyPr>
          <a:lstStyle/>
          <a:p>
            <a:pPr algn="l"/>
            <a:r>
              <a:rPr lang="nb-NO" sz="2200" noProof="0" dirty="0">
                <a:solidFill>
                  <a:schemeClr val="tx2"/>
                </a:solidFill>
              </a:rPr>
              <a:t>SKATTLEGGING AV EIERINNTEKT (UTBYTTE) TIL PERSONLIG AKSJONÆR</a:t>
            </a:r>
          </a:p>
          <a:p>
            <a:pPr algn="l"/>
            <a:endParaRPr lang="nb-NO" sz="2200" noProof="0" dirty="0">
              <a:solidFill>
                <a:schemeClr val="tx2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727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E335-BE7E-9EE5-6667-9214580A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384"/>
            <a:ext cx="10515600" cy="777875"/>
          </a:xfrm>
        </p:spPr>
        <p:txBody>
          <a:bodyPr>
            <a:normAutofit/>
          </a:bodyPr>
          <a:lstStyle/>
          <a:p>
            <a:r>
              <a:rPr lang="nb-NO" sz="3600" noProof="0" dirty="0"/>
              <a:t>AKLSJONÆRMODELLEN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52942-EB0C-9DC3-C7BB-49E5B0F85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741" y="1084729"/>
            <a:ext cx="10780059" cy="5092234"/>
          </a:xfrm>
        </p:spPr>
        <p:txBody>
          <a:bodyPr>
            <a:normAutofit lnSpcReduction="10000"/>
          </a:bodyPr>
          <a:lstStyle/>
          <a:p>
            <a:r>
              <a:rPr lang="nb-NO" noProof="0" dirty="0"/>
              <a:t>Gjelder skattlegging av personlig aksjonær (personer)</a:t>
            </a:r>
          </a:p>
          <a:p>
            <a:pPr lvl="1"/>
            <a:r>
              <a:rPr lang="nb-NO" sz="2800" dirty="0"/>
              <a:t>Tap på aksjesalg er fradragsberettiget og gevinst skattepliktig</a:t>
            </a:r>
            <a:endParaRPr lang="nb-NO" sz="2800" noProof="0" dirty="0"/>
          </a:p>
          <a:p>
            <a:endParaRPr lang="nb-NO" dirty="0"/>
          </a:p>
          <a:p>
            <a:r>
              <a:rPr lang="nb-NO" noProof="0" dirty="0"/>
              <a:t>Utbytte til personlig aksjonær skattlegges etter fratrekk for et </a:t>
            </a:r>
            <a:r>
              <a:rPr lang="nb-NO" noProof="0" dirty="0">
                <a:solidFill>
                  <a:srgbClr val="FF0000"/>
                </a:solidFill>
              </a:rPr>
              <a:t>skjermingsfradrag</a:t>
            </a:r>
            <a:r>
              <a:rPr lang="nb-NO" noProof="0" dirty="0"/>
              <a:t> (aksjens kostpris multiplisert med en </a:t>
            </a:r>
            <a:r>
              <a:rPr lang="nb-NO" noProof="0" dirty="0" err="1"/>
              <a:t>skjermingsrente</a:t>
            </a:r>
            <a:r>
              <a:rPr lang="nb-NO" noProof="0" dirty="0"/>
              <a:t> som skal reflektere normalavkastningen på egenkapital.)</a:t>
            </a:r>
          </a:p>
          <a:p>
            <a:endParaRPr lang="nb-NO" noProof="0" dirty="0"/>
          </a:p>
          <a:p>
            <a:r>
              <a:rPr lang="nb-NO" noProof="0" dirty="0"/>
              <a:t>Utbytte fra selskap til personlig aksjonær kalles </a:t>
            </a:r>
            <a:r>
              <a:rPr lang="nb-NO" i="1" noProof="0" dirty="0">
                <a:solidFill>
                  <a:srgbClr val="FF0000"/>
                </a:solidFill>
              </a:rPr>
              <a:t>eierinntekt</a:t>
            </a:r>
            <a:r>
              <a:rPr lang="nb-NO" noProof="0" dirty="0"/>
              <a:t> i det norske skattesystemet</a:t>
            </a:r>
          </a:p>
          <a:p>
            <a:endParaRPr lang="nb-NO" dirty="0">
              <a:solidFill>
                <a:srgbClr val="FF0000"/>
              </a:solidFill>
            </a:endParaRPr>
          </a:p>
          <a:p>
            <a:r>
              <a:rPr lang="nb-NO" noProof="0" dirty="0">
                <a:solidFill>
                  <a:srgbClr val="FF0000"/>
                </a:solidFill>
              </a:rPr>
              <a:t>Nominell sats er 22% men den skal oppjusteres med en faktor på 1,72 slik at virkelig nominell sats er 1,72* 22% = 37,84%</a:t>
            </a:r>
          </a:p>
        </p:txBody>
      </p:sp>
    </p:spTree>
    <p:extLst>
      <p:ext uri="{BB962C8B-B14F-4D97-AF65-F5344CB8AC3E}">
        <p14:creationId xmlns:p14="http://schemas.microsoft.com/office/powerpoint/2010/main" val="274451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2">
                <a:extLst>
                  <a:ext uri="{FF2B5EF4-FFF2-40B4-BE49-F238E27FC236}">
                    <a16:creationId xmlns:a16="http://schemas.microsoft.com/office/drawing/2014/main" id="{7C105F1B-111C-7553-018D-3AE1BD6687C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25810821"/>
                  </p:ext>
                </p:extLst>
              </p:nvPr>
            </p:nvGraphicFramePr>
            <p:xfrm>
              <a:off x="448596" y="475129"/>
              <a:ext cx="11418939" cy="611393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6" name="Content Placeholder 2">
                <a:extLst>
                  <a:ext uri="{FF2B5EF4-FFF2-40B4-BE49-F238E27FC236}">
                    <a16:creationId xmlns:a16="http://schemas.microsoft.com/office/drawing/2014/main" id="{7C105F1B-111C-7553-018D-3AE1BD6687C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25810821"/>
                  </p:ext>
                </p:extLst>
              </p:nvPr>
            </p:nvGraphicFramePr>
            <p:xfrm>
              <a:off x="448596" y="475129"/>
              <a:ext cx="11418939" cy="611393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DB84C-4279-45BD-B05D-3CE5B76D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31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248934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50C16-43A4-E4CD-C60B-A436EB265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995" y="306659"/>
            <a:ext cx="11732701" cy="63238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noProof="0" dirty="0"/>
              <a:t>Hva hvis mottatt utbytte er </a:t>
            </a:r>
            <a:r>
              <a:rPr lang="nb-NO" sz="3200" b="1" i="1" noProof="0" dirty="0"/>
              <a:t>mindre</a:t>
            </a:r>
            <a:r>
              <a:rPr lang="nb-NO" sz="3200" b="1" noProof="0" dirty="0"/>
              <a:t> enn skjermingsfradraget</a:t>
            </a:r>
          </a:p>
          <a:p>
            <a:pPr marL="0" indent="0">
              <a:buNone/>
            </a:pPr>
            <a:endParaRPr lang="nb-NO" sz="3200" b="1" dirty="0"/>
          </a:p>
          <a:p>
            <a:r>
              <a:rPr lang="nb-NO" sz="3200" noProof="0" dirty="0"/>
              <a:t>Du kan fremføre ubenyttet skjermingsfradraget til neste år og slå det sammen med neste års skjermingsfradrag. </a:t>
            </a:r>
          </a:p>
          <a:p>
            <a:endParaRPr lang="nb-NO" sz="3200" noProof="0" dirty="0"/>
          </a:p>
          <a:p>
            <a:r>
              <a:rPr lang="nb-NO" sz="3200" noProof="0" dirty="0"/>
              <a:t>Hvis utbyttet er mindre en de sammenslåtte skjermingsfradragene neste </a:t>
            </a:r>
            <a:r>
              <a:rPr lang="nb-NO" sz="3200" noProof="0"/>
              <a:t>år kan det </a:t>
            </a:r>
            <a:r>
              <a:rPr lang="nb-NO" sz="3200" noProof="0" dirty="0"/>
              <a:t>fremføres disse mot fremtidige utbytter</a:t>
            </a:r>
          </a:p>
          <a:p>
            <a:endParaRPr lang="nb-NO" sz="3200" dirty="0"/>
          </a:p>
          <a:p>
            <a:r>
              <a:rPr lang="nb-NO" sz="3200" dirty="0"/>
              <a:t>U</a:t>
            </a:r>
            <a:r>
              <a:rPr lang="nb-NO" sz="3200" noProof="0" dirty="0"/>
              <a:t>benyttede skjermingsfradraget øker også skjermingsgrunnlaget </a:t>
            </a:r>
            <a:r>
              <a:rPr lang="nb-NO" sz="3200" noProof="0" dirty="0" err="1"/>
              <a:t>dvs</a:t>
            </a:r>
            <a:r>
              <a:rPr lang="nb-NO" sz="3200" noProof="0" dirty="0"/>
              <a:t> aksjens kostpris påfølgende år.</a:t>
            </a:r>
          </a:p>
          <a:p>
            <a:endParaRPr lang="nb-NO" sz="3200" dirty="0"/>
          </a:p>
          <a:p>
            <a:pPr marL="0" indent="0">
              <a:buNone/>
            </a:pPr>
            <a:endParaRPr lang="nb-NO" sz="3200" noProof="0" dirty="0"/>
          </a:p>
          <a:p>
            <a:pPr marL="0" indent="0">
              <a:buNone/>
            </a:pPr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3600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993C-C58B-420E-53AC-BB526BAA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Skjermingsrenten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EA3E7D-B413-5319-A93E-990E88749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950" y="1573161"/>
                <a:ext cx="11672888" cy="460380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nb-NO" sz="2800" noProof="0" dirty="0"/>
              </a:p>
              <a:p>
                <a:r>
                  <a:rPr lang="nb-NO" sz="3500" dirty="0"/>
                  <a:t>I 2005 var s</a:t>
                </a:r>
                <a:r>
                  <a:rPr lang="nb-NO" sz="3500" noProof="0" dirty="0" err="1"/>
                  <a:t>tatskasseveksler</a:t>
                </a:r>
                <a:r>
                  <a:rPr lang="nb-NO" sz="3500" noProof="0" dirty="0"/>
                  <a:t> med 3 måneders løpetid  </a:t>
                </a:r>
                <a:r>
                  <a:rPr lang="nb-NO" sz="3500" dirty="0"/>
                  <a:t>4,1</a:t>
                </a:r>
                <a:r>
                  <a:rPr lang="nb-NO" sz="3500" noProof="0" dirty="0"/>
                  <a:t>%</a:t>
                </a:r>
              </a:p>
              <a:p>
                <a:endParaRPr lang="nb-NO" sz="3500" dirty="0"/>
              </a:p>
              <a:p>
                <a:r>
                  <a:rPr lang="nb-NO" sz="3500" noProof="0" dirty="0"/>
                  <a:t> Skjermingsrenten (R) blir : </a:t>
                </a:r>
              </a:p>
              <a:p>
                <a:endParaRPr lang="nb-NO" sz="35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nb-NO" sz="350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nb-NO" sz="3500" b="0" i="1" noProof="0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3500" b="0" i="1" noProof="0" smtClean="0">
                          <a:latin typeface="Cambria Math" panose="02040503050406030204" pitchFamily="18" charset="0"/>
                        </a:rPr>
                        <m:t>4,</m:t>
                      </m:r>
                      <m:r>
                        <a:rPr lang="nb-NO" sz="3500" b="0" i="1" noProof="0" smtClean="0">
                          <a:latin typeface="Cambria Math" panose="02040503050406030204" pitchFamily="18" charset="0"/>
                        </a:rPr>
                        <m:t>1%+0,5%) ∗</m:t>
                      </m:r>
                      <m:d>
                        <m:dPr>
                          <m:ctrlPr>
                            <a:rPr lang="nb-NO" sz="35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sz="3500" b="0" i="1" noProof="0" smtClean="0">
                              <a:latin typeface="Cambria Math" panose="02040503050406030204" pitchFamily="18" charset="0"/>
                            </a:rPr>
                            <m:t>100%−22%</m:t>
                          </m:r>
                        </m:e>
                      </m:d>
                      <m:r>
                        <a:rPr lang="nb-NO" sz="35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35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3,</m:t>
                      </m:r>
                      <m:r>
                        <a:rPr lang="nb-NO" sz="35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6%</m:t>
                      </m:r>
                    </m:oMath>
                  </m:oMathPara>
                </a14:m>
                <a:endParaRPr lang="nb-NO" sz="3500" noProof="0" dirty="0"/>
              </a:p>
              <a:p>
                <a:pPr marL="0" indent="0">
                  <a:buNone/>
                </a:pPr>
                <a:endParaRPr lang="nb-NO" sz="3500" noProof="0" dirty="0"/>
              </a:p>
              <a:p>
                <a:r>
                  <a:rPr lang="nb-NO" sz="3500" dirty="0"/>
                  <a:t>En aksje kjøpt for kr 100 av en personlig skattyter kan motta kr 3,6 (100*3,6%) skattefritt av et eventuelt utbytte.</a:t>
                </a:r>
              </a:p>
              <a:p>
                <a:pPr marL="0" indent="0">
                  <a:buNone/>
                </a:pPr>
                <a:endParaRPr lang="nb-NO" sz="3500" noProof="0" dirty="0"/>
              </a:p>
              <a:p>
                <a:endParaRPr lang="nb-NO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EA3E7D-B413-5319-A93E-990E88749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573161"/>
                <a:ext cx="11672888" cy="4603802"/>
              </a:xfrm>
              <a:blipFill>
                <a:blip r:embed="rId2"/>
                <a:stretch>
                  <a:fillRect l="-1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A54EC-4F71-3197-AD15-E45A2059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33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7902018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46" y="92328"/>
            <a:ext cx="10491105" cy="1413086"/>
          </a:xfrm>
        </p:spPr>
        <p:txBody>
          <a:bodyPr>
            <a:noAutofit/>
          </a:bodyPr>
          <a:lstStyle/>
          <a:p>
            <a:r>
              <a:rPr lang="nb-NO" sz="2800" noProof="0" dirty="0">
                <a:latin typeface="+mn-lt"/>
              </a:rPr>
              <a:t>EKSEMPEL: Olsen eier 1 aksje i AS Industri, kjøpt årsskiftet 2014 for kr 1000 (aksjens kostpris). Aksjen ble solgt i 2019 før utbytte til kr 1100 så Olsen går glipp av utbytte og skjerming i 2019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310582"/>
              </p:ext>
            </p:extLst>
          </p:nvPr>
        </p:nvGraphicFramePr>
        <p:xfrm>
          <a:off x="267629" y="1806092"/>
          <a:ext cx="11874968" cy="4820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6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7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84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58235">
                <a:tc>
                  <a:txBody>
                    <a:bodyPr/>
                    <a:lstStyle/>
                    <a:p>
                      <a:r>
                        <a:rPr lang="nb-NO" sz="2000" noProof="0" dirty="0"/>
                        <a:t>år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000" noProof="0" dirty="0"/>
                        <a:t>Skjermings</a:t>
                      </a:r>
                    </a:p>
                    <a:p>
                      <a:r>
                        <a:rPr lang="nb-NO" sz="2000" noProof="0" dirty="0"/>
                        <a:t>Rente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000" noProof="0" dirty="0"/>
                        <a:t>Aksje utbytte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000" noProof="0" dirty="0"/>
                        <a:t>Skjermings</a:t>
                      </a:r>
                    </a:p>
                    <a:p>
                      <a:r>
                        <a:rPr lang="nb-NO" sz="2000" noProof="0" dirty="0"/>
                        <a:t>Grunnlag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000" noProof="0" dirty="0"/>
                        <a:t>Skjermings</a:t>
                      </a:r>
                    </a:p>
                    <a:p>
                      <a:r>
                        <a:rPr lang="nb-NO" sz="2000" noProof="0" dirty="0"/>
                        <a:t>fradrag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000" noProof="0" dirty="0"/>
                        <a:t>Skattepliktig</a:t>
                      </a:r>
                    </a:p>
                    <a:p>
                      <a:r>
                        <a:rPr lang="nb-NO" sz="2000" noProof="0" dirty="0"/>
                        <a:t>utbytte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000" noProof="0" dirty="0" err="1"/>
                        <a:t>Akku.ubenyttet.skj</a:t>
                      </a:r>
                      <a:r>
                        <a:rPr lang="nb-NO" sz="2000" noProof="0" dirty="0"/>
                        <a:t>. fradrag 31.12</a:t>
                      </a:r>
                    </a:p>
                  </a:txBody>
                  <a:tcPr marL="82935" marR="82935" marT="41468" marB="4146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31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2014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2%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25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1000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20</a:t>
                      </a:r>
                      <a:r>
                        <a:rPr lang="nb-NO" sz="2400" noProof="0" dirty="0"/>
                        <a:t> (=1000*2%)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5 (= 25 - 20)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82935" marR="82935" marT="41468" marB="4146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31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2015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3%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1000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nb-NO" sz="2400" noProof="0" dirty="0"/>
                        <a:t> (=1000*3%)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 marL="82935" marR="82935" marT="41468" marB="4146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31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2016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2%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1030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20,6</a:t>
                      </a:r>
                      <a:r>
                        <a:rPr lang="nb-NO" sz="2400" noProof="0" dirty="0"/>
                        <a:t> (=1030*2%))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0 </a:t>
                      </a:r>
                    </a:p>
                    <a:p>
                      <a:r>
                        <a:rPr lang="nb-NO" sz="2400" noProof="0" dirty="0"/>
                        <a:t>(10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– 30 –20,6 </a:t>
                      </a:r>
                      <a:r>
                        <a:rPr lang="nb-NO" sz="2400" noProof="0" dirty="0"/>
                        <a:t>&lt;0)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40,6</a:t>
                      </a:r>
                      <a:r>
                        <a:rPr lang="nb-NO" sz="2400" noProof="0" dirty="0"/>
                        <a:t> </a:t>
                      </a:r>
                    </a:p>
                    <a:p>
                      <a:r>
                        <a:rPr lang="nb-NO" sz="2400" noProof="0" dirty="0"/>
                        <a:t>(=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30 + 20,6 </a:t>
                      </a:r>
                      <a:r>
                        <a:rPr lang="nb-NO" sz="2400" noProof="0" dirty="0"/>
                        <a:t>- 10)</a:t>
                      </a:r>
                    </a:p>
                  </a:txBody>
                  <a:tcPr marL="82935" marR="82935" marT="41468" marB="4146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190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2017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4%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90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1040,6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41,6</a:t>
                      </a:r>
                      <a:r>
                        <a:rPr lang="nb-NO" sz="2400" noProof="0" dirty="0"/>
                        <a:t> (=1040,6*4%)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7,8</a:t>
                      </a:r>
                    </a:p>
                    <a:p>
                      <a:r>
                        <a:rPr lang="nb-NO" sz="2400" noProof="0" dirty="0"/>
                        <a:t> (= 90 -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40,6 – 41,6</a:t>
                      </a:r>
                      <a:r>
                        <a:rPr lang="nb-NO" sz="2400" noProof="0" dirty="0"/>
                        <a:t>)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0 </a:t>
                      </a:r>
                    </a:p>
                  </a:txBody>
                  <a:tcPr marL="82935" marR="82935" marT="41468" marB="4146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432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2018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3%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1000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nb-NO" sz="2400" noProof="0" dirty="0"/>
                        <a:t> (=1000*3%)</a:t>
                      </a:r>
                    </a:p>
                    <a:p>
                      <a:endParaRPr lang="nb-NO" sz="2400" noProof="0" dirty="0"/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 marL="82935" marR="82935" marT="41468" marB="4146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31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2019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4%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endParaRPr lang="nb-NO" sz="2400" noProof="0" dirty="0"/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endParaRPr lang="nb-NO" sz="2400" noProof="0" dirty="0"/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endParaRPr lang="nb-NO" sz="2400" noProof="0" dirty="0"/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endParaRPr lang="nb-NO" sz="2400" noProof="0" dirty="0"/>
                    </a:p>
                  </a:txBody>
                  <a:tcPr marL="82935" marR="82935" marT="41468" marB="4146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noProof="0" smtClean="0"/>
              <a:pPr/>
              <a:t>34</a:t>
            </a:fld>
            <a:endParaRPr lang="nb-NO" noProof="0" dirty="0"/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3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5A1DEA00-706A-4EEC-836E-45910F76C461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569320" y="6839280"/>
              <a:ext cx="360" cy="36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5A1DEA00-706A-4EEC-836E-45910F76C46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3480" y="677592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900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1835"/>
    </mc:Choice>
    <mc:Fallback>
      <p:transition spd="slow" advTm="311835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DC0E-78F9-F21C-321B-1C992C9D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47" y="136525"/>
            <a:ext cx="11179495" cy="858032"/>
          </a:xfrm>
        </p:spPr>
        <p:txBody>
          <a:bodyPr>
            <a:noAutofit/>
          </a:bodyPr>
          <a:lstStyle/>
          <a:p>
            <a:r>
              <a:rPr lang="nb-NO" sz="3100" b="1" noProof="0" dirty="0"/>
              <a:t>Beregning av aksjegevinst i eksemplet</a:t>
            </a:r>
            <a:r>
              <a:rPr lang="nb-NO" sz="3100" noProof="0" dirty="0"/>
              <a:t>. Olsen kjøpte aksjen for 1000 og selger for 1100 og hadde ubenyttet skjermingsfradrag (30)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D52244B-79FD-7BE4-9977-1EE034CAA5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5577" y="1175757"/>
          <a:ext cx="10920845" cy="4506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2325">
                  <a:extLst>
                    <a:ext uri="{9D8B030D-6E8A-4147-A177-3AD203B41FA5}">
                      <a16:colId xmlns:a16="http://schemas.microsoft.com/office/drawing/2014/main" val="2705718759"/>
                    </a:ext>
                  </a:extLst>
                </a:gridCol>
                <a:gridCol w="3138520">
                  <a:extLst>
                    <a:ext uri="{9D8B030D-6E8A-4147-A177-3AD203B41FA5}">
                      <a16:colId xmlns:a16="http://schemas.microsoft.com/office/drawing/2014/main" val="3083841938"/>
                    </a:ext>
                  </a:extLst>
                </a:gridCol>
              </a:tblGrid>
              <a:tr h="556547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754673"/>
                  </a:ext>
                </a:extLst>
              </a:tr>
              <a:tr h="564277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Aksjens skjermingsgrunnlag (kostpris)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872386"/>
                  </a:ext>
                </a:extLst>
              </a:tr>
              <a:tr h="564277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Ubenyttet skjerming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30 (fra 2018)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136246"/>
                  </a:ext>
                </a:extLst>
              </a:tr>
              <a:tr h="564277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Salgspris salg av aksje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98216"/>
                  </a:ext>
                </a:extLst>
              </a:tr>
              <a:tr h="564277">
                <a:tc>
                  <a:txBody>
                    <a:bodyPr/>
                    <a:lstStyle/>
                    <a:p>
                      <a:r>
                        <a:rPr lang="nb-NO" sz="2800" noProof="0" dirty="0">
                          <a:solidFill>
                            <a:srgbClr val="FF0000"/>
                          </a:solidFill>
                        </a:rPr>
                        <a:t>Aksjens gevinst (1100 – 1000 – 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>
                          <a:solidFill>
                            <a:srgbClr val="FF0000"/>
                          </a:solidFill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752502"/>
                  </a:ext>
                </a:extLst>
              </a:tr>
              <a:tr h="564277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Aksjens oppjusterte gevinst (70*1,72)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120,4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274657"/>
                  </a:ext>
                </a:extLst>
              </a:tr>
              <a:tr h="564277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Skatt på aksjegevinsten (120,4*22%)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>
                          <a:solidFill>
                            <a:srgbClr val="FF0000"/>
                          </a:solidFill>
                        </a:rPr>
                        <a:t>26,49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633337"/>
                  </a:ext>
                </a:extLst>
              </a:tr>
              <a:tr h="564277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Gevinst etter skatt (70-</a:t>
                      </a:r>
                      <a:r>
                        <a:rPr lang="nb-NO" sz="2800" noProof="0" dirty="0">
                          <a:solidFill>
                            <a:srgbClr val="FF0000"/>
                          </a:solidFill>
                        </a:rPr>
                        <a:t>26,49</a:t>
                      </a:r>
                      <a:r>
                        <a:rPr lang="nb-NO" sz="2800" noProof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43,51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4455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FA76C-907B-844E-002D-46075AD0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35</a:t>
            </a:fld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4647F-084F-4C73-9969-82A00A06C986}"/>
              </a:ext>
            </a:extLst>
          </p:cNvPr>
          <p:cNvSpPr txBox="1"/>
          <p:nvPr/>
        </p:nvSpPr>
        <p:spPr>
          <a:xfrm>
            <a:off x="484816" y="5682243"/>
            <a:ext cx="115575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b="1" noProof="0" dirty="0">
                <a:solidFill>
                  <a:srgbClr val="FF0000"/>
                </a:solidFill>
              </a:rPr>
              <a:t>Vi kunne også funnet skatt på utbytte ved å multiplisert gevinsten på kr 70 </a:t>
            </a:r>
          </a:p>
          <a:p>
            <a:r>
              <a:rPr lang="nb-NO" sz="2800" b="1" noProof="0" dirty="0">
                <a:solidFill>
                  <a:srgbClr val="FF0000"/>
                </a:solidFill>
              </a:rPr>
              <a:t>med satsen 37,84% som også gir kr 26,49 i skatt </a:t>
            </a:r>
          </a:p>
        </p:txBody>
      </p:sp>
    </p:spTree>
    <p:extLst>
      <p:ext uri="{BB962C8B-B14F-4D97-AF65-F5344CB8AC3E}">
        <p14:creationId xmlns:p14="http://schemas.microsoft.com/office/powerpoint/2010/main" val="2025293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36</a:t>
            </a:fld>
            <a:endParaRPr lang="nb-NO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6" y="1035369"/>
            <a:ext cx="11878527" cy="5838740"/>
          </a:xfrm>
          <a:prstGeom prst="rect">
            <a:avLst/>
          </a:prstGeom>
        </p:spPr>
      </p:pic>
      <p:sp>
        <p:nvSpPr>
          <p:cNvPr id="4" name="TekstSylinder 3">
            <a:extLst>
              <a:ext uri="{FF2B5EF4-FFF2-40B4-BE49-F238E27FC236}">
                <a16:creationId xmlns:a16="http://schemas.microsoft.com/office/drawing/2014/main" id="{FF030F6D-0A88-4D16-92D6-BEF9C448F841}"/>
              </a:ext>
            </a:extLst>
          </p:cNvPr>
          <p:cNvSpPr txBox="1"/>
          <p:nvPr/>
        </p:nvSpPr>
        <p:spPr>
          <a:xfrm>
            <a:off x="576032" y="273918"/>
            <a:ext cx="7649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noProof="0" dirty="0"/>
              <a:t>AKSJESPAREKONTO OG SKJERMINGSFRADRAG</a:t>
            </a:r>
          </a:p>
        </p:txBody>
      </p:sp>
    </p:spTree>
    <p:extLst>
      <p:ext uri="{BB962C8B-B14F-4D97-AF65-F5344CB8AC3E}">
        <p14:creationId xmlns:p14="http://schemas.microsoft.com/office/powerpoint/2010/main" val="701160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732"/>
    </mc:Choice>
    <mc:Fallback>
      <p:transition spd="slow" advTm="155732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203D7-DDBB-66B6-A77C-CA4A7966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Formuesskatt og utbytte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A56D3-8D69-F3F0-3546-75FF75F46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noProof="0" dirty="0"/>
              <a:t>I det offentlige ordskiftet hevdes det at man ikke har råd til å sitte på norske aksjer fordi formuesskatten er så høy og at man må bruke utbytte til å betale formuesskatten</a:t>
            </a:r>
          </a:p>
          <a:p>
            <a:endParaRPr lang="nb-NO" noProof="0" dirty="0"/>
          </a:p>
          <a:p>
            <a:r>
              <a:rPr lang="nb-NO" noProof="0" dirty="0"/>
              <a:t>Andre hevder at formuesskatten er så høy at de må bruke lønnsinntekt eller sparemidler til å betale formuesskatten</a:t>
            </a:r>
          </a:p>
          <a:p>
            <a:endParaRPr lang="nb-NO" noProof="0" dirty="0"/>
          </a:p>
          <a:p>
            <a:r>
              <a:rPr lang="nb-NO" noProof="0" dirty="0"/>
              <a:t>La oss se på et eksempel og skattebelastningen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3F5BB-6FBB-23D8-52DF-D8BD8202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37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142212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C4C5-9C7A-170C-5682-893CF8460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75"/>
            <a:ext cx="10515600" cy="803095"/>
          </a:xfrm>
        </p:spPr>
        <p:txBody>
          <a:bodyPr>
            <a:normAutofit fontScale="90000"/>
          </a:bodyPr>
          <a:lstStyle/>
          <a:p>
            <a:r>
              <a:rPr lang="nb-NO" sz="3200" dirty="0"/>
              <a:t>Et eksempel: Norsk investor kjøper børsnoterte aksjer for 10 millioner. </a:t>
            </a:r>
            <a:endParaRPr lang="nb-NO" sz="32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77431C-0140-FE48-A62C-753C5C8B4F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0823"/>
                <a:ext cx="11495314" cy="5036140"/>
              </a:xfrm>
            </p:spPr>
            <p:txBody>
              <a:bodyPr>
                <a:noAutofit/>
              </a:bodyPr>
              <a:lstStyle/>
              <a:p>
                <a:r>
                  <a:rPr lang="nb-NO" sz="2400" noProof="0" dirty="0" err="1"/>
                  <a:t>Skjermingsrente</a:t>
                </a:r>
                <a:r>
                  <a:rPr lang="nb-NO" sz="2400" noProof="0" dirty="0"/>
                  <a:t> 3,6%, eierskatt 37,84% og formuesskatt 1%.</a:t>
                </a:r>
              </a:p>
              <a:p>
                <a:r>
                  <a:rPr lang="nb-NO" sz="2400" noProof="0" dirty="0"/>
                  <a:t>Selskapet betaler dividende på 6% av investeringsbeløpet </a:t>
                </a:r>
                <a:r>
                  <a:rPr lang="nb-NO" sz="2400" noProof="0" dirty="0" err="1"/>
                  <a:t>dvs</a:t>
                </a:r>
                <a:r>
                  <a:rPr lang="nb-NO" sz="2400" noProof="0" dirty="0"/>
                  <a:t> kr 600 000</a:t>
                </a:r>
              </a:p>
              <a:p>
                <a:pPr lvl="1"/>
                <a:r>
                  <a:rPr lang="nb-NO" dirty="0"/>
                  <a:t>De 10 største selskapene på Oslo børs betalte omtrent 6% i utbytte</a:t>
                </a:r>
                <a:endParaRPr lang="nb-NO" noProof="0" dirty="0"/>
              </a:p>
              <a:p>
                <a:endParaRPr lang="nb-NO" noProof="0" dirty="0"/>
              </a:p>
              <a:p>
                <a:r>
                  <a:rPr lang="nb-NO" sz="2400" noProof="0" dirty="0"/>
                  <a:t>Formuesskattegrunnlag : 10 mill.*(100%-20%)*1% - 1,7 </a:t>
                </a:r>
                <a:r>
                  <a:rPr lang="nb-NO" sz="2400" noProof="0" dirty="0" err="1"/>
                  <a:t>mill</a:t>
                </a:r>
                <a:r>
                  <a:rPr lang="nb-NO" sz="2400" dirty="0"/>
                  <a:t>. </a:t>
                </a:r>
                <a:r>
                  <a:rPr lang="nb-NO" sz="2400" noProof="0" dirty="0"/>
                  <a:t>(bunnfradrag) </a:t>
                </a:r>
                <a:r>
                  <a:rPr lang="nb-NO" sz="2400" dirty="0"/>
                  <a:t>= 0 </a:t>
                </a:r>
                <a:endParaRPr lang="nb-NO" sz="2400" noProof="0" dirty="0"/>
              </a:p>
              <a:p>
                <a:r>
                  <a:rPr lang="nb-NO" sz="2400" noProof="0" dirty="0"/>
                  <a:t>Skjermingsgrunnlag: 10 mill.*3,6% = 360,000 </a:t>
                </a:r>
              </a:p>
              <a:p>
                <a:r>
                  <a:rPr lang="nb-NO" sz="2400" noProof="0" dirty="0"/>
                  <a:t>Skatt på utbytte ut over skjerming: (600’-360’)*(100%-37,84%) </a:t>
                </a:r>
                <a14:m>
                  <m:oMath xmlns:m="http://schemas.openxmlformats.org/officeDocument/2006/math">
                    <m:r>
                      <a:rPr lang="nb-NO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nb-NO" sz="2400" noProof="0" dirty="0"/>
                  <a:t> 149 000</a:t>
                </a:r>
              </a:p>
              <a:p>
                <a:endParaRPr lang="nb-NO" sz="2400" b="1" noProof="0" dirty="0"/>
              </a:p>
              <a:p>
                <a:r>
                  <a:rPr lang="nb-NO" sz="2400" b="1" noProof="0" dirty="0"/>
                  <a:t>Investor sitter igjen med: 600 000  – 149 000 = </a:t>
                </a:r>
                <a:r>
                  <a:rPr lang="nb-NO" sz="2400" b="1" dirty="0"/>
                  <a:t>451</a:t>
                </a:r>
                <a:r>
                  <a:rPr lang="nb-NO" sz="2400" b="1" noProof="0" dirty="0"/>
                  <a:t> 000</a:t>
                </a:r>
              </a:p>
              <a:p>
                <a:r>
                  <a:rPr lang="nb-NO" sz="2400" b="1" noProof="0" dirty="0"/>
                  <a:t>Effektiv skattesats er </a:t>
                </a:r>
                <a:r>
                  <a:rPr lang="nb-NO" sz="2400" b="1" dirty="0"/>
                  <a:t>24,8%</a:t>
                </a:r>
                <a:r>
                  <a:rPr lang="nb-NO" sz="2400" b="1" noProof="0" dirty="0"/>
                  <a:t> (=(149’)/600’)</a:t>
                </a:r>
              </a:p>
              <a:p>
                <a:endParaRPr lang="nb-NO" sz="2400" b="1" noProof="0" dirty="0"/>
              </a:p>
              <a:p>
                <a:pPr marL="0" indent="0">
                  <a:buNone/>
                </a:pPr>
                <a:r>
                  <a:rPr lang="nb-NO" sz="2400" noProof="0" dirty="0"/>
                  <a:t> </a:t>
                </a:r>
              </a:p>
              <a:p>
                <a:endParaRPr lang="nb-NO" sz="2400" noProof="0" dirty="0"/>
              </a:p>
              <a:p>
                <a:endParaRPr lang="nb-NO" sz="24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77431C-0140-FE48-A62C-753C5C8B4F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0823"/>
                <a:ext cx="11495314" cy="5036140"/>
              </a:xfrm>
              <a:blipFill>
                <a:blip r:embed="rId2"/>
                <a:stretch>
                  <a:fillRect l="-773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4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0D3F-CF3C-96C3-01B0-B9F9465E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284"/>
          </a:xfrm>
        </p:spPr>
        <p:txBody>
          <a:bodyPr>
            <a:normAutofit/>
          </a:bodyPr>
          <a:lstStyle/>
          <a:p>
            <a:r>
              <a:rPr lang="nb-NO" sz="3600" noProof="0" dirty="0"/>
              <a:t>Til sammenlikning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CC61F-20D6-9BAD-CE5D-DA1A8300A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443"/>
            <a:ext cx="10515600" cy="4997520"/>
          </a:xfrm>
        </p:spPr>
        <p:txBody>
          <a:bodyPr>
            <a:normAutofit/>
          </a:bodyPr>
          <a:lstStyle/>
          <a:p>
            <a:r>
              <a:rPr lang="nb-NO" noProof="0" dirty="0"/>
              <a:t>Personinntekt: Skattyter uten gjeld og noen fradrag har for ulike inntektsnivåer effektive skattesatser (betalt skatt/brutto inntekt) slik:</a:t>
            </a:r>
            <a:endParaRPr lang="nb-NO" sz="3200" noProof="0" dirty="0"/>
          </a:p>
          <a:p>
            <a:pPr lvl="1"/>
            <a:r>
              <a:rPr lang="nb-NO" sz="2800" noProof="0" dirty="0"/>
              <a:t>400 000 kr → ca. 19,3 %</a:t>
            </a:r>
          </a:p>
          <a:p>
            <a:pPr lvl="1"/>
            <a:r>
              <a:rPr lang="nb-NO" sz="2800" noProof="0" dirty="0"/>
              <a:t>500 000 kr → ca. 22,1 %</a:t>
            </a:r>
          </a:p>
          <a:p>
            <a:pPr lvl="1"/>
            <a:r>
              <a:rPr lang="nb-NO" sz="2800" noProof="0" dirty="0"/>
              <a:t>600 000 kr → ca. 24,0 %</a:t>
            </a:r>
          </a:p>
          <a:p>
            <a:pPr lvl="1"/>
            <a:r>
              <a:rPr lang="nb-NO" sz="2800" noProof="0" dirty="0"/>
              <a:t>700 000 kr → ca. 25,4 %</a:t>
            </a:r>
          </a:p>
          <a:p>
            <a:endParaRPr lang="nb-NO" noProof="0" dirty="0"/>
          </a:p>
          <a:p>
            <a:r>
              <a:rPr lang="nb-NO" noProof="0" dirty="0"/>
              <a:t>Er det urettferdig at en investor som har penger til å kjøpe aksjer for 10 mill. Betaler samme effektive skattesats som en person med lønn på 700.000? </a:t>
            </a:r>
          </a:p>
        </p:txBody>
      </p:sp>
    </p:spTree>
    <p:extLst>
      <p:ext uri="{BB962C8B-B14F-4D97-AF65-F5344CB8AC3E}">
        <p14:creationId xmlns:p14="http://schemas.microsoft.com/office/powerpoint/2010/main" val="168958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0C3D-D30F-BCD9-45E7-83F906AD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Skjermingsrenten/</a:t>
            </a:r>
            <a:r>
              <a:rPr lang="nb-NO" noProof="0" dirty="0" err="1"/>
              <a:t>skjerminsgrfradraget</a:t>
            </a:r>
            <a:r>
              <a:rPr lang="nb-NO" noProof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3BA3C-2207-58AD-CC7A-A0D4E3779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3757"/>
            <a:ext cx="10969487" cy="4929117"/>
          </a:xfrm>
        </p:spPr>
        <p:txBody>
          <a:bodyPr>
            <a:normAutofit/>
          </a:bodyPr>
          <a:lstStyle/>
          <a:p>
            <a:r>
              <a:rPr lang="nb-NO" noProof="0" dirty="0"/>
              <a:t>Poenget med skjermingsrenten og </a:t>
            </a:r>
            <a:r>
              <a:rPr lang="nb-NO" noProof="0" dirty="0" err="1"/>
              <a:t>skjerminsgfradraget</a:t>
            </a:r>
            <a:r>
              <a:rPr lang="nb-NO" noProof="0" dirty="0"/>
              <a:t> er at kun avkastning som er risikable skal skattlegges med eierskatten. Risikofri avkastning juster for satsen 22% skal ikke inngå som skattbart utbytte</a:t>
            </a:r>
          </a:p>
          <a:p>
            <a:endParaRPr lang="nb-NO" noProof="0" dirty="0"/>
          </a:p>
          <a:p>
            <a:r>
              <a:rPr lang="nb-NO" noProof="0" dirty="0"/>
              <a:t>Eierskatten faller altså på den risikable delen av avkastningen til en investering. </a:t>
            </a:r>
            <a:endParaRPr lang="nb-NO" dirty="0"/>
          </a:p>
          <a:p>
            <a:pPr marL="0" indent="0">
              <a:buNone/>
            </a:pPr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820577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9161-CACE-9190-A429-1138B841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489"/>
            <a:ext cx="10515600" cy="875096"/>
          </a:xfrm>
        </p:spPr>
        <p:txBody>
          <a:bodyPr>
            <a:normAutofit/>
          </a:bodyPr>
          <a:lstStyle/>
          <a:p>
            <a:r>
              <a:rPr lang="nb-NO" sz="3600" noProof="0" dirty="0"/>
              <a:t>Aksjonærmodellen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A34CE-87CD-897C-245A-42D77408E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21" y="1198179"/>
            <a:ext cx="11582400" cy="5416332"/>
          </a:xfrm>
        </p:spPr>
        <p:txBody>
          <a:bodyPr>
            <a:noAutofit/>
          </a:bodyPr>
          <a:lstStyle/>
          <a:p>
            <a:r>
              <a:rPr lang="nb-NO" sz="2400" noProof="0" dirty="0"/>
              <a:t>Aksjonærmodellen skal i teorien innebære likebehandling av tap og gevinst slik at staten reelt sett opptrer som en passiv medinvestor som bærer sin andel av risikoen gjennom skattesystemet selv. Men i praksis er det ikke slik: </a:t>
            </a:r>
          </a:p>
          <a:p>
            <a:pPr lvl="1"/>
            <a:r>
              <a:rPr lang="nb-NO" noProof="0" dirty="0"/>
              <a:t>Tapsfradrag framføres i stedet for å refunderes umiddelbart, </a:t>
            </a:r>
          </a:p>
          <a:p>
            <a:pPr lvl="1"/>
            <a:r>
              <a:rPr lang="nb-NO" noProof="0" dirty="0"/>
              <a:t>En investor kan gå konkurs før skjermingsfradraget er utnyttet</a:t>
            </a:r>
          </a:p>
          <a:p>
            <a:pPr lvl="1"/>
            <a:r>
              <a:rPr lang="nb-NO" noProof="0" dirty="0"/>
              <a:t>En investor som har et ubenyttet skjermingsfradrag på 50 kroner og en salgsgevinst på aksjen på 20 kroner slipper gevinstbeskatning, men den ubenyttete delen av skjermingsfradraget på kr 30 går tapt</a:t>
            </a:r>
          </a:p>
          <a:p>
            <a:endParaRPr lang="nb-NO" sz="2400" noProof="0" dirty="0"/>
          </a:p>
          <a:p>
            <a:r>
              <a:rPr lang="nb-NO" sz="2400" noProof="0" dirty="0"/>
              <a:t>Og skjermingsrenten skal representere en sikker rente for personlig aksjonær, men statskassevekselrenten er svært lav derfor risikojusteringen. Er justeringen god nok? </a:t>
            </a:r>
          </a:p>
          <a:p>
            <a:endParaRPr lang="nb-NO" sz="2400" noProof="0" dirty="0"/>
          </a:p>
          <a:p>
            <a:r>
              <a:rPr lang="nb-NO" sz="2400" noProof="0" dirty="0"/>
              <a:t>Finansdepartementet mener aksjonærmodellen og fritaksmetoden sikrer at aksjonær er indifferent </a:t>
            </a:r>
            <a:r>
              <a:rPr lang="nb-NO" sz="2400" noProof="0" dirty="0" err="1"/>
              <a:t>mht</a:t>
            </a:r>
            <a:r>
              <a:rPr lang="nb-NO" sz="2400" noProof="0" dirty="0"/>
              <a:t> til når utbytte tas (såkalt periodiseringsnøytralitet)</a:t>
            </a:r>
          </a:p>
        </p:txBody>
      </p:sp>
    </p:spTree>
    <p:extLst>
      <p:ext uri="{BB962C8B-B14F-4D97-AF65-F5344CB8AC3E}">
        <p14:creationId xmlns:p14="http://schemas.microsoft.com/office/powerpoint/2010/main" val="119267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37E2-40A6-637F-D6EC-FE78B410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73" y="365126"/>
            <a:ext cx="11316929" cy="750912"/>
          </a:xfrm>
        </p:spPr>
        <p:txBody>
          <a:bodyPr>
            <a:normAutofit fontScale="90000"/>
          </a:bodyPr>
          <a:lstStyle/>
          <a:p>
            <a:r>
              <a:rPr lang="nb-NO" sz="2800" noProof="0" dirty="0">
                <a:latin typeface="Amasis MT Pro Black" panose="02040A04050005020304" pitchFamily="18" charset="0"/>
              </a:rPr>
              <a:t>Pengene hoper seg opp i selskapene. Aksjonærene tar ikke utbytte.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91D20-FB34-22F0-C437-FE6B9DCAD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6537"/>
            <a:ext cx="5410200" cy="4760426"/>
          </a:xfrm>
        </p:spPr>
        <p:txBody>
          <a:bodyPr>
            <a:normAutofit/>
          </a:bodyPr>
          <a:lstStyle/>
          <a:p>
            <a:r>
              <a:rPr lang="nb-NO" sz="3200" noProof="0" dirty="0"/>
              <a:t>Overskudd i selskapene som ikke utbetales </a:t>
            </a:r>
            <a:r>
              <a:rPr lang="nb-NO" sz="3200" dirty="0"/>
              <a:t>som utbytte, kalles </a:t>
            </a:r>
            <a:r>
              <a:rPr lang="nb-NO" sz="3200" noProof="0" dirty="0"/>
              <a:t>latent eierinntekt.</a:t>
            </a:r>
          </a:p>
          <a:p>
            <a:endParaRPr lang="nb-NO" sz="3200" noProof="0" dirty="0"/>
          </a:p>
          <a:p>
            <a:r>
              <a:rPr lang="nb-NO" sz="3200" noProof="0" dirty="0"/>
              <a:t>Latent eierinntekt utgjorde 40 prosent av verdien til Oljefondet i 2016.</a:t>
            </a:r>
          </a:p>
          <a:p>
            <a:pPr marL="0" indent="0">
              <a:buNone/>
            </a:pPr>
            <a:endParaRPr lang="nb-NO" sz="3200" noProof="0" dirty="0"/>
          </a:p>
          <a:p>
            <a:endParaRPr lang="nb-NO" sz="2400" noProof="0" dirty="0"/>
          </a:p>
          <a:p>
            <a:endParaRPr lang="nb-NO" sz="24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DA302-5D8D-36B1-FB9A-56300287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42</a:t>
            </a:fld>
            <a:endParaRPr lang="nb-NO" noProof="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247098-B374-6BBB-A74E-BE210384DE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8531" y="1237150"/>
            <a:ext cx="6164287" cy="437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2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C61FE-9C95-E649-B04F-7C7D9465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DED31-2CD0-E82F-7BD8-C78C81B05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53" y="179294"/>
            <a:ext cx="10921181" cy="831663"/>
          </a:xfrm>
        </p:spPr>
        <p:txBody>
          <a:bodyPr>
            <a:normAutofit fontScale="90000"/>
          </a:bodyPr>
          <a:lstStyle/>
          <a:p>
            <a:r>
              <a:rPr lang="nb-NO" sz="3600" b="1" noProof="0" dirty="0">
                <a:latin typeface="+mn-lt"/>
              </a:rPr>
              <a:t>Hvorfor hoper kapitalen seg opp i selskapene</a:t>
            </a:r>
            <a:r>
              <a:rPr lang="nb-NO" sz="3600" b="1" dirty="0">
                <a:latin typeface="+mn-lt"/>
              </a:rPr>
              <a:t>: Det tas mindre utbytte etter skattereformen i 2006</a:t>
            </a:r>
            <a:endParaRPr lang="nb-NO" sz="3600" b="1" noProof="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5D64-4998-DD90-56E9-EF9009E11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553" y="1210236"/>
            <a:ext cx="11434481" cy="5468470"/>
          </a:xfrm>
        </p:spPr>
        <p:txBody>
          <a:bodyPr>
            <a:normAutofit/>
          </a:bodyPr>
          <a:lstStyle/>
          <a:p>
            <a:r>
              <a:rPr lang="nb-NO" sz="3200" noProof="0" dirty="0"/>
              <a:t>Finansdepartementet: </a:t>
            </a:r>
            <a:r>
              <a:rPr lang="nb-NO" sz="3200" dirty="0"/>
              <a:t>S</a:t>
            </a:r>
            <a:r>
              <a:rPr lang="nb-NO" sz="3200" noProof="0" dirty="0" err="1"/>
              <a:t>kattesystemet</a:t>
            </a:r>
            <a:r>
              <a:rPr lang="nb-NO" sz="3200" noProof="0" dirty="0"/>
              <a:t> påvirker ikke når det er lønnsomt å ta utbytte</a:t>
            </a:r>
          </a:p>
          <a:p>
            <a:pPr marL="0" indent="0">
              <a:buNone/>
            </a:pPr>
            <a:endParaRPr lang="nb-NO" sz="3200" noProof="0" dirty="0"/>
          </a:p>
          <a:p>
            <a:r>
              <a:rPr lang="nb-NO" sz="3200" noProof="0" dirty="0"/>
              <a:t>Altså: Det er tilfeldig at selskapene holder tilbake overskudd i holdingselskaper i stedet for å betale utbytte</a:t>
            </a:r>
          </a:p>
          <a:p>
            <a:endParaRPr lang="nb-NO" sz="3200" noProof="0" dirty="0"/>
          </a:p>
          <a:p>
            <a:r>
              <a:rPr lang="nb-NO" sz="3200" dirty="0"/>
              <a:t>Opphopingen av inntekt i selskapene er så stor at SSB kaller det latente eierinntekter. </a:t>
            </a:r>
          </a:p>
          <a:p>
            <a:endParaRPr lang="nb-NO" sz="3200" noProof="0" dirty="0"/>
          </a:p>
          <a:p>
            <a:r>
              <a:rPr lang="nb-NO" sz="3200" dirty="0"/>
              <a:t>Opphopingen av kapital er relatert til skattemessig utflytting</a:t>
            </a:r>
            <a:endParaRPr lang="nb-NO" sz="3600" noProof="0" dirty="0"/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20FCA-0973-204E-9FF7-41C4D30A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43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51585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A25E-5E8B-0DCE-4E55-16A0CDB8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50217" cy="1325563"/>
          </a:xfrm>
        </p:spPr>
        <p:txBody>
          <a:bodyPr>
            <a:normAutofit/>
          </a:bodyPr>
          <a:lstStyle/>
          <a:p>
            <a:r>
              <a:rPr lang="nb-NO" sz="3600" b="1" dirty="0"/>
              <a:t>5 års regelen (opphørt fra og med 29. november 2022).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E3B17-5DC5-3692-DCB1-72776C24C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3200" dirty="0"/>
              <a:t>Nordmenn, som bosatte seg ute i mer enn 5 år, kunne selge latente eierskattegevinster uten å betale norsk skatt</a:t>
            </a:r>
          </a:p>
          <a:p>
            <a:endParaRPr lang="nb-NO" sz="3200" dirty="0"/>
          </a:p>
          <a:p>
            <a:r>
              <a:rPr lang="nb-NO" sz="3200" dirty="0"/>
              <a:t>Gav sterke insitamenter til å flytte ut hvis du var veldig rik</a:t>
            </a:r>
          </a:p>
          <a:p>
            <a:endParaRPr lang="nb-NO" sz="3200" dirty="0"/>
          </a:p>
          <a:p>
            <a:r>
              <a:rPr lang="nb-NO" sz="3200" dirty="0"/>
              <a:t>Verdien av å kunne selge aksjer og ta ut utbytte tilnærmet skattefritt i lavskatteland mer verdifull enn å spare formuesskatt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7B734-EBC0-65B9-140C-55B99B66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44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66130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FB173-6FF5-1CD1-4D75-71E39B7B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70385"/>
          </a:xfrm>
        </p:spPr>
        <p:txBody>
          <a:bodyPr>
            <a:normAutofit/>
          </a:bodyPr>
          <a:lstStyle/>
          <a:p>
            <a:r>
              <a:rPr lang="nb-NO" sz="3200" b="1" noProof="0" dirty="0"/>
              <a:t>EXIT skatten – skattlegging av aksjegevinster ved utflytting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DEB48-04D6-B533-5CB9-69828D333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06910"/>
            <a:ext cx="10860741" cy="5651091"/>
          </a:xfrm>
        </p:spPr>
        <p:txBody>
          <a:bodyPr>
            <a:normAutofit/>
          </a:bodyPr>
          <a:lstStyle/>
          <a:p>
            <a:r>
              <a:rPr lang="nb-NO" sz="3200" dirty="0"/>
              <a:t>Exit-skatten må sees i sammenhengen med oppbyggingen av latente eierinntekter (tilbakeholdt overskudd).</a:t>
            </a:r>
          </a:p>
          <a:p>
            <a:endParaRPr lang="nb-NO" dirty="0"/>
          </a:p>
          <a:p>
            <a:r>
              <a:rPr lang="nb-NO" sz="3200" noProof="0" dirty="0"/>
              <a:t>Personer som flytter fra Norge får fastsatt en exit-skatt på latent skattegjeld (overskuddene i selskapene/aksjene) som skal betales i sin helhet ved utflytting, i avdrag over 12 år rentefritt eller i sin helhet etter 12 år. </a:t>
            </a:r>
          </a:p>
          <a:p>
            <a:endParaRPr lang="nb-NO" sz="3200" noProof="0" dirty="0"/>
          </a:p>
          <a:p>
            <a:r>
              <a:rPr lang="nb-NO" sz="3200" noProof="0" dirty="0"/>
              <a:t>Skattesatsen er satt lik den effektive skattesatsen på utbytter som i dag er på 37,84 prosent.</a:t>
            </a:r>
          </a:p>
          <a:p>
            <a:pPr marL="0" indent="0">
              <a:buNone/>
            </a:pPr>
            <a:endParaRPr lang="nb-NO" sz="32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487B9-357C-1ACA-021F-0FE54ABC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45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6390269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78CDA-7487-B9DA-E2F9-05F7DC901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53" y="179294"/>
            <a:ext cx="10921181" cy="831663"/>
          </a:xfrm>
        </p:spPr>
        <p:txBody>
          <a:bodyPr>
            <a:normAutofit/>
          </a:bodyPr>
          <a:lstStyle/>
          <a:p>
            <a:r>
              <a:rPr lang="nb-NO" sz="3600" b="1" noProof="0" dirty="0" err="1">
                <a:latin typeface="+mn-lt"/>
              </a:rPr>
              <a:t>Bjerksund</a:t>
            </a:r>
            <a:r>
              <a:rPr lang="nb-NO" sz="3600" b="1" noProof="0" dirty="0">
                <a:latin typeface="+mn-lt"/>
              </a:rPr>
              <a:t> og Schjelderup (2021, 2022)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C8F6C-4EC7-B71D-215E-B1FF1D83B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553" y="1210236"/>
            <a:ext cx="11434481" cy="5468470"/>
          </a:xfrm>
        </p:spPr>
        <p:txBody>
          <a:bodyPr>
            <a:normAutofit/>
          </a:bodyPr>
          <a:lstStyle/>
          <a:p>
            <a:r>
              <a:rPr lang="nb-NO" sz="2600" dirty="0"/>
              <a:t>Den norske aksjonærbeskatningen er ikke nøytral. Finansdepartementet tar feil. </a:t>
            </a:r>
            <a:r>
              <a:rPr lang="nb-NO" sz="2600" noProof="0" dirty="0"/>
              <a:t>Det er 4 grunner til det.</a:t>
            </a:r>
          </a:p>
          <a:p>
            <a:endParaRPr lang="nb-NO" sz="2600" noProof="0" dirty="0"/>
          </a:p>
          <a:p>
            <a:pPr marL="514350" indent="-514350">
              <a:buAutoNum type="arabicPeriod"/>
            </a:pPr>
            <a:r>
              <a:rPr lang="nb-NO" sz="2600" noProof="0" dirty="0"/>
              <a:t>Aksjonærmodellen behandler ikke tap og gevinst likt:</a:t>
            </a:r>
          </a:p>
          <a:p>
            <a:pPr lvl="1"/>
            <a:r>
              <a:rPr lang="nb-NO" sz="2600" noProof="0" dirty="0"/>
              <a:t> tapsfradrag framføres i stedet for å refunderes umiddelbart,</a:t>
            </a:r>
          </a:p>
          <a:p>
            <a:pPr lvl="1"/>
            <a:r>
              <a:rPr lang="nb-NO" sz="2600" noProof="0" dirty="0"/>
              <a:t> en investor kan gå konkurs før fradraget er utnyttet, eller miste deler av det ved salg av aksje hvor ubenyttet skjermingsfradrag er større enn aksjegevinsten</a:t>
            </a:r>
          </a:p>
          <a:p>
            <a:pPr marL="0" indent="0">
              <a:buNone/>
            </a:pPr>
            <a:endParaRPr lang="nb-NO" sz="2600" noProof="0" dirty="0"/>
          </a:p>
          <a:p>
            <a:pPr marL="0" indent="0">
              <a:buNone/>
            </a:pPr>
            <a:r>
              <a:rPr lang="nb-NO" sz="2600" noProof="0" dirty="0"/>
              <a:t>2. I</a:t>
            </a:r>
            <a:r>
              <a:rPr lang="nb-NO" sz="2600" dirty="0" err="1"/>
              <a:t>ngen</a:t>
            </a:r>
            <a:r>
              <a:rPr lang="nb-NO" sz="2600" dirty="0"/>
              <a:t> privat aktør kan plassere eller låne penger til den rene statskassevekselrenten  og risikotillegget utligner ikke den renten investor kan låne til. </a:t>
            </a:r>
            <a:r>
              <a:rPr lang="nb-NO" sz="2600" noProof="0" dirty="0"/>
              <a:t>I realiteten er riktig </a:t>
            </a:r>
            <a:r>
              <a:rPr lang="nb-NO" sz="2600" noProof="0" dirty="0" err="1"/>
              <a:t>skjermingsrente</a:t>
            </a:r>
            <a:r>
              <a:rPr lang="nb-NO" sz="2600" noProof="0" dirty="0"/>
              <a:t> </a:t>
            </a:r>
            <a:r>
              <a:rPr lang="nb-NO" sz="2600" i="1" noProof="0" dirty="0"/>
              <a:t>aksjonærs lånerente (som varierer mellom investorer)</a:t>
            </a:r>
            <a:endParaRPr lang="nb-NO" sz="2600" noProof="0" dirty="0"/>
          </a:p>
          <a:p>
            <a:pPr marL="514350" indent="-514350">
              <a:buFont typeface="+mj-lt"/>
              <a:buAutoNum type="arabicPeriod"/>
            </a:pPr>
            <a:endParaRPr lang="nb-NO" sz="3600" noProof="0" dirty="0"/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23A79-70FF-9CA4-2E84-91A524DF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46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08447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8CBA-8787-DBC5-F779-38730FD5A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563" y="125727"/>
            <a:ext cx="9895951" cy="1033669"/>
          </a:xfrm>
        </p:spPr>
        <p:txBody>
          <a:bodyPr>
            <a:normAutofit/>
          </a:bodyPr>
          <a:lstStyle/>
          <a:p>
            <a:r>
              <a:rPr lang="nb-NO" sz="4000" b="1" dirty="0" err="1"/>
              <a:t>Bjerksund</a:t>
            </a:r>
            <a:r>
              <a:rPr lang="nb-NO" sz="4000" b="1" dirty="0"/>
              <a:t> og Schjelderup (2021, 2022) (ii)</a:t>
            </a:r>
            <a:endParaRPr lang="nb-NO" sz="4000" b="1" noProof="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957DB-7E56-E26C-589F-1E0CF0659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77" y="784412"/>
            <a:ext cx="11249245" cy="589429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nb-NO" sz="3200" dirty="0"/>
              <a:t>3. </a:t>
            </a:r>
            <a:r>
              <a:rPr lang="nb-NO" sz="3200" noProof="0" dirty="0"/>
              <a:t>Investor har tapsaversjon (kjent fra atferdsforskning). Ønsker ikke ta «tapet» ved å betale eierskatt</a:t>
            </a:r>
          </a:p>
          <a:p>
            <a:pPr marL="0" indent="0">
              <a:buNone/>
            </a:pPr>
            <a:endParaRPr lang="nb-NO" sz="3200" noProof="0" dirty="0"/>
          </a:p>
          <a:p>
            <a:pPr marL="0" indent="0">
              <a:buNone/>
            </a:pPr>
            <a:r>
              <a:rPr lang="nb-NO" sz="3200" noProof="0" dirty="0"/>
              <a:t>4. Å ta utbytte betyr at man gir slipp på en gratis opsjon. Det er derfor bedre å reinvestere midler gjennom selskapet i stedet for å utøve en gratis opsjon (</a:t>
            </a:r>
            <a:r>
              <a:rPr lang="nb-NO" sz="3200" dirty="0"/>
              <a:t>eierskatten kan gå opp eller ned i fremtiden: kan være verdt å vente)</a:t>
            </a:r>
            <a:r>
              <a:rPr lang="nb-NO" sz="3200" noProof="0" dirty="0"/>
              <a:t>.</a:t>
            </a:r>
          </a:p>
          <a:p>
            <a:pPr lvl="1"/>
            <a:r>
              <a:rPr lang="nb-NO" sz="2800" noProof="0" dirty="0"/>
              <a:t>Enhver opsjon som er gratis, har verdi og gjør det mindre lønnsomt å ikke bruke opsjonen ved å ta utbytte og betale eierskatt.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6EEF-B67A-A9A8-9C0D-792D0614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92CA8B5-DBB4-47BA-9127-F945AE107A35}" type="slidenum">
              <a:rPr lang="nb-NO" sz="1100" noProof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47</a:t>
            </a:fld>
            <a:endParaRPr lang="nb-NO" sz="11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3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FA7D-6F18-F72B-6E41-5F9991C0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Referanser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8B8C6-EC28-B989-EAE0-3E6A4E17A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dirty="0"/>
              <a:t>Petter </a:t>
            </a:r>
            <a:r>
              <a:rPr lang="nb-NO" dirty="0" err="1"/>
              <a:t>Bjerksund</a:t>
            </a:r>
            <a:r>
              <a:rPr lang="nb-NO" dirty="0"/>
              <a:t> og Guttorm Schjelderup , 2021. Aksjonærmodellen og fritaksmetoden: Et to-hodet troll. </a:t>
            </a:r>
            <a:r>
              <a:rPr lang="nb-NO" b="1" dirty="0"/>
              <a:t>Samfunnsøkonomen</a:t>
            </a:r>
            <a:r>
              <a:rPr lang="nb-NO" dirty="0"/>
              <a:t> nr. 4, s 43-52, 2021 </a:t>
            </a:r>
          </a:p>
          <a:p>
            <a:pPr lvl="0"/>
            <a:endParaRPr lang="en-US" dirty="0"/>
          </a:p>
          <a:p>
            <a:pPr lvl="0"/>
            <a:r>
              <a:rPr lang="nb-NO" dirty="0"/>
              <a:t>Petter </a:t>
            </a:r>
            <a:r>
              <a:rPr lang="nb-NO" dirty="0" err="1"/>
              <a:t>Bjerksund</a:t>
            </a:r>
            <a:r>
              <a:rPr lang="nb-NO" dirty="0"/>
              <a:t> og Guttorm Schjelderup, 2021. Er den norske aksjonærbeskatningen nøytral? </a:t>
            </a:r>
            <a:r>
              <a:rPr lang="nb-NO" b="1" dirty="0"/>
              <a:t>Samfunnsøkonomen </a:t>
            </a:r>
            <a:r>
              <a:rPr lang="nb-NO" dirty="0"/>
              <a:t>nr. 4, s 53-63.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15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04E5EF-F05F-582E-FC98-25EA2BB40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49</a:t>
            </a:fld>
            <a:endParaRPr lang="nb-NO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7B354-41F7-853B-82AF-8E1CFD05D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1" y="501805"/>
            <a:ext cx="12418787" cy="592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76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4104D0-B188-6C33-15CD-3C4B21945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50</a:t>
            </a:fld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E6D8B-4D2A-FA73-4CD2-A19267C320AB}"/>
              </a:ext>
            </a:extLst>
          </p:cNvPr>
          <p:cNvSpPr txBox="1"/>
          <p:nvPr/>
        </p:nvSpPr>
        <p:spPr>
          <a:xfrm>
            <a:off x="484093" y="470647"/>
            <a:ext cx="111924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 sz="3000" dirty="0">
                <a:solidFill>
                  <a:srgbClr val="FF0000"/>
                </a:solidFill>
              </a:rPr>
              <a:t>First Securities </a:t>
            </a:r>
            <a:r>
              <a:rPr lang="nb-NO" sz="3000" dirty="0"/>
              <a:t>ble bedt av finansdepartement om å vurdere den norske aksjonærbeskatningen (fritaksmetoden og aksjonærmodellen) i forkant av innføringen i 2006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b-NO" sz="3000" dirty="0"/>
              <a:t>De advarte mot innføring.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b-NO" sz="3000" dirty="0"/>
              <a:t>De mente at svakheten var at skattyter selv kunne bestemme når beskatning ble utløst noe som gav opphav til en skattekreditt.</a:t>
            </a:r>
          </a:p>
          <a:p>
            <a:endParaRPr lang="nb-NO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 sz="3000" dirty="0"/>
              <a:t>I det gamle systemet ble utbytte mellom selskaper skattlagt og personlig aksjonær fikk fratrekk for utbytteskatt betalt av selskapet når utbytte ble mottatt på personlig hånd.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b-NO" sz="3000" dirty="0"/>
              <a:t>Dette medførte i større grad skattlegging av utbytte når det var opptjent.</a:t>
            </a:r>
          </a:p>
        </p:txBody>
      </p:sp>
    </p:spTree>
    <p:extLst>
      <p:ext uri="{BB962C8B-B14F-4D97-AF65-F5344CB8AC3E}">
        <p14:creationId xmlns:p14="http://schemas.microsoft.com/office/powerpoint/2010/main" val="144112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ACF8A-7442-548D-A1F3-C270DA980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nb-NO" dirty="0"/>
              <a:t>5. Inntektsskiftningsligningen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FA38D-01BC-F629-C845-CE988AEC4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nb-NO" sz="3600" dirty="0"/>
              <a:t>Alle skattene forholder seg til hverandre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86804-632D-8638-E5FD-1DA7FB72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92CA8B5-DBB4-47BA-9127-F945AE107A35}" type="slidenum">
              <a:rPr lang="nb-NO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51</a:t>
            </a:fld>
            <a:endParaRPr lang="nb-NO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53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6CE89-4144-AB5B-9B2E-E53CE476E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093" y="136526"/>
            <a:ext cx="11764851" cy="60404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b-NO" sz="3200" b="1" noProof="0" dirty="0"/>
              <a:t>Inntektsskiftningsligningen</a:t>
            </a:r>
            <a:r>
              <a:rPr lang="nb-NO" sz="3200" noProof="0" dirty="0"/>
              <a:t> setter nominelle skattesatser på lønn og kapital likt slik at man er indifferent mellom lønn og kapitalinntekt. </a:t>
            </a:r>
          </a:p>
          <a:p>
            <a:endParaRPr lang="nb-NO" sz="3200" noProof="0" dirty="0"/>
          </a:p>
          <a:p>
            <a:pPr marL="0" indent="0" algn="ctr">
              <a:buNone/>
            </a:pPr>
            <a:r>
              <a:rPr lang="nb-NO" sz="3200" b="1" noProof="0" dirty="0">
                <a:solidFill>
                  <a:srgbClr val="FF0000"/>
                </a:solidFill>
              </a:rPr>
              <a:t>Høyeste marginalskatt på lønn + arbeidsgiveravgiften</a:t>
            </a:r>
          </a:p>
          <a:p>
            <a:pPr marL="0" indent="0" algn="ctr">
              <a:buNone/>
            </a:pPr>
            <a:r>
              <a:rPr lang="nb-NO" sz="3200" b="1" noProof="0" dirty="0">
                <a:solidFill>
                  <a:srgbClr val="FF0000"/>
                </a:solidFill>
              </a:rPr>
              <a:t> = </a:t>
            </a:r>
          </a:p>
          <a:p>
            <a:pPr marL="0" indent="0" algn="ctr">
              <a:buNone/>
            </a:pPr>
            <a:r>
              <a:rPr lang="nb-NO" sz="3200" b="1" noProof="0" dirty="0">
                <a:solidFill>
                  <a:srgbClr val="FF0000"/>
                </a:solidFill>
              </a:rPr>
              <a:t>Nominell selskapsskatt + pluss nominell eierskatt*oppjusteringsfaktor</a:t>
            </a:r>
          </a:p>
          <a:p>
            <a:endParaRPr lang="nb-NO" sz="3200" noProof="0" dirty="0"/>
          </a:p>
          <a:p>
            <a:r>
              <a:rPr lang="nb-NO" sz="3200" noProof="0" dirty="0"/>
              <a:t> </a:t>
            </a:r>
            <a:r>
              <a:rPr lang="nb-NO" sz="3200" dirty="0"/>
              <a:t>H</a:t>
            </a:r>
            <a:r>
              <a:rPr lang="nb-NO" sz="3200" noProof="0" dirty="0" err="1"/>
              <a:t>øyeste</a:t>
            </a:r>
            <a:r>
              <a:rPr lang="nb-NO" sz="3200" noProof="0" dirty="0"/>
              <a:t> marginalskattesats på lønnsinntekt i Norge er 47,4 % for 2026 (trinnskatt trinn 5 på 17,8 % + trygdeavgift 7,6 % + alminnelig inntektsskatt 22 %, ekskl. arbeidsgiveravgift). </a:t>
            </a:r>
          </a:p>
          <a:p>
            <a:endParaRPr lang="nb-NO" sz="3200" noProof="0" dirty="0"/>
          </a:p>
          <a:p>
            <a:r>
              <a:rPr lang="nb-NO" sz="3200" noProof="0" dirty="0"/>
              <a:t>Inntektsskiftningsligningen har fått navnet sitt fordi man ønsker et skattesystem hvor det ikke er lønnsomt å omdanne en type inntekt (</a:t>
            </a:r>
            <a:r>
              <a:rPr lang="nb-NO" sz="3200" noProof="0" dirty="0" err="1"/>
              <a:t>feks</a:t>
            </a:r>
            <a:r>
              <a:rPr lang="nb-NO" sz="3200" noProof="0" dirty="0"/>
              <a:t> lønnsinntekt) til en annen type inntekt (kapitalinntekt) </a:t>
            </a:r>
            <a:r>
              <a:rPr lang="nb-NO" sz="3200" noProof="0" dirty="0" err="1"/>
              <a:t>feks</a:t>
            </a:r>
            <a:r>
              <a:rPr lang="nb-NO" sz="3200" noProof="0" dirty="0"/>
              <a:t> ved ikke å ta ut lønn men kun utbytte som eier av bedrift. </a:t>
            </a:r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11D31-F84E-EB59-D4F8-EDE15ADE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52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23570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DDAFA-7605-FA6D-8B43-7C5AE2A1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B13B-FFBD-CCB3-20E9-51CC519F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9330"/>
          </a:xfrm>
        </p:spPr>
        <p:txBody>
          <a:bodyPr>
            <a:normAutofit/>
          </a:bodyPr>
          <a:lstStyle/>
          <a:p>
            <a:r>
              <a:rPr lang="nb-NO" sz="3600" b="1" noProof="0" dirty="0"/>
              <a:t>INNTEKTS-SKIFTNIGSLIGNINGEN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D84895-48DF-6CE4-39D6-F8429EEBD0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4310" y="1064456"/>
                <a:ext cx="11288697" cy="5505019"/>
              </a:xfrm>
            </p:spPr>
            <p:txBody>
              <a:bodyPr>
                <a:normAutofit/>
              </a:bodyPr>
              <a:lstStyle/>
              <a:p>
                <a:r>
                  <a:rPr lang="nb-NO" noProof="0" dirty="0"/>
                  <a:t>Skattesystemet er utformet slik at det på marginen skal være like lønnsomt med 1 kr i lønn som 1 kr i kapitalinntekt </a:t>
                </a:r>
                <a:r>
                  <a:rPr lang="nb-NO" noProof="0" dirty="0" err="1"/>
                  <a:t>dvs</a:t>
                </a:r>
                <a:r>
                  <a:rPr lang="nb-NO" noProof="0" dirty="0"/>
                  <a:t>:</a:t>
                </a:r>
              </a:p>
              <a:p>
                <a:pPr marL="0" indent="0">
                  <a:buNone/>
                </a:pPr>
                <a:endParaRPr lang="nb-NO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b="0" i="1" noProof="0" smtClean="0">
                          <a:latin typeface="Cambria Math" panose="02040503050406030204" pitchFamily="18" charset="0"/>
                        </a:rPr>
                        <m:t>47,4%+12,4%=</m:t>
                      </m:r>
                      <m:r>
                        <a:rPr lang="nb-NO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22%+</m:t>
                      </m:r>
                      <m:r>
                        <a:rPr lang="nb-NO" b="0" i="1" noProof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22%∗</m:t>
                      </m:r>
                      <m:r>
                        <a:rPr lang="nb-NO" b="0" i="1" noProof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nb-NO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nb-NO" noProof="0" dirty="0"/>
              </a:p>
              <a:p>
                <a:pPr marL="0" indent="0">
                  <a:buNone/>
                </a:pPr>
                <a:endParaRPr lang="nb-NO" noProof="0" dirty="0"/>
              </a:p>
              <a:p>
                <a:pPr marL="0" indent="0">
                  <a:buNone/>
                </a:pPr>
                <a:endParaRPr lang="nb-NO" noProof="0" dirty="0"/>
              </a:p>
              <a:p>
                <a:pPr marL="0" indent="0">
                  <a:buNone/>
                </a:pPr>
                <a:endParaRPr lang="nb-NO" noProof="0" dirty="0"/>
              </a:p>
              <a:p>
                <a:pPr marL="0" indent="0">
                  <a:buNone/>
                </a:pPr>
                <a:r>
                  <a:rPr lang="nb-NO" noProof="0" dirty="0"/>
                  <a:t>hvor </a:t>
                </a:r>
                <a14:m>
                  <m:oMath xmlns:m="http://schemas.openxmlformats.org/officeDocument/2006/math">
                    <m:r>
                      <a:rPr lang="nb-NO" b="0" i="1" noProof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b-NO" noProof="0" dirty="0"/>
                  <a:t> er oppjusteringsfaktoren. Løser vi ligningen får vi: </a:t>
                </a:r>
              </a:p>
              <a:p>
                <a:pPr marL="0" indent="0" algn="ctr">
                  <a:buNone/>
                </a:pPr>
                <a:endParaRPr lang="nb-NO" noProof="0" dirty="0"/>
              </a:p>
              <a:p>
                <a:pPr marL="0" indent="0" algn="ctr">
                  <a:buNone/>
                </a:pPr>
                <a:r>
                  <a:rPr lang="nb-NO" noProof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b-NO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nb-NO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nb-NO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1,72 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𝑠𝑙𝑖𝑘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22%∙1,72=37,84%</m:t>
                    </m:r>
                  </m:oMath>
                </a14:m>
                <a:r>
                  <a:rPr lang="nb-NO" noProof="0" dirty="0">
                    <a:solidFill>
                      <a:schemeClr val="tx1"/>
                    </a:solidFill>
                  </a:rPr>
                  <a:t> effektiv eierskatt </a:t>
                </a:r>
              </a:p>
              <a:p>
                <a:pPr marL="0" indent="0">
                  <a:buNone/>
                </a:pPr>
                <a:endParaRPr lang="nb-NO" noProof="0" dirty="0"/>
              </a:p>
              <a:p>
                <a:pPr marL="0" indent="0">
                  <a:buNone/>
                </a:pPr>
                <a:endParaRPr lang="nb-NO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D84895-48DF-6CE4-39D6-F8429EEBD0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4310" y="1064456"/>
                <a:ext cx="11288697" cy="5505019"/>
              </a:xfrm>
              <a:blipFill>
                <a:blip r:embed="rId2"/>
                <a:stretch>
                  <a:fillRect l="-1124" t="-2074" r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0CF317C5-6264-A60A-25B8-936943AD6ADD}"/>
              </a:ext>
            </a:extLst>
          </p:cNvPr>
          <p:cNvSpPr/>
          <p:nvPr/>
        </p:nvSpPr>
        <p:spPr>
          <a:xfrm rot="5400000">
            <a:off x="4504763" y="1156448"/>
            <a:ext cx="242047" cy="376517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8283D76A-AC5C-19F3-1655-A8C83E0FD6C9}"/>
              </a:ext>
            </a:extLst>
          </p:cNvPr>
          <p:cNvSpPr/>
          <p:nvPr/>
        </p:nvSpPr>
        <p:spPr>
          <a:xfrm rot="5400000">
            <a:off x="7016875" y="2668506"/>
            <a:ext cx="280557" cy="692361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B7E7EC-B343-ED22-54FC-C759509B9ECD}"/>
              </a:ext>
            </a:extLst>
          </p:cNvPr>
          <p:cNvSpPr txBox="1"/>
          <p:nvPr/>
        </p:nvSpPr>
        <p:spPr>
          <a:xfrm>
            <a:off x="2600312" y="3260190"/>
            <a:ext cx="40193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Høyeste marginalskatt på lønn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arbeidsgiveravgift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000" dirty="0">
                <a:solidFill>
                  <a:prstClr val="black"/>
                </a:solidFill>
                <a:latin typeface="Calibri" panose="020F0502020204030204"/>
              </a:rPr>
              <a:t>o</a:t>
            </a:r>
            <a:r>
              <a:rPr kumimoji="0" lang="nb-NO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verveltet</a:t>
            </a: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på arbeidstaker blir 12,4%</a:t>
            </a:r>
          </a:p>
          <a:p>
            <a:pPr lvl="0">
              <a:defRPr/>
            </a:pPr>
            <a:r>
              <a:rPr lang="nb-NO" sz="2000" dirty="0">
                <a:solidFill>
                  <a:prstClr val="black"/>
                </a:solidFill>
                <a:latin typeface="Calibri" panose="020F0502020204030204"/>
              </a:rPr>
              <a:t>og ikke </a:t>
            </a:r>
            <a:r>
              <a:rPr lang="nb-NO" sz="2000" dirty="0">
                <a:solidFill>
                  <a:prstClr val="black"/>
                </a:solidFill>
              </a:rPr>
              <a:t>14,1%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F596F3-EC80-5E25-4EFE-FDED45C58AFA}"/>
              </a:ext>
            </a:extLst>
          </p:cNvPr>
          <p:cNvSpPr txBox="1"/>
          <p:nvPr/>
        </p:nvSpPr>
        <p:spPr>
          <a:xfrm>
            <a:off x="6590123" y="3260190"/>
            <a:ext cx="10623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skatt på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selskap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D349B6CA-DD75-9567-F6E7-8C85814FFBE2}"/>
              </a:ext>
            </a:extLst>
          </p:cNvPr>
          <p:cNvSpPr/>
          <p:nvPr/>
        </p:nvSpPr>
        <p:spPr>
          <a:xfrm rot="5400000">
            <a:off x="8322693" y="2442136"/>
            <a:ext cx="280557" cy="1145102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561CA-DCCF-D97E-41C2-4DBCDFD10DDC}"/>
              </a:ext>
            </a:extLst>
          </p:cNvPr>
          <p:cNvSpPr txBox="1"/>
          <p:nvPr/>
        </p:nvSpPr>
        <p:spPr>
          <a:xfrm>
            <a:off x="7890421" y="3212020"/>
            <a:ext cx="25321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Skatt på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>
                <a:solidFill>
                  <a:srgbClr val="7030A0"/>
                </a:solidFill>
                <a:latin typeface="Calibri" panose="020F0502020204030204"/>
              </a:rPr>
              <a:t>u</a:t>
            </a:r>
            <a:r>
              <a:rPr kumimoji="0" lang="nb-NO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tbytte</a:t>
            </a: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multiplisert med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>
                <a:solidFill>
                  <a:srgbClr val="7030A0"/>
                </a:solidFill>
                <a:latin typeface="Calibri" panose="020F0502020204030204"/>
              </a:rPr>
              <a:t>o</a:t>
            </a:r>
            <a:r>
              <a:rPr kumimoji="0" lang="nb-NO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ppjusteringsfaktoren</a:t>
            </a: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</a:t>
            </a:r>
          </a:p>
        </p:txBody>
      </p:sp>
    </p:spTree>
    <p:extLst>
      <p:ext uri="{BB962C8B-B14F-4D97-AF65-F5344CB8AC3E}">
        <p14:creationId xmlns:p14="http://schemas.microsoft.com/office/powerpoint/2010/main" val="38290840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DE294B-3C24-F47F-D06C-5F33DBC050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0522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smtClean="0">
                          <a:latin typeface="Cambria Math" panose="02040503050406030204" pitchFamily="18" charset="0"/>
                        </a:rPr>
                        <m:t>47,4%+12,4%=</m:t>
                      </m:r>
                      <m:r>
                        <a:rPr lang="nb-NO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22%+22%∗</m:t>
                      </m:r>
                      <m:r>
                        <a:rPr lang="nb-N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1,72</m:t>
                      </m:r>
                    </m:oMath>
                  </m:oMathPara>
                </a14:m>
                <a:endParaRPr lang="nb-NO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nb-NO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nb-NO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nb-NO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59,8</m:t>
                      </m:r>
                      <m:r>
                        <a:rPr lang="nb-NO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nb-NO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b-NO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59,8</m:t>
                      </m:r>
                      <m:r>
                        <a:rPr lang="nb-NO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nb-NO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nb-NO" dirty="0"/>
                  <a:t>Effektiv marginalskatt lønn: alminnelig skattesats (22%) + trygdeavgift (7,8%) + trinnskatt (trinn 5; 17,6%) = </a:t>
                </a:r>
                <a:r>
                  <a:rPr lang="nb-NO" dirty="0">
                    <a:solidFill>
                      <a:srgbClr val="FF0000"/>
                    </a:solidFill>
                  </a:rPr>
                  <a:t>47,5%</a:t>
                </a:r>
                <a:endParaRPr lang="nb-NO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DE294B-3C24-F47F-D06C-5F33DBC05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0522"/>
                <a:ext cx="10515600" cy="4351338"/>
              </a:xfrm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8EB84-959A-E961-354D-D1540752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54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574241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EFBBC-B24A-F969-D93E-259FD9C5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267620"/>
          </a:xfrm>
        </p:spPr>
        <p:txBody>
          <a:bodyPr>
            <a:normAutofit/>
          </a:bodyPr>
          <a:lstStyle/>
          <a:p>
            <a:r>
              <a:rPr lang="en-US" sz="3600" dirty="0"/>
              <a:t>Er </a:t>
            </a:r>
            <a:r>
              <a:rPr lang="en-US" sz="3600" dirty="0" err="1"/>
              <a:t>inntektsskiftningsligningen</a:t>
            </a:r>
            <a:r>
              <a:rPr lang="en-US" sz="3600" dirty="0"/>
              <a:t> </a:t>
            </a:r>
            <a:r>
              <a:rPr lang="en-US" sz="3600" dirty="0" err="1"/>
              <a:t>riktig</a:t>
            </a:r>
            <a:r>
              <a:rPr lang="en-US" sz="3600" dirty="0"/>
              <a:t>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71C83-B908-C23E-0253-262130D84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6"/>
            <a:ext cx="10515600" cy="4891087"/>
          </a:xfrm>
        </p:spPr>
        <p:txBody>
          <a:bodyPr>
            <a:normAutofit lnSpcReduction="10000"/>
          </a:bodyPr>
          <a:lstStyle/>
          <a:p>
            <a:r>
              <a:rPr lang="nb-NO" sz="3000" dirty="0"/>
              <a:t>Inntektsskiftnings ligningen forutsetter at arbeidsgiveravgiften er en skatt på lønn som bæres av lønnsmottaker.</a:t>
            </a:r>
          </a:p>
          <a:p>
            <a:endParaRPr lang="nb-NO" sz="3000" dirty="0"/>
          </a:p>
          <a:p>
            <a:r>
              <a:rPr lang="nb-NO" sz="3000" dirty="0"/>
              <a:t>Bedriften setter av 100 kr til å dekke lønn og arbeidsgiveravgift; da utgjør arbeidsgiveravgiften 12,4% av lønnen</a:t>
            </a:r>
          </a:p>
          <a:p>
            <a:endParaRPr lang="nb-NO" sz="3000" dirty="0"/>
          </a:p>
          <a:p>
            <a:pPr marL="0" indent="0">
              <a:buNone/>
            </a:pPr>
            <a:r>
              <a:rPr lang="nb-NO" sz="3000" dirty="0"/>
              <a:t>100 kr = kr 87,6 kr (lønnsutbetaling) + kr 12,4 (arbeidsgiveravgift)</a:t>
            </a:r>
          </a:p>
          <a:p>
            <a:endParaRPr lang="nb-NO" sz="3400" dirty="0"/>
          </a:p>
          <a:p>
            <a:r>
              <a:rPr lang="nb-NO" sz="3100" dirty="0"/>
              <a:t>Arbeidsgiveravgiften er da 14,1% (=12,4/87,6) av lønnsutbetalingen</a:t>
            </a:r>
            <a:endParaRPr lang="en-US" sz="3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190E4-1780-CBEA-B677-758C1980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55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7114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164E-D854-5FB7-D311-591CED4B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098" cy="1325563"/>
          </a:xfrm>
        </p:spPr>
        <p:txBody>
          <a:bodyPr>
            <a:normAutofit/>
          </a:bodyPr>
          <a:lstStyle/>
          <a:p>
            <a:r>
              <a:rPr lang="nb-NO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Antakelser om </a:t>
            </a:r>
            <a:r>
              <a:rPr lang="nb-NO" sz="28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overveltning</a:t>
            </a:r>
            <a:r>
              <a:rPr lang="nb-NO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 har konsekvenser for eierskatten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CA4DC-5C1D-8F77-2D17-87419F4C7C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343" y="1825625"/>
                <a:ext cx="1133510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nb-NO" sz="2600" noProof="0" dirty="0"/>
                  <a:t>Full overvelting: </a:t>
                </a:r>
                <a14:m>
                  <m:oMath xmlns:m="http://schemas.openxmlformats.org/officeDocument/2006/math">
                    <m:r>
                      <a:rPr lang="nb-NO" sz="26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b-NO" sz="2600" i="1" noProof="0" smtClean="0">
                        <a:latin typeface="Cambria Math" panose="02040503050406030204" pitchFamily="18" charset="0"/>
                      </a:rPr>
                      <m:t> = 1,72</m:t>
                    </m:r>
                  </m:oMath>
                </a14:m>
                <a:r>
                  <a:rPr lang="nb-NO" sz="2600" noProof="0" dirty="0"/>
                  <a:t> og eierskatten er </a:t>
                </a:r>
                <a14:m>
                  <m:oMath xmlns:m="http://schemas.openxmlformats.org/officeDocument/2006/math">
                    <m:r>
                      <a:rPr lang="nb-NO" sz="2600" i="1" noProof="0" smtClean="0">
                        <a:latin typeface="Cambria Math" panose="02040503050406030204" pitchFamily="18" charset="0"/>
                      </a:rPr>
                      <m:t>22%∗1,72= 37,84</m:t>
                    </m:r>
                  </m:oMath>
                </a14:m>
                <a:endParaRPr lang="nb-NO" sz="2600" noProof="0" dirty="0"/>
              </a:p>
              <a:p>
                <a:endParaRPr lang="nb-NO" sz="2600" noProof="0" dirty="0"/>
              </a:p>
              <a:p>
                <a:r>
                  <a:rPr lang="nb-NO" sz="2600" noProof="0" dirty="0"/>
                  <a:t>Arbeidsgiveravgiften deles 50/50 (vi forenkler og deler 12,4%)</a:t>
                </a:r>
                <a:endParaRPr lang="nb-NO" sz="2600" b="0" i="0" noProof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nb-NO" sz="2000" i="1" noProof="0">
                        <a:latin typeface="Cambria Math" panose="02040503050406030204" pitchFamily="18" charset="0"/>
                      </a:rPr>
                      <m:t>47,4%+</m:t>
                    </m:r>
                    <m:r>
                      <a:rPr lang="nb-NO" sz="2000" b="0" i="1" noProof="0" smtClean="0">
                        <a:latin typeface="Cambria Math" panose="02040503050406030204" pitchFamily="18" charset="0"/>
                      </a:rPr>
                      <m:t>6,</m:t>
                    </m:r>
                    <m:r>
                      <a:rPr lang="nb-NO" sz="2000" i="1" noProof="0">
                        <a:latin typeface="Cambria Math" panose="02040503050406030204" pitchFamily="18" charset="0"/>
                      </a:rPr>
                      <m:t>2%=</m:t>
                    </m:r>
                    <m:r>
                      <a:rPr lang="nb-NO" sz="20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22%+</m:t>
                    </m:r>
                    <m:r>
                      <a:rPr lang="nb-NO" sz="2000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nb-NO" sz="20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nb-NO" sz="2000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nb-NO" sz="20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%+ </m:t>
                    </m:r>
                    <m:r>
                      <a:rPr lang="nb-NO" sz="2000" i="1" noProof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22%∗</m:t>
                    </m:r>
                    <m:r>
                      <a:rPr lang="nb-NO" sz="2000" i="1" noProof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nb-NO" sz="2000" noProof="0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nb-NO" sz="2200" i="1" noProof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b-NO" sz="22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nb-NO" sz="2200" i="1" noProof="0">
                        <a:latin typeface="Cambria Math" panose="02040503050406030204" pitchFamily="18" charset="0"/>
                      </a:rPr>
                      <m:t> 0,8</m:t>
                    </m:r>
                  </m:oMath>
                </a14:m>
                <a:r>
                  <a:rPr lang="nb-NO" sz="2200" noProof="0" dirty="0"/>
                  <a:t> og effektiv eierskatt </a:t>
                </a:r>
                <a14:m>
                  <m:oMath xmlns:m="http://schemas.openxmlformats.org/officeDocument/2006/math">
                    <m:r>
                      <a:rPr lang="nb-NO" sz="2200" i="1" noProof="0">
                        <a:latin typeface="Cambria Math" panose="02040503050406030204" pitchFamily="18" charset="0"/>
                      </a:rPr>
                      <m:t>22%∗0,8 =17,6%</m:t>
                    </m:r>
                  </m:oMath>
                </a14:m>
                <a:endParaRPr lang="nb-NO" sz="2200" noProof="0" dirty="0"/>
              </a:p>
              <a:p>
                <a:endParaRPr lang="nb-NO" sz="2600" noProof="0" dirty="0"/>
              </a:p>
              <a:p>
                <a:r>
                  <a:rPr lang="nb-NO" sz="2600" noProof="0" dirty="0"/>
                  <a:t>Bedriften betaler arbeidsgiveravgiften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sz="2000" i="1" noProof="0">
                        <a:latin typeface="Cambria Math" panose="02040503050406030204" pitchFamily="18" charset="0"/>
                      </a:rPr>
                      <m:t>47,4%=</m:t>
                    </m:r>
                    <m:r>
                      <a:rPr lang="nb-NO" sz="20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22%+1</m:t>
                    </m:r>
                    <m:r>
                      <a:rPr lang="nb-NO" sz="2000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nb-NO" sz="20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,4%+ </m:t>
                    </m:r>
                    <m:r>
                      <a:rPr lang="nb-NO" sz="2000" i="1" noProof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22%∗</m:t>
                    </m:r>
                    <m:r>
                      <a:rPr lang="nb-NO" sz="2000" i="1" noProof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b-NO" sz="2000" noProof="0" dirty="0">
                    <a:solidFill>
                      <a:srgbClr val="FF0000"/>
                    </a:solidFill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sz="2000" i="1" noProof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b-NO" sz="20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nb-NO" sz="2000" i="1" noProof="0">
                        <a:latin typeface="Cambria Math" panose="02040503050406030204" pitchFamily="18" charset="0"/>
                      </a:rPr>
                      <m:t> 0,</m:t>
                    </m:r>
                    <m:r>
                      <a:rPr lang="nb-NO" sz="2000" b="0" i="1" noProof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nb-NO" sz="2000" noProof="0" dirty="0"/>
                  <a:t> og effektiv eierskatt </a:t>
                </a:r>
                <a14:m>
                  <m:oMath xmlns:m="http://schemas.openxmlformats.org/officeDocument/2006/math">
                    <m:r>
                      <a:rPr lang="nb-NO" sz="2000" i="1" noProof="0">
                        <a:latin typeface="Cambria Math" panose="02040503050406030204" pitchFamily="18" charset="0"/>
                      </a:rPr>
                      <m:t>22%∗0,</m:t>
                    </m:r>
                    <m:r>
                      <a:rPr lang="nb-NO" sz="2000" b="0" i="1" noProof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nb-NO" sz="2000" i="1" noProof="0">
                        <a:latin typeface="Cambria Math" panose="02040503050406030204" pitchFamily="18" charset="0"/>
                      </a:rPr>
                      <m:t> =1</m:t>
                    </m:r>
                    <m:r>
                      <a:rPr lang="nb-NO" sz="2000" b="0" i="1" noProof="0" smtClean="0">
                        <a:latin typeface="Cambria Math" panose="02040503050406030204" pitchFamily="18" charset="0"/>
                      </a:rPr>
                      <m:t>3,2</m:t>
                    </m:r>
                    <m:r>
                      <a:rPr lang="nb-NO" sz="2000" i="1" noProof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nb-NO" sz="2000" noProof="0" dirty="0"/>
              </a:p>
              <a:p>
                <a:endParaRPr lang="nb-NO" sz="2400" noProof="0" dirty="0">
                  <a:solidFill>
                    <a:srgbClr val="FF0000"/>
                  </a:solidFill>
                </a:endParaRPr>
              </a:p>
              <a:p>
                <a:r>
                  <a:rPr lang="nb-NO" sz="2400" noProof="0" dirty="0">
                    <a:solidFill>
                      <a:srgbClr val="FF0000"/>
                    </a:solidFill>
                  </a:rPr>
                  <a:t>Hva sier empirien; det er den som burde avgjøre. La oss se på den.</a:t>
                </a:r>
              </a:p>
              <a:p>
                <a:pPr lvl="1"/>
                <a:endParaRPr lang="nb-NO" sz="2200" noProof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CA4DC-5C1D-8F77-2D17-87419F4C7C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343" y="1825625"/>
                <a:ext cx="11335109" cy="4351338"/>
              </a:xfrm>
              <a:blipFill>
                <a:blip r:embed="rId2"/>
                <a:stretch>
                  <a:fillRect l="-806" t="-2801" b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6639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Hvordan resultatet passer med litteraturen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Andel av arbeidsgiveravgiften som veltes over på arbeidstakerne, nordiske studier med regional/reformbasert variasjon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347472"/>
          </a:xfrm>
          <a:prstGeom prst="rect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Dale-Olsen (2018)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83480" y="1892808"/>
            <a:ext cx="4206240" cy="164592"/>
          </a:xfrm>
          <a:prstGeom prst="roundRect">
            <a:avLst>
              <a:gd name="adj" fmla="val 16667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83480" y="1892808"/>
            <a:ext cx="946404" cy="16459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72600" y="17647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8541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m.fl. (2020)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83480" y="2313432"/>
            <a:ext cx="4206240" cy="164592"/>
          </a:xfrm>
          <a:prstGeom prst="roundRect">
            <a:avLst>
              <a:gd name="adj" fmla="val 16667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83480" y="2313432"/>
            <a:ext cx="946404" cy="16459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72600" y="218541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60604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Stokke (2021)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83480" y="2734056"/>
            <a:ext cx="4206240" cy="164592"/>
          </a:xfrm>
          <a:prstGeom prst="roundRect">
            <a:avLst>
              <a:gd name="adj" fmla="val 16667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83480" y="2734056"/>
            <a:ext cx="946404" cy="16459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72600" y="26060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02666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Gavrilova m.fl. (2023) — kontraktslønn  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upresist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83480" y="3154680"/>
            <a:ext cx="4206240" cy="164592"/>
          </a:xfrm>
          <a:prstGeom prst="roundRect">
            <a:avLst>
              <a:gd name="adj" fmla="val 16667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83480" y="3154680"/>
            <a:ext cx="1472184" cy="16459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72600" y="30266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4472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Gavrilova m.fl. (2023) — full lønn  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366674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bonus/overtid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3575304"/>
            <a:ext cx="4206240" cy="164592"/>
          </a:xfrm>
          <a:prstGeom prst="roundRect">
            <a:avLst>
              <a:gd name="adj" fmla="val 16667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83480" y="3575304"/>
            <a:ext cx="4037990" cy="16459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72600" y="34472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full overvelting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867912"/>
            <a:ext cx="11091672" cy="347472"/>
          </a:xfrm>
          <a:prstGeom prst="rect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8679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4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SVERIGE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421538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Bennmarker m.fl. (2009)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83480" y="4343400"/>
            <a:ext cx="4206240" cy="164592"/>
          </a:xfrm>
          <a:prstGeom prst="roundRect">
            <a:avLst>
              <a:gd name="adj" fmla="val 16667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83480" y="4343400"/>
            <a:ext cx="1051560" cy="164592"/>
          </a:xfrm>
          <a:prstGeom prst="roundRect">
            <a:avLst>
              <a:gd name="adj" fmla="val 16667"/>
            </a:avLst>
          </a:prstGeom>
          <a:solidFill>
            <a:srgbClr val="4C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372600" y="42153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25 %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636008"/>
            <a:ext cx="11091672" cy="347472"/>
          </a:xfrm>
          <a:prstGeom prst="rect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" y="46360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C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49834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Korkeamäki &amp; Uusitalo (2009)  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52029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finanskrisen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5111496"/>
            <a:ext cx="4206240" cy="164592"/>
          </a:xfrm>
          <a:prstGeom prst="roundRect">
            <a:avLst>
              <a:gd name="adj" fmla="val 16667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83480" y="5111496"/>
            <a:ext cx="2103120" cy="164592"/>
          </a:xfrm>
          <a:prstGeom prst="roundRect">
            <a:avLst>
              <a:gd name="adj" fmla="val 16667"/>
            </a:avLst>
          </a:prstGeom>
          <a:solidFill>
            <a:srgbClr val="8C5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372600" y="49834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50 %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54041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Benzarti &amp; Harju (2021)  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56235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bedriftsnivå-variasjon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83480" y="5532120"/>
            <a:ext cx="4206240" cy="164592"/>
          </a:xfrm>
          <a:prstGeom prst="roundRect">
            <a:avLst>
              <a:gd name="adj" fmla="val 16667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83480" y="5532120"/>
            <a:ext cx="84125" cy="164592"/>
          </a:xfrm>
          <a:prstGeom prst="roundRect">
            <a:avLst>
              <a:gd name="adj" fmla="val 32609"/>
            </a:avLst>
          </a:prstGeom>
          <a:solidFill>
            <a:srgbClr val="8C5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372600" y="54041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overvelting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596188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Merk: stolpelengde er indikativ (midtpunkt i oppgitt intervall / punktestimat), ikke en presis felles skala på tvers av studier og metoder. Kilde for sammenligningen: Gavrilova, Langørgen og Zoutman (2023), s. 27.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</a:t>
            </a:r>
            <a:r>
              <a:rPr lang="en-US" sz="3000" b="1" dirty="0" err="1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spesifikt</a:t>
            </a:r>
            <a:r>
              <a:rPr lang="en-US" sz="30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om Gavrilova et 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Gavrilova, Langørgen &amp; Zoutman (2023) — norsk regionreform som naturlig eksperiment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Metode: </a:t>
            </a: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 1a fikk arbeidsgiveravgiften hevet til samme nivå som Sone 1 i 2004 (fra 10,6 % til 14,1 %, permanent). Brukes som naturlig eksperiment (event-study/DiD og ny «dynamic causal forest»-metode) på lønnsregisterdata for 2002–2008.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7528" cy="2788920"/>
          </a:xfrm>
          <a:prstGeom prst="roundRect">
            <a:avLst>
              <a:gd name="adj" fmla="val 2623"/>
            </a:avLst>
          </a:prstGeom>
          <a:solidFill>
            <a:srgbClr val="F4F6F8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404872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KONTRAKTSLØNN (fast grunnlønn)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727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20–50 %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727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Upresist estimert — brede konfidensintervaller som ikke kan utelukke null overvelting på den faste lønnen.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2784" y="2148840"/>
            <a:ext cx="5367528" cy="2788920"/>
          </a:xfrm>
          <a:prstGeom prst="roundRect">
            <a:avLst>
              <a:gd name="adj" fmla="val 2623"/>
            </a:avLst>
          </a:prstGeom>
          <a:solidFill>
            <a:srgbClr val="F4F6F8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92824" y="2404872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LØNN (+ bonus, overtid, tillegg)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92824" y="2834640"/>
            <a:ext cx="4727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full overvelting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92824" y="3931920"/>
            <a:ext cx="4727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 evidens for at mesteparten av avgiftsøkningen veltes over på arbeidstakerne — via bonus/overtid, ikke grunnlønnen.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Konklusjon: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Avgiften veltes over gjennom «incidental payments», ikke kontraktslønn. Effekten er konsentrert i store bedrifter: bedrifter som betaler bonus viser full overvelting, bedrifter uten bonusutbetaling viser tilnærmet null.</a:t>
            </a:r>
            <a:endParaRPr lang="en-US" sz="14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3DD8-63A9-5386-F94C-6145A2C7E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1362" cy="1325563"/>
          </a:xfrm>
        </p:spPr>
        <p:txBody>
          <a:bodyPr>
            <a:normAutofit/>
          </a:bodyPr>
          <a:lstStyle/>
          <a:p>
            <a:r>
              <a:rPr lang="nb-NO" sz="3200" b="1" noProof="0" dirty="0">
                <a:solidFill>
                  <a:srgbClr val="FF0000"/>
                </a:solidFill>
              </a:rPr>
              <a:t>Er det mer naturlig å anta at arbeidsgiveravgiften deles 50/50?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458FC-A133-4C16-D0CA-BD232A09D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noProof="0" dirty="0"/>
              <a:t>Skattekommisjonen burde sett på dette !</a:t>
            </a:r>
          </a:p>
          <a:p>
            <a:endParaRPr lang="nb-NO" noProof="0" dirty="0"/>
          </a:p>
          <a:p>
            <a:r>
              <a:rPr lang="nb-NO" noProof="0" dirty="0"/>
              <a:t>Hvis arbeidsgiveravgiften deles 50/50 eller 30/70 betyr det en betydelig lettelse av eierbeskatningen.</a:t>
            </a:r>
          </a:p>
          <a:p>
            <a:endParaRPr lang="nb-NO" noProof="0" dirty="0"/>
          </a:p>
          <a:p>
            <a:r>
              <a:rPr lang="nb-NO" noProof="0" dirty="0"/>
              <a:t>Lavere eierskatt kan redusere opphopningen av latente eierskatter i selskapene</a:t>
            </a:r>
          </a:p>
        </p:txBody>
      </p:sp>
    </p:spTree>
    <p:extLst>
      <p:ext uri="{BB962C8B-B14F-4D97-AF65-F5344CB8AC3E}">
        <p14:creationId xmlns:p14="http://schemas.microsoft.com/office/powerpoint/2010/main" val="16434444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009D-DAC8-FDFE-FFFE-7327DA72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482"/>
          </a:xfrm>
        </p:spPr>
        <p:txBody>
          <a:bodyPr>
            <a:normAutofit fontScale="90000"/>
          </a:bodyPr>
          <a:lstStyle/>
          <a:p>
            <a:r>
              <a:rPr lang="nb-NO" sz="3600" dirty="0"/>
              <a:t>Aksjonærlån</a:t>
            </a:r>
            <a:br>
              <a:rPr lang="nb-NO" sz="3600" dirty="0"/>
            </a:br>
            <a:endParaRPr lang="nb-NO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F5FC5-174B-A762-D4EB-CAB172657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814"/>
            <a:ext cx="10515600" cy="4842149"/>
          </a:xfrm>
        </p:spPr>
        <p:txBody>
          <a:bodyPr>
            <a:normAutofit fontScale="92500"/>
          </a:bodyPr>
          <a:lstStyle/>
          <a:p>
            <a:r>
              <a:rPr lang="nb-NO" sz="2800" dirty="0"/>
              <a:t>Eierskatten er høy (37,84%): Kan vi ikke unngå eierskatten ved at eierne (aksjonærene) låner penger fra bedriften til lav rente? </a:t>
            </a:r>
            <a:endParaRPr lang="nb-NO" b="0" i="0" noProof="0" dirty="0">
              <a:solidFill>
                <a:srgbClr val="474747"/>
              </a:solidFill>
              <a:effectLst/>
            </a:endParaRPr>
          </a:p>
          <a:p>
            <a:endParaRPr lang="nb-NO" b="0" i="0" noProof="0" dirty="0">
              <a:solidFill>
                <a:srgbClr val="474747"/>
              </a:solidFill>
              <a:effectLst/>
            </a:endParaRPr>
          </a:p>
          <a:p>
            <a:r>
              <a:rPr lang="nb-NO" b="0" i="0" noProof="0" dirty="0">
                <a:solidFill>
                  <a:srgbClr val="474747"/>
                </a:solidFill>
                <a:effectLst/>
              </a:rPr>
              <a:t>Renteinntekter skattlegge bare med 22% mot eierskatten på 37,84%</a:t>
            </a:r>
          </a:p>
          <a:p>
            <a:endParaRPr lang="nb-NO" noProof="0" dirty="0">
              <a:solidFill>
                <a:srgbClr val="474747"/>
              </a:solidFill>
            </a:endParaRPr>
          </a:p>
          <a:p>
            <a:r>
              <a:rPr lang="nb-NO" b="0" i="0" noProof="0" dirty="0">
                <a:solidFill>
                  <a:srgbClr val="1F1F1F"/>
                </a:solidFill>
                <a:effectLst/>
              </a:rPr>
              <a:t>Endringer i aksjeloven i 2015 gjorde alle lån til personlige aksjonærer, altså privatpersoner som helt eller delvis eier et AS, </a:t>
            </a:r>
            <a:r>
              <a:rPr lang="nb-NO" b="0" i="0" noProof="0" dirty="0">
                <a:solidFill>
                  <a:srgbClr val="474747"/>
                </a:solidFill>
                <a:effectLst/>
              </a:rPr>
              <a:t>beskattes på lik linje som utbytte. </a:t>
            </a:r>
            <a:r>
              <a:rPr lang="nb-NO" b="0" i="0" u="sng" noProof="0" dirty="0">
                <a:solidFill>
                  <a:srgbClr val="474747"/>
                </a:solidFill>
                <a:effectLst/>
              </a:rPr>
              <a:t>Det lønner seg ikke med aksjonærlån!</a:t>
            </a:r>
          </a:p>
          <a:p>
            <a:endParaRPr lang="nb-NO" noProof="0" dirty="0">
              <a:solidFill>
                <a:srgbClr val="474747"/>
              </a:solidFill>
            </a:endParaRPr>
          </a:p>
          <a:p>
            <a:r>
              <a:rPr lang="nb-NO" b="0" i="0" noProof="0" dirty="0">
                <a:solidFill>
                  <a:srgbClr val="1A1A1A"/>
                </a:solidFill>
                <a:effectLst/>
              </a:rPr>
              <a:t>Unntak gjelder lån på under 100 000 kroner og som tilbakebetales innen 60 dager (eks reiseutgifter). Slike lån skal ikke skattlegges som utbytte</a:t>
            </a:r>
            <a:endParaRPr lang="nb-NO" b="0" i="0" noProof="0" dirty="0">
              <a:solidFill>
                <a:srgbClr val="474747"/>
              </a:solidFill>
              <a:effectLst/>
            </a:endParaRPr>
          </a:p>
          <a:p>
            <a:endParaRPr lang="nb-NO" noProof="0" dirty="0">
              <a:solidFill>
                <a:srgbClr val="474747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15593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DFF0F-B9E3-BE4E-B3AE-BEE749AD7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nb-NO" sz="6700"/>
              <a:t>6. Nominelle, effektive og marginale skattesater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B5572-0C6F-C96A-7901-01709A75F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endParaRPr lang="nb-NO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B5536-3F76-E61A-6502-671248BC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92CA8B5-DBB4-47BA-9127-F945AE107A35}" type="slidenum">
              <a:rPr lang="nb-NO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61</a:t>
            </a:fld>
            <a:endParaRPr lang="nb-NO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0665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1BEC-2A5F-9B17-A8B3-93FC0C44D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48204"/>
          </a:xfrm>
        </p:spPr>
        <p:txBody>
          <a:bodyPr>
            <a:normAutofit/>
          </a:bodyPr>
          <a:lstStyle/>
          <a:p>
            <a:r>
              <a:rPr lang="nb-NO" sz="3600" noProof="0" dirty="0"/>
              <a:t>Nominelle , marginale og effektive skattesatser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33803-6E0E-C12C-E1F5-8F07D5B17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7" y="1232647"/>
            <a:ext cx="11529813" cy="4944316"/>
          </a:xfrm>
        </p:spPr>
        <p:txBody>
          <a:bodyPr>
            <a:normAutofit fontScale="92500" lnSpcReduction="20000"/>
          </a:bodyPr>
          <a:lstStyle/>
          <a:p>
            <a:r>
              <a:rPr lang="nb-NO" sz="3600" b="1" noProof="0" dirty="0"/>
              <a:t>Nominell selskapsskatt er den alminnelige inntektsskatten som er </a:t>
            </a:r>
            <a:r>
              <a:rPr lang="nb-NO" sz="3600" noProof="0" dirty="0"/>
              <a:t>22% og er den offisielle lov-vedtatte skattesatsen</a:t>
            </a:r>
          </a:p>
          <a:p>
            <a:pPr marL="0" indent="0">
              <a:buNone/>
            </a:pPr>
            <a:endParaRPr lang="nb-NO" sz="3600" noProof="0" dirty="0"/>
          </a:p>
          <a:p>
            <a:r>
              <a:rPr lang="nb-NO" sz="3600" b="1" noProof="0" dirty="0"/>
              <a:t>Effektiv </a:t>
            </a:r>
            <a:r>
              <a:rPr lang="nb-NO" sz="3600" b="1" noProof="0" dirty="0" err="1"/>
              <a:t>gjsn.skatt</a:t>
            </a:r>
            <a:r>
              <a:rPr lang="nb-NO" sz="3600" b="1" noProof="0" dirty="0"/>
              <a:t> </a:t>
            </a:r>
            <a:r>
              <a:rPr lang="nb-NO" sz="3600" noProof="0" dirty="0"/>
              <a:t>(</a:t>
            </a:r>
            <a:r>
              <a:rPr lang="nb-NO" sz="3600" noProof="0" dirty="0" err="1"/>
              <a:t>Average</a:t>
            </a:r>
            <a:r>
              <a:rPr lang="nb-NO" sz="3600" noProof="0" dirty="0"/>
              <a:t> </a:t>
            </a:r>
            <a:r>
              <a:rPr lang="nb-NO" sz="3600" dirty="0"/>
              <a:t>E</a:t>
            </a:r>
            <a:r>
              <a:rPr lang="nb-NO" sz="3600" noProof="0" dirty="0" err="1"/>
              <a:t>ffective</a:t>
            </a:r>
            <a:r>
              <a:rPr lang="nb-NO" sz="3600" noProof="0" dirty="0"/>
              <a:t> Rate of </a:t>
            </a:r>
            <a:r>
              <a:rPr lang="nb-NO" sz="3600" dirty="0"/>
              <a:t>T</a:t>
            </a:r>
            <a:r>
              <a:rPr lang="nb-NO" sz="3600" noProof="0" dirty="0" err="1"/>
              <a:t>ax</a:t>
            </a:r>
            <a:r>
              <a:rPr lang="nb-NO" sz="3600" noProof="0" dirty="0"/>
              <a:t> (AERT)) måler faktisk betalte skatt </a:t>
            </a:r>
            <a:r>
              <a:rPr lang="nb-NO" sz="3600" b="1" noProof="0" dirty="0"/>
              <a:t>i prosent av brutto inntekt før skatt. </a:t>
            </a:r>
          </a:p>
          <a:p>
            <a:pPr lvl="1"/>
            <a:r>
              <a:rPr lang="nb-NO" sz="3200" dirty="0"/>
              <a:t>AERT er basert på data tilbake i tid</a:t>
            </a:r>
            <a:r>
              <a:rPr lang="nb-NO" sz="3200" noProof="0" dirty="0"/>
              <a:t>.</a:t>
            </a:r>
          </a:p>
          <a:p>
            <a:endParaRPr lang="nb-NO" sz="3600" dirty="0"/>
          </a:p>
          <a:p>
            <a:r>
              <a:rPr lang="nb-NO" sz="3600" b="1" noProof="0" dirty="0"/>
              <a:t>Marginal eierskatt </a:t>
            </a:r>
            <a:r>
              <a:rPr lang="nb-NO" sz="3600" noProof="0" dirty="0"/>
              <a:t>er skatten som faller på en enhet inntekt hensyn tatt til selskapsskatt og utbytteskatt</a:t>
            </a:r>
          </a:p>
          <a:p>
            <a:endParaRPr lang="nb-NO" sz="3600" dirty="0"/>
          </a:p>
          <a:p>
            <a:r>
              <a:rPr lang="nb-NO" sz="3600" noProof="0" dirty="0"/>
              <a:t>Det er forskjell på effektiv skatt og marginal skatt</a:t>
            </a:r>
          </a:p>
          <a:p>
            <a:pPr marL="0" indent="0">
              <a:buNone/>
            </a:pPr>
            <a:endParaRPr lang="nb-NO" noProof="0" dirty="0"/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BF2B5-B9CE-4342-248A-3A531761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62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89322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4550-AA32-99A5-A764-71B04491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0578353" cy="1118626"/>
          </a:xfrm>
        </p:spPr>
        <p:txBody>
          <a:bodyPr>
            <a:noAutofit/>
          </a:bodyPr>
          <a:lstStyle/>
          <a:p>
            <a:pPr algn="ctr"/>
            <a:r>
              <a:rPr lang="nb-NO" sz="3200" b="1" noProof="0" dirty="0">
                <a:latin typeface="+mn-lt"/>
              </a:rPr>
              <a:t>Gjennomsnittlig effektiv skattesats for bedriften</a:t>
            </a:r>
            <a:br>
              <a:rPr lang="nb-NO" sz="3200" b="1" noProof="0" dirty="0">
                <a:latin typeface="+mn-lt"/>
              </a:rPr>
            </a:br>
            <a:r>
              <a:rPr lang="nb-NO" sz="3200" b="1" noProof="0" dirty="0">
                <a:latin typeface="+mn-lt"/>
              </a:rPr>
              <a:t> (AERT – </a:t>
            </a:r>
            <a:r>
              <a:rPr lang="nb-NO" sz="3200" b="1" noProof="0" dirty="0" err="1">
                <a:latin typeface="+mn-lt"/>
              </a:rPr>
              <a:t>Average</a:t>
            </a:r>
            <a:r>
              <a:rPr lang="nb-NO" sz="3200" b="1" noProof="0" dirty="0">
                <a:latin typeface="+mn-lt"/>
              </a:rPr>
              <a:t> </a:t>
            </a:r>
            <a:r>
              <a:rPr lang="nb-NO" sz="3200" b="1" noProof="0" dirty="0" err="1">
                <a:latin typeface="+mn-lt"/>
              </a:rPr>
              <a:t>Effective</a:t>
            </a:r>
            <a:r>
              <a:rPr lang="nb-NO" sz="3200" b="1" noProof="0" dirty="0">
                <a:latin typeface="+mn-lt"/>
              </a:rPr>
              <a:t> Tax Rate)</a:t>
            </a:r>
            <a:br>
              <a:rPr lang="nb-NO" sz="2800" b="1" noProof="0" dirty="0">
                <a:latin typeface="+mn-lt"/>
              </a:rPr>
            </a:br>
            <a:endParaRPr lang="nb-NO" sz="2800" b="1" noProof="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856810-A916-8665-0263-B8884786DB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219" y="1437714"/>
                <a:ext cx="11987561" cy="5101198"/>
              </a:xfrm>
            </p:spPr>
            <p:txBody>
              <a:bodyPr>
                <a:normAutofit/>
              </a:bodyPr>
              <a:lstStyle/>
              <a:p>
                <a:endParaRPr lang="nb-NO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noProof="0" smtClean="0">
                          <a:latin typeface="Cambria Math" panose="02040503050406030204" pitchFamily="18" charset="0"/>
                        </a:rPr>
                        <m:t>𝐸𝑓𝑓𝑒𝑘𝑡𝑖𝑣</m:t>
                      </m:r>
                      <m:r>
                        <a:rPr lang="nb-NO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b-NO" i="1" noProof="0" smtClean="0">
                          <a:latin typeface="Cambria Math" panose="02040503050406030204" pitchFamily="18" charset="0"/>
                        </a:rPr>
                        <m:t>𝑠𝑒𝑙𝑠𝑘𝑎𝑝𝑠𝑠𝑘𝑎𝑡𝑡</m:t>
                      </m:r>
                      <m:r>
                        <a:rPr lang="nb-NO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b-NO" b="0" i="1" noProof="0" smtClean="0">
                          <a:latin typeface="Cambria Math" panose="02040503050406030204" pitchFamily="18" charset="0"/>
                        </a:rPr>
                        <m:t>𝐴𝐸𝑅𝑇</m:t>
                      </m:r>
                      <m:r>
                        <a:rPr lang="nb-NO" b="0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nb-NO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𝑠𝑘𝑎𝑡𝑡</m:t>
                          </m:r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𝑏𝑒𝑡𝑎𝑙𝑡</m:t>
                          </m:r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𝑎𝑣</m:t>
                          </m:r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𝑏𝑒𝑑𝑟𝑖𝑓𝑡𝑒𝑛</m:t>
                          </m:r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nb-NO" i="1" noProof="0" smtClean="0">
                              <a:latin typeface="Cambria Math" panose="02040503050406030204" pitchFamily="18" charset="0"/>
                            </a:rPr>
                            <m:t>𝐵𝑟𝑢𝑡𝑡𝑜</m:t>
                          </m:r>
                          <m:r>
                            <a:rPr lang="nb-NO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i="1" noProof="0" smtClean="0">
                              <a:latin typeface="Cambria Math" panose="02040503050406030204" pitchFamily="18" charset="0"/>
                            </a:rPr>
                            <m:t>𝑖𝑛𝑛𝑡𝑒𝑘𝑡</m:t>
                          </m:r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nb-NO" noProof="0" dirty="0"/>
              </a:p>
              <a:p>
                <a:pPr marL="0" indent="0">
                  <a:buNone/>
                </a:pPr>
                <a:endParaRPr lang="nb-NO" noProof="0" dirty="0"/>
              </a:p>
              <a:p>
                <a:r>
                  <a:rPr lang="nb-NO" noProof="0" dirty="0"/>
                  <a:t>​ AERT er vanligvis lavere enn den lovbestemte skattesatsen på grunn av avvik mellom virkelige kostnader og skattemessige kostnader, framførbare underskudd mm som påvirker teller</a:t>
                </a:r>
              </a:p>
              <a:p>
                <a:endParaRPr lang="nb-NO" dirty="0"/>
              </a:p>
              <a:p>
                <a:r>
                  <a:rPr lang="nb-NO" b="1" noProof="0" dirty="0"/>
                  <a:t>AERT er selskapsspesifikk fordi selskaper har investert i ulike aktiva med ulike avskrivningssatser samt at noen selskaper har fremførbare underskudd. AERT vil derfor variere fra år til år for et selskap.</a:t>
                </a:r>
              </a:p>
              <a:p>
                <a:endParaRPr lang="nb-NO" noProof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856810-A916-8665-0263-B8884786DB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219" y="1437714"/>
                <a:ext cx="11987561" cy="5101198"/>
              </a:xfrm>
              <a:blipFill>
                <a:blip r:embed="rId2"/>
                <a:stretch>
                  <a:fillRect l="-916" r="-35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F02D7-3B7B-D99A-1C2E-6ADAAD71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63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72196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A7B3-AFE4-7EA4-A2B5-1EA9B9CBA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8267"/>
            <a:ext cx="10515600" cy="872004"/>
          </a:xfrm>
        </p:spPr>
        <p:txBody>
          <a:bodyPr>
            <a:normAutofit/>
          </a:bodyPr>
          <a:lstStyle/>
          <a:p>
            <a:r>
              <a:rPr lang="nb-NO" sz="4000" b="1" dirty="0"/>
              <a:t>Eksempel: AERT </a:t>
            </a:r>
            <a:r>
              <a:rPr lang="nb-NO" sz="4000" b="1" dirty="0" err="1"/>
              <a:t>vs</a:t>
            </a:r>
            <a:r>
              <a:rPr lang="nb-NO" sz="4000" b="1" dirty="0"/>
              <a:t> nominell skattesats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7DD8B-74B4-252A-8A5C-FC19BCD1E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2471" y="964686"/>
            <a:ext cx="5157787" cy="823912"/>
          </a:xfrm>
        </p:spPr>
        <p:txBody>
          <a:bodyPr>
            <a:normAutofit/>
          </a:bodyPr>
          <a:lstStyle/>
          <a:p>
            <a:r>
              <a:rPr lang="nb-NO" sz="3200" dirty="0"/>
              <a:t>Full avskrivning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A78F2-EE71-7E45-BA7D-342EB59CD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71815"/>
            <a:ext cx="5157787" cy="3684588"/>
          </a:xfrm>
        </p:spPr>
        <p:txBody>
          <a:bodyPr>
            <a:normAutofit/>
          </a:bodyPr>
          <a:lstStyle/>
          <a:p>
            <a:r>
              <a:rPr lang="nb-NO" dirty="0"/>
              <a:t>Inntekt:	300 000</a:t>
            </a:r>
          </a:p>
          <a:p>
            <a:r>
              <a:rPr lang="nb-NO" dirty="0"/>
              <a:t>Kjøpt printer: 100 000</a:t>
            </a:r>
          </a:p>
          <a:p>
            <a:r>
              <a:rPr lang="nb-NO" dirty="0"/>
              <a:t>Skattbar inntekt: 200 000</a:t>
            </a:r>
          </a:p>
          <a:p>
            <a:r>
              <a:rPr lang="nb-NO" dirty="0"/>
              <a:t>Skatt (22%): 44 000</a:t>
            </a:r>
          </a:p>
          <a:p>
            <a:r>
              <a:rPr lang="nb-NO" dirty="0"/>
              <a:t> AERT: 44 000/300 000 = 14,6%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08D21-7948-FFB1-B95F-F2A5A7099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62941" y="848776"/>
            <a:ext cx="5183188" cy="823912"/>
          </a:xfrm>
        </p:spPr>
        <p:txBody>
          <a:bodyPr>
            <a:normAutofit/>
          </a:bodyPr>
          <a:lstStyle/>
          <a:p>
            <a:r>
              <a:rPr lang="nb-NO" sz="3200" dirty="0"/>
              <a:t>Saldoavskrivning 30%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32D3EEE-7770-EC22-2479-D5EA5979FC68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096000" y="1855905"/>
                <a:ext cx="5719482" cy="3684588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Inntekt: 	300 000</a:t>
                </a:r>
              </a:p>
              <a:p>
                <a:r>
                  <a:rPr lang="nb-NO" dirty="0"/>
                  <a:t>Kjøpt printer: 30 000 (30% av 100’)</a:t>
                </a:r>
              </a:p>
              <a:p>
                <a:r>
                  <a:rPr lang="nb-NO" dirty="0"/>
                  <a:t>Skattbar inntekt: 270 000</a:t>
                </a:r>
              </a:p>
              <a:p>
                <a:r>
                  <a:rPr lang="nb-NO" dirty="0"/>
                  <a:t>Skatt: 59 400</a:t>
                </a:r>
              </a:p>
              <a:p>
                <a:r>
                  <a:rPr lang="nb-NO" dirty="0"/>
                  <a:t>AERT: 59 400/300 000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nb-NO" dirty="0"/>
                  <a:t> 19,8%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32D3EEE-7770-EC22-2479-D5EA5979FC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096000" y="1855905"/>
                <a:ext cx="5719482" cy="3684588"/>
              </a:xfrm>
              <a:blipFill>
                <a:blip r:embed="rId2"/>
                <a:stretch>
                  <a:fillRect l="-1919" t="-264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19357-8B14-EE09-E6C3-2B3E2DB4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64</a:t>
            </a:fld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81D29C-7326-59FC-2CB5-66F329C3C2F6}"/>
              </a:ext>
            </a:extLst>
          </p:cNvPr>
          <p:cNvSpPr txBox="1"/>
          <p:nvPr/>
        </p:nvSpPr>
        <p:spPr>
          <a:xfrm>
            <a:off x="767575" y="4640371"/>
            <a:ext cx="1142442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i="1" dirty="0">
                <a:solidFill>
                  <a:schemeClr val="accent1">
                    <a:lumMod val="50000"/>
                  </a:schemeClr>
                </a:solidFill>
              </a:rPr>
              <a:t>Merk at effektiv skattesats ved full avskrivning (15,4%) og ved saldoavskrivning (20%) er forskjellig fra den nominelle satsen på 22%</a:t>
            </a:r>
          </a:p>
          <a:p>
            <a:r>
              <a:rPr lang="nb-NO" sz="2800" i="1" dirty="0">
                <a:solidFill>
                  <a:schemeClr val="accent1">
                    <a:lumMod val="50000"/>
                  </a:schemeClr>
                </a:solidFill>
              </a:rPr>
              <a:t>Hvis virkelig kapitalslit avviker fra avskrivningssatsen får vi en </a:t>
            </a:r>
            <a:r>
              <a:rPr lang="nb-NO" sz="2800" i="1" dirty="0" err="1">
                <a:solidFill>
                  <a:schemeClr val="accent1">
                    <a:lumMod val="50000"/>
                  </a:schemeClr>
                </a:solidFill>
              </a:rPr>
              <a:t>skattekile</a:t>
            </a:r>
            <a:r>
              <a:rPr lang="nb-NO" sz="2800" i="1" dirty="0">
                <a:solidFill>
                  <a:schemeClr val="accent1">
                    <a:lumMod val="50000"/>
                  </a:schemeClr>
                </a:solidFill>
              </a:rPr>
              <a:t> som påvirker atferd og effektiv gjennomsnittsskatt</a:t>
            </a:r>
          </a:p>
          <a:p>
            <a:endParaRPr lang="nb-NO" sz="2800" dirty="0"/>
          </a:p>
          <a:p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311930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8" grpId="0" build="allAtOnce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7F966-BD81-3741-5C44-172ED16A3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03557-FE50-2DA5-30C8-C0E66D7A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293" y="100673"/>
            <a:ext cx="11446727" cy="647887"/>
          </a:xfrm>
        </p:spPr>
        <p:txBody>
          <a:bodyPr>
            <a:noAutofit/>
          </a:bodyPr>
          <a:lstStyle/>
          <a:p>
            <a:r>
              <a:rPr lang="nb-NO" sz="3200" b="1" noProof="0" dirty="0">
                <a:solidFill>
                  <a:srgbClr val="FF0000"/>
                </a:solidFill>
              </a:rPr>
              <a:t>Skattesystemet er nøytralt når bedriften kan avskrive alt med en gang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DECE86-CA03-E2DA-28BA-AE18FEFE33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771" y="757325"/>
                <a:ext cx="11926229" cy="5907933"/>
              </a:xfrm>
            </p:spPr>
            <p:txBody>
              <a:bodyPr>
                <a:noAutofit/>
              </a:bodyPr>
              <a:lstStyle/>
              <a:p>
                <a:r>
                  <a:rPr lang="nb-NO" b="1" noProof="0" dirty="0"/>
                  <a:t>Skattepliktig overskudd: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nb-NO" b="1" i="1" noProof="0" smtClean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p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𝒑𝒙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nb-NO" noProof="0" dirty="0"/>
                  <a:t>, </a:t>
                </a:r>
              </a:p>
              <a:p>
                <a:pPr lvl="1"/>
                <a:r>
                  <a:rPr lang="nb-NO" sz="2800" dirty="0"/>
                  <a:t>H</a:t>
                </a:r>
                <a:r>
                  <a:rPr lang="nb-NO" sz="2800" noProof="0" dirty="0"/>
                  <a:t>vor </a:t>
                </a:r>
                <a14:m>
                  <m:oMath xmlns:m="http://schemas.openxmlformats.org/officeDocument/2006/math">
                    <m:r>
                      <a:rPr lang="en-US" sz="2800" noProof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nb-NO" sz="2800" noProof="0" dirty="0"/>
                  <a:t> er andelen av kostnadene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nb-NO" sz="2800" noProof="0" dirty="0"/>
                  <a:t> som avskrives over tid</a:t>
                </a:r>
              </a:p>
              <a:p>
                <a:endParaRPr lang="nb-NO" b="1" noProof="0" dirty="0"/>
              </a:p>
              <a:p>
                <a:r>
                  <a:rPr lang="nb-NO" b="1" noProof="0" dirty="0"/>
                  <a:t>Økonomisk/virkelig overskudd: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n-US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p>
                    </m:sSup>
                    <m:r>
                      <a:rPr lang="en-US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𝒑𝒙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nb-NO" b="1" noProof="0" dirty="0"/>
              </a:p>
              <a:p>
                <a:endParaRPr lang="nb-NO" b="1" noProof="0" dirty="0"/>
              </a:p>
              <a:p>
                <a:r>
                  <a:rPr lang="nb-NO" b="1" noProof="0" dirty="0"/>
                  <a:t>Bedriften maksimerer overskudd etter skatt (</a:t>
                </a:r>
                <a14:m>
                  <m:oMath xmlns:m="http://schemas.openxmlformats.org/officeDocument/2006/math">
                    <m:r>
                      <a:rPr lang="nb-NO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nb-NO" b="1" noProof="0" dirty="0"/>
                  <a:t>):</a:t>
                </a:r>
                <a:r>
                  <a:rPr lang="nb-NO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b-NO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nb-NO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nb-N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sSup>
                      <m:sSupPr>
                        <m:ctrlP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nb-NO" noProof="0" dirty="0"/>
              </a:p>
              <a:p>
                <a:endParaRPr lang="nb-NO" noProof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nb-NO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nb-NO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nb-NO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p>
                            </m:sSup>
                            <m:r>
                              <a:rPr lang="nb-NO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b-NO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sSup>
                              <m:sSupPr>
                                <m:ctrlPr>
                                  <a:rPr lang="nb-NO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nb-NO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nb-NO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nb-NO" sz="3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nb-NO" sz="3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3200" b="0" i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 sz="3200" b="0" i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3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b-NO" sz="32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nb-N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r>
                      <a:rPr lang="nb-NO" sz="3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)∙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nb-NO" noProof="0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nb-NO" b="0" noProof="0" dirty="0"/>
                  <a:t>Hvis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b-NO" b="0" noProof="0" dirty="0"/>
                  <a:t> (virkelig og skattemessig overskudd er det samme) får vi </a:t>
                </a:r>
                <a14:m>
                  <m:oMath xmlns:m="http://schemas.openxmlformats.org/officeDocument/2006/math">
                    <m:r>
                      <a:rPr lang="nb-NO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nb-NO" b="0" noProof="0" dirty="0">
                    <a:solidFill>
                      <a:srgbClr val="FF0000"/>
                    </a:solidFill>
                  </a:rPr>
                  <a:t> </a:t>
                </a:r>
                <a:r>
                  <a:rPr lang="nb-NO" b="0" noProof="0" dirty="0" err="1"/>
                  <a:t>dvs</a:t>
                </a:r>
                <a:r>
                  <a:rPr lang="nb-NO" b="0" noProof="0" dirty="0"/>
                  <a:t> grenseinntekt lik grensekostnad og skatten påvirker ikke bedriftens atferd.</a:t>
                </a:r>
                <a:endParaRPr lang="nb-NO" sz="32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DECE86-CA03-E2DA-28BA-AE18FEFE33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771" y="757325"/>
                <a:ext cx="11926229" cy="5907933"/>
              </a:xfrm>
              <a:blipFill>
                <a:blip r:embed="rId2"/>
                <a:stretch>
                  <a:fillRect l="-1074" t="-165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B62B3-5514-94C7-789F-C6849DF5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65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49432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60FB0F-B60F-2F64-1E7A-2B11DF5804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146" y="174812"/>
                <a:ext cx="11781264" cy="654666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nb-NO" sz="3200" b="1" dirty="0"/>
                  <a:t>Effektive gjennomsnittlige skattesatser (AERT) </a:t>
                </a:r>
              </a:p>
              <a:p>
                <a:pPr marL="0" indent="0" algn="ctr">
                  <a:buNone/>
                </a:pPr>
                <a:r>
                  <a:rPr lang="nb-NO" sz="3200" b="1" dirty="0"/>
                  <a:t>for personlige skattytere og næringsdrivende</a:t>
                </a:r>
                <a:endParaRPr lang="nb-NO" b="1" dirty="0"/>
              </a:p>
              <a:p>
                <a:endParaRPr lang="nb-NO" dirty="0"/>
              </a:p>
              <a:p>
                <a:r>
                  <a:rPr lang="nb-NO" sz="3200" dirty="0"/>
                  <a:t>Personlig skattyter: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𝐴𝐸𝑅𝑇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𝑏𝑒𝑡𝑎𝑙𝑡</m:t>
                        </m:r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𝑠𝑘𝑎𝑡𝑡</m:t>
                        </m:r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𝑝𝑒𝑟𝑠𝑜𝑛𝑠𝑖𝑛𝑛𝑡𝑒𝑘𝑡</m:t>
                        </m:r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𝑏𝑟𝑢𝑡𝑡𝑜</m:t>
                        </m:r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𝑝𝑒𝑟𝑠𝑜𝑛𝑖𝑛𝑛𝑡𝑒𝑘𝑡</m:t>
                        </m:r>
                      </m:den>
                    </m:f>
                  </m:oMath>
                </a14:m>
                <a:endParaRPr lang="nb-NO" dirty="0"/>
              </a:p>
              <a:p>
                <a:endParaRPr lang="nb-NO" dirty="0"/>
              </a:p>
              <a:p>
                <a:r>
                  <a:rPr lang="nb-NO" sz="3200" dirty="0"/>
                  <a:t>Næringsdrivende/aksjonærs </a:t>
                </a:r>
                <a:r>
                  <a:rPr lang="nb-NO" sz="3200" i="1" dirty="0"/>
                  <a:t>AERT</a:t>
                </a:r>
                <a:r>
                  <a:rPr lang="nb-NO" sz="3200" dirty="0"/>
                  <a:t>: </a:t>
                </a: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𝑏𝑒𝑡𝑎𝑙𝑡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𝑠𝑘𝑎𝑡𝑡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𝑝𝑒𝑟𝑠𝑜𝑛𝑖𝑛𝑛𝑡𝑒𝑘𝑡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𝑒𝑖𝑒𝑟𝑎𝑛𝑑𝑒𝑙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𝑏𝑒𝑡𝑎𝑙𝑡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𝑠𝑘𝑎𝑡𝑡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𝑠𝑒𝑙𝑠𝑘𝑎𝑝𝑠𝑖𝑛𝑛𝑡𝑒𝑘𝑡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𝐵𝑟𝑢𝑡𝑡𝑜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𝑝𝑒𝑟𝑠𝑜𝑛𝑖𝑛𝑛𝑡𝑒𝑘𝑡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𝑒𝑖𝑒𝑟𝑎𝑛𝑑𝑒𝑙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𝑏𝑟𝑢𝑡𝑡𝑜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𝑠𝑒𝑙𝑠𝑘𝑎𝑝𝑠𝑖𝑛𝑛𝑡𝑒𝑘𝑡</m:t>
                          </m:r>
                        </m:den>
                      </m:f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60FB0F-B60F-2F64-1E7A-2B11DF5804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146" y="174812"/>
                <a:ext cx="11781264" cy="6546663"/>
              </a:xfrm>
              <a:blipFill>
                <a:blip r:embed="rId2"/>
                <a:stretch>
                  <a:fillRect l="-1190" t="-195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1BCBA-15C1-B61B-3D28-D9079F32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66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25176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4BC3-6DC0-8E44-E247-5F957AAC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136525"/>
            <a:ext cx="10515600" cy="818216"/>
          </a:xfrm>
        </p:spPr>
        <p:txBody>
          <a:bodyPr>
            <a:normAutofit/>
          </a:bodyPr>
          <a:lstStyle/>
          <a:p>
            <a:r>
              <a:rPr lang="nb-NO" sz="4000" b="1" dirty="0">
                <a:latin typeface="+mn-lt"/>
              </a:rPr>
              <a:t>Effektiv marginalskatt på eier av bedrift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C4C98-7F78-4928-9F47-E7FF979BC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77" y="1066800"/>
            <a:ext cx="11636188" cy="5110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600" u="sng" dirty="0"/>
              <a:t>Offisiell statistikk </a:t>
            </a:r>
            <a:r>
              <a:rPr lang="nb-NO" sz="3600" dirty="0"/>
              <a:t>bruker nominelle satser og forutsetter at alt som opptjenes i bedriften betales ut som utbytte. </a:t>
            </a:r>
          </a:p>
          <a:p>
            <a:pPr marL="0" indent="0">
              <a:buNone/>
            </a:pPr>
            <a:endParaRPr lang="nb-NO" sz="3600" dirty="0"/>
          </a:p>
          <a:p>
            <a:pPr marL="0" indent="0">
              <a:buNone/>
            </a:pPr>
            <a:r>
              <a:rPr lang="nb-NO" sz="3600" dirty="0"/>
              <a:t>En krone i skattbar inntekt  i bedriften som etter selskapsskatt tas ut i sin helhet som utbytte gir marginalskatt</a:t>
            </a:r>
          </a:p>
          <a:p>
            <a:pPr marL="0" indent="0">
              <a:buNone/>
            </a:pPr>
            <a:endParaRPr lang="nb-NO" sz="3600" dirty="0"/>
          </a:p>
          <a:p>
            <a:pPr marL="0" indent="0" algn="ctr">
              <a:buNone/>
            </a:pPr>
            <a:r>
              <a:rPr lang="nb-NO" sz="3600" dirty="0"/>
              <a:t>1 kr *22% + (1 kr – 0,22 kr) *37,84% = </a:t>
            </a:r>
            <a:r>
              <a:rPr lang="nb-NO" sz="3600" dirty="0">
                <a:solidFill>
                  <a:srgbClr val="FF0000"/>
                </a:solidFill>
              </a:rPr>
              <a:t>51,5%</a:t>
            </a:r>
          </a:p>
          <a:p>
            <a:endParaRPr lang="nb-NO" sz="3600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2AFB5-00B6-6101-5029-0687C03A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67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375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46124-7892-2EDB-891D-54A065859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494"/>
            <a:ext cx="10515600" cy="5921469"/>
          </a:xfrm>
        </p:spPr>
        <p:txBody>
          <a:bodyPr>
            <a:normAutofit fontScale="92500" lnSpcReduction="20000"/>
          </a:bodyPr>
          <a:lstStyle/>
          <a:p>
            <a:r>
              <a:rPr lang="nb-NO" sz="3600" dirty="0"/>
              <a:t>Offisielle statistikk er imidlertid feil fordi vi vet at den virkelige effektive skattesatsen bedriftene betaler ikke er lik den nominelle satsen. </a:t>
            </a:r>
          </a:p>
          <a:p>
            <a:endParaRPr lang="nb-NO" sz="3600" dirty="0"/>
          </a:p>
          <a:p>
            <a:r>
              <a:rPr lang="nb-NO" sz="3600" dirty="0"/>
              <a:t>Studier på norske data viser at den effektive skatten bedriftene betaler ligger mellom </a:t>
            </a:r>
            <a:r>
              <a:rPr lang="nb-NO" sz="3600" dirty="0">
                <a:solidFill>
                  <a:srgbClr val="FF0000"/>
                </a:solidFill>
              </a:rPr>
              <a:t>13-15%</a:t>
            </a:r>
            <a:r>
              <a:rPr lang="nb-NO" sz="3600" dirty="0"/>
              <a:t>. Bruker vi </a:t>
            </a:r>
            <a:r>
              <a:rPr lang="nb-NO" sz="3600" dirty="0">
                <a:solidFill>
                  <a:srgbClr val="FF0000"/>
                </a:solidFill>
              </a:rPr>
              <a:t>14% </a:t>
            </a:r>
            <a:r>
              <a:rPr lang="nb-NO" sz="3600" dirty="0"/>
              <a:t>har vi at den marginale eierskatten er:</a:t>
            </a:r>
          </a:p>
          <a:p>
            <a:endParaRPr lang="nb-NO" sz="3600" dirty="0"/>
          </a:p>
          <a:p>
            <a:pPr marL="0" indent="0" algn="ctr">
              <a:buNone/>
            </a:pPr>
            <a:r>
              <a:rPr lang="nb-NO" sz="3600" dirty="0"/>
              <a:t>1 kr *14% + (1 kr – 0,14 kr) *37,84% = </a:t>
            </a:r>
            <a:r>
              <a:rPr lang="nb-NO" sz="3600" dirty="0">
                <a:solidFill>
                  <a:srgbClr val="FF0000"/>
                </a:solidFill>
              </a:rPr>
              <a:t>46,5%</a:t>
            </a:r>
          </a:p>
          <a:p>
            <a:pPr marL="0" indent="0" algn="ctr">
              <a:buNone/>
            </a:pPr>
            <a:endParaRPr lang="nb-NO" sz="3600" dirty="0">
              <a:solidFill>
                <a:srgbClr val="FF0000"/>
              </a:solidFill>
            </a:endParaRPr>
          </a:p>
          <a:p>
            <a:r>
              <a:rPr lang="nb-NO" sz="3600" dirty="0"/>
              <a:t>Grunnen til at offisielle statistikk bruker et annet tall er at man ønsker et sammenlikningsgrunnlag med andre land som bruker nominelle satser.</a:t>
            </a:r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8EDE9-5AFE-41C2-86D9-077CF332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68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909187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D28709-5CB7-44D6-B3BC-B1C015D6B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pic>
        <p:nvPicPr>
          <p:cNvPr id="5" name="Picture 4" descr="A person standing in front of a white cube&#10;&#10;Description automatically generated">
            <a:extLst>
              <a:ext uri="{FF2B5EF4-FFF2-40B4-BE49-F238E27FC236}">
                <a16:creationId xmlns:a16="http://schemas.microsoft.com/office/drawing/2014/main" id="{29BE773C-5CF1-1F9F-E3E3-326BF7C799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8907"/>
          <a:stretch/>
        </p:blipFill>
        <p:spPr>
          <a:xfrm>
            <a:off x="1397897" y="1261982"/>
            <a:ext cx="9349174" cy="52589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C13FDD-3085-4BF0-9261-ED28A5FDD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169982"/>
            <a:ext cx="10530318" cy="2736390"/>
          </a:xfrm>
        </p:spPr>
        <p:txBody>
          <a:bodyPr anchor="b">
            <a:normAutofit/>
          </a:bodyPr>
          <a:lstStyle/>
          <a:p>
            <a:pPr algn="l"/>
            <a:r>
              <a:rPr lang="nb-NO" sz="4400" dirty="0">
                <a:solidFill>
                  <a:schemeClr val="tx2"/>
                </a:solidFill>
              </a:rPr>
              <a:t>7</a:t>
            </a:r>
            <a:r>
              <a:rPr lang="nb-NO" sz="4400" noProof="0" dirty="0">
                <a:solidFill>
                  <a:schemeClr val="tx2"/>
                </a:solidFill>
              </a:rPr>
              <a:t>. De rikeste og kapitalbeskatningen i Norge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F5ECE-DFCE-4B5E-984B-BCCA08A10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530318" cy="1949813"/>
          </a:xfrm>
        </p:spPr>
        <p:txBody>
          <a:bodyPr anchor="t">
            <a:normAutofit/>
          </a:bodyPr>
          <a:lstStyle/>
          <a:p>
            <a:pPr algn="l"/>
            <a:endParaRPr lang="nb-NO" sz="3200" noProof="0" dirty="0">
              <a:solidFill>
                <a:schemeClr val="tx2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C09A4F-8DE1-4622-BAE9-9E65C0252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AD8094-670D-4F60-875A-A60C3CD0C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97FD1C-2756-4C3B-9EA4-69F478100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63DAE67-4E3B-405B-BE8E-9D6444C61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B3572FF-9A6D-4F25-8AE0-EC00386D7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542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8799-2DE5-A4DC-CE6A-E54BABDFB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96" y="365125"/>
            <a:ext cx="11076904" cy="722777"/>
          </a:xfrm>
        </p:spPr>
        <p:txBody>
          <a:bodyPr>
            <a:noAutofit/>
          </a:bodyPr>
          <a:lstStyle/>
          <a:p>
            <a:r>
              <a:rPr lang="nb-NO" sz="3200" dirty="0"/>
              <a:t>De 1 prosent rikeste (</a:t>
            </a:r>
            <a:r>
              <a:rPr lang="nb-NO" sz="3200" dirty="0" err="1"/>
              <a:t>ca</a:t>
            </a:r>
            <a:r>
              <a:rPr lang="nb-NO" sz="3200" dirty="0"/>
              <a:t> 50 000 personer) kjennetegnes ved: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99B71-B5B4-5B84-5B2F-540DB2064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3945"/>
            <a:ext cx="10932459" cy="4803018"/>
          </a:xfrm>
        </p:spPr>
        <p:txBody>
          <a:bodyPr>
            <a:normAutofit/>
          </a:bodyPr>
          <a:lstStyle/>
          <a:p>
            <a:r>
              <a:rPr lang="nb-NO" sz="3200" dirty="0"/>
              <a:t>At de har nesten ikke lønnsinntekt</a:t>
            </a:r>
          </a:p>
          <a:p>
            <a:endParaRPr lang="nb-NO" sz="3200" dirty="0"/>
          </a:p>
          <a:p>
            <a:r>
              <a:rPr lang="nb-NO" sz="3200" dirty="0"/>
              <a:t>Eier relativt til andre grupper lite eiendom</a:t>
            </a:r>
          </a:p>
          <a:p>
            <a:endParaRPr lang="nb-NO" sz="3200" dirty="0"/>
          </a:p>
          <a:p>
            <a:r>
              <a:rPr lang="nb-NO" sz="3200" dirty="0"/>
              <a:t>Eier mesteparten av aksjene i Norge</a:t>
            </a:r>
          </a:p>
          <a:p>
            <a:endParaRPr lang="nb-NO" sz="3200" dirty="0"/>
          </a:p>
          <a:p>
            <a:pPr marL="0" indent="0">
              <a:buNone/>
            </a:pPr>
            <a:endParaRPr lang="nb-NO" sz="3200" dirty="0"/>
          </a:p>
          <a:p>
            <a:r>
              <a:rPr lang="nb-NO" sz="3200" dirty="0"/>
              <a:t>Har 2/3 av formuen er i unoterte aksjer med lav formuesverdi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E79A4-CCA5-9184-A0A5-12160908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70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803723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AFD6-33E7-4B00-8502-D864736C7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026" y="627529"/>
            <a:ext cx="9144000" cy="5189071"/>
          </a:xfrm>
        </p:spPr>
        <p:txBody>
          <a:bodyPr>
            <a:normAutofit fontScale="90000"/>
          </a:bodyPr>
          <a:lstStyle/>
          <a:p>
            <a:r>
              <a:rPr lang="nb-NO" noProof="0" dirty="0"/>
              <a:t>Hva er skattebelastningen</a:t>
            </a:r>
            <a:br>
              <a:rPr lang="nb-NO" noProof="0" dirty="0"/>
            </a:br>
            <a:r>
              <a:rPr lang="nb-NO" noProof="0" dirty="0"/>
              <a:t> for en topp 1% rik investor</a:t>
            </a:r>
            <a:br>
              <a:rPr lang="nb-NO" noProof="0" dirty="0"/>
            </a:br>
            <a:br>
              <a:rPr lang="nb-NO" noProof="0" dirty="0"/>
            </a:br>
            <a:r>
              <a:rPr lang="nb-NO" sz="4900" noProof="0" dirty="0"/>
              <a:t>(</a:t>
            </a:r>
            <a:r>
              <a:rPr lang="nb-NO" sz="4900" dirty="0"/>
              <a:t>vi skal sette oss inn i samme posisjon og se hva vi ender opp med i skatt</a:t>
            </a:r>
            <a:r>
              <a:rPr lang="nb-NO" sz="4900" noProof="0" dirty="0"/>
              <a:t>)</a:t>
            </a:r>
            <a:br>
              <a:rPr lang="nb-NO" noProof="0" dirty="0"/>
            </a:br>
            <a:br>
              <a:rPr lang="nb-NO" noProof="0" dirty="0"/>
            </a:br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7584320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8190-E02D-F6FF-E8B7-F673C9DE6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702"/>
            <a:ext cx="10515600" cy="813734"/>
          </a:xfrm>
        </p:spPr>
        <p:txBody>
          <a:bodyPr>
            <a:normAutofit/>
          </a:bodyPr>
          <a:lstStyle/>
          <a:p>
            <a:r>
              <a:rPr lang="nb-NO" sz="3200" dirty="0"/>
              <a:t>Vi skal finne effektiv skatt (AERT) for en rik investor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2611A-8B63-F2A3-A83A-B0947C78A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51" y="1107140"/>
            <a:ext cx="11397037" cy="5477435"/>
          </a:xfrm>
        </p:spPr>
        <p:txBody>
          <a:bodyPr>
            <a:normAutofit/>
          </a:bodyPr>
          <a:lstStyle/>
          <a:p>
            <a:r>
              <a:rPr lang="nb-NO" sz="3000" dirty="0"/>
              <a:t>Inntekten til investoren er inntekten til selskapet han eier som gir kr 100 pr år i inntekt </a:t>
            </a:r>
          </a:p>
          <a:p>
            <a:endParaRPr lang="nb-NO" sz="3000" dirty="0"/>
          </a:p>
          <a:p>
            <a:r>
              <a:rPr lang="nb-NO" sz="3000" dirty="0"/>
              <a:t>Vi antar at investor tar utbytte for å betale formuesskatten.</a:t>
            </a:r>
          </a:p>
          <a:p>
            <a:endParaRPr lang="nb-NO" sz="3000" dirty="0"/>
          </a:p>
          <a:p>
            <a:r>
              <a:rPr lang="nb-NO" sz="3000" dirty="0"/>
              <a:t>Vi skal anta at investoren ikke har gjeld siden han er veldig rik</a:t>
            </a:r>
          </a:p>
          <a:p>
            <a:endParaRPr lang="nb-NO" sz="3000" dirty="0"/>
          </a:p>
          <a:p>
            <a:r>
              <a:rPr lang="nb-NO" sz="3000" dirty="0"/>
              <a:t>Investoren betaler </a:t>
            </a:r>
            <a:r>
              <a:rPr lang="nb-NO" sz="3000" dirty="0">
                <a:solidFill>
                  <a:srgbClr val="FF0000"/>
                </a:solidFill>
              </a:rPr>
              <a:t>formuesskatt + skatt på utbytte + selskapsskatt</a:t>
            </a:r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36F8A-8088-7A73-AF4F-A8C67805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72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1395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4D8A2-622C-287A-03A9-8FAEEA7C39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8940" y="304800"/>
                <a:ext cx="11802035" cy="61321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nb-NO" sz="32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Markedsverdien av et selskap som tjener kr 100 hvert år er: </a:t>
                </a:r>
              </a:p>
              <a:p>
                <a:pPr marL="0" indent="0">
                  <a:buNone/>
                </a:pPr>
                <a:endParaRPr lang="en-US" sz="3200" b="0" i="1" noProof="0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2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𝑀𝑎𝑟𝑘𝑒𝑑𝑠𝑣𝑒𝑟𝑑𝑖</m:t>
                      </m:r>
                      <m:r>
                        <a:rPr lang="en-US" sz="32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32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32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𝑏</m:t>
                          </m:r>
                          <m:r>
                            <a:rPr lang="en-US" sz="32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ø</m:t>
                          </m:r>
                          <m:r>
                            <a:rPr lang="en-US" sz="32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𝑟𝑠𝑣𝑒𝑟𝑑𝑖</m:t>
                          </m:r>
                        </m:e>
                      </m:d>
                      <m:r>
                        <a:rPr lang="en-US" sz="32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𝑎𝑘𝑠𝑗𝑒𝑛𝑒</m:t>
                      </m:r>
                      <m:r>
                        <a:rPr lang="en-US" sz="32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32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100 </m:t>
                          </m:r>
                          <m:r>
                            <a:rPr lang="en-US" sz="32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𝑘𝑟</m:t>
                          </m:r>
                        </m:num>
                        <m:den>
                          <m:r>
                            <a:rPr lang="en-US" sz="32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12,22%</m:t>
                          </m:r>
                        </m:den>
                      </m:f>
                      <m:r>
                        <a:rPr lang="en-US" sz="32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32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𝑘𝑟</m:t>
                      </m:r>
                      <m:r>
                        <a:rPr lang="en-US" sz="32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818</m:t>
                      </m:r>
                    </m:oMath>
                  </m:oMathPara>
                </a14:m>
                <a:endParaRPr lang="en-US" sz="3200" b="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nb-NO" sz="2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nb-NO" sz="30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hvor diskonteringsfaktoren på 12,22% er realavkastningen i Norge på aksjer etter 1980 (</a:t>
                </a:r>
                <a:r>
                  <a:rPr lang="nb-NO" sz="30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jf</a:t>
                </a:r>
                <a:r>
                  <a:rPr lang="nb-NO" sz="30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artikkelen </a:t>
                </a:r>
                <a:r>
                  <a:rPr lang="nb-NO" sz="3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«</a:t>
                </a:r>
                <a:r>
                  <a:rPr lang="nb-NO" sz="30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rate </a:t>
                </a:r>
                <a:r>
                  <a:rPr lang="nb-NO" sz="30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nb-NO" sz="30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b-NO" sz="30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return</a:t>
                </a:r>
                <a:r>
                  <a:rPr lang="nb-NO" sz="30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b-NO" sz="30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nb-NO" sz="30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b-NO" sz="30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everything</a:t>
                </a:r>
                <a:r>
                  <a:rPr lang="nb-NO" sz="30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», QJE 2019)</a:t>
                </a:r>
              </a:p>
              <a:p>
                <a:pPr marL="0" indent="0">
                  <a:buNone/>
                </a:pPr>
                <a:endParaRPr lang="nb-NO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Hvis selskapet er unotert anslår to SSB rapporter (rapport 2022/31 og rapport </a:t>
                </a:r>
                <a:r>
                  <a:rPr lang="nb-NO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hlinkClick r:id="rId2"/>
                  </a:rPr>
                  <a:t>2025/21</a:t>
                </a:r>
                <a:r>
                  <a:rPr lang="nb-NO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at formuesverdien til unoterte aksjer ligger et sted mellom 35-40% av markedsverdien </a:t>
                </a:r>
              </a:p>
              <a:p>
                <a:endParaRPr lang="nb-NO" sz="3200" b="1" dirty="0">
                  <a:solidFill>
                    <a:srgbClr val="FF0000"/>
                  </a:solidFill>
                </a:endParaRPr>
              </a:p>
              <a:p>
                <a:r>
                  <a:rPr lang="nb-NO" sz="3200" b="1" dirty="0">
                    <a:solidFill>
                      <a:srgbClr val="FF0000"/>
                    </a:solidFill>
                  </a:rPr>
                  <a:t>Anta at formuesverdi inkl. aksjerabatten er 35% av markedsverdien. Formuesverdien på unoterte aksjer er kr 286,3</a:t>
                </a:r>
                <a:r>
                  <a:rPr lang="nb-NO" sz="3200" dirty="0"/>
                  <a:t> (= 818*35%)</a:t>
                </a:r>
                <a:endParaRPr lang="nb-NO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nb-NO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4D8A2-622C-287A-03A9-8FAEEA7C39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8940" y="304800"/>
                <a:ext cx="11802035" cy="6132139"/>
              </a:xfrm>
              <a:blipFill>
                <a:blip r:embed="rId3"/>
                <a:stretch>
                  <a:fillRect l="-1075" t="-2484" b="-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CDC7C-8043-8C97-F159-F4305AA1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73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779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B1D5-2923-983E-FE9F-D4CD66D7C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1E773-E2AC-B051-FED3-A80FD9DA52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188" y="174812"/>
                <a:ext cx="11716179" cy="65384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nb-NO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Formuesskatt  børsnotert selskap </a:t>
                </a:r>
                <a:r>
                  <a:rPr lang="nb-NO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(formuesverdi kr 818; jf. forrige slide):</a:t>
                </a:r>
              </a:p>
              <a:p>
                <a:pPr marL="457200" lvl="1" indent="0">
                  <a:buNone/>
                </a:pPr>
                <a:endParaRPr lang="nb-NO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 algn="ctr">
                  <a:buNone/>
                </a:pPr>
                <a:r>
                  <a:rPr lang="nb-NO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b-N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𝑘𝑟</m:t>
                        </m:r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 818∗</m:t>
                        </m:r>
                        <m:d>
                          <m:dPr>
                            <m:ctrlPr>
                              <a:rPr lang="nb-NO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b="0" i="1" noProof="0" smtClean="0">
                                <a:latin typeface="Cambria Math" panose="02040503050406030204" pitchFamily="18" charset="0"/>
                              </a:rPr>
                              <m:t>100%−20%</m:t>
                            </m:r>
                          </m:e>
                        </m:d>
                      </m:e>
                    </m:d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∗1,1%</m:t>
                    </m:r>
                    <m:r>
                      <m:rPr>
                        <m:nor/>
                      </m:rPr>
                      <a:rPr lang="nb-NO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nb-NO" b="0" i="1" noProof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nb-NO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𝒌𝒓</m:t>
                    </m:r>
                    <m:r>
                      <a:rPr lang="nb-NO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nb-NO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nb-NO" b="1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nb-NO" sz="24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endParaRPr lang="nb-NO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endParaRPr lang="nb-NO" b="1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Hopland mfl (2024) finner at AERT for alle norske selskaper er </a:t>
                </a:r>
                <a:r>
                  <a:rPr lang="nb-NO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13,1%</a:t>
                </a:r>
              </a:p>
              <a:p>
                <a:pPr marL="0" indent="0">
                  <a:buNone/>
                </a:pPr>
                <a:endParaRPr lang="nb-NO" b="1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Hvor mye utbytte må tas for å betale formuesskatten?</a:t>
                </a:r>
              </a:p>
              <a:p>
                <a:endParaRPr lang="nb-NO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Utbytte</a:t>
                </a:r>
                <a:r>
                  <a:rPr lang="nb-NO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3200" i="1">
                            <a:latin typeface="Cambria Math" panose="02040503050406030204" pitchFamily="18" charset="0"/>
                          </a:rPr>
                          <m:t>𝑘𝑟</m:t>
                        </m:r>
                        <m:r>
                          <a:rPr lang="nb-NO" sz="3200" i="1">
                            <a:latin typeface="Cambria Math" panose="02040503050406030204" pitchFamily="18" charset="0"/>
                          </a:rPr>
                          <m:t> 7,2</m:t>
                        </m:r>
                      </m:num>
                      <m:den>
                        <m:r>
                          <a:rPr lang="nb-NO" sz="3200" i="1">
                            <a:latin typeface="Cambria Math" panose="02040503050406030204" pitchFamily="18" charset="0"/>
                          </a:rPr>
                          <m:t>100%−37,84%</m:t>
                        </m:r>
                      </m:den>
                    </m:f>
                    <m:r>
                      <a:rPr lang="nb-NO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sz="3200" i="1">
                        <a:latin typeface="Cambria Math" panose="02040503050406030204" pitchFamily="18" charset="0"/>
                      </a:rPr>
                      <m:t>𝑘𝑟</m:t>
                    </m:r>
                    <m:r>
                      <a:rPr lang="nb-NO" sz="3200" i="1">
                        <a:latin typeface="Cambria Math" panose="02040503050406030204" pitchFamily="18" charset="0"/>
                      </a:rPr>
                      <m:t> 11,6</m:t>
                    </m:r>
                  </m:oMath>
                </a14:m>
                <a:r>
                  <a:rPr lang="nb-NO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b-NO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og utbytteskatt </a:t>
                </a:r>
                <a:r>
                  <a:rPr lang="nb-NO" b="1" noProof="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kr 4,4 </a:t>
                </a:r>
                <a:r>
                  <a:rPr lang="nb-NO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(= kr 11,6*37,84)</a:t>
                </a:r>
                <a:r>
                  <a:rPr lang="nb-NO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nb-NO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𝑨𝑬𝑹𝑻</m:t>
                      </m:r>
                      <m:r>
                        <a:rPr lang="en-US" sz="3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n-US" sz="3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US" sz="32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32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nb-NO" sz="32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1E773-E2AC-B051-FED3-A80FD9DA52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188" y="174812"/>
                <a:ext cx="11716179" cy="6538482"/>
              </a:xfrm>
              <a:blipFill>
                <a:blip r:embed="rId2"/>
                <a:stretch>
                  <a:fillRect l="-975" t="-2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A975BAD0-5636-D2EE-E3FD-CA60E26B8DED}"/>
              </a:ext>
            </a:extLst>
          </p:cNvPr>
          <p:cNvSpPr/>
          <p:nvPr/>
        </p:nvSpPr>
        <p:spPr>
          <a:xfrm rot="5400000">
            <a:off x="5666832" y="876833"/>
            <a:ext cx="226141" cy="1617785"/>
          </a:xfrm>
          <a:prstGeom prst="rightBrace">
            <a:avLst/>
          </a:prstGeom>
          <a:ln w="190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 noProof="0" dirty="0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6D8BF-40B3-BD72-5663-2C9B05E4382E}"/>
              </a:ext>
            </a:extLst>
          </p:cNvPr>
          <p:cNvSpPr txBox="1"/>
          <p:nvPr/>
        </p:nvSpPr>
        <p:spPr>
          <a:xfrm>
            <a:off x="4971010" y="1843619"/>
            <a:ext cx="1643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000" b="1" noProof="0" dirty="0">
                <a:solidFill>
                  <a:schemeClr val="accent2">
                    <a:lumMod val="75000"/>
                  </a:schemeClr>
                </a:solidFill>
              </a:rPr>
              <a:t>aksjerabatten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CCE8A88A-0242-AEDF-5CB4-C8E1ADEE9445}"/>
              </a:ext>
            </a:extLst>
          </p:cNvPr>
          <p:cNvSpPr/>
          <p:nvPr/>
        </p:nvSpPr>
        <p:spPr>
          <a:xfrm rot="5400000">
            <a:off x="7678247" y="1321547"/>
            <a:ext cx="211016" cy="565186"/>
          </a:xfrm>
          <a:prstGeom prst="rightBrac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5A9579-15E1-0F58-6799-0F3562B5F0E5}"/>
              </a:ext>
            </a:extLst>
          </p:cNvPr>
          <p:cNvSpPr txBox="1"/>
          <p:nvPr/>
        </p:nvSpPr>
        <p:spPr>
          <a:xfrm>
            <a:off x="6998748" y="1791204"/>
            <a:ext cx="2135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000" b="1" noProof="0" dirty="0">
                <a:solidFill>
                  <a:srgbClr val="0070C0"/>
                </a:solidFill>
              </a:rPr>
              <a:t>formuesskattesats</a:t>
            </a:r>
            <a:endParaRPr lang="nb-NO" b="1" noProof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1256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C5838-1EB9-51FF-2A1F-A65DFFEDF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B7094E-1115-033E-90FA-05D4DE40D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9636" y="174812"/>
                <a:ext cx="11702732" cy="65384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nb-NO" sz="3200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Formuesskatt unotert selskap </a:t>
                </a:r>
                <a:r>
                  <a:rPr lang="nb-NO" sz="32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(formuesverdi kr </a:t>
                </a:r>
                <a:r>
                  <a:rPr lang="nb-NO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286,3</a:t>
                </a:r>
                <a:r>
                  <a:rPr lang="nb-NO" sz="32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jf. forrige slide):</a:t>
                </a:r>
              </a:p>
              <a:p>
                <a:pPr marL="457200" lvl="1" indent="0">
                  <a:buNone/>
                </a:pPr>
                <a:endParaRPr lang="nb-NO" sz="2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 algn="ctr">
                  <a:buNone/>
                </a:pPr>
                <a:r>
                  <a:rPr lang="nb-NO" sz="2800" b="0" noProof="0" dirty="0"/>
                  <a:t>Kr 286,3</a:t>
                </a:r>
                <a14:m>
                  <m:oMath xmlns:m="http://schemas.openxmlformats.org/officeDocument/2006/math">
                    <m:r>
                      <a:rPr lang="nb-NO" sz="2800" b="0" i="1" noProof="0" smtClean="0">
                        <a:latin typeface="Cambria Math" panose="02040503050406030204" pitchFamily="18" charset="0"/>
                      </a:rPr>
                      <m:t>∗1,1%</m:t>
                    </m:r>
                    <m:r>
                      <m:rPr>
                        <m:nor/>
                      </m:rPr>
                      <a:rPr lang="nb-NO" sz="28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sz="2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nb-NO" sz="2800" b="0" i="1" noProof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nb-NO" sz="2800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𝑘𝑟</m:t>
                    </m:r>
                    <m:r>
                      <a:rPr lang="nb-NO" sz="2800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3,1</m:t>
                    </m:r>
                  </m:oMath>
                </a14:m>
                <a:endParaRPr lang="nb-NO" sz="2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nb-NO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endParaRPr lang="nb-NO" sz="2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endParaRPr lang="nb-NO" sz="2800" b="1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sz="3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Selskapsskatt: kr 13,1 (</a:t>
                </a:r>
                <a:r>
                  <a:rPr lang="nb-NO" sz="32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jf</a:t>
                </a:r>
                <a:r>
                  <a:rPr lang="nb-NO" sz="3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forrige lysark)</a:t>
                </a:r>
              </a:p>
              <a:p>
                <a:pPr marL="0" indent="0">
                  <a:buNone/>
                </a:pPr>
                <a:endParaRPr lang="nb-NO" sz="3200" b="1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sz="3200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b-NO" sz="3200" dirty="0"/>
                  <a:t>𝑈𝑡𝑏𝑦𝑡𝑡𝑒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3200" i="1">
                            <a:latin typeface="Cambria Math" panose="02040503050406030204" pitchFamily="18" charset="0"/>
                          </a:rPr>
                          <m:t>𝑘𝑟</m:t>
                        </m:r>
                        <m:r>
                          <a:rPr lang="nb-NO" sz="3200" i="1">
                            <a:latin typeface="Cambria Math" panose="02040503050406030204" pitchFamily="18" charset="0"/>
                          </a:rPr>
                          <m:t> 3,1</m:t>
                        </m:r>
                      </m:num>
                      <m:den>
                        <m:r>
                          <a:rPr lang="nb-NO" sz="3200" i="1">
                            <a:latin typeface="Cambria Math" panose="02040503050406030204" pitchFamily="18" charset="0"/>
                          </a:rPr>
                          <m:t>100%−37,84%</m:t>
                        </m:r>
                      </m:den>
                    </m:f>
                    <m:r>
                      <a:rPr lang="nb-NO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sz="3200" i="1">
                        <a:latin typeface="Cambria Math" panose="02040503050406030204" pitchFamily="18" charset="0"/>
                      </a:rPr>
                      <m:t>𝑘𝑟</m:t>
                    </m:r>
                    <m:r>
                      <a:rPr lang="nb-NO" sz="3200" i="1">
                        <a:latin typeface="Cambria Math" panose="02040503050406030204" pitchFamily="18" charset="0"/>
                      </a:rPr>
                      <m:t> 5</m:t>
                    </m:r>
                  </m:oMath>
                </a14:m>
                <a:r>
                  <a:rPr lang="nb-NO" sz="3200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nb-NO" sz="32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og utbytteskatt = kr 5*37,84 = 1,9 kr</a:t>
                </a:r>
              </a:p>
              <a:p>
                <a:endParaRPr lang="nb-NO" sz="32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𝑨𝑬𝑹𝑻</m:t>
                      </m:r>
                      <m:r>
                        <a:rPr lang="en-US" sz="3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US" sz="3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n-US" sz="3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sz="32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2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nb-NO" sz="32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B7094E-1115-033E-90FA-05D4DE40D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9636" y="174812"/>
                <a:ext cx="11702732" cy="6538482"/>
              </a:xfrm>
              <a:blipFill>
                <a:blip r:embed="rId3"/>
                <a:stretch>
                  <a:fillRect l="-1198" t="-2519" r="-72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3427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5C543-C8D8-0DA0-D66E-E7CBFBCBF4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894" y="206188"/>
                <a:ext cx="11528612" cy="64545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nb-NO" dirty="0"/>
                  <a:t>AERT når alle aksjene er børsnoter er 24,7%. AERT når alle aksjene er unoterte er 18,1%</a:t>
                </a:r>
              </a:p>
              <a:p>
                <a:endParaRPr lang="nb-NO" dirty="0"/>
              </a:p>
              <a:p>
                <a:r>
                  <a:rPr lang="nb-NO" dirty="0"/>
                  <a:t>Topp 1% eier 1/3 børsnoterte og 2/3 unoterte aksjer. AERT for en slik portefølje er 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4,7%∗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+18,1%∗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20,3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 </a:t>
                </a:r>
              </a:p>
              <a:p>
                <a:r>
                  <a:rPr lang="nb-NO" dirty="0"/>
                  <a:t>Aaberge et al (2020); effektiv skatt for topp 1% var 22% i gjennomsnitt for perioden 2001-2018</a:t>
                </a:r>
              </a:p>
              <a:p>
                <a:endParaRPr lang="nb-NO" dirty="0"/>
              </a:p>
              <a:p>
                <a:r>
                  <a:rPr lang="nb-NO" dirty="0"/>
                  <a:t>Aaberge et al (2020); effektiv skatt for topp 0,1% lå mellom 9% og 17% i perioden 2001-2018.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5C543-C8D8-0DA0-D66E-E7CBFBCBF4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894" y="206188"/>
                <a:ext cx="11528612" cy="6454588"/>
              </a:xfrm>
              <a:blipFill>
                <a:blip r:embed="rId2"/>
                <a:stretch>
                  <a:fillRect l="-952" t="-217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73801-D2C1-5623-1EF2-1DD23905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smtClean="0"/>
              <a:t>76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5316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3E7C-76FE-0E95-7366-3ECBBAA0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Appendiks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C315-6909-5EC5-23D3-8FE39D6D1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noProof="0" dirty="0"/>
              <a:t>Dere må forstå hva fritaksmetoden og aksjonærmodellen innebærer</a:t>
            </a:r>
          </a:p>
          <a:p>
            <a:endParaRPr lang="nb-NO" noProof="0" dirty="0"/>
          </a:p>
          <a:p>
            <a:r>
              <a:rPr lang="nb-NO" noProof="0" dirty="0"/>
              <a:t>Dere må kunne inntektsskiftningsligningen</a:t>
            </a:r>
          </a:p>
          <a:p>
            <a:endParaRPr lang="nb-NO" noProof="0" dirty="0"/>
          </a:p>
          <a:p>
            <a:r>
              <a:rPr lang="nb-NO" noProof="0" dirty="0"/>
              <a:t>Dere må kunne hvordan man beregner skattbart utbytte og hva skatten på utbytte og gevinst blir (la oss se litt nøyere på det)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EC768-30C7-F754-9C96-9689D592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77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2736573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39D7-4120-F2DB-6214-73B65942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0981"/>
          </a:xfrm>
        </p:spPr>
        <p:txBody>
          <a:bodyPr>
            <a:normAutofit/>
          </a:bodyPr>
          <a:lstStyle/>
          <a:p>
            <a:r>
              <a:rPr lang="nb-NO" sz="3600" noProof="0" dirty="0"/>
              <a:t>Eksempel 1: Typisk eksamensoppgave (skatt på utbytte)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A3EB1-5A14-1DA5-D37B-EB31C9429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706" y="1044388"/>
            <a:ext cx="11152094" cy="5198215"/>
          </a:xfrm>
        </p:spPr>
        <p:txBody>
          <a:bodyPr>
            <a:normAutofit/>
          </a:bodyPr>
          <a:lstStyle/>
          <a:p>
            <a:r>
              <a:rPr lang="nb-NO" noProof="0" dirty="0"/>
              <a:t>Sindre har kjøpt en aksje i selskapet Box med kostpris kr 100 i 2018. Siden han satt med aksjen over årsskiftet 2018/2019, har han rett på utbytte i 2018 samt skjerming. Sindre sitter ennå på aksjen og tror han skal få stor kursgevinst i 2025. Anta følgende utbyttepolitikk og </a:t>
            </a:r>
            <a:r>
              <a:rPr lang="nb-NO" noProof="0" dirty="0" err="1"/>
              <a:t>skjermingsrente</a:t>
            </a:r>
            <a:r>
              <a:rPr lang="nb-NO" noProof="0" dirty="0"/>
              <a:t> i følgende år:</a:t>
            </a:r>
          </a:p>
          <a:p>
            <a:pPr marL="0" indent="0">
              <a:buNone/>
            </a:pPr>
            <a:endParaRPr lang="nb-NO" sz="3200" noProof="0" dirty="0"/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65A65-0F4B-8278-D4CE-9871611B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78</a:t>
            </a:fld>
            <a:endParaRPr lang="nb-NO" noProof="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FED1657-697F-AA6B-B4FC-A47FBAF5C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632311"/>
              </p:ext>
            </p:extLst>
          </p:nvPr>
        </p:nvGraphicFramePr>
        <p:xfrm>
          <a:off x="835742" y="3428999"/>
          <a:ext cx="881625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391">
                  <a:extLst>
                    <a:ext uri="{9D8B030D-6E8A-4147-A177-3AD203B41FA5}">
                      <a16:colId xmlns:a16="http://schemas.microsoft.com/office/drawing/2014/main" val="336948964"/>
                    </a:ext>
                  </a:extLst>
                </a:gridCol>
                <a:gridCol w="2937933">
                  <a:extLst>
                    <a:ext uri="{9D8B030D-6E8A-4147-A177-3AD203B41FA5}">
                      <a16:colId xmlns:a16="http://schemas.microsoft.com/office/drawing/2014/main" val="1243220909"/>
                    </a:ext>
                  </a:extLst>
                </a:gridCol>
                <a:gridCol w="2937933">
                  <a:extLst>
                    <a:ext uri="{9D8B030D-6E8A-4147-A177-3AD203B41FA5}">
                      <a16:colId xmlns:a16="http://schemas.microsoft.com/office/drawing/2014/main" val="1563159935"/>
                    </a:ext>
                  </a:extLst>
                </a:gridCol>
              </a:tblGrid>
              <a:tr h="484565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År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Utbetalt utbytte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 err="1"/>
                        <a:t>skjermingsrente</a:t>
                      </a:r>
                      <a:endParaRPr lang="nb-NO" sz="2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867186"/>
                  </a:ext>
                </a:extLst>
              </a:tr>
              <a:tr h="484565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Kr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493584"/>
                  </a:ext>
                </a:extLst>
              </a:tr>
              <a:tr h="484565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Kr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756545"/>
                  </a:ext>
                </a:extLst>
              </a:tr>
              <a:tr h="484565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Kr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628797"/>
                  </a:ext>
                </a:extLst>
              </a:tr>
              <a:tr h="484565"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Kr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800" noProof="0" dirty="0"/>
                        <a:t>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6523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8EAB9A-84A3-A67C-4118-854794DDA31E}"/>
              </a:ext>
            </a:extLst>
          </p:cNvPr>
          <p:cNvSpPr txBox="1"/>
          <p:nvPr/>
        </p:nvSpPr>
        <p:spPr>
          <a:xfrm>
            <a:off x="1759974" y="6242603"/>
            <a:ext cx="7296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noProof="0" dirty="0"/>
              <a:t>Typisk spørsmål: Hva er skattbart utbytte i 2021?</a:t>
            </a:r>
          </a:p>
        </p:txBody>
      </p:sp>
    </p:spTree>
    <p:extLst>
      <p:ext uri="{BB962C8B-B14F-4D97-AF65-F5344CB8AC3E}">
        <p14:creationId xmlns:p14="http://schemas.microsoft.com/office/powerpoint/2010/main" val="155050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510D27-D419-BC24-5C74-A03A8643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79</a:t>
            </a:fld>
            <a:endParaRPr lang="nb-NO" noProof="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54CA733-721D-A985-BDBB-61503AE56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975608"/>
              </p:ext>
            </p:extLst>
          </p:nvPr>
        </p:nvGraphicFramePr>
        <p:xfrm>
          <a:off x="294353" y="2212259"/>
          <a:ext cx="11828821" cy="4509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986">
                  <a:extLst>
                    <a:ext uri="{9D8B030D-6E8A-4147-A177-3AD203B41FA5}">
                      <a16:colId xmlns:a16="http://schemas.microsoft.com/office/drawing/2014/main" val="748207785"/>
                    </a:ext>
                  </a:extLst>
                </a:gridCol>
                <a:gridCol w="965147">
                  <a:extLst>
                    <a:ext uri="{9D8B030D-6E8A-4147-A177-3AD203B41FA5}">
                      <a16:colId xmlns:a16="http://schemas.microsoft.com/office/drawing/2014/main" val="2542269668"/>
                    </a:ext>
                  </a:extLst>
                </a:gridCol>
                <a:gridCol w="1433617">
                  <a:extLst>
                    <a:ext uri="{9D8B030D-6E8A-4147-A177-3AD203B41FA5}">
                      <a16:colId xmlns:a16="http://schemas.microsoft.com/office/drawing/2014/main" val="1628619919"/>
                    </a:ext>
                  </a:extLst>
                </a:gridCol>
                <a:gridCol w="1012723">
                  <a:extLst>
                    <a:ext uri="{9D8B030D-6E8A-4147-A177-3AD203B41FA5}">
                      <a16:colId xmlns:a16="http://schemas.microsoft.com/office/drawing/2014/main" val="2571063212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3254354619"/>
                    </a:ext>
                  </a:extLst>
                </a:gridCol>
                <a:gridCol w="2605548">
                  <a:extLst>
                    <a:ext uri="{9D8B030D-6E8A-4147-A177-3AD203B41FA5}">
                      <a16:colId xmlns:a16="http://schemas.microsoft.com/office/drawing/2014/main" val="1157604736"/>
                    </a:ext>
                  </a:extLst>
                </a:gridCol>
                <a:gridCol w="2812026">
                  <a:extLst>
                    <a:ext uri="{9D8B030D-6E8A-4147-A177-3AD203B41FA5}">
                      <a16:colId xmlns:a16="http://schemas.microsoft.com/office/drawing/2014/main" val="1581938230"/>
                    </a:ext>
                  </a:extLst>
                </a:gridCol>
              </a:tblGrid>
              <a:tr h="1703482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År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Ut-</a:t>
                      </a:r>
                    </a:p>
                    <a:p>
                      <a:r>
                        <a:rPr lang="nb-NO" sz="2400" noProof="0" dirty="0"/>
                        <a:t>bytte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400" noProof="0" dirty="0" err="1"/>
                        <a:t>Skj</a:t>
                      </a:r>
                      <a:r>
                        <a:rPr lang="nb-NO" sz="2400" noProof="0" dirty="0"/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400" noProof="0" dirty="0"/>
                        <a:t>grunnlag</a:t>
                      </a:r>
                    </a:p>
                    <a:p>
                      <a:endParaRPr lang="nb-NO" sz="2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 err="1"/>
                        <a:t>Skj</a:t>
                      </a:r>
                      <a:r>
                        <a:rPr lang="nb-NO" sz="2400" noProof="0" dirty="0"/>
                        <a:t>.</a:t>
                      </a:r>
                    </a:p>
                    <a:p>
                      <a:r>
                        <a:rPr lang="nb-NO" sz="2400" noProof="0" dirty="0"/>
                        <a:t>rente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Skjermings</a:t>
                      </a:r>
                    </a:p>
                    <a:p>
                      <a:r>
                        <a:rPr lang="nb-NO" sz="2400" noProof="0" dirty="0"/>
                        <a:t>fradrag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Skattbart</a:t>
                      </a:r>
                    </a:p>
                    <a:p>
                      <a:r>
                        <a:rPr lang="nb-NO" sz="2400" noProof="0" dirty="0"/>
                        <a:t>utbytte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Akk. </a:t>
                      </a:r>
                      <a:r>
                        <a:rPr lang="nb-NO" sz="2400" noProof="0" dirty="0" err="1"/>
                        <a:t>Skj.fradrag</a:t>
                      </a:r>
                      <a:endParaRPr lang="nb-NO" sz="2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227700"/>
                  </a:ext>
                </a:extLst>
              </a:tr>
              <a:tr h="501024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0070C0"/>
                          </a:solidFill>
                        </a:rPr>
                        <a:t>Kr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100*2% =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0070C0"/>
                          </a:solidFill>
                        </a:rPr>
                        <a:t>3</a:t>
                      </a:r>
                      <a:r>
                        <a:rPr lang="nb-NO" sz="2400" noProof="0" dirty="0"/>
                        <a:t> –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nb-NO" sz="2400" noProof="0" dirty="0"/>
                        <a:t> = 1 kr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62381"/>
                  </a:ext>
                </a:extLst>
              </a:tr>
              <a:tr h="901844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0070C0"/>
                          </a:solidFill>
                        </a:rPr>
                        <a:t>Kr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100*3% = 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0070C0"/>
                          </a:solidFill>
                        </a:rPr>
                        <a:t>5</a:t>
                      </a:r>
                      <a:r>
                        <a:rPr lang="nb-NO" sz="2400" noProof="0" dirty="0"/>
                        <a:t> –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nb-NO" sz="2400" noProof="0" dirty="0"/>
                        <a:t> = 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615204"/>
                  </a:ext>
                </a:extLst>
              </a:tr>
              <a:tr h="501024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0070C0"/>
                          </a:solidFill>
                        </a:rPr>
                        <a:t>Kr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100*5% =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nb-NO" sz="2400" noProof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0 (</a:t>
                      </a:r>
                      <a:r>
                        <a:rPr lang="nb-NO" sz="2400" noProof="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nb-NO" sz="2400" noProof="0" dirty="0"/>
                        <a:t>-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nb-NO" sz="2400" noProof="0" dirty="0"/>
                        <a:t> &lt;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4 (=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nb-NO" sz="2400" noProof="0" dirty="0"/>
                        <a:t> - </a:t>
                      </a:r>
                      <a:r>
                        <a:rPr lang="nb-NO" sz="2400" noProof="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nb-NO" sz="2400" noProof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024994"/>
                  </a:ext>
                </a:extLst>
              </a:tr>
              <a:tr h="901844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>
                          <a:solidFill>
                            <a:srgbClr val="0070C0"/>
                          </a:solidFill>
                        </a:rPr>
                        <a:t>Kr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104* 1% =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1,04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0 (</a:t>
                      </a:r>
                      <a:r>
                        <a:rPr lang="nb-NO" sz="2400" noProof="0" dirty="0">
                          <a:solidFill>
                            <a:srgbClr val="0070C0"/>
                          </a:solidFill>
                        </a:rPr>
                        <a:t>3</a:t>
                      </a:r>
                      <a:r>
                        <a:rPr lang="nb-NO" sz="2400" noProof="0" dirty="0"/>
                        <a:t> –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1,04</a:t>
                      </a:r>
                      <a:r>
                        <a:rPr lang="nb-NO" sz="2400" noProof="0" dirty="0"/>
                        <a:t> – 4 &lt; 0)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2,04 (= 4 + </a:t>
                      </a:r>
                      <a:r>
                        <a:rPr lang="nb-NO" sz="2400" noProof="0" dirty="0">
                          <a:solidFill>
                            <a:srgbClr val="FF0000"/>
                          </a:solidFill>
                        </a:rPr>
                        <a:t>1,04</a:t>
                      </a:r>
                      <a:r>
                        <a:rPr lang="nb-NO" sz="2400" noProof="0" dirty="0"/>
                        <a:t> – </a:t>
                      </a:r>
                      <a:r>
                        <a:rPr lang="nb-NO" sz="2400" noProof="0" dirty="0">
                          <a:solidFill>
                            <a:srgbClr val="0070C0"/>
                          </a:solidFill>
                        </a:rPr>
                        <a:t>3</a:t>
                      </a:r>
                      <a:r>
                        <a:rPr lang="nb-NO" sz="2400" noProof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1331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B9FFB5-D638-C1D9-45DA-49936488A28B}"/>
              </a:ext>
            </a:extLst>
          </p:cNvPr>
          <p:cNvSpPr txBox="1"/>
          <p:nvPr/>
        </p:nvSpPr>
        <p:spPr>
          <a:xfrm>
            <a:off x="1238250" y="641350"/>
            <a:ext cx="9342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noProof="0" dirty="0"/>
              <a:t>Fasit: Sindre kjøpte aksjen for kr 100 så det er aksjens skjermingsgrunnlag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3F320-08F5-4BFB-FC4D-07B10FA63207}"/>
              </a:ext>
            </a:extLst>
          </p:cNvPr>
          <p:cNvSpPr txBox="1"/>
          <p:nvPr/>
        </p:nvSpPr>
        <p:spPr>
          <a:xfrm>
            <a:off x="294353" y="1129540"/>
            <a:ext cx="117418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noProof="0" dirty="0"/>
              <a:t>Husk at hvis skjermingsgrunnlaget overstiger utbyttet skal differansen akkumuleres og bruke </a:t>
            </a:r>
          </a:p>
          <a:p>
            <a:r>
              <a:rPr lang="nb-NO" sz="2400" noProof="0" dirty="0"/>
              <a:t>senere. Husk at akkumulert skjermingsfradrag øker skjermingsgrunnlaget </a:t>
            </a:r>
          </a:p>
        </p:txBody>
      </p:sp>
    </p:spTree>
    <p:extLst>
      <p:ext uri="{BB962C8B-B14F-4D97-AF65-F5344CB8AC3E}">
        <p14:creationId xmlns:p14="http://schemas.microsoft.com/office/powerpoint/2010/main" val="35243593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8BC2-E2B9-E2DE-726F-7FA725F5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1" y="12700"/>
            <a:ext cx="10515600" cy="664135"/>
          </a:xfrm>
        </p:spPr>
        <p:txBody>
          <a:bodyPr>
            <a:normAutofit/>
          </a:bodyPr>
          <a:lstStyle/>
          <a:p>
            <a:r>
              <a:rPr lang="nb-NO" sz="3200" noProof="0" dirty="0"/>
              <a:t>Eksempel 2: Formuesskatt og utbytte.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54B4DA-1184-20DE-D608-39876D5B5A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1" y="797859"/>
                <a:ext cx="11404600" cy="5850591"/>
              </a:xfrm>
            </p:spPr>
            <p:txBody>
              <a:bodyPr>
                <a:normAutofit/>
              </a:bodyPr>
              <a:lstStyle/>
              <a:p>
                <a:r>
                  <a:rPr lang="nb-NO" sz="2600" noProof="0" dirty="0"/>
                  <a:t>Leah Laus eier en bedrift som har formuesverdi på kr 100. Hun må betale 1% i formuesskatt av formuesverdien dvs. kr 1. Leah har likviditetsutfordringer og må ta utbytte for å betale formuesskatten. Samtidig må hun sikre at utbyttet er stort nok til å betale eierskatten på 37,8%. Hvor stort utbytte må Leah ta for å dekke både formuesskatten og skatt på utbytte?</a:t>
                </a:r>
              </a:p>
              <a:p>
                <a:endParaRPr lang="nb-NO" sz="2600" noProof="0" dirty="0"/>
              </a:p>
              <a:p>
                <a:r>
                  <a:rPr lang="nb-NO" sz="2600" b="1" noProof="0" dirty="0"/>
                  <a:t>Fasit: </a:t>
                </a:r>
                <a:r>
                  <a:rPr lang="nb-NO" sz="2600" noProof="0" dirty="0"/>
                  <a:t>Leah skylder kr 1 i formuesskatt. For å dekke formuesskatten ved uttak av utbytte fra eierselskapet må størrelsen på utbyttet være</a:t>
                </a:r>
              </a:p>
              <a:p>
                <a:endParaRPr lang="nb-NO" sz="26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nb-NO" sz="2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2600" b="0" i="1" noProof="0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nb-NO" sz="2600" b="0" i="1" noProof="0" smtClean="0">
                              <a:latin typeface="Cambria Math" panose="02040503050406030204" pitchFamily="18" charset="0"/>
                            </a:rPr>
                            <m:t>𝑘𝑟</m:t>
                          </m:r>
                        </m:num>
                        <m:den>
                          <m:r>
                            <a:rPr lang="nb-NO" sz="2600" b="0" i="1" noProof="0" smtClean="0">
                              <a:latin typeface="Cambria Math" panose="02040503050406030204" pitchFamily="18" charset="0"/>
                            </a:rPr>
                            <m:t>100%−37,8%</m:t>
                          </m:r>
                        </m:den>
                      </m:f>
                      <m:r>
                        <a:rPr lang="nb-NO" sz="2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nb-NO" sz="2600" b="0" i="1" noProof="0" smtClean="0">
                          <a:latin typeface="Cambria Math" panose="02040503050406030204" pitchFamily="18" charset="0"/>
                        </a:rPr>
                        <m:t>1,6 </m:t>
                      </m:r>
                      <m:r>
                        <a:rPr lang="nb-NO" sz="2600" b="0" i="1" noProof="0" smtClean="0">
                          <a:latin typeface="Cambria Math" panose="02040503050406030204" pitchFamily="18" charset="0"/>
                        </a:rPr>
                        <m:t>𝑘𝑟</m:t>
                      </m:r>
                    </m:oMath>
                  </m:oMathPara>
                </a14:m>
                <a:endParaRPr lang="nb-NO" sz="2600" noProof="0" dirty="0"/>
              </a:p>
              <a:p>
                <a:pPr marL="0" indent="0">
                  <a:buNone/>
                </a:pPr>
                <a:endParaRPr lang="nb-NO" sz="2600" noProof="0" dirty="0"/>
              </a:p>
              <a:p>
                <a:pPr marL="0" indent="0">
                  <a:buNone/>
                </a:pPr>
                <a:r>
                  <a:rPr lang="nb-NO" sz="2600" noProof="0" dirty="0"/>
                  <a:t>Sindre betaler kr 0,6 (=1,6*37,8) i utbytteskatt og kr 1 i formuesskatt derfor er utbyttet kr 1,6 (= 1kr + 0,6 kr).</a:t>
                </a:r>
              </a:p>
              <a:p>
                <a:pPr marL="0" indent="0">
                  <a:buNone/>
                </a:pPr>
                <a:endParaRPr lang="nb-NO" sz="2400" noProof="0" dirty="0"/>
              </a:p>
              <a:p>
                <a:endParaRPr lang="nb-NO" sz="24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54B4DA-1184-20DE-D608-39876D5B5A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1" y="797859"/>
                <a:ext cx="11404600" cy="5850591"/>
              </a:xfrm>
              <a:blipFill>
                <a:blip r:embed="rId2"/>
                <a:stretch>
                  <a:fillRect l="-963" t="-1563" b="-41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4E523-51BE-45A1-DBE6-F04430C5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80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12099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8C65-34DE-35C0-C09B-18E9B0473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29237"/>
          </a:xfrm>
        </p:spPr>
        <p:txBody>
          <a:bodyPr>
            <a:normAutofit fontScale="90000"/>
          </a:bodyPr>
          <a:lstStyle/>
          <a:p>
            <a:br>
              <a:rPr lang="nb-NO" sz="3600" noProof="0" dirty="0"/>
            </a:br>
            <a:r>
              <a:rPr lang="nb-NO" sz="3600" noProof="0" dirty="0"/>
              <a:t>Bjerksund-Schjelderup modellen (BS-modellen)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BEE3-0EA0-005A-3AEA-CA43AD08A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957"/>
            <a:ext cx="10515600" cy="4961006"/>
          </a:xfrm>
        </p:spPr>
        <p:txBody>
          <a:bodyPr>
            <a:normAutofit/>
          </a:bodyPr>
          <a:lstStyle/>
          <a:p>
            <a:r>
              <a:rPr lang="nb-NO" noProof="0" dirty="0"/>
              <a:t>Valget er mellom </a:t>
            </a:r>
            <a:r>
              <a:rPr lang="nb-NO" i="1" noProof="0" dirty="0">
                <a:solidFill>
                  <a:srgbClr val="FF0000"/>
                </a:solidFill>
              </a:rPr>
              <a:t>å ta en krone i skattepliktig utbytte nå </a:t>
            </a:r>
            <a:r>
              <a:rPr lang="nb-NO" noProof="0" dirty="0"/>
              <a:t>(t=0) eller vente til horisonten (t= 1). Hva lønner seg?</a:t>
            </a:r>
          </a:p>
          <a:p>
            <a:pPr marL="0" indent="0">
              <a:buNone/>
            </a:pPr>
            <a:endParaRPr lang="nb-NO" noProof="0" dirty="0"/>
          </a:p>
          <a:p>
            <a:r>
              <a:rPr lang="nb-NO" noProof="0" dirty="0"/>
              <a:t>For å kunne sammenligne de to alternativene må egenkapitalen i selskapet skal være uendret ved begge strategier for å gi samme risiko i begge tilfellene.</a:t>
            </a:r>
          </a:p>
          <a:p>
            <a:endParaRPr lang="nb-NO" noProof="0" dirty="0"/>
          </a:p>
          <a:p>
            <a:pPr>
              <a:buFont typeface="Calibri" panose="020F0502020204030204" pitchFamily="34" charset="0"/>
              <a:buChar char="→"/>
            </a:pPr>
            <a:r>
              <a:rPr lang="nb-NO" noProof="0" dirty="0"/>
              <a:t> Tar vi ut utbytte på t = 0 må vi skyte inn EK tilsvarende utbyttet på kr 1 ved  t=0 for at risikoen i selskapet skal være den samme, og det må vi </a:t>
            </a:r>
            <a:r>
              <a:rPr lang="nb-NO" u="sng" noProof="0" dirty="0"/>
              <a:t>låne penger til </a:t>
            </a:r>
            <a:r>
              <a:rPr lang="nb-NO" noProof="0" dirty="0"/>
              <a:t>ellers hadde vi ikke behøvd å ta utbytte!</a:t>
            </a:r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44C1A-A90C-638F-6521-72892F76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81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6453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DDAC-0A72-8CDD-AC06-1EA5784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nb-NO" sz="2800" b="1" noProof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Aksjonæren tar ut utbytte på 1 krone på t=0 og skyter samtidig inn 1 krone inn som ny egenkapital</a:t>
            </a:r>
            <a:r>
              <a:rPr lang="nb-NO" sz="3200" b="1" noProof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F7C0-ABF5-3318-7C80-8AD40855D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82" y="1343818"/>
            <a:ext cx="10892118" cy="4833145"/>
          </a:xfrm>
        </p:spPr>
        <p:txBody>
          <a:bodyPr>
            <a:normAutofit fontScale="92500" lnSpcReduction="20000"/>
          </a:bodyPr>
          <a:lstStyle/>
          <a:p>
            <a:r>
              <a:rPr lang="nb-NO" b="1" noProof="0" dirty="0"/>
              <a:t>Aksjonæren</a:t>
            </a:r>
            <a:r>
              <a:rPr lang="nb-NO" noProof="0" dirty="0"/>
              <a:t> betaler eierskatt av utbyttet på kr 1 lik kr 0,378 (37,8% av 1 kr) og finansierer skattebetalingen ved å ta opp lån privat.</a:t>
            </a:r>
          </a:p>
          <a:p>
            <a:endParaRPr lang="nb-NO" noProof="0" dirty="0"/>
          </a:p>
          <a:p>
            <a:r>
              <a:rPr lang="nb-NO" b="1" noProof="0" dirty="0"/>
              <a:t>Ved t=1</a:t>
            </a:r>
            <a:r>
              <a:rPr lang="nb-NO" noProof="0" dirty="0"/>
              <a:t> må aksjonæren innfri lånet på </a:t>
            </a:r>
            <a:r>
              <a:rPr lang="nb-NO" noProof="0" dirty="0">
                <a:solidFill>
                  <a:srgbClr val="FF0000"/>
                </a:solidFill>
              </a:rPr>
              <a:t>kr 0,378 </a:t>
            </a:r>
            <a:r>
              <a:rPr lang="nb-NO" noProof="0" dirty="0"/>
              <a:t>med påløpte renter slik at investoren må innfri:  </a:t>
            </a:r>
            <a:r>
              <a:rPr lang="nb-NO" noProof="0" dirty="0">
                <a:solidFill>
                  <a:srgbClr val="FF0000"/>
                </a:solidFill>
              </a:rPr>
              <a:t>kr 0,378*(1 + R(1-t)) </a:t>
            </a:r>
            <a:r>
              <a:rPr lang="nb-NO" noProof="0" dirty="0"/>
              <a:t>hvor </a:t>
            </a:r>
            <a:r>
              <a:rPr lang="nb-NO" noProof="0" dirty="0">
                <a:solidFill>
                  <a:srgbClr val="FF0000"/>
                </a:solidFill>
              </a:rPr>
              <a:t>R</a:t>
            </a:r>
            <a:r>
              <a:rPr lang="nb-NO" noProof="0" dirty="0"/>
              <a:t> er lånerenten og </a:t>
            </a:r>
            <a:r>
              <a:rPr lang="nb-NO" noProof="0" dirty="0">
                <a:solidFill>
                  <a:srgbClr val="FF0000"/>
                </a:solidFill>
              </a:rPr>
              <a:t>t</a:t>
            </a:r>
            <a:r>
              <a:rPr lang="nb-NO" noProof="0" dirty="0"/>
              <a:t> er skattesats på alminnelig inntekt.  Lånet er en kostnad ved å ta utbytte nå.</a:t>
            </a:r>
          </a:p>
          <a:p>
            <a:endParaRPr lang="nb-NO" noProof="0" dirty="0"/>
          </a:p>
          <a:p>
            <a:r>
              <a:rPr lang="nb-NO" b="1" noProof="0" dirty="0"/>
              <a:t>Når det skytes inn 1 krone i ny egenkapital </a:t>
            </a:r>
            <a:r>
              <a:rPr lang="nb-NO" noProof="0" dirty="0"/>
              <a:t>øker aksjonærens inngangsverdi til </a:t>
            </a:r>
            <a:r>
              <a:rPr lang="nb-NO" noProof="0" dirty="0">
                <a:solidFill>
                  <a:srgbClr val="FF0000"/>
                </a:solidFill>
              </a:rPr>
              <a:t>1*(1+r(1-t)) </a:t>
            </a:r>
            <a:r>
              <a:rPr lang="nb-NO" noProof="0" dirty="0"/>
              <a:t>hvor </a:t>
            </a:r>
            <a:r>
              <a:rPr lang="nb-NO" noProof="0" dirty="0">
                <a:solidFill>
                  <a:srgbClr val="FF0000"/>
                </a:solidFill>
              </a:rPr>
              <a:t>r(1-t) </a:t>
            </a:r>
            <a:r>
              <a:rPr lang="nb-NO" noProof="0" dirty="0"/>
              <a:t>er skjermingsrenten etter skatt (husk at skjermingsrenten (</a:t>
            </a:r>
            <a:r>
              <a:rPr lang="nb-NO" noProof="0" dirty="0">
                <a:solidFill>
                  <a:srgbClr val="FF0000"/>
                </a:solidFill>
              </a:rPr>
              <a:t>r</a:t>
            </a:r>
            <a:r>
              <a:rPr lang="nb-NO" noProof="0" dirty="0"/>
              <a:t>) renten skal være etter skatt). </a:t>
            </a:r>
          </a:p>
          <a:p>
            <a:endParaRPr lang="nb-NO" noProof="0" dirty="0"/>
          </a:p>
          <a:p>
            <a:r>
              <a:rPr lang="nb-NO" b="1" noProof="0" dirty="0"/>
              <a:t>Verdien av økt inngangsverdi </a:t>
            </a:r>
            <a:r>
              <a:rPr lang="nb-NO" noProof="0" dirty="0"/>
              <a:t>må multipliseres med eierskatten får å få fram skattebesparelsen dvs. </a:t>
            </a:r>
            <a:r>
              <a:rPr lang="nb-NO" noProof="0" dirty="0">
                <a:solidFill>
                  <a:srgbClr val="FF0000"/>
                </a:solidFill>
              </a:rPr>
              <a:t>0,378*(1+r(1-t)). </a:t>
            </a:r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93ED3-8FE2-5532-34A8-A5D2E4830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82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05733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AE05-E4E4-C77B-18BB-2E2F0BE34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6781"/>
          </a:xfrm>
        </p:spPr>
        <p:txBody>
          <a:bodyPr>
            <a:noAutofit/>
          </a:bodyPr>
          <a:lstStyle/>
          <a:p>
            <a:r>
              <a:rPr lang="nb-NO" sz="2400" b="1" u="sng" noProof="0" dirty="0"/>
              <a:t>Forts. </a:t>
            </a:r>
            <a:r>
              <a:rPr lang="nb-NO" sz="2400" b="1" noProof="0" dirty="0"/>
              <a:t>La oss sammenfatte. Aksjonæren tar ut utbytte på 1 krone nå (t=0) og skyter samtidig inn 1 krone inn som ny egenkapital.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ACC6C3-217C-8C65-C09B-CC3EF2C3EF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229" y="1456089"/>
                <a:ext cx="11063542" cy="526538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nb-NO" sz="2600" noProof="0" dirty="0"/>
                  <a:t>Økt skjermingsgrunnlag ved å skyte inn 1 kr i EK gir en skattebesparelse (S) på tid 1 som svarer til:</a:t>
                </a:r>
              </a:p>
              <a:p>
                <a:pPr marL="0" indent="0" algn="ctr">
                  <a:buNone/>
                </a:pPr>
                <a:r>
                  <a:rPr lang="nb-NO" sz="2600" noProof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sz="2600" noProof="0">
                        <a:latin typeface="Cambria Math" panose="02040503050406030204" pitchFamily="18" charset="0"/>
                      </a:rPr>
                      <m:t>S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=0,3</m:t>
                    </m:r>
                    <m:r>
                      <a:rPr lang="nb-NO" sz="2600" b="0" i="1" noProof="0" smtClean="0">
                        <a:latin typeface="Cambria Math" panose="02040503050406030204" pitchFamily="18" charset="0"/>
                      </a:rPr>
                      <m:t>78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∗(1+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nb-NO" sz="2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2600" i="1" noProof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nb-NO" sz="26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nb-NO" sz="26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b-NO" sz="2600" noProof="0" dirty="0"/>
                  <a:t>  </a:t>
                </a:r>
              </a:p>
              <a:p>
                <a:endParaRPr lang="nb-NO" sz="2600" noProof="0" dirty="0"/>
              </a:p>
              <a:p>
                <a:r>
                  <a:rPr lang="nb-NO" sz="2600" noProof="0" dirty="0"/>
                  <a:t>Utbytteskatten betales gjennom et lån som forfaller på t=1:</a:t>
                </a:r>
              </a:p>
              <a:p>
                <a:pPr marL="0" indent="0" algn="ctr">
                  <a:buNone/>
                </a:pPr>
                <a:r>
                  <a:rPr lang="nb-NO" sz="2600" noProof="0" dirty="0"/>
                  <a:t> </a:t>
                </a:r>
                <a14:m>
                  <m:oMath xmlns:m="http://schemas.openxmlformats.org/officeDocument/2006/math">
                    <m:r>
                      <a:rPr lang="nb-NO" sz="2600" i="1" noProof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=0,378∗(1+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nb-NO" sz="2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2600" i="1" noProof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nb-NO" sz="26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nb-NO" sz="26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2600" noProof="0" dirty="0"/>
              </a:p>
              <a:p>
                <a:endParaRPr lang="nb-NO" sz="2600" noProof="0" dirty="0"/>
              </a:p>
              <a:p>
                <a:r>
                  <a:rPr lang="nb-NO" sz="2600" noProof="0" dirty="0"/>
                  <a:t>Skal det lønne seg å ta utbytte på t=0 må vi ha at</a:t>
                </a:r>
              </a:p>
              <a:p>
                <a:pPr marL="0" indent="0" algn="ctr">
                  <a:buNone/>
                </a:pPr>
                <a:r>
                  <a:rPr lang="nb-NO" sz="2600" noProof="0" dirty="0"/>
                  <a:t> </a:t>
                </a:r>
                <a14:m>
                  <m:oMath xmlns:m="http://schemas.openxmlformats.org/officeDocument/2006/math">
                    <m:r>
                      <a:rPr lang="nb-NO" sz="2600" b="0" i="1" noProof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=0 →</m:t>
                    </m:r>
                    <m:r>
                      <m:rPr>
                        <m:sty m:val="p"/>
                      </m:rPr>
                      <a:rPr lang="nb-NO" sz="26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nb-NO" sz="26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b-NO" sz="26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nb-NO" sz="26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nb-NO" sz="2600" b="0" noProof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nb-NO" sz="2600" noProof="0" dirty="0"/>
                  <a:t>Altså må skjermingsrenten være lik lånerenten.</a:t>
                </a:r>
              </a:p>
              <a:p>
                <a:endParaRPr lang="nb-NO" sz="2600" noProof="0" dirty="0"/>
              </a:p>
              <a:p>
                <a:r>
                  <a:rPr lang="nb-NO" sz="2600" noProof="0" dirty="0"/>
                  <a:t> Hvis lånerenten er større enn skjermingsrenten </a:t>
                </a:r>
                <a:r>
                  <a:rPr lang="nb-NO" sz="2600" noProof="0" dirty="0" err="1"/>
                  <a:t>dvs</a:t>
                </a:r>
                <a:r>
                  <a:rPr lang="nb-NO" sz="2600" noProof="0" dirty="0"/>
                  <a:t>  </a:t>
                </a:r>
                <a14:m>
                  <m:oMath xmlns:m="http://schemas.openxmlformats.org/officeDocument/2006/math">
                    <m:r>
                      <a:rPr lang="nb-NO" sz="2600" i="1" noProof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nb-NO" sz="2600" i="1" noProof="0"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r>
                  <a:rPr lang="nb-NO" sz="2600" noProof="0" dirty="0"/>
                  <a:t> kommer aksjonæren bedre ut ved å spare gjennom selskapet og heller ta utbytte på t=1.  Skjermingsrenten i Norge er betydelig lavere enn lånerenten.</a:t>
                </a:r>
              </a:p>
              <a:p>
                <a:endParaRPr lang="nb-NO" sz="2600" noProof="0" dirty="0"/>
              </a:p>
              <a:p>
                <a:endParaRPr lang="nb-NO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ACC6C3-217C-8C65-C09B-CC3EF2C3EF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229" y="1456089"/>
                <a:ext cx="11063542" cy="5265386"/>
              </a:xfrm>
              <a:blipFill>
                <a:blip r:embed="rId2"/>
                <a:stretch>
                  <a:fillRect l="-882" t="-2662" r="-93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B99EC-6647-6A31-D891-0A7D0742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A8B5-DBB4-47BA-9127-F945AE107A35}" type="slidenum">
              <a:rPr lang="nb-NO" noProof="0" smtClean="0"/>
              <a:t>83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7094986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2|13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9109439179B544F8D88A46EC3854F27" ma:contentTypeVersion="5" ma:contentTypeDescription="Opprett et nytt dokument." ma:contentTypeScope="" ma:versionID="4bb9f8282ca7a551f0ba10e91695f6c3">
  <xsd:schema xmlns:xsd="http://www.w3.org/2001/XMLSchema" xmlns:xs="http://www.w3.org/2001/XMLSchema" xmlns:p="http://schemas.microsoft.com/office/2006/metadata/properties" xmlns:ns3="8a8bec52-5105-40cc-af25-cf9a7795bbdd" xmlns:ns4="a13eb870-6bde-4369-b1d2-97daffbf40d2" targetNamespace="http://schemas.microsoft.com/office/2006/metadata/properties" ma:root="true" ma:fieldsID="0142e39be93c634f04cae096ed1f1d11" ns3:_="" ns4:_="">
    <xsd:import namespace="8a8bec52-5105-40cc-af25-cf9a7795bbdd"/>
    <xsd:import namespace="a13eb870-6bde-4369-b1d2-97daffbf40d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bec52-5105-40cc-af25-cf9a7795b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eb870-6bde-4369-b1d2-97daffbf40d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49ABED-C43C-473D-BE8A-30778FC111A4}">
  <ds:schemaRefs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a13eb870-6bde-4369-b1d2-97daffbf40d2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8a8bec52-5105-40cc-af25-cf9a7795bbd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AACCAE0-D3D3-4910-810B-C7DE19DBDE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E67CAD-25A6-4FBE-8805-B0F587A0A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8bec52-5105-40cc-af25-cf9a7795bbdd"/>
    <ds:schemaRef ds:uri="a13eb870-6bde-4369-b1d2-97daffbf4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100304</TotalTime>
  <Words>5700</Words>
  <Application>Microsoft Office PowerPoint</Application>
  <PresentationFormat>Widescreen</PresentationFormat>
  <Paragraphs>750</Paragraphs>
  <Slides>83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95" baseType="lpstr">
      <vt:lpstr>Amasis MT Pro Black</vt:lpstr>
      <vt:lpstr>Aptos</vt:lpstr>
      <vt:lpstr>Aptos Display</vt:lpstr>
      <vt:lpstr>Arial</vt:lpstr>
      <vt:lpstr>Calibri</vt:lpstr>
      <vt:lpstr>Calibri Light</vt:lpstr>
      <vt:lpstr>Cambria</vt:lpstr>
      <vt:lpstr>Cambria Math</vt:lpstr>
      <vt:lpstr>Crimson Text</vt:lpstr>
      <vt:lpstr>Google Sans</vt:lpstr>
      <vt:lpstr>Office Theme</vt:lpstr>
      <vt:lpstr>1_Office Theme</vt:lpstr>
      <vt:lpstr>Aksjonærmodellen og Fritaksmetoden</vt:lpstr>
      <vt:lpstr>Disposisjon for forelesningene</vt:lpstr>
      <vt:lpstr>1. Skattereformen i 1992 og dens konsekvenser for skattepolitikken i dag </vt:lpstr>
      <vt:lpstr>Før skattereformen i 1992</vt:lpstr>
      <vt:lpstr>Skattereformen i 1992 </vt:lpstr>
      <vt:lpstr>Delingsmodellen </vt:lpstr>
      <vt:lpstr>Delingsmodellen i praksis</vt:lpstr>
      <vt:lpstr>Hva ville dere gjort om dere var ene-eier av et aksjeselskap og dermed eide 100% av aksjene og var aktiv eier (eide mer enn 2/3 av aksjene)?</vt:lpstr>
      <vt:lpstr>Dere ville solgt dere ned under grensen på 67,67% </vt:lpstr>
      <vt:lpstr>Norgesparadokset</vt:lpstr>
      <vt:lpstr>2. Skattereformen i 2006:   Man innførte:  Fritaksmetoden  og Aksjonærmodellen  Begge er i bruk i dag</vt:lpstr>
      <vt:lpstr>Aksjonærmodellen (personlig skattyter)</vt:lpstr>
      <vt:lpstr>Fritaksmetoden (selskapsaksjonærer)</vt:lpstr>
      <vt:lpstr>PowerPoint Presentation</vt:lpstr>
      <vt:lpstr>PowerPoint Presentation</vt:lpstr>
      <vt:lpstr>DN Magasinet 13 desember 2019 https://www.dn.no/magasinet/dokumentar/skatt/formue/fritaksmetoden/norges-rikeste-far-80-milliarder-i-skattefrie-inntekter-i-aret/7-1-z_r7vzct </vt:lpstr>
      <vt:lpstr>PowerPoint Presentation</vt:lpstr>
      <vt:lpstr>PowerPoint Presentation</vt:lpstr>
      <vt:lpstr>Hva er Oligark-øyeblikket ?</vt:lpstr>
      <vt:lpstr>PowerPoint Presentation</vt:lpstr>
      <vt:lpstr>Hvorfor store utbytter før innføringen av eierskatt i 2006</vt:lpstr>
      <vt:lpstr>PowerPoint Presentation</vt:lpstr>
      <vt:lpstr>Skattemessige konsekvenser av nedskrivning av EK</vt:lpstr>
      <vt:lpstr>Kapitalbeskatningen i 2026</vt:lpstr>
      <vt:lpstr>3. Fritaksmetoden</vt:lpstr>
      <vt:lpstr>Selskapsorganisering pga fritaksmetoden</vt:lpstr>
      <vt:lpstr>Mer utfyllende om Fritaksmetoden</vt:lpstr>
      <vt:lpstr>Fritaksmetoden</vt:lpstr>
      <vt:lpstr>4. Aksjonærmodellen</vt:lpstr>
      <vt:lpstr>AKLSJONÆRMODELLEN</vt:lpstr>
      <vt:lpstr>PowerPoint Presentation</vt:lpstr>
      <vt:lpstr>PowerPoint Presentation</vt:lpstr>
      <vt:lpstr>Skjermingsrenten</vt:lpstr>
      <vt:lpstr>EKSEMPEL: Olsen eier 1 aksje i AS Industri, kjøpt årsskiftet 2014 for kr 1000 (aksjens kostpris). Aksjen ble solgt i 2019 før utbytte til kr 1100 så Olsen går glipp av utbytte og skjerming i 2019</vt:lpstr>
      <vt:lpstr>Beregning av aksjegevinst i eksemplet. Olsen kjøpte aksjen for 1000 og selger for 1100 og hadde ubenyttet skjermingsfradrag (30)</vt:lpstr>
      <vt:lpstr>PowerPoint Presentation</vt:lpstr>
      <vt:lpstr>Formuesskatt og utbytte</vt:lpstr>
      <vt:lpstr>Et eksempel: Norsk investor kjøper børsnoterte aksjer for 10 millioner. </vt:lpstr>
      <vt:lpstr>Til sammenlikning</vt:lpstr>
      <vt:lpstr>Skjermingsrenten/skjerminsgrfradraget </vt:lpstr>
      <vt:lpstr>Aksjonærmodellen</vt:lpstr>
      <vt:lpstr>Pengene hoper seg opp i selskapene. Aksjonærene tar ikke utbytte.</vt:lpstr>
      <vt:lpstr>Hvorfor hoper kapitalen seg opp i selskapene: Det tas mindre utbytte etter skattereformen i 2006</vt:lpstr>
      <vt:lpstr>5 års regelen (opphørt fra og med 29. november 2022). </vt:lpstr>
      <vt:lpstr>EXIT skatten – skattlegging av aksjegevinster ved utflytting</vt:lpstr>
      <vt:lpstr>Bjerksund og Schjelderup (2021, 2022) (i)</vt:lpstr>
      <vt:lpstr>Bjerksund og Schjelderup (2021, 2022) (ii)</vt:lpstr>
      <vt:lpstr>Referanser</vt:lpstr>
      <vt:lpstr>PowerPoint Presentation</vt:lpstr>
      <vt:lpstr>PowerPoint Presentation</vt:lpstr>
      <vt:lpstr>5. Inntektsskiftningsligningen</vt:lpstr>
      <vt:lpstr>PowerPoint Presentation</vt:lpstr>
      <vt:lpstr>INNTEKTS-SKIFTNIGSLIGNINGEN</vt:lpstr>
      <vt:lpstr>PowerPoint Presentation</vt:lpstr>
      <vt:lpstr>Er inntektsskiftningsligningen riktig? </vt:lpstr>
      <vt:lpstr>Antakelser om overveltning har konsekvenser for eierskatten</vt:lpstr>
      <vt:lpstr>PowerPoint Presentation</vt:lpstr>
      <vt:lpstr>PowerPoint Presentation</vt:lpstr>
      <vt:lpstr>Er det mer naturlig å anta at arbeidsgiveravgiften deles 50/50?</vt:lpstr>
      <vt:lpstr>Aksjonærlån </vt:lpstr>
      <vt:lpstr>6. Nominelle, effektive og marginale skattesater</vt:lpstr>
      <vt:lpstr>Nominelle , marginale og effektive skattesatser</vt:lpstr>
      <vt:lpstr>Gjennomsnittlig effektiv skattesats for bedriften  (AERT – Average Effective Tax Rate) </vt:lpstr>
      <vt:lpstr>Eksempel: AERT vs nominell skattesats</vt:lpstr>
      <vt:lpstr>Skattesystemet er nøytralt når bedriften kan avskrive alt med en gang</vt:lpstr>
      <vt:lpstr>PowerPoint Presentation</vt:lpstr>
      <vt:lpstr>Effektiv marginalskatt på eier av bedrift</vt:lpstr>
      <vt:lpstr>PowerPoint Presentation</vt:lpstr>
      <vt:lpstr>7. De rikeste og kapitalbeskatningen i Norge</vt:lpstr>
      <vt:lpstr>De 1 prosent rikeste (ca 50 000 personer) kjennetegnes ved: </vt:lpstr>
      <vt:lpstr>Hva er skattebelastningen  for en topp 1% rik investor  (vi skal sette oss inn i samme posisjon og se hva vi ender opp med i skatt)  </vt:lpstr>
      <vt:lpstr>Vi skal finne effektiv skatt (AERT) for en rik investor</vt:lpstr>
      <vt:lpstr>PowerPoint Presentation</vt:lpstr>
      <vt:lpstr>PowerPoint Presentation</vt:lpstr>
      <vt:lpstr>PowerPoint Presentation</vt:lpstr>
      <vt:lpstr>PowerPoint Presentation</vt:lpstr>
      <vt:lpstr>Appendiks</vt:lpstr>
      <vt:lpstr>Eksempel 1: Typisk eksamensoppgave (skatt på utbytte) </vt:lpstr>
      <vt:lpstr>PowerPoint Presentation</vt:lpstr>
      <vt:lpstr>Eksempel 2: Formuesskatt og utbytte.</vt:lpstr>
      <vt:lpstr> Bjerksund-Schjelderup modellen (BS-modellen)</vt:lpstr>
      <vt:lpstr>Aksjonæren tar ut utbytte på 1 krone på t=0 og skyter samtidig inn 1 krone inn som ny egenkapital.</vt:lpstr>
      <vt:lpstr>Forts. La oss sammenfatte. Aksjonæren tar ut utbytte på 1 krone nå (t=0) og skyter samtidig inn 1 krone inn som ny egenkapital.</vt:lpstr>
    </vt:vector>
  </TitlesOfParts>
  <Company>Norges Handelshoyskole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Guttorm Schjelderup</dc:creator>
  <cp:lastModifiedBy>Guttorm Schjelderup</cp:lastModifiedBy>
  <cp:revision>287</cp:revision>
  <cp:lastPrinted>2023-08-29T12:32:21Z</cp:lastPrinted>
  <dcterms:created xsi:type="dcterms:W3CDTF">2016-06-10T08:45:32Z</dcterms:created>
  <dcterms:modified xsi:type="dcterms:W3CDTF">2026-08-28T07:36:34Z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0x01010039109439179B544F8D88A46EC3854F27</vt:lpwstr>
  </property>
</Properties>
</file>