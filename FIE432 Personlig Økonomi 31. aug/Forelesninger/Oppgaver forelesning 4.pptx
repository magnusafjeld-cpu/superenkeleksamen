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92" r:id="rId3"/>
    <p:sldId id="393" r:id="rId4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124AE5-BF0E-426F-B8A0-798CE5C78E7C}" v="3" dt="2023-06-22T11:56:41.5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378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A9862-D356-4D95-89A5-D1F9B21FF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5C238D-1CD7-4388-B6B6-C07FC51B65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BF543-3BB8-45A6-8EE9-740890329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32192-0312-4FD9-BCEF-B46EBDCE5C59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4F562-08D4-4A1B-9817-EB78AA669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44635-9759-4C69-A70A-C01EF1CA0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17B6D-6373-4110-B63B-F98C5C635B4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7005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592F4-861F-4C81-8DE8-CFD169B19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66490-5F3D-407F-BF6A-E3089CE02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FF82E-1D8B-4D43-A71C-BB7391EBD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32192-0312-4FD9-BCEF-B46EBDCE5C59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AE57A-09C8-4908-8879-444E6628B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DDDE8-9B99-4785-999B-B4BC39D4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17B6D-6373-4110-B63B-F98C5C635B4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13046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B81F6-0A2B-4B78-86BB-8CCB4021B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7A253-B46A-4B51-82B0-DE554005F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53DCE-FFAC-4403-B1B4-CAE295687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32192-0312-4FD9-BCEF-B46EBDCE5C59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E2637-FBC0-4BC5-9551-A84FA53D5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BA2D8-F784-4ED6-B261-452A65A35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17B6D-6373-4110-B63B-F98C5C635B4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54423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F4AD1-B36F-4B92-ACFB-8E426BB52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03C16-50F3-44C7-8512-7844CAF9FC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7C97B5-1FD4-4024-90A7-3D9B52C2A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B0FBB-4AD0-46B6-871E-A8F265A28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32192-0312-4FD9-BCEF-B46EBDCE5C59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A777E-1CF1-45F2-AFCD-F0BD6A096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B630CC-0DDF-4CB3-AC9D-955EE928C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17B6D-6373-4110-B63B-F98C5C635B4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81935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3D72B-F4EF-4556-97A8-A9AFEE54E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95FC6-C7B3-49B7-8636-FA250D218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8427E-4BF1-4ED9-A93E-6E39D9032B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6A69D9-8032-4237-8B4A-0B13923FD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D323ED-C667-4FAE-A0ED-2B9D18D9A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CB4F32-5BE2-426D-A348-FC05CA213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32192-0312-4FD9-BCEF-B46EBDCE5C59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3185AE-D4D4-4C18-817F-3B6ECCDA7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FAC181-2CD0-44B4-A3F7-7FEF3FAB6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17B6D-6373-4110-B63B-F98C5C635B4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37214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3A790-C63D-4EA5-A1F1-E5743EC4A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C01B0D-B3C6-44B6-9E91-712C16F0C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32192-0312-4FD9-BCEF-B46EBDCE5C59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3642F1-C16E-4520-9E70-66B022617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CC743A-B57A-47E5-B384-AB316BFFB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17B6D-6373-4110-B63B-F98C5C635B4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59932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5FD6A9-D636-49E1-B1C3-CB4E853A7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32192-0312-4FD9-BCEF-B46EBDCE5C59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052A87-BD78-4DE5-BC30-DABA66C28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5F809-2158-46D3-8E91-33D9D984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17B6D-6373-4110-B63B-F98C5C635B4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88837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520E2-46AD-4C4C-84CF-29039EDF7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38E6C-90BB-4A0D-ACDD-8E46B65FB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5C4F5-7DE8-47DD-80B1-1C424F2FF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E107A2-7F3E-4FF7-AC4D-9967C49F3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32192-0312-4FD9-BCEF-B46EBDCE5C59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0CB51-FCCB-4DEE-9E45-C6404E319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0AE446-F53E-4FC5-A23C-75B6A5E1E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17B6D-6373-4110-B63B-F98C5C635B4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40052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41F89-21B0-4A2C-B6A6-D22F672F4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5232DF-AAD6-4F10-850F-C97A937E5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5FEC47-F855-4DA7-A653-74F32AB282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4FAC9-76C8-48ED-ADAB-164320802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32192-0312-4FD9-BCEF-B46EBDCE5C59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2556D-5063-411C-ABDF-ECBC990C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C77415-FCC4-449D-86CB-A06BDC612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17B6D-6373-4110-B63B-F98C5C635B4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30404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09F0C-B92D-4A95-918B-51F427931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4D3D80-2A12-4D49-A242-0525295B39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1D42A-139B-40B2-B191-E9AEBDAAB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32192-0312-4FD9-BCEF-B46EBDCE5C59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BFCD4-99E5-4701-AF4F-F2A3AE9C1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B07EE-82AF-4C3F-8452-D7587A414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17B6D-6373-4110-B63B-F98C5C635B4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3447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CE270-B84F-487D-8ABB-7B06048822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E1A512-C4D5-4922-82D1-075B3A10F5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4F9AC-6E9C-4803-9990-745AB2C0F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32192-0312-4FD9-BCEF-B46EBDCE5C59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BA05C-C040-42DA-A45C-66412F559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62DD2-3493-4052-93E0-478860428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17B6D-6373-4110-B63B-F98C5C635B4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8988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EFD53E-AD50-4D47-9CBD-84F11CAB9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424F8-97C1-4850-94D5-212441DA2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79F30-08EF-4573-A165-76A4B6CEA6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32192-0312-4FD9-BCEF-B46EBDCE5C59}" type="datetimeFigureOut">
              <a:rPr lang="nb-NO" smtClean="0"/>
              <a:t>05.06.2026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B3818-2048-4BE4-8762-D2E7D1A687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3217B-7A22-41BD-8995-15FDC8667C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17B6D-6373-4110-B63B-F98C5C635B4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87934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D96D7-801F-4925-9E9B-C53CA532C1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Oppgaver </a:t>
            </a:r>
            <a:r>
              <a:rPr lang="nb-NO"/>
              <a:t>forelesning 3 </a:t>
            </a:r>
            <a:r>
              <a:rPr lang="nb-NO" dirty="0"/>
              <a:t>med fasit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66BFA3-ABEB-4A60-84CB-DB037D47FB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68983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C8CB-5F51-4618-868A-EAC79C85D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3960"/>
          </a:xfrm>
        </p:spPr>
        <p:txBody>
          <a:bodyPr>
            <a:noAutofit/>
          </a:bodyPr>
          <a:lstStyle/>
          <a:p>
            <a:r>
              <a:rPr lang="nb-NO" sz="2400" dirty="0"/>
              <a:t>Bruk tallene i tabellen når du svarer på spørsmålene under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3EB6960-A665-4676-9054-21AEB014AE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985821"/>
              </p:ext>
            </p:extLst>
          </p:nvPr>
        </p:nvGraphicFramePr>
        <p:xfrm>
          <a:off x="838199" y="970184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1383">
                  <a:extLst>
                    <a:ext uri="{9D8B030D-6E8A-4147-A177-3AD203B41FA5}">
                      <a16:colId xmlns:a16="http://schemas.microsoft.com/office/drawing/2014/main" val="2392163678"/>
                    </a:ext>
                  </a:extLst>
                </a:gridCol>
                <a:gridCol w="1416676">
                  <a:extLst>
                    <a:ext uri="{9D8B030D-6E8A-4147-A177-3AD203B41FA5}">
                      <a16:colId xmlns:a16="http://schemas.microsoft.com/office/drawing/2014/main" val="3667131540"/>
                    </a:ext>
                  </a:extLst>
                </a:gridCol>
                <a:gridCol w="1628641">
                  <a:extLst>
                    <a:ext uri="{9D8B030D-6E8A-4147-A177-3AD203B41FA5}">
                      <a16:colId xmlns:a16="http://schemas.microsoft.com/office/drawing/2014/main" val="296132884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447061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nb-NO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dirty="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dirty="0"/>
                        <a:t>Skatteutvalget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250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400" dirty="0"/>
                        <a:t>Verdsettelsesrabatt aksjer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dirty="0"/>
                        <a:t>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dirty="0"/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362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400" dirty="0"/>
                        <a:t>Formuesskatt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dirty="0"/>
                        <a:t>0,85%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dirty="0"/>
                        <a:t>1,1% (1%)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dirty="0"/>
                        <a:t>0,85% (0,5%)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331704"/>
                  </a:ext>
                </a:extLst>
              </a:tr>
              <a:tr h="246268">
                <a:tc>
                  <a:txBody>
                    <a:bodyPr/>
                    <a:lstStyle/>
                    <a:p>
                      <a:r>
                        <a:rPr lang="nb-NO" sz="2400" dirty="0"/>
                        <a:t>Eierskatt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dirty="0"/>
                        <a:t>31,68%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dirty="0"/>
                        <a:t>37,84%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dirty="0"/>
                        <a:t>34%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338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sz="2400" dirty="0"/>
                        <a:t>Bunnfradrag formuesskatt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dirty="0"/>
                        <a:t>1,5 mill.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dirty="0"/>
                        <a:t>1,7 mill.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dirty="0"/>
                        <a:t>6,4 mill.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9296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C6FDA3C-240D-4190-B11D-355368A4144F}"/>
              </a:ext>
            </a:extLst>
          </p:cNvPr>
          <p:cNvSpPr txBox="1"/>
          <p:nvPr/>
        </p:nvSpPr>
        <p:spPr>
          <a:xfrm flipH="1">
            <a:off x="802783" y="3472677"/>
            <a:ext cx="105864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Anta at effektiv selskapsskatt er 7% og se bort fra skjerming og bunnfradrag. Bruk høyeste formuesskattesats (tall som ikke er i parentes). Svar på følgende spørsmål:</a:t>
            </a:r>
          </a:p>
          <a:p>
            <a:endParaRPr lang="nb-NO" dirty="0"/>
          </a:p>
          <a:p>
            <a:r>
              <a:rPr lang="nb-NO" dirty="0"/>
              <a:t>Spørsmål 1: Anta en investor som eier et aksjeselskap med markedsverdi 1250. Anta at selskapets formuesskatteverdi er 35 prosent av markedsverdi. Hvor mye formuesskatt utløser skattereglene i 2023 (regjeringen Støre) og skatteutvalget.</a:t>
            </a:r>
          </a:p>
          <a:p>
            <a:r>
              <a:rPr lang="nb-NO" dirty="0"/>
              <a:t>Spørsmål 2: Hvor mye utbytte må investoren ta ut under 2023 reglene og under skatteutvalgets forslag for å dekke formuesskatten.</a:t>
            </a:r>
          </a:p>
          <a:p>
            <a:r>
              <a:rPr lang="nb-NO" dirty="0"/>
              <a:t>Spørsmål 3. Hvor mye utbytteskatt betaler investoren med 2003 regelen og med skatteutvalgets forslag.</a:t>
            </a:r>
          </a:p>
          <a:p>
            <a:r>
              <a:rPr lang="nb-NO" dirty="0"/>
              <a:t>Spørsmål 4. </a:t>
            </a:r>
            <a:r>
              <a:rPr lang="nb-NO"/>
              <a:t>Representerer </a:t>
            </a:r>
            <a:r>
              <a:rPr lang="nb-NO" dirty="0"/>
              <a:t>skatteutvalgets forslag en skatteskjerpelse i forhold til 2023 reglene?</a:t>
            </a:r>
          </a:p>
        </p:txBody>
      </p:sp>
    </p:spTree>
    <p:extLst>
      <p:ext uri="{BB962C8B-B14F-4D97-AF65-F5344CB8AC3E}">
        <p14:creationId xmlns:p14="http://schemas.microsoft.com/office/powerpoint/2010/main" val="305105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515A9B-8D8D-4748-98F5-B1409F50F3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612321"/>
                <a:ext cx="10910207" cy="5564642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nb-NO" sz="2400" dirty="0"/>
                  <a:t>Fasit spørsmål 1. </a:t>
                </a:r>
              </a:p>
              <a:p>
                <a:pPr lvl="1"/>
                <a:r>
                  <a:rPr lang="nb-NO" dirty="0"/>
                  <a:t>Formuesskatt med 2023 reglene blir: </a:t>
                </a:r>
                <a14:m>
                  <m:oMath xmlns:m="http://schemas.openxmlformats.org/officeDocument/2006/math">
                    <m:r>
                      <a:rPr lang="nb-NO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1250 </m:t>
                    </m:r>
                    <m:r>
                      <m:rPr>
                        <m:sty m:val="p"/>
                      </m:rPr>
                      <a:rPr lang="nb-NO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kr</m:t>
                    </m:r>
                    <m:r>
                      <a:rPr lang="nb-NO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∙35%∙</m:t>
                    </m:r>
                    <m:d>
                      <m:dPr>
                        <m:ctrlPr>
                          <a:rPr lang="nb-NO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100%−20%</m:t>
                        </m:r>
                      </m:e>
                    </m:d>
                    <m:r>
                      <a:rPr lang="nb-NO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∙1,1%=3,85 </m:t>
                    </m:r>
                    <m:r>
                      <m:rPr>
                        <m:sty m:val="p"/>
                      </m:rPr>
                      <a:rPr lang="nb-NO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kr</m:t>
                    </m:r>
                    <m:r>
                      <a:rPr lang="nb-NO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nb-NO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nb-NO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Formuesskatten ved skatteutvalgets forslag blir </a:t>
                </a:r>
                <a14:m>
                  <m:oMath xmlns:m="http://schemas.openxmlformats.org/officeDocument/2006/math">
                    <m:r>
                      <a:rPr lang="nb-NO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1250 </m:t>
                    </m:r>
                    <m:r>
                      <m:rPr>
                        <m:sty m:val="p"/>
                      </m:rPr>
                      <a:rPr lang="nb-NO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kr</m:t>
                    </m:r>
                    <m:r>
                      <a:rPr lang="nb-NO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∙0,85%=10,63 </m:t>
                    </m:r>
                    <m:r>
                      <m:rPr>
                        <m:sty m:val="p"/>
                      </m:rPr>
                      <a:rPr lang="nb-NO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kr</m:t>
                    </m:r>
                    <m:r>
                      <a:rPr lang="nb-NO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nb-NO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siden det ikke gis noen rabatt på markedsverdi</a:t>
                </a:r>
              </a:p>
              <a:p>
                <a:endParaRPr lang="nb-NO" sz="2400" dirty="0"/>
              </a:p>
              <a:p>
                <a:r>
                  <a:rPr lang="nb-NO" sz="2400" dirty="0"/>
                  <a:t>Fasit spørsmål 2</a:t>
                </a:r>
              </a:p>
              <a:p>
                <a:pPr lvl="1"/>
                <a:r>
                  <a:rPr lang="nb-NO" dirty="0"/>
                  <a:t>Ved 2023 reglene må det tas utbytte lik: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b-NO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3,85 </m:t>
                        </m:r>
                        <m:r>
                          <m:rPr>
                            <m:sty m:val="p"/>
                          </m:rPr>
                          <a:rPr lang="nb-NO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kr</m:t>
                        </m:r>
                      </m:num>
                      <m:den>
                        <m:r>
                          <a:rPr lang="nb-NO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100%−37,84%</m:t>
                        </m:r>
                      </m:den>
                    </m:f>
                    <m:r>
                      <a:rPr lang="nb-NO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=6,19 </m:t>
                    </m:r>
                    <m:r>
                      <m:rPr>
                        <m:sty m:val="p"/>
                      </m:rPr>
                      <a:rPr lang="nb-NO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kr</m:t>
                    </m:r>
                    <m:r>
                      <a:rPr lang="nb-NO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nb-NO" dirty="0"/>
                  <a:t>for å dekke formuesskatten</a:t>
                </a:r>
              </a:p>
              <a:p>
                <a:pPr lvl="1"/>
                <a:r>
                  <a:rPr lang="nb-NO" dirty="0"/>
                  <a:t>Skatteutvalgets forslag innebærer et utbytte på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b-NO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10,63 </m:t>
                        </m:r>
                        <m:r>
                          <m:rPr>
                            <m:sty m:val="p"/>
                          </m:rPr>
                          <a:rPr lang="nb-NO" sz="1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kr</m:t>
                        </m:r>
                      </m:num>
                      <m:den>
                        <m:r>
                          <a:rPr lang="nb-NO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100%−34%</m:t>
                        </m:r>
                      </m:den>
                    </m:f>
                    <m:r>
                      <a:rPr lang="nb-NO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=16,11 </m:t>
                    </m:r>
                    <m:r>
                      <m:rPr>
                        <m:sty m:val="p"/>
                      </m:rPr>
                      <a:rPr lang="nb-NO" sz="1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kr</m:t>
                    </m:r>
                  </m:oMath>
                </a14:m>
                <a:r>
                  <a:rPr lang="nb-NO" dirty="0"/>
                  <a:t> for å dekke formuesskatten</a:t>
                </a:r>
              </a:p>
              <a:p>
                <a:endParaRPr lang="nb-NO" dirty="0"/>
              </a:p>
              <a:p>
                <a:r>
                  <a:rPr lang="nb-NO" dirty="0"/>
                  <a:t>Fasit spørsmål 3</a:t>
                </a:r>
              </a:p>
              <a:p>
                <a:pPr lvl="1"/>
                <a:r>
                  <a:rPr lang="nb-NO" dirty="0"/>
                  <a:t>Utbytteskatt ved 2023 reglene er </a:t>
                </a:r>
                <a14:m>
                  <m:oMath xmlns:m="http://schemas.openxmlformats.org/officeDocument/2006/math">
                    <m:r>
                      <a:rPr lang="nb-NO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6,19∙37,84%</m:t>
                    </m:r>
                    <m:r>
                      <a:rPr lang="nb-NO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=2,34</m:t>
                    </m:r>
                  </m:oMath>
                </a14:m>
                <a:r>
                  <a:rPr lang="nb-NO" dirty="0"/>
                  <a:t> mens utbytteskatten ved skatteutvalgets forslag er </a:t>
                </a:r>
                <a14:m>
                  <m:oMath xmlns:m="http://schemas.openxmlformats.org/officeDocument/2006/math">
                    <m:r>
                      <a:rPr lang="nb-NO" b="0" i="0" smtClean="0">
                        <a:latin typeface="Cambria Math" panose="02040503050406030204" pitchFamily="18" charset="0"/>
                      </a:rPr>
                      <m:t>5,48=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16,11∙34%</m:t>
                    </m:r>
                  </m:oMath>
                </a14:m>
                <a:endParaRPr lang="nb-NO" dirty="0"/>
              </a:p>
              <a:p>
                <a:endParaRPr lang="nb-NO" dirty="0"/>
              </a:p>
              <a:p>
                <a:r>
                  <a:rPr lang="nb-NO" sz="2600" dirty="0"/>
                  <a:t>Fasit </a:t>
                </a:r>
                <a:r>
                  <a:rPr lang="nb-NO" sz="2600" dirty="0" err="1"/>
                  <a:t>spm</a:t>
                </a:r>
                <a:r>
                  <a:rPr lang="nb-NO" sz="2600" dirty="0"/>
                  <a:t> 4: Skatteutvalget representerer en betydelig skatteskjerpelse (ved at sum formuesskatt og utbytteskatt er mye høyere enn ved 2023 reglene)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515A9B-8D8D-4748-98F5-B1409F50F3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612321"/>
                <a:ext cx="10910207" cy="5564642"/>
              </a:xfrm>
              <a:blipFill>
                <a:blip r:embed="rId2"/>
                <a:stretch>
                  <a:fillRect l="-726" t="-1533" r="-838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055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301</Words>
  <Application>Microsoft Office PowerPoint</Application>
  <PresentationFormat>Widescreen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Oppgaver forelesning 3 med fasit</vt:lpstr>
      <vt:lpstr>Bruk tallene i tabellen når du svarer på spørsmålene under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Oppgaver forelesning 3</dc:title>
  <dc:creator>Guttorm Schjelderup</dc:creator>
  <cp:lastModifiedBy>Guttorm Schjelderup</cp:lastModifiedBy>
  <cp:revision>2</cp:revision>
  <dcterms:created xsi:type="dcterms:W3CDTF">2023-05-09T13:10:55Z</dcterms:created>
  <dcterms:modified xsi:type="dcterms:W3CDTF">2026-06-05T08:04:00Z</dcterms:modified>
</cp:coreProperties>
</file>