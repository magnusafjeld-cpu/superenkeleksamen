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5" r:id="rId3"/>
  </p:sldMasterIdLst>
  <p:notesMasterIdLst>
    <p:notesMasterId r:id="rId54"/>
  </p:notesMasterIdLst>
  <p:sldIdLst>
    <p:sldId id="539" r:id="rId4"/>
    <p:sldId id="488" r:id="rId5"/>
    <p:sldId id="544" r:id="rId6"/>
    <p:sldId id="519" r:id="rId7"/>
    <p:sldId id="542" r:id="rId8"/>
    <p:sldId id="543" r:id="rId9"/>
    <p:sldId id="580" r:id="rId10"/>
    <p:sldId id="256" r:id="rId11"/>
    <p:sldId id="443" r:id="rId12"/>
    <p:sldId id="551" r:id="rId13"/>
    <p:sldId id="553" r:id="rId14"/>
    <p:sldId id="556" r:id="rId15"/>
    <p:sldId id="554" r:id="rId16"/>
    <p:sldId id="552" r:id="rId17"/>
    <p:sldId id="555" r:id="rId18"/>
    <p:sldId id="529" r:id="rId19"/>
    <p:sldId id="494" r:id="rId20"/>
    <p:sldId id="523" r:id="rId21"/>
    <p:sldId id="530" r:id="rId22"/>
    <p:sldId id="533" r:id="rId23"/>
    <p:sldId id="536" r:id="rId24"/>
    <p:sldId id="537" r:id="rId25"/>
    <p:sldId id="545" r:id="rId26"/>
    <p:sldId id="522" r:id="rId27"/>
    <p:sldId id="446" r:id="rId28"/>
    <p:sldId id="264" r:id="rId29"/>
    <p:sldId id="265" r:id="rId30"/>
    <p:sldId id="266" r:id="rId31"/>
    <p:sldId id="267" r:id="rId32"/>
    <p:sldId id="268" r:id="rId33"/>
    <p:sldId id="540" r:id="rId34"/>
    <p:sldId id="382" r:id="rId35"/>
    <p:sldId id="538" r:id="rId36"/>
    <p:sldId id="385" r:id="rId37"/>
    <p:sldId id="548" r:id="rId38"/>
    <p:sldId id="549" r:id="rId39"/>
    <p:sldId id="531" r:id="rId40"/>
    <p:sldId id="550" r:id="rId41"/>
    <p:sldId id="449" r:id="rId42"/>
    <p:sldId id="489" r:id="rId43"/>
    <p:sldId id="450" r:id="rId44"/>
    <p:sldId id="583" r:id="rId45"/>
    <p:sldId id="577" r:id="rId46"/>
    <p:sldId id="571" r:id="rId47"/>
    <p:sldId id="579" r:id="rId48"/>
    <p:sldId id="581" r:id="rId49"/>
    <p:sldId id="578" r:id="rId50"/>
    <p:sldId id="573" r:id="rId51"/>
    <p:sldId id="575" r:id="rId52"/>
    <p:sldId id="576" r:id="rId53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2" autoAdjust="0"/>
    <p:restoredTop sz="94660"/>
  </p:normalViewPr>
  <p:slideViewPr>
    <p:cSldViewPr snapToGrid="0">
      <p:cViewPr varScale="1">
        <p:scale>
          <a:sx n="72" d="100"/>
          <a:sy n="72" d="100"/>
        </p:scale>
        <p:origin x="19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ableStyles" Target="tableStyle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microsoft.com/office/2016/11/relationships/changesInfo" Target="changesInfos/changesInfo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ttorm Schjelderup" userId="e0ac67c0-b505-4405-ab95-266cbfcd4586" providerId="ADAL" clId="{A6A39AE8-E1CF-4F5D-BBAC-CEB80C096350}"/>
    <pc:docChg chg="undo redo custSel addSld delSld modSld sldOrd delMainMaster">
      <pc:chgData name="Guttorm Schjelderup" userId="e0ac67c0-b505-4405-ab95-266cbfcd4586" providerId="ADAL" clId="{A6A39AE8-E1CF-4F5D-BBAC-CEB80C096350}" dt="2026-05-12T09:44:41.830" v="33465" actId="14100"/>
      <pc:docMkLst>
        <pc:docMk/>
      </pc:docMkLst>
      <pc:sldChg chg="modSp add mod">
        <pc:chgData name="Guttorm Schjelderup" userId="e0ac67c0-b505-4405-ab95-266cbfcd4586" providerId="ADAL" clId="{A6A39AE8-E1CF-4F5D-BBAC-CEB80C096350}" dt="2026-04-16T13:46:11.083" v="29983" actId="20577"/>
        <pc:sldMkLst>
          <pc:docMk/>
          <pc:sldMk cId="0" sldId="256"/>
        </pc:sldMkLst>
        <pc:spChg chg="mod">
          <ac:chgData name="Guttorm Schjelderup" userId="e0ac67c0-b505-4405-ab95-266cbfcd4586" providerId="ADAL" clId="{A6A39AE8-E1CF-4F5D-BBAC-CEB80C096350}" dt="2026-04-16T13:42:28.717" v="29976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6-04-16T13:39:18.342" v="29954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6-04-16T13:39:27.070" v="29955" actId="255"/>
          <ac:spMkLst>
            <pc:docMk/>
            <pc:sldMk cId="0" sldId="256"/>
            <ac:spMk id="7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6-04-16T13:39:40.317" v="29958" actId="255"/>
          <ac:spMkLst>
            <pc:docMk/>
            <pc:sldMk cId="0" sldId="256"/>
            <ac:spMk id="9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6-04-16T13:39:50.288" v="29959" actId="255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6-04-16T13:40:03.510" v="29960" actId="255"/>
          <ac:spMkLst>
            <pc:docMk/>
            <pc:sldMk cId="0" sldId="256"/>
            <ac:spMk id="12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6-04-16T13:40:13.702" v="29961" actId="255"/>
          <ac:spMkLst>
            <pc:docMk/>
            <pc:sldMk cId="0" sldId="256"/>
            <ac:spMk id="13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6-04-16T13:40:21.083" v="29962" actId="255"/>
          <ac:spMkLst>
            <pc:docMk/>
            <pc:sldMk cId="0" sldId="256"/>
            <ac:spMk id="15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6-04-16T13:40:32.488" v="29963" actId="255"/>
          <ac:spMkLst>
            <pc:docMk/>
            <pc:sldMk cId="0" sldId="256"/>
            <ac:spMk id="16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6-04-16T13:46:11.083" v="29983" actId="2057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6-04-16T13:40:49.645" v="29965" actId="255"/>
          <ac:spMkLst>
            <pc:docMk/>
            <pc:sldMk cId="0" sldId="256"/>
            <ac:spMk id="19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6-04-16T13:40:57.348" v="29966" actId="255"/>
          <ac:spMkLst>
            <pc:docMk/>
            <pc:sldMk cId="0" sldId="256"/>
            <ac:spMk id="21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6-04-16T13:41:06.385" v="29967" actId="255"/>
          <ac:spMkLst>
            <pc:docMk/>
            <pc:sldMk cId="0" sldId="256"/>
            <ac:spMk id="22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6-04-16T13:42:52.727" v="29981" actId="403"/>
          <ac:spMkLst>
            <pc:docMk/>
            <pc:sldMk cId="0" sldId="256"/>
            <ac:spMk id="23" creationId="{00000000-0000-0000-0000-000000000000}"/>
          </ac:spMkLst>
        </pc:spChg>
        <pc:graphicFrameChg chg="mod">
          <ac:chgData name="Guttorm Schjelderup" userId="e0ac67c0-b505-4405-ab95-266cbfcd4586" providerId="ADAL" clId="{A6A39AE8-E1CF-4F5D-BBAC-CEB80C096350}" dt="2026-04-16T13:42:10.176" v="29974" actId="255"/>
          <ac:graphicFrameMkLst>
            <pc:docMk/>
            <pc:sldMk cId="0" sldId="256"/>
            <ac:graphicFrameMk id="4" creationId="{00000000-0000-0000-0000-000000000000}"/>
          </ac:graphicFrameMkLst>
        </pc:graphicFrameChg>
      </pc:sldChg>
      <pc:sldChg chg="modSp mod">
        <pc:chgData name="Guttorm Schjelderup" userId="e0ac67c0-b505-4405-ab95-266cbfcd4586" providerId="ADAL" clId="{A6A39AE8-E1CF-4F5D-BBAC-CEB80C096350}" dt="2026-04-16T13:26:43.929" v="29353" actId="20577"/>
        <pc:sldMkLst>
          <pc:docMk/>
          <pc:sldMk cId="1442812529" sldId="519"/>
        </pc:sldMkLst>
        <pc:spChg chg="mod">
          <ac:chgData name="Guttorm Schjelderup" userId="e0ac67c0-b505-4405-ab95-266cbfcd4586" providerId="ADAL" clId="{A6A39AE8-E1CF-4F5D-BBAC-CEB80C096350}" dt="2026-04-16T13:26:43.929" v="29353" actId="20577"/>
          <ac:spMkLst>
            <pc:docMk/>
            <pc:sldMk cId="1442812529" sldId="519"/>
            <ac:spMk id="2" creationId="{27B1DAD7-2DE8-03DF-5EDF-A8A2A3E9E577}"/>
          </ac:spMkLst>
        </pc:spChg>
      </pc:sldChg>
      <pc:sldChg chg="modSp mod">
        <pc:chgData name="Guttorm Schjelderup" userId="e0ac67c0-b505-4405-ab95-266cbfcd4586" providerId="ADAL" clId="{A6A39AE8-E1CF-4F5D-BBAC-CEB80C096350}" dt="2026-04-16T13:54:06.259" v="30099" actId="20577"/>
        <pc:sldMkLst>
          <pc:docMk/>
          <pc:sldMk cId="2127252453" sldId="530"/>
        </pc:sldMkLst>
        <pc:spChg chg="mod">
          <ac:chgData name="Guttorm Schjelderup" userId="e0ac67c0-b505-4405-ab95-266cbfcd4586" providerId="ADAL" clId="{A6A39AE8-E1CF-4F5D-BBAC-CEB80C096350}" dt="2026-04-16T13:53:37.907" v="30077" actId="20577"/>
          <ac:spMkLst>
            <pc:docMk/>
            <pc:sldMk cId="2127252453" sldId="530"/>
            <ac:spMk id="2" creationId="{5907B79C-5302-A007-3BCE-802BEDCB0CB6}"/>
          </ac:spMkLst>
        </pc:spChg>
        <pc:spChg chg="mod">
          <ac:chgData name="Guttorm Schjelderup" userId="e0ac67c0-b505-4405-ab95-266cbfcd4586" providerId="ADAL" clId="{A6A39AE8-E1CF-4F5D-BBAC-CEB80C096350}" dt="2026-04-16T13:54:06.259" v="30099" actId="20577"/>
          <ac:spMkLst>
            <pc:docMk/>
            <pc:sldMk cId="2127252453" sldId="530"/>
            <ac:spMk id="3" creationId="{585ED847-3D4A-1FC6-859A-3CEA9C59355B}"/>
          </ac:spMkLst>
        </pc:spChg>
      </pc:sldChg>
      <pc:sldChg chg="modSp mod">
        <pc:chgData name="Guttorm Schjelderup" userId="e0ac67c0-b505-4405-ab95-266cbfcd4586" providerId="ADAL" clId="{A6A39AE8-E1CF-4F5D-BBAC-CEB80C096350}" dt="2026-04-16T13:28:36.077" v="29505" actId="113"/>
        <pc:sldMkLst>
          <pc:docMk/>
          <pc:sldMk cId="1842809454" sldId="543"/>
        </pc:sldMkLst>
        <pc:spChg chg="mod">
          <ac:chgData name="Guttorm Schjelderup" userId="e0ac67c0-b505-4405-ab95-266cbfcd4586" providerId="ADAL" clId="{A6A39AE8-E1CF-4F5D-BBAC-CEB80C096350}" dt="2026-04-16T13:28:36.077" v="29505" actId="113"/>
          <ac:spMkLst>
            <pc:docMk/>
            <pc:sldMk cId="1842809454" sldId="543"/>
            <ac:spMk id="3" creationId="{4975DCDB-3144-8D12-854E-0E88179D9DEA}"/>
          </ac:spMkLst>
        </pc:spChg>
      </pc:sldChg>
      <pc:sldChg chg="modSp new mod">
        <pc:chgData name="Guttorm Schjelderup" userId="e0ac67c0-b505-4405-ab95-266cbfcd4586" providerId="ADAL" clId="{A6A39AE8-E1CF-4F5D-BBAC-CEB80C096350}" dt="2026-04-16T13:26:11.506" v="29351" actId="114"/>
        <pc:sldMkLst>
          <pc:docMk/>
          <pc:sldMk cId="3156203882" sldId="544"/>
        </pc:sldMkLst>
        <pc:spChg chg="mod">
          <ac:chgData name="Guttorm Schjelderup" userId="e0ac67c0-b505-4405-ab95-266cbfcd4586" providerId="ADAL" clId="{A6A39AE8-E1CF-4F5D-BBAC-CEB80C096350}" dt="2026-04-16T13:26:11.506" v="29351" actId="114"/>
          <ac:spMkLst>
            <pc:docMk/>
            <pc:sldMk cId="3156203882" sldId="544"/>
            <ac:spMk id="3" creationId="{69D9FA23-E57A-89C2-683B-EF2B6F0DDF56}"/>
          </ac:spMkLst>
        </pc:spChg>
      </pc:sldChg>
      <pc:sldChg chg="modSp mod">
        <pc:chgData name="Guttorm Schjelderup" userId="e0ac67c0-b505-4405-ab95-266cbfcd4586" providerId="ADAL" clId="{A6A39AE8-E1CF-4F5D-BBAC-CEB80C096350}" dt="2026-04-17T07:28:23.116" v="30304" actId="20577"/>
        <pc:sldMkLst>
          <pc:docMk/>
          <pc:sldMk cId="529687930" sldId="548"/>
        </pc:sldMkLst>
        <pc:spChg chg="mod">
          <ac:chgData name="Guttorm Schjelderup" userId="e0ac67c0-b505-4405-ab95-266cbfcd4586" providerId="ADAL" clId="{A6A39AE8-E1CF-4F5D-BBAC-CEB80C096350}" dt="2026-04-17T07:28:23.116" v="30304" actId="20577"/>
          <ac:spMkLst>
            <pc:docMk/>
            <pc:sldMk cId="529687930" sldId="548"/>
            <ac:spMk id="3" creationId="{00A19A32-E3D8-116F-272E-FCA5ADCCD969}"/>
          </ac:spMkLst>
        </pc:spChg>
      </pc:sldChg>
      <pc:sldChg chg="modSp mod">
        <pc:chgData name="Guttorm Schjelderup" userId="e0ac67c0-b505-4405-ab95-266cbfcd4586" providerId="ADAL" clId="{A6A39AE8-E1CF-4F5D-BBAC-CEB80C096350}" dt="2026-04-17T07:29:03.181" v="30396" actId="20577"/>
        <pc:sldMkLst>
          <pc:docMk/>
          <pc:sldMk cId="1287346579" sldId="549"/>
        </pc:sldMkLst>
        <pc:spChg chg="mod">
          <ac:chgData name="Guttorm Schjelderup" userId="e0ac67c0-b505-4405-ab95-266cbfcd4586" providerId="ADAL" clId="{A6A39AE8-E1CF-4F5D-BBAC-CEB80C096350}" dt="2026-04-17T07:29:03.181" v="30396" actId="20577"/>
          <ac:spMkLst>
            <pc:docMk/>
            <pc:sldMk cId="1287346579" sldId="549"/>
            <ac:spMk id="3" creationId="{F663F0E4-ACCD-1A8D-1075-A0500334A942}"/>
          </ac:spMkLst>
        </pc:spChg>
      </pc:sldChg>
      <pc:sldChg chg="modSp mod">
        <pc:chgData name="Guttorm Schjelderup" userId="e0ac67c0-b505-4405-ab95-266cbfcd4586" providerId="ADAL" clId="{A6A39AE8-E1CF-4F5D-BBAC-CEB80C096350}" dt="2026-04-16T13:49:30.139" v="30025" actId="1076"/>
        <pc:sldMkLst>
          <pc:docMk/>
          <pc:sldMk cId="4046130598" sldId="551"/>
        </pc:sldMkLst>
        <pc:spChg chg="mod">
          <ac:chgData name="Guttorm Schjelderup" userId="e0ac67c0-b505-4405-ab95-266cbfcd4586" providerId="ADAL" clId="{A6A39AE8-E1CF-4F5D-BBAC-CEB80C096350}" dt="2026-04-16T13:49:25.360" v="30024" actId="207"/>
          <ac:spMkLst>
            <pc:docMk/>
            <pc:sldMk cId="4046130598" sldId="551"/>
            <ac:spMk id="2" creationId="{7079A614-03C7-FE7F-E5C2-1AC493568900}"/>
          </ac:spMkLst>
        </pc:spChg>
        <pc:spChg chg="mod">
          <ac:chgData name="Guttorm Schjelderup" userId="e0ac67c0-b505-4405-ab95-266cbfcd4586" providerId="ADAL" clId="{A6A39AE8-E1CF-4F5D-BBAC-CEB80C096350}" dt="2026-04-16T13:49:30.139" v="30025" actId="1076"/>
          <ac:spMkLst>
            <pc:docMk/>
            <pc:sldMk cId="4046130598" sldId="551"/>
            <ac:spMk id="3" creationId="{DD7F190E-9A4F-7C38-A9AC-7BF3B1088B59}"/>
          </ac:spMkLst>
        </pc:spChg>
      </pc:sldChg>
      <pc:sldChg chg="modSp mod modAnim">
        <pc:chgData name="Guttorm Schjelderup" userId="e0ac67c0-b505-4405-ab95-266cbfcd4586" providerId="ADAL" clId="{A6A39AE8-E1CF-4F5D-BBAC-CEB80C096350}" dt="2026-04-16T13:51:28.513" v="30068" actId="255"/>
        <pc:sldMkLst>
          <pc:docMk/>
          <pc:sldMk cId="3781561990" sldId="552"/>
        </pc:sldMkLst>
        <pc:spChg chg="mod">
          <ac:chgData name="Guttorm Schjelderup" userId="e0ac67c0-b505-4405-ab95-266cbfcd4586" providerId="ADAL" clId="{A6A39AE8-E1CF-4F5D-BBAC-CEB80C096350}" dt="2026-04-16T13:51:28.513" v="30068" actId="255"/>
          <ac:spMkLst>
            <pc:docMk/>
            <pc:sldMk cId="3781561990" sldId="552"/>
            <ac:spMk id="3" creationId="{06204D94-DCEC-2E94-59AB-0196968049B3}"/>
          </ac:spMkLst>
        </pc:spChg>
      </pc:sldChg>
      <pc:sldChg chg="modSp mod">
        <pc:chgData name="Guttorm Schjelderup" userId="e0ac67c0-b505-4405-ab95-266cbfcd4586" providerId="ADAL" clId="{A6A39AE8-E1CF-4F5D-BBAC-CEB80C096350}" dt="2026-04-16T13:49:52.474" v="30036" actId="20577"/>
        <pc:sldMkLst>
          <pc:docMk/>
          <pc:sldMk cId="496600129" sldId="553"/>
        </pc:sldMkLst>
        <pc:spChg chg="mod">
          <ac:chgData name="Guttorm Schjelderup" userId="e0ac67c0-b505-4405-ab95-266cbfcd4586" providerId="ADAL" clId="{A6A39AE8-E1CF-4F5D-BBAC-CEB80C096350}" dt="2026-04-16T13:49:52.474" v="30036" actId="20577"/>
          <ac:spMkLst>
            <pc:docMk/>
            <pc:sldMk cId="496600129" sldId="553"/>
            <ac:spMk id="3" creationId="{AC375A3F-B82B-12DF-FA06-F94B73B66775}"/>
          </ac:spMkLst>
        </pc:spChg>
      </pc:sldChg>
      <pc:sldChg chg="modSp mod modAnim">
        <pc:chgData name="Guttorm Schjelderup" userId="e0ac67c0-b505-4405-ab95-266cbfcd4586" providerId="ADAL" clId="{A6A39AE8-E1CF-4F5D-BBAC-CEB80C096350}" dt="2026-04-16T13:52:08.432" v="30071" actId="20577"/>
        <pc:sldMkLst>
          <pc:docMk/>
          <pc:sldMk cId="1508058711" sldId="555"/>
        </pc:sldMkLst>
        <pc:spChg chg="mod">
          <ac:chgData name="Guttorm Schjelderup" userId="e0ac67c0-b505-4405-ab95-266cbfcd4586" providerId="ADAL" clId="{A6A39AE8-E1CF-4F5D-BBAC-CEB80C096350}" dt="2026-04-16T13:52:08.432" v="30071" actId="20577"/>
          <ac:spMkLst>
            <pc:docMk/>
            <pc:sldMk cId="1508058711" sldId="555"/>
            <ac:spMk id="3" creationId="{1DC8B010-C6FE-D5E6-06DA-BAC466610E77}"/>
          </ac:spMkLst>
        </pc:spChg>
      </pc:sldChg>
      <pc:sldChg chg="add del">
        <pc:chgData name="Guttorm Schjelderup" userId="e0ac67c0-b505-4405-ab95-266cbfcd4586" providerId="ADAL" clId="{A6A39AE8-E1CF-4F5D-BBAC-CEB80C096350}" dt="2026-05-11T08:05:14.676" v="32339" actId="2696"/>
        <pc:sldMkLst>
          <pc:docMk/>
          <pc:sldMk cId="2074623772" sldId="562"/>
        </pc:sldMkLst>
      </pc:sldChg>
      <pc:sldChg chg="add del">
        <pc:chgData name="Guttorm Schjelderup" userId="e0ac67c0-b505-4405-ab95-266cbfcd4586" providerId="ADAL" clId="{A6A39AE8-E1CF-4F5D-BBAC-CEB80C096350}" dt="2026-05-11T08:05:14.676" v="32339" actId="2696"/>
        <pc:sldMkLst>
          <pc:docMk/>
          <pc:sldMk cId="3798496366" sldId="563"/>
        </pc:sldMkLst>
      </pc:sldChg>
      <pc:sldChg chg="modSp mod">
        <pc:chgData name="Guttorm Schjelderup" userId="e0ac67c0-b505-4405-ab95-266cbfcd4586" providerId="ADAL" clId="{A6A39AE8-E1CF-4F5D-BBAC-CEB80C096350}" dt="2026-05-11T08:38:38.695" v="32919" actId="20577"/>
        <pc:sldMkLst>
          <pc:docMk/>
          <pc:sldMk cId="3725256108" sldId="571"/>
        </pc:sldMkLst>
        <pc:spChg chg="mod">
          <ac:chgData name="Guttorm Schjelderup" userId="e0ac67c0-b505-4405-ab95-266cbfcd4586" providerId="ADAL" clId="{A6A39AE8-E1CF-4F5D-BBAC-CEB80C096350}" dt="2026-05-11T08:38:38.695" v="32919" actId="20577"/>
          <ac:spMkLst>
            <pc:docMk/>
            <pc:sldMk cId="3725256108" sldId="571"/>
            <ac:spMk id="10243" creationId="{00000000-0000-0000-0000-000000000000}"/>
          </ac:spMkLst>
        </pc:spChg>
      </pc:sldChg>
      <pc:sldChg chg="addSp modSp mod modAnim">
        <pc:chgData name="Guttorm Schjelderup" userId="e0ac67c0-b505-4405-ab95-266cbfcd4586" providerId="ADAL" clId="{A6A39AE8-E1CF-4F5D-BBAC-CEB80C096350}" dt="2026-05-11T09:27:36.748" v="33264"/>
        <pc:sldMkLst>
          <pc:docMk/>
          <pc:sldMk cId="3856026886" sldId="573"/>
        </pc:sldMkLst>
        <pc:spChg chg="add mod">
          <ac:chgData name="Guttorm Schjelderup" userId="e0ac67c0-b505-4405-ab95-266cbfcd4586" providerId="ADAL" clId="{A6A39AE8-E1CF-4F5D-BBAC-CEB80C096350}" dt="2026-05-11T08:48:35.067" v="33236" actId="113"/>
          <ac:spMkLst>
            <pc:docMk/>
            <pc:sldMk cId="3856026886" sldId="573"/>
            <ac:spMk id="5" creationId="{7083D6DA-DFE8-5ABA-7A3F-87C0F35B87FE}"/>
          </ac:spMkLst>
        </pc:spChg>
        <pc:spChg chg="add mod">
          <ac:chgData name="Guttorm Schjelderup" userId="e0ac67c0-b505-4405-ab95-266cbfcd4586" providerId="ADAL" clId="{A6A39AE8-E1CF-4F5D-BBAC-CEB80C096350}" dt="2026-05-11T08:48:45.382" v="33238" actId="1076"/>
          <ac:spMkLst>
            <pc:docMk/>
            <pc:sldMk cId="3856026886" sldId="573"/>
            <ac:spMk id="11" creationId="{73DC3E12-8CAB-7940-0F7A-933C708B824F}"/>
          </ac:spMkLst>
        </pc:spChg>
        <pc:spChg chg="mod">
          <ac:chgData name="Guttorm Schjelderup" userId="e0ac67c0-b505-4405-ab95-266cbfcd4586" providerId="ADAL" clId="{A6A39AE8-E1CF-4F5D-BBAC-CEB80C096350}" dt="2026-04-21T15:06:11.341" v="31561" actId="20577"/>
          <ac:spMkLst>
            <pc:docMk/>
            <pc:sldMk cId="3856026886" sldId="573"/>
            <ac:spMk id="13" creationId="{00000000-0000-0000-0000-000000000000}"/>
          </ac:spMkLst>
        </pc:spChg>
        <pc:spChg chg="add mod">
          <ac:chgData name="Guttorm Schjelderup" userId="e0ac67c0-b505-4405-ab95-266cbfcd4586" providerId="ADAL" clId="{A6A39AE8-E1CF-4F5D-BBAC-CEB80C096350}" dt="2026-05-11T09:27:32.965" v="33263" actId="207"/>
          <ac:spMkLst>
            <pc:docMk/>
            <pc:sldMk cId="3856026886" sldId="573"/>
            <ac:spMk id="15" creationId="{FF188FE8-BF88-AB59-91C2-14CFFD1296D1}"/>
          </ac:spMkLst>
        </pc:spChg>
        <pc:spChg chg="mod">
          <ac:chgData name="Guttorm Schjelderup" userId="e0ac67c0-b505-4405-ab95-266cbfcd4586" providerId="ADAL" clId="{A6A39AE8-E1CF-4F5D-BBAC-CEB80C096350}" dt="2026-04-21T15:06:39.332" v="31562" actId="14100"/>
          <ac:spMkLst>
            <pc:docMk/>
            <pc:sldMk cId="3856026886" sldId="573"/>
            <ac:spMk id="35" creationId="{038D8409-A084-E4D9-FEC7-DDE9FA76A1A3}"/>
          </ac:spMkLst>
        </pc:spChg>
      </pc:sldChg>
      <pc:sldChg chg="modSp mod">
        <pc:chgData name="Guttorm Schjelderup" userId="e0ac67c0-b505-4405-ab95-266cbfcd4586" providerId="ADAL" clId="{A6A39AE8-E1CF-4F5D-BBAC-CEB80C096350}" dt="2026-05-11T09:32:09.543" v="33364" actId="20577"/>
        <pc:sldMkLst>
          <pc:docMk/>
          <pc:sldMk cId="1234696066" sldId="575"/>
        </pc:sldMkLst>
        <pc:spChg chg="mod">
          <ac:chgData name="Guttorm Schjelderup" userId="e0ac67c0-b505-4405-ab95-266cbfcd4586" providerId="ADAL" clId="{A6A39AE8-E1CF-4F5D-BBAC-CEB80C096350}" dt="2026-05-11T09:32:09.543" v="33364" actId="20577"/>
          <ac:spMkLst>
            <pc:docMk/>
            <pc:sldMk cId="1234696066" sldId="575"/>
            <ac:spMk id="7" creationId="{B31B1ACB-BCF6-72F7-0E28-42811492D1FC}"/>
          </ac:spMkLst>
        </pc:spChg>
        <pc:spChg chg="mod">
          <ac:chgData name="Guttorm Schjelderup" userId="e0ac67c0-b505-4405-ab95-266cbfcd4586" providerId="ADAL" clId="{A6A39AE8-E1CF-4F5D-BBAC-CEB80C096350}" dt="2026-05-11T09:31:37.854" v="33298" actId="14100"/>
          <ac:spMkLst>
            <pc:docMk/>
            <pc:sldMk cId="1234696066" sldId="575"/>
            <ac:spMk id="11" creationId="{4ACF7949-C524-976F-00C5-47EF3195FF25}"/>
          </ac:spMkLst>
        </pc:spChg>
      </pc:sldChg>
      <pc:sldChg chg="modSp mod">
        <pc:chgData name="Guttorm Schjelderup" userId="e0ac67c0-b505-4405-ab95-266cbfcd4586" providerId="ADAL" clId="{A6A39AE8-E1CF-4F5D-BBAC-CEB80C096350}" dt="2026-05-12T09:44:41.830" v="33465" actId="14100"/>
        <pc:sldMkLst>
          <pc:docMk/>
          <pc:sldMk cId="4125262686" sldId="576"/>
        </pc:sldMkLst>
        <pc:spChg chg="mod">
          <ac:chgData name="Guttorm Schjelderup" userId="e0ac67c0-b505-4405-ab95-266cbfcd4586" providerId="ADAL" clId="{A6A39AE8-E1CF-4F5D-BBAC-CEB80C096350}" dt="2026-05-12T09:44:41.830" v="33465" actId="14100"/>
          <ac:spMkLst>
            <pc:docMk/>
            <pc:sldMk cId="4125262686" sldId="576"/>
            <ac:spMk id="3" creationId="{F9617130-F051-0CD3-1232-DE592630D9DC}"/>
          </ac:spMkLst>
        </pc:spChg>
      </pc:sldChg>
      <pc:sldChg chg="modSp mod">
        <pc:chgData name="Guttorm Schjelderup" userId="e0ac67c0-b505-4405-ab95-266cbfcd4586" providerId="ADAL" clId="{A6A39AE8-E1CF-4F5D-BBAC-CEB80C096350}" dt="2026-04-21T15:13:40.888" v="32072" actId="20577"/>
        <pc:sldMkLst>
          <pc:docMk/>
          <pc:sldMk cId="386004841" sldId="577"/>
        </pc:sldMkLst>
        <pc:spChg chg="mod">
          <ac:chgData name="Guttorm Schjelderup" userId="e0ac67c0-b505-4405-ab95-266cbfcd4586" providerId="ADAL" clId="{A6A39AE8-E1CF-4F5D-BBAC-CEB80C096350}" dt="2026-04-20T10:42:08.753" v="30881" actId="1076"/>
          <ac:spMkLst>
            <pc:docMk/>
            <pc:sldMk cId="386004841" sldId="577"/>
            <ac:spMk id="2" creationId="{7A7FEF24-D9C8-6348-6D52-F65F36812081}"/>
          </ac:spMkLst>
        </pc:spChg>
        <pc:spChg chg="mod">
          <ac:chgData name="Guttorm Schjelderup" userId="e0ac67c0-b505-4405-ab95-266cbfcd4586" providerId="ADAL" clId="{A6A39AE8-E1CF-4F5D-BBAC-CEB80C096350}" dt="2026-04-21T15:13:40.888" v="32072" actId="20577"/>
          <ac:spMkLst>
            <pc:docMk/>
            <pc:sldMk cId="386004841" sldId="577"/>
            <ac:spMk id="3" creationId="{A47F8068-BE57-4A3A-8346-620762BCE62F}"/>
          </ac:spMkLst>
        </pc:spChg>
      </pc:sldChg>
      <pc:sldChg chg="addSp delSp modSp mod">
        <pc:chgData name="Guttorm Schjelderup" userId="e0ac67c0-b505-4405-ab95-266cbfcd4586" providerId="ADAL" clId="{A6A39AE8-E1CF-4F5D-BBAC-CEB80C096350}" dt="2026-05-11T08:47:02.191" v="33217" actId="207"/>
        <pc:sldMkLst>
          <pc:docMk/>
          <pc:sldMk cId="3273010128" sldId="578"/>
        </pc:sldMkLst>
        <pc:spChg chg="add mod">
          <ac:chgData name="Guttorm Schjelderup" userId="e0ac67c0-b505-4405-ab95-266cbfcd4586" providerId="ADAL" clId="{A6A39AE8-E1CF-4F5D-BBAC-CEB80C096350}" dt="2026-05-11T08:46:53.391" v="33216" actId="207"/>
          <ac:spMkLst>
            <pc:docMk/>
            <pc:sldMk cId="3273010128" sldId="578"/>
            <ac:spMk id="3" creationId="{C21CC2B4-589B-6900-C102-3E66F9D79F61}"/>
          </ac:spMkLst>
        </pc:spChg>
        <pc:spChg chg="mod">
          <ac:chgData name="Guttorm Schjelderup" userId="e0ac67c0-b505-4405-ab95-266cbfcd4586" providerId="ADAL" clId="{A6A39AE8-E1CF-4F5D-BBAC-CEB80C096350}" dt="2026-05-11T08:47:02.191" v="33217" actId="207"/>
          <ac:spMkLst>
            <pc:docMk/>
            <pc:sldMk cId="3273010128" sldId="578"/>
            <ac:spMk id="12" creationId="{CB805BEF-0485-723F-C649-C91CCF200DF9}"/>
          </ac:spMkLst>
        </pc:spChg>
        <pc:spChg chg="del">
          <ac:chgData name="Guttorm Schjelderup" userId="e0ac67c0-b505-4405-ab95-266cbfcd4586" providerId="ADAL" clId="{A6A39AE8-E1CF-4F5D-BBAC-CEB80C096350}" dt="2026-05-11T08:32:56.652" v="32849" actId="478"/>
          <ac:spMkLst>
            <pc:docMk/>
            <pc:sldMk cId="3273010128" sldId="578"/>
            <ac:spMk id="15" creationId="{B4EDDB8F-9581-EFD5-C547-7808D622854A}"/>
          </ac:spMkLst>
        </pc:spChg>
        <pc:spChg chg="del">
          <ac:chgData name="Guttorm Schjelderup" userId="e0ac67c0-b505-4405-ab95-266cbfcd4586" providerId="ADAL" clId="{A6A39AE8-E1CF-4F5D-BBAC-CEB80C096350}" dt="2026-05-11T08:42:30.687" v="33077" actId="478"/>
          <ac:spMkLst>
            <pc:docMk/>
            <pc:sldMk cId="3273010128" sldId="578"/>
            <ac:spMk id="16" creationId="{4679928E-DCFF-8A26-3960-D9091C81DFE2}"/>
          </ac:spMkLst>
        </pc:spChg>
        <pc:spChg chg="del">
          <ac:chgData name="Guttorm Schjelderup" userId="e0ac67c0-b505-4405-ab95-266cbfcd4586" providerId="ADAL" clId="{A6A39AE8-E1CF-4F5D-BBAC-CEB80C096350}" dt="2026-05-11T08:33:04.555" v="32851" actId="478"/>
          <ac:spMkLst>
            <pc:docMk/>
            <pc:sldMk cId="3273010128" sldId="578"/>
            <ac:spMk id="19" creationId="{B0C1ABE6-8F32-0CFD-73F8-EA932711D869}"/>
          </ac:spMkLst>
        </pc:spChg>
        <pc:spChg chg="del">
          <ac:chgData name="Guttorm Schjelderup" userId="e0ac67c0-b505-4405-ab95-266cbfcd4586" providerId="ADAL" clId="{A6A39AE8-E1CF-4F5D-BBAC-CEB80C096350}" dt="2026-05-11T08:33:00.068" v="32850" actId="478"/>
          <ac:spMkLst>
            <pc:docMk/>
            <pc:sldMk cId="3273010128" sldId="578"/>
            <ac:spMk id="21" creationId="{CEBEC4DF-283C-29AA-DBFD-224885CE6430}"/>
          </ac:spMkLst>
        </pc:spChg>
        <pc:spChg chg="del">
          <ac:chgData name="Guttorm Schjelderup" userId="e0ac67c0-b505-4405-ab95-266cbfcd4586" providerId="ADAL" clId="{A6A39AE8-E1CF-4F5D-BBAC-CEB80C096350}" dt="2026-05-11T08:33:06.822" v="32852" actId="478"/>
          <ac:spMkLst>
            <pc:docMk/>
            <pc:sldMk cId="3273010128" sldId="578"/>
            <ac:spMk id="22" creationId="{F9BD29DC-FC91-D165-9A39-85DF2EC2CFB1}"/>
          </ac:spMkLst>
        </pc:spChg>
        <pc:spChg chg="del">
          <ac:chgData name="Guttorm Schjelderup" userId="e0ac67c0-b505-4405-ab95-266cbfcd4586" providerId="ADAL" clId="{A6A39AE8-E1CF-4F5D-BBAC-CEB80C096350}" dt="2026-05-11T08:33:10.362" v="32853" actId="478"/>
          <ac:spMkLst>
            <pc:docMk/>
            <pc:sldMk cId="3273010128" sldId="578"/>
            <ac:spMk id="23" creationId="{6C2FCD94-4C1E-17CF-29F7-EA8DEC0E5072}"/>
          </ac:spMkLst>
        </pc:spChg>
        <pc:spChg chg="mod">
          <ac:chgData name="Guttorm Schjelderup" userId="e0ac67c0-b505-4405-ab95-266cbfcd4586" providerId="ADAL" clId="{A6A39AE8-E1CF-4F5D-BBAC-CEB80C096350}" dt="2026-05-11T08:42:53.429" v="33079" actId="1582"/>
          <ac:spMkLst>
            <pc:docMk/>
            <pc:sldMk cId="3273010128" sldId="578"/>
            <ac:spMk id="33" creationId="{5A0FE9E3-66E0-1460-2AC9-1232795E1F23}"/>
          </ac:spMkLst>
        </pc:spChg>
        <pc:cxnChg chg="mod">
          <ac:chgData name="Guttorm Schjelderup" userId="e0ac67c0-b505-4405-ab95-266cbfcd4586" providerId="ADAL" clId="{A6A39AE8-E1CF-4F5D-BBAC-CEB80C096350}" dt="2026-05-11T08:32:41.771" v="32848" actId="208"/>
          <ac:cxnSpMkLst>
            <pc:docMk/>
            <pc:sldMk cId="3273010128" sldId="578"/>
            <ac:cxnSpMk id="7" creationId="{4DEDB54B-B92B-C36A-5C2D-C0C23C00068D}"/>
          </ac:cxnSpMkLst>
        </pc:cxnChg>
        <pc:cxnChg chg="mod">
          <ac:chgData name="Guttorm Schjelderup" userId="e0ac67c0-b505-4405-ab95-266cbfcd4586" providerId="ADAL" clId="{A6A39AE8-E1CF-4F5D-BBAC-CEB80C096350}" dt="2026-04-21T15:05:03.184" v="31553" actId="1582"/>
          <ac:cxnSpMkLst>
            <pc:docMk/>
            <pc:sldMk cId="3273010128" sldId="578"/>
            <ac:cxnSpMk id="8" creationId="{25D76ECE-063A-470B-8F6A-3555DAC117A1}"/>
          </ac:cxnSpMkLst>
        </pc:cxnChg>
        <pc:cxnChg chg="mod">
          <ac:chgData name="Guttorm Schjelderup" userId="e0ac67c0-b505-4405-ab95-266cbfcd4586" providerId="ADAL" clId="{A6A39AE8-E1CF-4F5D-BBAC-CEB80C096350}" dt="2026-04-21T15:04:32.277" v="31551" actId="1582"/>
          <ac:cxnSpMkLst>
            <pc:docMk/>
            <pc:sldMk cId="3273010128" sldId="578"/>
            <ac:cxnSpMk id="9" creationId="{72CF0C55-5517-084A-2A12-7E5119DF8F51}"/>
          </ac:cxnSpMkLst>
        </pc:cxnChg>
        <pc:cxnChg chg="mod">
          <ac:chgData name="Guttorm Schjelderup" userId="e0ac67c0-b505-4405-ab95-266cbfcd4586" providerId="ADAL" clId="{A6A39AE8-E1CF-4F5D-BBAC-CEB80C096350}" dt="2026-05-11T08:32:30.687" v="32847" actId="208"/>
          <ac:cxnSpMkLst>
            <pc:docMk/>
            <pc:sldMk cId="3273010128" sldId="578"/>
            <ac:cxnSpMk id="18" creationId="{382E4BA7-C07C-0DEB-6489-054131022473}"/>
          </ac:cxnSpMkLst>
        </pc:cxnChg>
        <pc:cxnChg chg="mod">
          <ac:chgData name="Guttorm Schjelderup" userId="e0ac67c0-b505-4405-ab95-266cbfcd4586" providerId="ADAL" clId="{A6A39AE8-E1CF-4F5D-BBAC-CEB80C096350}" dt="2026-04-21T15:05:27.453" v="31556" actId="1582"/>
          <ac:cxnSpMkLst>
            <pc:docMk/>
            <pc:sldMk cId="3273010128" sldId="578"/>
            <ac:cxnSpMk id="43" creationId="{2C69202D-86B3-39A5-180C-E44183EAB7C0}"/>
          </ac:cxnSpMkLst>
        </pc:cxnChg>
        <pc:cxnChg chg="mod">
          <ac:chgData name="Guttorm Schjelderup" userId="e0ac67c0-b505-4405-ab95-266cbfcd4586" providerId="ADAL" clId="{A6A39AE8-E1CF-4F5D-BBAC-CEB80C096350}" dt="2026-04-21T15:05:48.392" v="31560" actId="1582"/>
          <ac:cxnSpMkLst>
            <pc:docMk/>
            <pc:sldMk cId="3273010128" sldId="578"/>
            <ac:cxnSpMk id="57" creationId="{577095CA-8A30-1CF0-20CE-551443C3A1B4}"/>
          </ac:cxnSpMkLst>
        </pc:cxnChg>
      </pc:sldChg>
      <pc:sldChg chg="addSp modSp mod">
        <pc:chgData name="Guttorm Schjelderup" userId="e0ac67c0-b505-4405-ab95-266cbfcd4586" providerId="ADAL" clId="{A6A39AE8-E1CF-4F5D-BBAC-CEB80C096350}" dt="2026-05-11T08:38:45.594" v="32920" actId="1076"/>
        <pc:sldMkLst>
          <pc:docMk/>
          <pc:sldMk cId="4262156475" sldId="579"/>
        </pc:sldMkLst>
        <pc:spChg chg="mod">
          <ac:chgData name="Guttorm Schjelderup" userId="e0ac67c0-b505-4405-ab95-266cbfcd4586" providerId="ADAL" clId="{A6A39AE8-E1CF-4F5D-BBAC-CEB80C096350}" dt="2026-05-11T08:12:25.901" v="32414" actId="20577"/>
          <ac:spMkLst>
            <pc:docMk/>
            <pc:sldMk cId="4262156475" sldId="579"/>
            <ac:spMk id="3" creationId="{07E11D5D-0045-2550-5538-F50E420EBDB8}"/>
          </ac:spMkLst>
        </pc:spChg>
        <pc:spChg chg="add mod">
          <ac:chgData name="Guttorm Schjelderup" userId="e0ac67c0-b505-4405-ab95-266cbfcd4586" providerId="ADAL" clId="{A6A39AE8-E1CF-4F5D-BBAC-CEB80C096350}" dt="2026-04-20T10:48:16.198" v="30978" actId="14100"/>
          <ac:spMkLst>
            <pc:docMk/>
            <pc:sldMk cId="4262156475" sldId="579"/>
            <ac:spMk id="9" creationId="{74F47781-0E23-C524-8CC2-6AB985E08EB7}"/>
          </ac:spMkLst>
        </pc:spChg>
        <pc:spChg chg="add mod">
          <ac:chgData name="Guttorm Schjelderup" userId="e0ac67c0-b505-4405-ab95-266cbfcd4586" providerId="ADAL" clId="{A6A39AE8-E1CF-4F5D-BBAC-CEB80C096350}" dt="2026-05-11T08:11:16.117" v="32360" actId="20577"/>
          <ac:spMkLst>
            <pc:docMk/>
            <pc:sldMk cId="4262156475" sldId="579"/>
            <ac:spMk id="10" creationId="{DD6D2FF8-100D-0A22-B5F0-04CD5102AD4B}"/>
          </ac:spMkLst>
        </pc:spChg>
        <pc:cxnChg chg="mod">
          <ac:chgData name="Guttorm Schjelderup" userId="e0ac67c0-b505-4405-ab95-266cbfcd4586" providerId="ADAL" clId="{A6A39AE8-E1CF-4F5D-BBAC-CEB80C096350}" dt="2026-05-11T08:38:45.594" v="32920" actId="1076"/>
          <ac:cxnSpMkLst>
            <pc:docMk/>
            <pc:sldMk cId="4262156475" sldId="579"/>
            <ac:cxnSpMk id="6" creationId="{8A22DECD-358A-DE7A-3765-7CD012B4D35A}"/>
          </ac:cxnSpMkLst>
        </pc:cxnChg>
        <pc:cxnChg chg="add mod">
          <ac:chgData name="Guttorm Schjelderup" userId="e0ac67c0-b505-4405-ab95-266cbfcd4586" providerId="ADAL" clId="{A6A39AE8-E1CF-4F5D-BBAC-CEB80C096350}" dt="2026-05-11T08:10:56.997" v="32344" actId="14100"/>
          <ac:cxnSpMkLst>
            <pc:docMk/>
            <pc:sldMk cId="4262156475" sldId="579"/>
            <ac:cxnSpMk id="7" creationId="{204CBCB0-48F1-F4AF-A652-C6D68B9A6803}"/>
          </ac:cxnSpMkLst>
        </pc:cxnChg>
      </pc:sldChg>
      <pc:sldChg chg="modSp new mod">
        <pc:chgData name="Guttorm Schjelderup" userId="e0ac67c0-b505-4405-ab95-266cbfcd4586" providerId="ADAL" clId="{A6A39AE8-E1CF-4F5D-BBAC-CEB80C096350}" dt="2026-04-16T13:34:04.247" v="29948" actId="20577"/>
        <pc:sldMkLst>
          <pc:docMk/>
          <pc:sldMk cId="2317011745" sldId="580"/>
        </pc:sldMkLst>
        <pc:spChg chg="mod">
          <ac:chgData name="Guttorm Schjelderup" userId="e0ac67c0-b505-4405-ab95-266cbfcd4586" providerId="ADAL" clId="{A6A39AE8-E1CF-4F5D-BBAC-CEB80C096350}" dt="2026-04-16T13:32:10.128" v="29658" actId="14100"/>
          <ac:spMkLst>
            <pc:docMk/>
            <pc:sldMk cId="2317011745" sldId="580"/>
            <ac:spMk id="2" creationId="{CEB6B982-2B13-18FF-4EE9-BE50BBA39BAE}"/>
          </ac:spMkLst>
        </pc:spChg>
        <pc:spChg chg="mod">
          <ac:chgData name="Guttorm Schjelderup" userId="e0ac67c0-b505-4405-ab95-266cbfcd4586" providerId="ADAL" clId="{A6A39AE8-E1CF-4F5D-BBAC-CEB80C096350}" dt="2026-04-16T13:34:04.247" v="29948" actId="20577"/>
          <ac:spMkLst>
            <pc:docMk/>
            <pc:sldMk cId="2317011745" sldId="580"/>
            <ac:spMk id="3" creationId="{0DE4DF0D-9124-3F6A-4144-7B52E1A6C065}"/>
          </ac:spMkLst>
        </pc:spChg>
      </pc:sldChg>
      <pc:sldChg chg="addSp delSp modSp new mod modAnim">
        <pc:chgData name="Guttorm Schjelderup" userId="e0ac67c0-b505-4405-ab95-266cbfcd4586" providerId="ADAL" clId="{A6A39AE8-E1CF-4F5D-BBAC-CEB80C096350}" dt="2026-05-11T08:30:37.152" v="32846" actId="20577"/>
        <pc:sldMkLst>
          <pc:docMk/>
          <pc:sldMk cId="2833796923" sldId="581"/>
        </pc:sldMkLst>
        <pc:spChg chg="add mod">
          <ac:chgData name="Guttorm Schjelderup" userId="e0ac67c0-b505-4405-ab95-266cbfcd4586" providerId="ADAL" clId="{A6A39AE8-E1CF-4F5D-BBAC-CEB80C096350}" dt="2026-04-20T10:49:50.136" v="30999" actId="1076"/>
          <ac:spMkLst>
            <pc:docMk/>
            <pc:sldMk cId="2833796923" sldId="581"/>
            <ac:spMk id="6" creationId="{CB30DC6B-EAA4-320E-72B8-23234DAC01E1}"/>
          </ac:spMkLst>
        </pc:spChg>
        <pc:spChg chg="add mod">
          <ac:chgData name="Guttorm Schjelderup" userId="e0ac67c0-b505-4405-ab95-266cbfcd4586" providerId="ADAL" clId="{A6A39AE8-E1CF-4F5D-BBAC-CEB80C096350}" dt="2026-05-11T08:30:37.152" v="32846" actId="20577"/>
          <ac:spMkLst>
            <pc:docMk/>
            <pc:sldMk cId="2833796923" sldId="581"/>
            <ac:spMk id="7" creationId="{8000CE0E-9461-EEA0-E6A8-6A7886DD2E29}"/>
          </ac:spMkLst>
        </pc:spChg>
        <pc:spChg chg="add mod">
          <ac:chgData name="Guttorm Schjelderup" userId="e0ac67c0-b505-4405-ab95-266cbfcd4586" providerId="ADAL" clId="{A6A39AE8-E1CF-4F5D-BBAC-CEB80C096350}" dt="2026-04-20T11:15:30.318" v="31122" actId="1076"/>
          <ac:spMkLst>
            <pc:docMk/>
            <pc:sldMk cId="2833796923" sldId="581"/>
            <ac:spMk id="8" creationId="{50CB4F84-3F8C-ED8B-A54F-D1A6FDCAFEB7}"/>
          </ac:spMkLst>
        </pc:spChg>
        <pc:spChg chg="add mod">
          <ac:chgData name="Guttorm Schjelderup" userId="e0ac67c0-b505-4405-ab95-266cbfcd4586" providerId="ADAL" clId="{A6A39AE8-E1CF-4F5D-BBAC-CEB80C096350}" dt="2026-04-20T11:15:34.401" v="31123" actId="1076"/>
          <ac:spMkLst>
            <pc:docMk/>
            <pc:sldMk cId="2833796923" sldId="581"/>
            <ac:spMk id="9" creationId="{EAD9F205-3E20-8DE0-4CC6-0223A7B69C27}"/>
          </ac:spMkLst>
        </pc:spChg>
        <pc:spChg chg="add mod">
          <ac:chgData name="Guttorm Schjelderup" userId="e0ac67c0-b505-4405-ab95-266cbfcd4586" providerId="ADAL" clId="{A6A39AE8-E1CF-4F5D-BBAC-CEB80C096350}" dt="2026-04-20T11:22:13.118" v="31225"/>
          <ac:spMkLst>
            <pc:docMk/>
            <pc:sldMk cId="2833796923" sldId="581"/>
            <ac:spMk id="15" creationId="{BD2DD823-F55E-4752-7368-C30CC7FFDD9D}"/>
          </ac:spMkLst>
        </pc:spChg>
        <pc:spChg chg="add mod">
          <ac:chgData name="Guttorm Schjelderup" userId="e0ac67c0-b505-4405-ab95-266cbfcd4586" providerId="ADAL" clId="{A6A39AE8-E1CF-4F5D-BBAC-CEB80C096350}" dt="2026-04-20T11:17:22.952" v="31143" actId="1076"/>
          <ac:spMkLst>
            <pc:docMk/>
            <pc:sldMk cId="2833796923" sldId="581"/>
            <ac:spMk id="16" creationId="{BB71C77C-6198-6619-F098-772F16A236FC}"/>
          </ac:spMkLst>
        </pc:spChg>
        <pc:spChg chg="add mod">
          <ac:chgData name="Guttorm Schjelderup" userId="e0ac67c0-b505-4405-ab95-266cbfcd4586" providerId="ADAL" clId="{A6A39AE8-E1CF-4F5D-BBAC-CEB80C096350}" dt="2026-05-11T08:29:26.795" v="32827" actId="113"/>
          <ac:spMkLst>
            <pc:docMk/>
            <pc:sldMk cId="2833796923" sldId="581"/>
            <ac:spMk id="20" creationId="{D4C8557C-DA4F-04F0-619A-D254C8E96123}"/>
          </ac:spMkLst>
        </pc:spChg>
        <pc:spChg chg="add mod">
          <ac:chgData name="Guttorm Schjelderup" userId="e0ac67c0-b505-4405-ab95-266cbfcd4586" providerId="ADAL" clId="{A6A39AE8-E1CF-4F5D-BBAC-CEB80C096350}" dt="2026-05-11T08:23:32.738" v="32755" actId="1076"/>
          <ac:spMkLst>
            <pc:docMk/>
            <pc:sldMk cId="2833796923" sldId="581"/>
            <ac:spMk id="22" creationId="{2AC385DE-2207-BC11-2166-D590094B9803}"/>
          </ac:spMkLst>
        </pc:spChg>
        <pc:spChg chg="add mod">
          <ac:chgData name="Guttorm Schjelderup" userId="e0ac67c0-b505-4405-ab95-266cbfcd4586" providerId="ADAL" clId="{A6A39AE8-E1CF-4F5D-BBAC-CEB80C096350}" dt="2026-04-20T11:23:10.409" v="31239" actId="403"/>
          <ac:spMkLst>
            <pc:docMk/>
            <pc:sldMk cId="2833796923" sldId="581"/>
            <ac:spMk id="24" creationId="{8CED8CE4-3914-A9EF-A3BF-BF54DD49EAFD}"/>
          </ac:spMkLst>
        </pc:spChg>
        <pc:spChg chg="add mod">
          <ac:chgData name="Guttorm Schjelderup" userId="e0ac67c0-b505-4405-ab95-266cbfcd4586" providerId="ADAL" clId="{A6A39AE8-E1CF-4F5D-BBAC-CEB80C096350}" dt="2026-05-11T08:29:32.386" v="32828" actId="113"/>
          <ac:spMkLst>
            <pc:docMk/>
            <pc:sldMk cId="2833796923" sldId="581"/>
            <ac:spMk id="29" creationId="{AB8A8005-EFFD-1C0B-66DE-E57BCB092A56}"/>
          </ac:spMkLst>
        </pc:spChg>
        <pc:spChg chg="add del mod">
          <ac:chgData name="Guttorm Schjelderup" userId="e0ac67c0-b505-4405-ab95-266cbfcd4586" providerId="ADAL" clId="{A6A39AE8-E1CF-4F5D-BBAC-CEB80C096350}" dt="2026-05-11T08:15:29.944" v="32505" actId="478"/>
          <ac:spMkLst>
            <pc:docMk/>
            <pc:sldMk cId="2833796923" sldId="581"/>
            <ac:spMk id="30" creationId="{921D27FA-59CD-3B0C-0D72-81A7528AC3D8}"/>
          </ac:spMkLst>
        </pc:spChg>
        <pc:spChg chg="add mod">
          <ac:chgData name="Guttorm Schjelderup" userId="e0ac67c0-b505-4405-ab95-266cbfcd4586" providerId="ADAL" clId="{A6A39AE8-E1CF-4F5D-BBAC-CEB80C096350}" dt="2026-05-11T08:27:02.200" v="32818" actId="20577"/>
          <ac:spMkLst>
            <pc:docMk/>
            <pc:sldMk cId="2833796923" sldId="581"/>
            <ac:spMk id="31" creationId="{27FADA70-D176-0DFF-DE5C-02CF853492E6}"/>
          </ac:spMkLst>
        </pc:spChg>
        <pc:spChg chg="add mod">
          <ac:chgData name="Guttorm Schjelderup" userId="e0ac67c0-b505-4405-ab95-266cbfcd4586" providerId="ADAL" clId="{A6A39AE8-E1CF-4F5D-BBAC-CEB80C096350}" dt="2026-05-11T08:26:40.743" v="32808" actId="1036"/>
          <ac:spMkLst>
            <pc:docMk/>
            <pc:sldMk cId="2833796923" sldId="581"/>
            <ac:spMk id="33" creationId="{BE9DF4B5-9BBB-D030-7B71-3DDA1FB21ADF}"/>
          </ac:spMkLst>
        </pc:spChg>
        <pc:spChg chg="add del mod">
          <ac:chgData name="Guttorm Schjelderup" userId="e0ac67c0-b505-4405-ab95-266cbfcd4586" providerId="ADAL" clId="{A6A39AE8-E1CF-4F5D-BBAC-CEB80C096350}" dt="2026-05-11T08:13:26.958" v="32435" actId="478"/>
          <ac:spMkLst>
            <pc:docMk/>
            <pc:sldMk cId="2833796923" sldId="581"/>
            <ac:spMk id="34" creationId="{2E3C18A0-40B7-4890-6F04-8E199D552721}"/>
          </ac:spMkLst>
        </pc:spChg>
        <pc:cxnChg chg="add mod">
          <ac:chgData name="Guttorm Schjelderup" userId="e0ac67c0-b505-4405-ab95-266cbfcd4586" providerId="ADAL" clId="{A6A39AE8-E1CF-4F5D-BBAC-CEB80C096350}" dt="2026-05-11T08:19:45.029" v="32626" actId="14100"/>
          <ac:cxnSpMkLst>
            <pc:docMk/>
            <pc:sldMk cId="2833796923" sldId="581"/>
            <ac:cxnSpMk id="4" creationId="{193464B0-2398-52EF-B7E6-C9A56A1BF806}"/>
          </ac:cxnSpMkLst>
        </pc:cxnChg>
        <pc:cxnChg chg="add mod">
          <ac:chgData name="Guttorm Schjelderup" userId="e0ac67c0-b505-4405-ab95-266cbfcd4586" providerId="ADAL" clId="{A6A39AE8-E1CF-4F5D-BBAC-CEB80C096350}" dt="2026-04-20T11:16:01.870" v="31128" actId="1582"/>
          <ac:cxnSpMkLst>
            <pc:docMk/>
            <pc:sldMk cId="2833796923" sldId="581"/>
            <ac:cxnSpMk id="11" creationId="{EE74B3BA-5603-F355-1220-3F7B76689CA8}"/>
          </ac:cxnSpMkLst>
        </pc:cxnChg>
        <pc:cxnChg chg="add mod">
          <ac:chgData name="Guttorm Schjelderup" userId="e0ac67c0-b505-4405-ab95-266cbfcd4586" providerId="ADAL" clId="{A6A39AE8-E1CF-4F5D-BBAC-CEB80C096350}" dt="2026-04-20T11:16:15.248" v="31131" actId="1076"/>
          <ac:cxnSpMkLst>
            <pc:docMk/>
            <pc:sldMk cId="2833796923" sldId="581"/>
            <ac:cxnSpMk id="12" creationId="{49F142B2-98BC-1743-E69C-79502B4E42F0}"/>
          </ac:cxnSpMkLst>
        </pc:cxnChg>
        <pc:cxnChg chg="add mod">
          <ac:chgData name="Guttorm Schjelderup" userId="e0ac67c0-b505-4405-ab95-266cbfcd4586" providerId="ADAL" clId="{A6A39AE8-E1CF-4F5D-BBAC-CEB80C096350}" dt="2026-05-11T08:18:17.046" v="32579" actId="14100"/>
          <ac:cxnSpMkLst>
            <pc:docMk/>
            <pc:sldMk cId="2833796923" sldId="581"/>
            <ac:cxnSpMk id="18" creationId="{829A4E9B-9497-BA38-B6E3-8C5F34718206}"/>
          </ac:cxnSpMkLst>
        </pc:cxnChg>
        <pc:cxnChg chg="add mod">
          <ac:chgData name="Guttorm Schjelderup" userId="e0ac67c0-b505-4405-ab95-266cbfcd4586" providerId="ADAL" clId="{A6A39AE8-E1CF-4F5D-BBAC-CEB80C096350}" dt="2026-05-11T08:20:28.295" v="32631" actId="14100"/>
          <ac:cxnSpMkLst>
            <pc:docMk/>
            <pc:sldMk cId="2833796923" sldId="581"/>
            <ac:cxnSpMk id="25" creationId="{3EC7778D-0C51-B5E8-2E87-AABED586E355}"/>
          </ac:cxnSpMkLst>
        </pc:cxnChg>
        <pc:cxnChg chg="add mod">
          <ac:chgData name="Guttorm Schjelderup" userId="e0ac67c0-b505-4405-ab95-266cbfcd4586" providerId="ADAL" clId="{A6A39AE8-E1CF-4F5D-BBAC-CEB80C096350}" dt="2026-05-11T08:18:45.183" v="32620" actId="14100"/>
          <ac:cxnSpMkLst>
            <pc:docMk/>
            <pc:sldMk cId="2833796923" sldId="581"/>
            <ac:cxnSpMk id="26" creationId="{4D43D0E4-3CFF-6342-ABF5-82603FC5AB0B}"/>
          </ac:cxnSpMkLst>
        </pc:cxnChg>
        <pc:cxnChg chg="add mod">
          <ac:chgData name="Guttorm Schjelderup" userId="e0ac67c0-b505-4405-ab95-266cbfcd4586" providerId="ADAL" clId="{A6A39AE8-E1CF-4F5D-BBAC-CEB80C096350}" dt="2026-05-11T08:18:37.640" v="32619" actId="1037"/>
          <ac:cxnSpMkLst>
            <pc:docMk/>
            <pc:sldMk cId="2833796923" sldId="581"/>
            <ac:cxnSpMk id="28" creationId="{7A697853-456F-FF3B-16CF-76C3409E9AE3}"/>
          </ac:cxnSpMkLst>
        </pc:cxnChg>
        <pc:cxnChg chg="add del mod">
          <ac:chgData name="Guttorm Schjelderup" userId="e0ac67c0-b505-4405-ab95-266cbfcd4586" providerId="ADAL" clId="{A6A39AE8-E1CF-4F5D-BBAC-CEB80C096350}" dt="2026-05-11T08:17:08.284" v="32575" actId="478"/>
          <ac:cxnSpMkLst>
            <pc:docMk/>
            <pc:sldMk cId="2833796923" sldId="581"/>
            <ac:cxnSpMk id="32" creationId="{B4EF579C-C34D-7927-B9E9-A21E498201EA}"/>
          </ac:cxnSpMkLst>
        </pc:cxnChg>
      </pc:sldChg>
      <pc:sldChg chg="modSp new del mod">
        <pc:chgData name="Guttorm Schjelderup" userId="e0ac67c0-b505-4405-ab95-266cbfcd4586" providerId="ADAL" clId="{A6A39AE8-E1CF-4F5D-BBAC-CEB80C096350}" dt="2026-05-11T08:05:14.676" v="32339" actId="2696"/>
        <pc:sldMkLst>
          <pc:docMk/>
          <pc:sldMk cId="1709626809" sldId="582"/>
        </pc:sldMkLst>
      </pc:sldChg>
      <pc:sldChg chg="modSp new mod">
        <pc:chgData name="Guttorm Schjelderup" userId="e0ac67c0-b505-4405-ab95-266cbfcd4586" providerId="ADAL" clId="{A6A39AE8-E1CF-4F5D-BBAC-CEB80C096350}" dt="2026-05-11T08:04:44.586" v="32338" actId="20577"/>
        <pc:sldMkLst>
          <pc:docMk/>
          <pc:sldMk cId="4157678046" sldId="583"/>
        </pc:sldMkLst>
        <pc:spChg chg="mod">
          <ac:chgData name="Guttorm Schjelderup" userId="e0ac67c0-b505-4405-ab95-266cbfcd4586" providerId="ADAL" clId="{A6A39AE8-E1CF-4F5D-BBAC-CEB80C096350}" dt="2026-05-11T07:57:54.303" v="32099" actId="20577"/>
          <ac:spMkLst>
            <pc:docMk/>
            <pc:sldMk cId="4157678046" sldId="583"/>
            <ac:spMk id="2" creationId="{F12034B8-D927-319A-347C-201B6645B1E9}"/>
          </ac:spMkLst>
        </pc:spChg>
        <pc:spChg chg="mod">
          <ac:chgData name="Guttorm Schjelderup" userId="e0ac67c0-b505-4405-ab95-266cbfcd4586" providerId="ADAL" clId="{A6A39AE8-E1CF-4F5D-BBAC-CEB80C096350}" dt="2026-05-11T08:04:44.586" v="32338" actId="20577"/>
          <ac:spMkLst>
            <pc:docMk/>
            <pc:sldMk cId="4157678046" sldId="583"/>
            <ac:spMk id="3" creationId="{57B73A57-616D-0923-13C7-F3D29A0818D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Formue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85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51C-420B-8334-7A86FA999F33}"/>
              </c:ext>
            </c:extLst>
          </c:dPt>
          <c:dPt>
            <c:idx val="1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1C-420B-8334-7A86FA999F33}"/>
              </c:ext>
            </c:extLst>
          </c:dPt>
          <c:dPt>
            <c:idx val="2"/>
            <c:bubble3D val="0"/>
            <c:spPr>
              <a:solidFill>
                <a:srgbClr val="D45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1C-420B-8334-7A86FA999F33}"/>
              </c:ext>
            </c:extLst>
          </c:dPt>
          <c:dPt>
            <c:idx val="3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1C-420B-8334-7A86FA999F33}"/>
              </c:ext>
            </c:extLst>
          </c:dPt>
          <c:dPt>
            <c:idx val="4"/>
            <c:bubble3D val="0"/>
            <c:spPr>
              <a:solidFill>
                <a:srgbClr val="7F77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51C-420B-8334-7A86FA999F33}"/>
              </c:ext>
            </c:extLst>
          </c:dPt>
          <c:dPt>
            <c:idx val="5"/>
            <c:bubble3D val="0"/>
            <c:spPr>
              <a:solidFill>
                <a:srgbClr val="8887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51C-420B-8334-7A86FA999F3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2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nb-N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1C-420B-8334-7A86FA999F3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2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nb-N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1C-420B-8334-7A86FA999F3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100" b="1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fld id="{DAA07BCB-86BA-45F4-9888-48F10F301813}" type="PERCENTAGE">
                      <a:rPr lang="en-US" sz="2400"/>
                      <a:pPr>
                        <a:defRPr sz="1100" b="1" i="0" u="none" strike="noStrike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nb-NO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F51C-420B-8334-7A86FA999F3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 sz="1100" b="1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fld id="{5FAE6C51-5D81-4D37-973A-F2E09EAB1349}" type="PERCENTAGE">
                      <a:rPr lang="en-US" sz="2400"/>
                      <a:pPr>
                        <a:defRPr sz="1100" b="1" i="0" u="none" strike="noStrike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nb-NO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F51C-420B-8334-7A86FA999F3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2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nb-N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51C-420B-8334-7A86FA999F33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2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nb-N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51C-420B-8334-7A86FA999F3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nb-NO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Primærbolig</c:v>
                </c:pt>
                <c:pt idx="1">
                  <c:v>Sekundærbolig / eiendom</c:v>
                </c:pt>
                <c:pt idx="2">
                  <c:v>Bankinnskudd</c:v>
                </c:pt>
                <c:pt idx="3">
                  <c:v>Aksjer og verdipapirer</c:v>
                </c:pt>
                <c:pt idx="4">
                  <c:v>Annen finanskapital</c:v>
                </c:pt>
                <c:pt idx="5">
                  <c:v>Næringseiendeler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</c:v>
                </c:pt>
                <c:pt idx="1">
                  <c:v>14</c:v>
                </c:pt>
                <c:pt idx="2">
                  <c:v>13</c:v>
                </c:pt>
                <c:pt idx="3">
                  <c:v>11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51C-420B-8334-7A86FA999F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solidFill>
          <a:srgbClr val="1C2B3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C2B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FBB58-C654-49A6-B419-9AFE9AC1385F}" type="datetimeFigureOut">
              <a:rPr lang="nb-NO" smtClean="0"/>
              <a:t>11.05.2026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F758A-C09E-4840-AC2F-FA7EF94B3B5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37163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Del 1: oversikt over kurset. Del 2: Norge </a:t>
            </a:r>
            <a:r>
              <a:rPr lang="nb-NO" dirty="0" err="1"/>
              <a:t>vs</a:t>
            </a:r>
            <a:r>
              <a:rPr lang="nb-NO" dirty="0"/>
              <a:t> USA. Del 3: Formuesskatt og progresjon: Del 4: Avkastningen </a:t>
            </a:r>
            <a:r>
              <a:rPr lang="nb-NO"/>
              <a:t>av realaktiva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EA3BB2-546A-4012-89E2-8DD70A568A2A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174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FD6891-7805-4E0D-A2A0-F1E3A3456854}" type="slidenum">
              <a:rPr lang="en-US" altLang="nb-NO" smtClean="0"/>
              <a:pPr>
                <a:defRPr/>
              </a:pPr>
              <a:t>48</a:t>
            </a:fld>
            <a:endParaRPr lang="en-US" altLang="nb-NO"/>
          </a:p>
        </p:txBody>
      </p:sp>
    </p:spTree>
    <p:extLst>
      <p:ext uri="{BB962C8B-B14F-4D97-AF65-F5344CB8AC3E}">
        <p14:creationId xmlns:p14="http://schemas.microsoft.com/office/powerpoint/2010/main" val="1021475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09FA54C-974D-4FAE-A5CF-B106153D4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F919F673-C168-4A18-AE13-DAC60E549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AC8BDC-29D9-4065-A312-1E8D6DC6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568E-FFED-40AD-923F-6B8FAE869271}" type="datetime1">
              <a:rPr lang="nb-NO" smtClean="0"/>
              <a:t>11.05.2026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8A7F4D8-CE18-4B6F-97FA-1C7843CBF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E40E5A0-F4D5-427F-8FA0-45CE1EC7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3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F407244-7F5A-4C97-AF9A-2562EC49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06740BD-BE13-4D26-9FE6-B7253BCF0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06C8171-1761-4A7A-A6C3-111113E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C0CC-9C91-44FB-881E-CAD63FD92483}" type="datetime1">
              <a:rPr lang="nb-NO" smtClean="0"/>
              <a:t>11.05.2026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5C96C5E-4EA4-4B77-8DF7-A4C2EB54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2DD55FC-8F06-418E-8440-6C54ACB03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1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4F88D81-4F62-47F4-9222-A3EBA1D79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2973336-24E9-4E13-B2C2-7A509DCA7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3B66245-5725-417E-AFB9-4C802538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81E0-AAFA-437A-B9A1-BB4A04C4A64C}" type="datetime1">
              <a:rPr lang="nb-NO" smtClean="0"/>
              <a:t>11.05.2026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B5EFFD3-B4D0-44A4-B38E-0CD6281B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F2D9B72-BC71-44C3-8F13-EE7371C1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56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3040FFE-20A5-48C8-BDDA-6D369884E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60450BF-E753-436F-8EE6-DAAF4FE33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9781F19-429D-41F0-B476-9D9E04AB8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B8E01AE4-2ACB-48B3-9518-E7020A9E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A5ED-813D-4591-9D55-35786E95323F}" type="datetime1">
              <a:rPr lang="nb-NO" smtClean="0"/>
              <a:t>11.05.2026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F354784B-F1B4-4429-97E9-D54F0DC8D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A4BBDBB-1FD0-44C5-AE40-0A291F3D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54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DA62A4-1468-47C1-9C11-D018187F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578A239-CE88-4A07-A3ED-470641387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0C29081-24DD-4B68-B717-E6D6DB0B5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0D898A9E-F053-4AF6-927D-6D43B074A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4E3259ED-ECC4-46B8-846F-637798EE5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1D05B1D3-6D99-4D1D-ACAF-0B593CBD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68524-208B-438D-B7DE-B18C3D38CDE4}" type="datetime1">
              <a:rPr lang="nb-NO" smtClean="0"/>
              <a:t>11.05.2026</a:t>
            </a:fld>
            <a:endParaRPr lang="en-US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0A25D353-06F8-4A4C-A306-4D439861E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4E9B96B7-6B7B-4341-898F-AFD58CCD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98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83CD2F2-6847-4AB1-962D-76050596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308A01AF-B5AF-4491-8D9A-0ED780420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BD330-2302-46BD-89D9-5C608C4FD43D}" type="datetime1">
              <a:rPr lang="nb-NO" smtClean="0"/>
              <a:t>11.05.2026</a:t>
            </a:fld>
            <a:endParaRPr lang="en-US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313CC696-52D4-4B00-9FCC-36CEF6FA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05427FA-465D-4916-8442-AA0BEBA9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242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FBF36278-CE16-4FBC-824F-BFACE3A21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02C4-DF85-43DE-92A0-759FF37FA196}" type="datetime1">
              <a:rPr lang="nb-NO" smtClean="0"/>
              <a:t>11.05.2026</a:t>
            </a:fld>
            <a:endParaRPr lang="en-US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D2407B9C-701B-4130-A87E-F0F231C5A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2CAA3606-AFAB-4400-AB4C-A1174B957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167B7E5-01C3-4CF4-828A-5CAD36A3C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2B81171-F76A-4AB6-B065-0D246955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391E4A8-64B1-4A4F-A11D-B2C87507C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8F94FB6-0886-4197-8460-4443F57D6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BAEE9-77A7-4692-9FFC-7619FC863A09}" type="datetime1">
              <a:rPr lang="nb-NO" smtClean="0"/>
              <a:t>11.05.2026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AD16851-9086-4902-A048-7AD583787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A157B20-A9B3-474C-9F2E-C1796347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9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ED88CA9-B538-4EA6-91C5-E141F55A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34959E2C-EF1E-4080-ADD8-2D061FD56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2D69B9D8-57FC-42DD-8E4A-BC8C30569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5095268-B402-4BFE-B635-619C9E908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F666-3A95-4F49-B520-FA700D8AA679}" type="datetime1">
              <a:rPr lang="nb-NO" smtClean="0"/>
              <a:t>11.05.2026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5D7762D6-D4D7-405C-AA5E-A76A163E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CEA7745-75B2-4075-A641-291BD218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26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7E8B76-79EF-4891-B886-7A08CCBC2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C146341C-06E7-4E63-9B71-D872B1111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2B60D43-5117-4D35-9F74-D2832F88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E5DA-12F7-4527-863A-01720E533671}" type="datetime1">
              <a:rPr lang="nb-NO" smtClean="0"/>
              <a:t>11.05.2026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1146298-28BA-4876-ADA6-046338C7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01CB3D9-07E8-4008-AB7A-D66477DDE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94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56BAC0EA-F51F-4DBB-BBBB-B2498A78B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2F8E28F2-C659-4DBF-8336-9F0F22D7A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9CF69EB-40BB-4571-863D-AA39BEE36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F3C4-1240-4131-9DFD-C107C55D2AE2}" type="datetime1">
              <a:rPr lang="nb-NO" smtClean="0"/>
              <a:t>11.05.2026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2BF6C19-E3EE-432C-981C-08A7ABBC2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BD68581-53C3-45F2-8DD7-F65A3FD4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04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09FA54C-974D-4FAE-A5CF-B106153D4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F919F673-C168-4A18-AE13-DAC60E549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AC8BDC-29D9-4065-A312-1E8D6DC6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8A7F4D8-CE18-4B6F-97FA-1C7843CBF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E40E5A0-F4D5-427F-8FA0-45CE1EC7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71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F407244-7F5A-4C97-AF9A-2562EC49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06740BD-BE13-4D26-9FE6-B7253BCF0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06C8171-1761-4A7A-A6C3-111113E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5C96C5E-4EA4-4B77-8DF7-A4C2EB54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2DD55FC-8F06-418E-8440-6C54ACB03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05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4F88D81-4F62-47F4-9222-A3EBA1D79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2973336-24E9-4E13-B2C2-7A509DCA7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3B66245-5725-417E-AFB9-4C802538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B5EFFD3-B4D0-44A4-B38E-0CD6281B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F2D9B72-BC71-44C3-8F13-EE7371C1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88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3040FFE-20A5-48C8-BDDA-6D369884E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60450BF-E753-436F-8EE6-DAAF4FE33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9781F19-429D-41F0-B476-9D9E04AB8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B8E01AE4-2ACB-48B3-9518-E7020A9E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F354784B-F1B4-4429-97E9-D54F0DC8D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A4BBDBB-1FD0-44C5-AE40-0A291F3D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806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DA62A4-1468-47C1-9C11-D018187F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578A239-CE88-4A07-A3ED-470641387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0C29081-24DD-4B68-B717-E6D6DB0B5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0D898A9E-F053-4AF6-927D-6D43B074A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4E3259ED-ECC4-46B8-846F-637798EE5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1D05B1D3-6D99-4D1D-ACAF-0B593CBD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0A25D353-06F8-4A4C-A306-4D439861E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4E9B96B7-6B7B-4341-898F-AFD58CCD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86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83CD2F2-6847-4AB1-962D-76050596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308A01AF-B5AF-4491-8D9A-0ED780420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313CC696-52D4-4B00-9FCC-36CEF6FA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05427FA-465D-4916-8442-AA0BEBA9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855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FBF36278-CE16-4FBC-824F-BFACE3A21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D2407B9C-701B-4130-A87E-F0F231C5A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2CAA3606-AFAB-4400-AB4C-A1174B957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597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167B7E5-01C3-4CF4-828A-5CAD36A3C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2B81171-F76A-4AB6-B065-0D246955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391E4A8-64B1-4A4F-A11D-B2C87507C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8F94FB6-0886-4197-8460-4443F57D6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AD16851-9086-4902-A048-7AD583787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A157B20-A9B3-474C-9F2E-C1796347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02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ED88CA9-B538-4EA6-91C5-E141F55A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34959E2C-EF1E-4080-ADD8-2D061FD56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2D69B9D8-57FC-42DD-8E4A-BC8C30569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5095268-B402-4BFE-B635-619C9E908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5D7762D6-D4D7-405C-AA5E-A76A163E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CEA7745-75B2-4075-A641-291BD218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245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7E8B76-79EF-4891-B886-7A08CCBC2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C146341C-06E7-4E63-9B71-D872B1111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2B60D43-5117-4D35-9F74-D2832F88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1146298-28BA-4876-ADA6-046338C7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01CB3D9-07E8-4008-AB7A-D66477DDE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321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56BAC0EA-F51F-4DBB-BBBB-B2498A78B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2F8E28F2-C659-4DBF-8336-9F0F22D7A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9CF69EB-40BB-4571-863D-AA39BEE36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2BF6C19-E3EE-432C-981C-08A7ABBC2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BD68581-53C3-45F2-8DD7-F65A3FD4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382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7A478-B3EF-43DE-BEA5-558FE1F3DBB9}" type="datetime1">
              <a:rPr lang="nb-NO" smtClean="0"/>
              <a:t>11.05.2026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14273" y="1796233"/>
            <a:ext cx="11363454" cy="4441124"/>
          </a:xfrm>
          <a:prstGeom prst="rect">
            <a:avLst/>
          </a:prstGeom>
        </p:spPr>
        <p:txBody>
          <a:bodyPr vert="horz"/>
          <a:lstStyle>
            <a:lvl1pPr marL="179579" indent="-179579">
              <a:buFont typeface="Arial" panose="020B0604020202020204" pitchFamily="34" charset="0"/>
              <a:buChar char="•"/>
              <a:defRPr sz="217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6025" indent="-164138">
              <a:buFont typeface="Arial" panose="020B0604020202020204" pitchFamily="34" charset="0"/>
              <a:buChar char="•"/>
              <a:defRPr sz="1814"/>
            </a:lvl2pPr>
            <a:lvl3pPr marL="570164" indent="-164138">
              <a:buFont typeface="Arial" panose="020B0604020202020204" pitchFamily="34" charset="0"/>
              <a:buChar char="•"/>
              <a:defRPr sz="1814"/>
            </a:lvl3pPr>
            <a:lvl4pPr marL="812052" indent="-164138">
              <a:buFont typeface="Arial" panose="020B0604020202020204" pitchFamily="34" charset="0"/>
              <a:buChar char="•"/>
              <a:defRPr sz="1814"/>
            </a:lvl4pPr>
            <a:lvl5pPr marL="1053939" indent="-241887">
              <a:buFont typeface="Arial" panose="020B0604020202020204" pitchFamily="34" charset="0"/>
              <a:buChar char="•"/>
              <a:defRPr sz="1814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0" name="Tittel 1"/>
          <p:cNvSpPr>
            <a:spLocks noGrp="1"/>
          </p:cNvSpPr>
          <p:nvPr>
            <p:ph type="title" hasCustomPrompt="1"/>
          </p:nvPr>
        </p:nvSpPr>
        <p:spPr>
          <a:xfrm>
            <a:off x="414273" y="424711"/>
            <a:ext cx="9992003" cy="1044970"/>
          </a:xfrm>
          <a:prstGeom prst="rect">
            <a:avLst/>
          </a:prstGeom>
        </p:spPr>
        <p:txBody>
          <a:bodyPr anchor="b" anchorCtr="0"/>
          <a:lstStyle>
            <a:lvl1pPr>
              <a:defRPr b="0"/>
            </a:lvl1pPr>
          </a:lstStyle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endParaRPr lang="nb-NO"/>
          </a:p>
        </p:txBody>
      </p:sp>
      <p:pic>
        <p:nvPicPr>
          <p:cNvPr id="11" name="Bilde 10" descr="nhh_logo_1f_positiv_blaa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577" y="447226"/>
            <a:ext cx="457150" cy="914349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78" y="6255663"/>
            <a:ext cx="2971698" cy="56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3979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418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34C2A7C5-9D92-46F1-B3F9-21AAACFC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BC6ED2A-1149-476B-8B78-14F3ACC93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F88D9C5-5559-4AA2-8AF8-CC90568EF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F5AF4-04BE-474D-B1DF-8DEBBCDFC566}" type="datetime1">
              <a:rPr lang="nb-NO" smtClean="0"/>
              <a:t>11.05.2026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3536A32-4B33-43BF-B28B-CCE4187F5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B70FC16-3678-411B-97A2-9764CBE12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2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34C2A7C5-9D92-46F1-B3F9-21AAACFC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BC6ED2A-1149-476B-8B78-14F3ACC93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F88D9C5-5559-4AA2-8AF8-CC90568EF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E97ED-7B41-4EE9-9B68-10FD35DE1682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3536A32-4B33-43BF-B28B-CCE4187F5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B70FC16-3678-411B-97A2-9764CBE12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83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46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ekspropriering+av+eiendom&amp;rlz=1C1ONGR_enNO1064NO1065&amp;oq=hva+er+diskonteringsrenten+for+eksporpriering+av+eiendom&amp;gs_lcrp=EgZjaHJvbWUyBggAEEUYOTIJCAEQIRgKGKABMgcIAhAhGI8CMgcIAxAhGI8C0gEJMTg0NzBqMGo0qAIAsAIB&amp;sourceid=chrome&amp;ie=UTF-8&amp;mstk=AUtExfBJ27Nb3I4gsO5bbIgVhUEKOFIdQ30L98hWkgVd0QneGHGsr3yzVUAlcUi4EoLz8vTMlVsmWarLJQ4QGqdZ5FDkBQMYVeTkiSunqghSg77PiGvZiDsjOQzWtbkMlGEZo3hI2aax5HiL7KfKt36DNw5R9lOUZMg5hdPJLJcE1wgDYYw&amp;csui=3&amp;ved=2ahUKEwjb6KuZ2v6RAxUoNxAIHaCwKfoQgK4QegQIARAB" TargetMode="Externa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1.png"/><Relationship Id="rId4" Type="http://schemas.openxmlformats.org/officeDocument/2006/relationships/hyperlink" Target="https://www.google.com/search?q=kapitaliseringsrente&amp;rlz=1C1ONGR_enNO1064NO1065&amp;oq=hva+er+diskonteringsrenten+for+eksporpriering+av+eiendom&amp;gs_lcrp=EgZjaHJvbWUyBggAEEUYOTIJCAEQIRgKGKABMgcIAhAhGI8CMgcIAxAhGI8C0gEJMTg0NzBqMGo0qAIAsAIB&amp;sourceid=chrome&amp;ie=UTF-8&amp;mstk=AUtExfBJ27Nb3I4gsO5bbIgVhUEKOFIdQ30L98hWkgVd0QneGHGsr3yzVUAlcUi4EoLz8vTMlVsmWarLJQ4QGqdZ5FDkBQMYVeTkiSunqghSg77PiGvZiDsjOQzWtbkMlGEZo3hI2aax5HiL7KfKt36DNw5R9lOUZMg5hdPJLJcE1wgDYYw&amp;csui=3&amp;ved=2ahUKEwjb6KuZ2v6RAxUoNxAIHaCwKfoQgK4QegQIARAC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3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2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7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32.png"/><Relationship Id="rId9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3" Type="http://schemas.openxmlformats.org/officeDocument/2006/relationships/notesSlide" Target="../notesSlides/notesSlide3.xml"/><Relationship Id="rId12" Type="http://schemas.openxmlformats.org/officeDocument/2006/relationships/image" Target="NUL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11" Type="http://schemas.openxmlformats.org/officeDocument/2006/relationships/image" Target="NULL"/><Relationship Id="rId15" Type="http://schemas.openxmlformats.org/officeDocument/2006/relationships/image" Target="../media/image35.png"/><Relationship Id="rId10" Type="http://schemas.openxmlformats.org/officeDocument/2006/relationships/image" Target="NULL"/><Relationship Id="rId4" Type="http://schemas.openxmlformats.org/officeDocument/2006/relationships/image" Target="../media/image290.png"/><Relationship Id="rId14" Type="http://schemas.openxmlformats.org/officeDocument/2006/relationships/image" Target="../media/image3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75CC83C-9062-4828-A01A-55610590C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8400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FIE 432 </a:t>
            </a:r>
            <a:r>
              <a:rPr lang="en-US" sz="5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Personlig</a:t>
            </a:r>
            <a:r>
              <a:rPr lang="en-US" sz="5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800" dirty="0" err="1"/>
              <a:t>ø</a:t>
            </a:r>
            <a:r>
              <a:rPr lang="en-US" sz="5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konomi</a:t>
            </a:r>
            <a:br>
              <a:rPr lang="en-US" sz="5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Forelesning</a:t>
            </a:r>
            <a:r>
              <a:rPr lang="en-US" sz="5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2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621CD9A-4E13-4030-96F4-A32C9F93F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256436"/>
            <a:ext cx="9144000" cy="160081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nb-NO" sz="2400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Professor Guttorm Schjelderup</a:t>
            </a:r>
            <a:endParaRPr lang="en-US" sz="2400" kern="1200">
              <a:solidFill>
                <a:schemeClr val="accent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F0050-E7BA-3439-C5D2-30DA0BA31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159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11737"/>
    </mc:Choice>
    <mc:Fallback xmlns="">
      <p:transition spd="slow" advTm="1173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C747F-3C71-41B2-EF3C-3101805C7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z="4800" b="1" dirty="0"/>
              <a:t>Hva er realavkastningen på ulike aktiva</a:t>
            </a:r>
            <a:br>
              <a:rPr lang="nb-NO" sz="4800" dirty="0"/>
            </a:br>
            <a:br>
              <a:rPr lang="nb-NO" sz="6000" dirty="0"/>
            </a:br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1EC9D-5B77-5A62-E9A8-B6A9EF1B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81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DBD02-1CE3-21B8-145B-BD52B5EC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To sentrale spørsmål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9FA23-E57A-89C2-683B-EF2B6F0DD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nb-NO" sz="3600" dirty="0"/>
              <a:t>Kan vi fra </a:t>
            </a:r>
            <a:r>
              <a:rPr lang="nb-NO" sz="3600" i="1" dirty="0"/>
              <a:t>historiske data </a:t>
            </a:r>
            <a:r>
              <a:rPr lang="nb-NO" sz="3600" dirty="0"/>
              <a:t>om avkasting av ulike aktiva si noe om hva vi bør investere i frem ti tid</a:t>
            </a:r>
          </a:p>
          <a:p>
            <a:pPr marL="514350" indent="-514350">
              <a:buFont typeface="+mj-lt"/>
              <a:buAutoNum type="arabicPeriod"/>
            </a:pPr>
            <a:endParaRPr lang="nb-NO" sz="3600" dirty="0"/>
          </a:p>
          <a:p>
            <a:pPr marL="514350" indent="-514350">
              <a:buFont typeface="+mj-lt"/>
              <a:buAutoNum type="arabicPeriod"/>
            </a:pPr>
            <a:r>
              <a:rPr lang="nb-NO" sz="3600" dirty="0"/>
              <a:t>Kan vi tjene på å se på hvordan de rikeste investerer ved å se på </a:t>
            </a:r>
            <a:r>
              <a:rPr lang="nb-NO" sz="3600" dirty="0" err="1"/>
              <a:t>formuessammensetningen</a:t>
            </a:r>
            <a:r>
              <a:rPr lang="nb-NO" sz="3600" dirty="0"/>
              <a:t> for ulike </a:t>
            </a:r>
            <a:r>
              <a:rPr lang="nb-NO" sz="3600" dirty="0" err="1"/>
              <a:t>formuesgrupper</a:t>
            </a:r>
            <a:r>
              <a:rPr lang="nb-NO" dirty="0"/>
              <a:t>? </a:t>
            </a:r>
            <a:r>
              <a:rPr lang="nb-NO" sz="3600" dirty="0"/>
              <a:t>La oss starte med å se på det.</a:t>
            </a:r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B37D3-74D9-8A4A-DAB9-C6C2CD28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03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14F84-488A-0424-1085-FC7842A78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3D3C68-2CBB-383D-51BA-0648E4D60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"/>
            <a:ext cx="7961718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B1DAD7-2DE8-03DF-5EDF-A8A2A3E9E577}"/>
              </a:ext>
            </a:extLst>
          </p:cNvPr>
          <p:cNvSpPr txBox="1"/>
          <p:nvPr/>
        </p:nvSpPr>
        <p:spPr>
          <a:xfrm>
            <a:off x="7637290" y="159050"/>
            <a:ext cx="45547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«Vanlige» folk har i hovedsak sin formue i bolig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De rikeste eier i hovedsak aksjer og</a:t>
            </a:r>
            <a:r>
              <a:rPr kumimoji="0" lang="nb-NO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lang="nb-NO" sz="2800" dirty="0">
                <a:solidFill>
                  <a:prstClr val="black"/>
                </a:solidFill>
                <a:latin typeface="Calibri" panose="020F0502020204030204"/>
              </a:rPr>
              <a:t>2/3 av aksjene er unoterte</a:t>
            </a:r>
            <a:endParaRPr kumimoji="0" lang="nb-NO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Kilde: Aaberge </a:t>
            </a:r>
            <a:r>
              <a:rPr lang="nb-NO" sz="2400" dirty="0">
                <a:solidFill>
                  <a:prstClr val="black"/>
                </a:solidFill>
                <a:latin typeface="Calibri" panose="020F0502020204030204"/>
              </a:rPr>
              <a:t>mfl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(2021)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DE2D8014-A9A5-0B05-0213-C039D6FAC4DC}"/>
              </a:ext>
            </a:extLst>
          </p:cNvPr>
          <p:cNvSpPr/>
          <p:nvPr/>
        </p:nvSpPr>
        <p:spPr>
          <a:xfrm rot="5400000">
            <a:off x="6065239" y="2155970"/>
            <a:ext cx="197141" cy="2143389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F5C90-09D3-3309-3C77-417CF8F62E77}"/>
              </a:ext>
            </a:extLst>
          </p:cNvPr>
          <p:cNvSpPr txBox="1"/>
          <p:nvPr/>
        </p:nvSpPr>
        <p:spPr>
          <a:xfrm>
            <a:off x="5092115" y="3473042"/>
            <a:ext cx="22356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1% rikeste eier mest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aksjer hvorav 2/3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 unoterte aksjer og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eier relativt sett lite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eiendom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00772-8B47-DA4F-AA1F-8BF547E7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81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E16EA-2305-5A87-E415-20E45AAE5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27067"/>
          </a:xfrm>
        </p:spPr>
        <p:txBody>
          <a:bodyPr>
            <a:normAutofit/>
          </a:bodyPr>
          <a:lstStyle/>
          <a:p>
            <a:r>
              <a:rPr lang="nb-NO" sz="4000" dirty="0"/>
              <a:t>Vi kan oppsummere forrige slide slik: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5A53A-7E39-77CB-0D76-445E1D10E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13" y="1103010"/>
            <a:ext cx="11435787" cy="5412089"/>
          </a:xfrm>
        </p:spPr>
        <p:txBody>
          <a:bodyPr>
            <a:normAutofit/>
          </a:bodyPr>
          <a:lstStyle/>
          <a:p>
            <a:r>
              <a:rPr lang="nb-NO" dirty="0"/>
              <a:t>Folk flest eier i hovedsak eiendom</a:t>
            </a:r>
          </a:p>
          <a:p>
            <a:endParaRPr lang="nb-NO" dirty="0"/>
          </a:p>
          <a:p>
            <a:r>
              <a:rPr lang="nb-NO" dirty="0"/>
              <a:t>Det kan se ut som at det er de 5% rikeste som i hovedsak er i formuesskatteposisjon (det er alltid noen unntak)</a:t>
            </a:r>
          </a:p>
          <a:p>
            <a:endParaRPr lang="nb-NO" dirty="0"/>
          </a:p>
          <a:p>
            <a:r>
              <a:rPr lang="nb-NO" dirty="0"/>
              <a:t>De rikeste eier relativt sett mindre eiendom enn andre grupper (hvorfor?) </a:t>
            </a:r>
          </a:p>
          <a:p>
            <a:endParaRPr lang="nb-NO" dirty="0"/>
          </a:p>
          <a:p>
            <a:r>
              <a:rPr lang="nb-NO" dirty="0"/>
              <a:t>De rikeste eier mest aksjer og i hovedsak ikke-børsnoterte aksjer. </a:t>
            </a:r>
          </a:p>
          <a:p>
            <a:endParaRPr lang="nb-NO" dirty="0"/>
          </a:p>
          <a:p>
            <a:r>
              <a:rPr lang="nb-NO" dirty="0"/>
              <a:t>Tilsier disse dataene at vi bør eie mye aksjer og spesielt unoterte aksjer? </a:t>
            </a:r>
          </a:p>
          <a:p>
            <a:pPr marL="0" indent="0">
              <a:buNone/>
            </a:pPr>
            <a:endParaRPr lang="nb-NO" dirty="0"/>
          </a:p>
          <a:p>
            <a:endParaRPr lang="nb-NO" dirty="0"/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DF3F4-D926-5571-0FBF-0E751227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43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1CD9A-C946-B9EB-8A43-2B81148D9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528"/>
            <a:ext cx="10515600" cy="502976"/>
          </a:xfrm>
        </p:spPr>
        <p:txBody>
          <a:bodyPr>
            <a:normAutofit fontScale="90000"/>
          </a:bodyPr>
          <a:lstStyle/>
          <a:p>
            <a:r>
              <a:rPr lang="nb-NO" b="1" dirty="0"/>
              <a:t>Børsnoterte </a:t>
            </a:r>
            <a:r>
              <a:rPr lang="nb-NO" b="1" dirty="0" err="1"/>
              <a:t>vs</a:t>
            </a:r>
            <a:r>
              <a:rPr lang="nb-NO" b="1" dirty="0"/>
              <a:t> ikke-børsnoterte aksjer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5DCDB-3144-8D12-854E-0E88179D9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151660"/>
            <a:ext cx="10915650" cy="5204690"/>
          </a:xfrm>
        </p:spPr>
        <p:txBody>
          <a:bodyPr>
            <a:normAutofit fontScale="92500" lnSpcReduction="20000"/>
          </a:bodyPr>
          <a:lstStyle/>
          <a:p>
            <a:r>
              <a:rPr lang="nb-NO" sz="3600" dirty="0"/>
              <a:t>Ikke-børsnoterte aksjer er:</a:t>
            </a:r>
          </a:p>
          <a:p>
            <a:pPr lvl="1"/>
            <a:r>
              <a:rPr lang="nb-NO" sz="3200" dirty="0"/>
              <a:t>Mindre likvide</a:t>
            </a:r>
          </a:p>
          <a:p>
            <a:pPr lvl="1"/>
            <a:r>
              <a:rPr lang="nb-NO" sz="3200" dirty="0"/>
              <a:t>Har mindre krav til rapportering som gir større informasjonsasymmetri og risiko for «overraskelser» for investor</a:t>
            </a:r>
          </a:p>
          <a:p>
            <a:endParaRPr lang="nb-NO" sz="3600" dirty="0"/>
          </a:p>
          <a:p>
            <a:r>
              <a:rPr lang="nb-NO" sz="3600" dirty="0"/>
              <a:t>De rikeste er ofte majoritetseiere av ikke-børsnoterte selskaper og har informasjonen vi ikke får som minoritetseiere (passive investorer).</a:t>
            </a:r>
          </a:p>
          <a:p>
            <a:endParaRPr lang="nb-NO" sz="3600" dirty="0"/>
          </a:p>
          <a:p>
            <a:r>
              <a:rPr lang="nb-NO" sz="3600" b="1" dirty="0"/>
              <a:t>Konklusjon: </a:t>
            </a:r>
            <a:r>
              <a:rPr lang="nb-NO" sz="3600" dirty="0"/>
              <a:t>Unoterte aksjer er mer risikable men det er en skattemessige til å eie unoterte aksjer fremfor børsnoterte aksjer</a:t>
            </a:r>
          </a:p>
          <a:p>
            <a:pPr marL="0" indent="0">
              <a:buNone/>
            </a:pPr>
            <a:endParaRPr lang="nb-NO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B98CE-7B5D-A834-E66A-3E446485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09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6B982-2B13-18FF-4EE9-BE50BBA39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365125"/>
            <a:ext cx="11020425" cy="1325563"/>
          </a:xfrm>
        </p:spPr>
        <p:txBody>
          <a:bodyPr>
            <a:normAutofit/>
          </a:bodyPr>
          <a:lstStyle/>
          <a:p>
            <a:r>
              <a:rPr lang="nb-NO" sz="3600" b="1" dirty="0">
                <a:latin typeface="+mn-lt"/>
              </a:rPr>
              <a:t>Den skattemessige fordelen ved å eie unoterte aksjer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4DF0D-9124-3F6A-4144-7B52E1A6C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75" y="1825625"/>
            <a:ext cx="11020425" cy="4351338"/>
          </a:xfrm>
        </p:spPr>
        <p:txBody>
          <a:bodyPr>
            <a:normAutofit lnSpcReduction="10000"/>
          </a:bodyPr>
          <a:lstStyle/>
          <a:p>
            <a:r>
              <a:rPr lang="nb-NO" dirty="0"/>
              <a:t>Børsnoterte aksjer verdsettes til verdien (børskurs) per 1. januar i skattefastsettingsåret, som er året etter skatteåret. </a:t>
            </a:r>
          </a:p>
          <a:p>
            <a:endParaRPr lang="nb-NO" dirty="0"/>
          </a:p>
          <a:p>
            <a:r>
              <a:rPr lang="nb-NO" dirty="0"/>
              <a:t>Unoterte aksjer verdsettes til bokført egenkapital (aktiva minus passiva). Dette innebærer i praksis at forventet fremtidig inntjening, immaterielle verdier og risiko i liten grad reflekteres i skattegrunnlaget for unoterte selskaper. </a:t>
            </a:r>
          </a:p>
          <a:p>
            <a:endParaRPr lang="nb-NO" dirty="0"/>
          </a:p>
          <a:p>
            <a:r>
              <a:rPr lang="nb-NO" dirty="0"/>
              <a:t>Studier på norske data omsatt på NOTC-listen  viser at disse aksjene har en formuesverdi som ligger </a:t>
            </a:r>
            <a:r>
              <a:rPr lang="nb-NO" dirty="0" err="1"/>
              <a:t>ca</a:t>
            </a:r>
            <a:r>
              <a:rPr lang="nb-NO" dirty="0"/>
              <a:t> 50% lavere enn markedsverdien.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783AB-60E0-93A8-2D76-D66217CA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11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Formuessammensetning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8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Norske husholdninger – gjennomsnittlig bruttoformue 2024</a:t>
            </a:r>
            <a:endParaRPr lang="en-US" sz="2800" dirty="0">
              <a:solidFill>
                <a:srgbClr val="FFFF00"/>
              </a:solidFill>
              <a:latin typeface="Calibri" panose="020F0502020204030204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526007293"/>
              </p:ext>
            </p:extLst>
          </p:nvPr>
        </p:nvGraphicFramePr>
        <p:xfrm>
          <a:off x="365760" y="1584960"/>
          <a:ext cx="67056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93280" y="1950720"/>
            <a:ext cx="219456" cy="21945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Text 3"/>
          <p:cNvSpPr/>
          <p:nvPr/>
        </p:nvSpPr>
        <p:spPr>
          <a:xfrm>
            <a:off x="7498080" y="1889760"/>
            <a:ext cx="3413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 err="1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Primærbolig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728960" y="1889760"/>
            <a:ext cx="1097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52 %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193280" y="2645664"/>
            <a:ext cx="219456" cy="21945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Text 6"/>
          <p:cNvSpPr/>
          <p:nvPr/>
        </p:nvSpPr>
        <p:spPr>
          <a:xfrm>
            <a:off x="7498080" y="2584704"/>
            <a:ext cx="3413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Sekundærbolig / eiendom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728960" y="2584704"/>
            <a:ext cx="1097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14 %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193280" y="3340608"/>
            <a:ext cx="219456" cy="219456"/>
          </a:xfrm>
          <a:prstGeom prst="ellipse">
            <a:avLst/>
          </a:prstGeom>
          <a:solidFill>
            <a:srgbClr val="D4537E"/>
          </a:solidFill>
          <a:ln w="1270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2" name="Text 9"/>
          <p:cNvSpPr/>
          <p:nvPr/>
        </p:nvSpPr>
        <p:spPr>
          <a:xfrm>
            <a:off x="7498080" y="3279648"/>
            <a:ext cx="3413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Bankinnskudd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728960" y="3279648"/>
            <a:ext cx="1097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13 %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193280" y="403555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Text 12"/>
          <p:cNvSpPr/>
          <p:nvPr/>
        </p:nvSpPr>
        <p:spPr>
          <a:xfrm>
            <a:off x="7498080" y="3974592"/>
            <a:ext cx="3413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Aksjer og verdipapirer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728960" y="3974592"/>
            <a:ext cx="1097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193280" y="4730496"/>
            <a:ext cx="219456" cy="219456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8" name="Text 15"/>
          <p:cNvSpPr/>
          <p:nvPr/>
        </p:nvSpPr>
        <p:spPr>
          <a:xfrm>
            <a:off x="7498080" y="4669536"/>
            <a:ext cx="3413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Annen </a:t>
            </a:r>
            <a:r>
              <a:rPr lang="en-US" sz="2400" dirty="0" err="1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finanskapital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728960" y="4669536"/>
            <a:ext cx="1097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193280" y="5425440"/>
            <a:ext cx="219456" cy="219456"/>
          </a:xfrm>
          <a:prstGeom prst="ellipse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1" name="Text 18"/>
          <p:cNvSpPr/>
          <p:nvPr/>
        </p:nvSpPr>
        <p:spPr>
          <a:xfrm>
            <a:off x="7498080" y="5364480"/>
            <a:ext cx="3413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Næringseiendeler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728960" y="5364480"/>
            <a:ext cx="1097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09600" y="6461760"/>
            <a:ext cx="10972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000" dirty="0">
                <a:solidFill>
                  <a:srgbClr val="60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Kilde: SSB – Inntekts- og formuesstatistikk for husholdninger 2024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02FC70-B491-45BC-84D5-17C0DAB5F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793" y="0"/>
            <a:ext cx="8684413" cy="68580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D5784E4-45C8-CD5E-0193-FB73DD4BE4C2}"/>
              </a:ext>
            </a:extLst>
          </p:cNvPr>
          <p:cNvCxnSpPr/>
          <p:nvPr/>
        </p:nvCxnSpPr>
        <p:spPr>
          <a:xfrm>
            <a:off x="5238750" y="5035550"/>
            <a:ext cx="44259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D50628-AF8A-DF71-C3A4-F3FB43316D62}"/>
              </a:ext>
            </a:extLst>
          </p:cNvPr>
          <p:cNvCxnSpPr/>
          <p:nvPr/>
        </p:nvCxnSpPr>
        <p:spPr>
          <a:xfrm>
            <a:off x="2146300" y="5372100"/>
            <a:ext cx="10795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F39D45-4514-1E53-C5A5-255EB094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7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9A614-03C7-FE7F-E5C2-1AC493568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nb-NO" b="1" dirty="0">
                <a:solidFill>
                  <a:srgbClr val="7030A0"/>
                </a:solidFill>
              </a:rPr>
              <a:t>Forskningsspørsmålene i artikkelen 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F190E-9A4F-7C38-A9AC-7BF3B1088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97" y="1681463"/>
            <a:ext cx="11823405" cy="4857449"/>
          </a:xfrm>
        </p:spPr>
        <p:txBody>
          <a:bodyPr>
            <a:normAutofit/>
          </a:bodyPr>
          <a:lstStyle/>
          <a:p>
            <a:r>
              <a:rPr lang="nb-NO" sz="3600" dirty="0"/>
              <a:t>Hva er den aggregerte realavkastningen i økonomien? </a:t>
            </a:r>
          </a:p>
          <a:p>
            <a:endParaRPr lang="nb-NO" sz="3600" dirty="0"/>
          </a:p>
          <a:p>
            <a:r>
              <a:rPr lang="nb-NO" sz="3600" dirty="0"/>
              <a:t>Er realavkastningen høyere enn vekstraten i økonomien?</a:t>
            </a:r>
          </a:p>
          <a:p>
            <a:endParaRPr lang="nb-NO" sz="3600" dirty="0"/>
          </a:p>
          <a:p>
            <a:r>
              <a:rPr lang="nb-NO" sz="3600" dirty="0"/>
              <a:t>Faller realavkastningen til ulike aktiva på lang sikt?</a:t>
            </a:r>
          </a:p>
          <a:p>
            <a:endParaRPr lang="nb-NO" sz="3600" dirty="0"/>
          </a:p>
          <a:p>
            <a:r>
              <a:rPr lang="nb-NO" sz="3600" dirty="0"/>
              <a:t> Hvilke aktiva har den høyeste langsiktige avkastningen?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13596-780C-8728-3E43-42B3F062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30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36269-1150-8246-EA8A-F00020D4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74577"/>
          </a:xfrm>
        </p:spPr>
        <p:txBody>
          <a:bodyPr>
            <a:normAutofit/>
          </a:bodyPr>
          <a:lstStyle/>
          <a:p>
            <a:r>
              <a:rPr lang="nb-NO" sz="4000" dirty="0" err="1">
                <a:latin typeface="+mn-lt"/>
              </a:rPr>
              <a:t>Jordà</a:t>
            </a:r>
            <a:r>
              <a:rPr lang="nb-NO" sz="4000" dirty="0">
                <a:latin typeface="+mn-lt"/>
              </a:rPr>
              <a:t> et al. (2019); </a:t>
            </a:r>
            <a:r>
              <a:rPr lang="nb-NO" sz="4000" dirty="0">
                <a:solidFill>
                  <a:prstClr val="black"/>
                </a:solidFill>
                <a:latin typeface="Calibri" panose="020F0502020204030204"/>
              </a:rPr>
              <a:t>1870-2015</a:t>
            </a:r>
            <a:r>
              <a:rPr lang="nb-NO" sz="4000" dirty="0">
                <a:latin typeface="+mn-lt"/>
              </a:rPr>
              <a:t> 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375A3F-B82B-12DF-FA06-F94B73B667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2425" y="1247627"/>
                <a:ext cx="11722617" cy="561037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nb-NO" sz="3600" dirty="0"/>
                  <a:t>Den totale årlige avkastningen (R) på ethvert finansielt aktivum kan deles inn i to komponenter:</a:t>
                </a:r>
              </a:p>
              <a:p>
                <a:pPr lvl="1"/>
                <a:r>
                  <a:rPr lang="nb-NO" sz="3200" dirty="0"/>
                  <a:t> kapitalgevinsten fra endringen i </a:t>
                </a:r>
                <a:r>
                  <a:rPr lang="nb-NO" sz="3200" dirty="0" err="1"/>
                  <a:t>aktivaprisen</a:t>
                </a:r>
                <a:r>
                  <a:rPr lang="nb-NO" sz="3200" dirty="0"/>
                  <a:t> (P),</a:t>
                </a:r>
              </a:p>
              <a:p>
                <a:pPr lvl="1"/>
                <a:r>
                  <a:rPr lang="nb-NO" sz="3200" dirty="0"/>
                  <a:t>direkteavkastningskomponent (Y), som reflekterer kontantstrømmen fra investeringen. </a:t>
                </a:r>
              </a:p>
              <a:p>
                <a:endParaRPr lang="nb-NO" sz="3600" dirty="0"/>
              </a:p>
              <a:p>
                <a:r>
                  <a:rPr lang="nb-NO" sz="3600" dirty="0"/>
                  <a:t>I en en-periodemodell kan totalavkastningen (R) skrives slik (hvor fotskriften er perioden):</a:t>
                </a:r>
              </a:p>
              <a:p>
                <a:pPr marL="0" indent="0">
                  <a:buNone/>
                </a:pPr>
                <a:endParaRPr lang="nb-NO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  <m:r>
                        <a:rPr lang="en-US" sz="3600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nb-NO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nb-NO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nb-NO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nb-NO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nb-NO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nb-NO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375A3F-B82B-12DF-FA06-F94B73B667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2425" y="1247627"/>
                <a:ext cx="11722617" cy="5610373"/>
              </a:xfrm>
              <a:blipFill>
                <a:blip r:embed="rId2"/>
                <a:stretch>
                  <a:fillRect l="-1456" t="-3478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A6E9B-EAF9-E6D7-5F7B-7A89A8A0B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00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26AA51-E417-1985-3D4E-FF3F467E5D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0025" y="314325"/>
                <a:ext cx="11839575" cy="6324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36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EKSEMPEL</a:t>
                </a:r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indent="0">
                  <a:buNone/>
                </a:pPr>
                <a:endParaRPr lang="en-US" sz="3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nb-NO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nb-NO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nb-NO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e>
                            <m:sub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nb-NO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nb-NO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endParaRPr lang="nb-NO" sz="3600" dirty="0"/>
              </a:p>
              <a:p>
                <a:pPr marL="0" indent="0">
                  <a:buNone/>
                </a:pPr>
                <a:r>
                  <a:rPr lang="nb-NO" sz="3600" dirty="0"/>
                  <a:t>Vi kjøper en aksje 1. januar 2025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sz="3600" dirty="0"/>
                  <a:t> og selger den 1. januar 2026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nb-NO" sz="3600" dirty="0"/>
                  <a:t>Vi har mottatt utbytte på kr </a:t>
                </a:r>
                <a:r>
                  <a:rPr lang="nb-NO" sz="3600" dirty="0">
                    <a:solidFill>
                      <a:srgbClr val="FF0000"/>
                    </a:solidFill>
                  </a:rPr>
                  <a:t>10</a:t>
                </a:r>
              </a:p>
              <a:p>
                <a:pPr marL="0" indent="0">
                  <a:buNone/>
                </a:pPr>
                <a:endParaRPr lang="nb-NO" sz="3600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105</m:t>
                          </m:r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=15%</m:t>
                      </m:r>
                    </m:oMath>
                  </m:oMathPara>
                </a14:m>
                <a:endParaRPr lang="nb-NO" sz="3200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26AA51-E417-1985-3D4E-FF3F467E5D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0025" y="314325"/>
                <a:ext cx="11839575" cy="6324600"/>
              </a:xfrm>
              <a:blipFill>
                <a:blip r:embed="rId2"/>
                <a:stretch>
                  <a:fillRect l="-1596" t="-241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76281-6B3E-32E0-B61C-165945C9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96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9F6CE-7138-3DF7-9AD1-FEE99EAD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414" y="244549"/>
            <a:ext cx="10515600" cy="941092"/>
          </a:xfrm>
        </p:spPr>
        <p:txBody>
          <a:bodyPr/>
          <a:lstStyle/>
          <a:p>
            <a:r>
              <a:rPr kumimoji="0" lang="nb-NO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Jordà</a:t>
            </a:r>
            <a:r>
              <a:rPr kumimoji="0" lang="nb-NO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et al. (2019); </a:t>
            </a:r>
            <a:r>
              <a:rPr lang="nb-NO" sz="3600" dirty="0">
                <a:latin typeface="+mn-lt"/>
              </a:rPr>
              <a:t>); </a:t>
            </a:r>
            <a:r>
              <a:rPr lang="nb-NO" sz="3600" dirty="0">
                <a:solidFill>
                  <a:prstClr val="black"/>
                </a:solidFill>
                <a:latin typeface="Calibri" panose="020F0502020204030204"/>
              </a:rPr>
              <a:t>1870-2015</a:t>
            </a:r>
            <a:r>
              <a:rPr lang="nb-NO" sz="3600" dirty="0"/>
              <a:t> </a:t>
            </a:r>
            <a:r>
              <a:rPr kumimoji="0" lang="nb-NO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(ii)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90364-AB08-6F9E-E761-472F8C3F1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2488"/>
            <a:ext cx="11355572" cy="4874475"/>
          </a:xfrm>
        </p:spPr>
        <p:txBody>
          <a:bodyPr>
            <a:normAutofit fontScale="92500" lnSpcReduction="20000"/>
          </a:bodyPr>
          <a:lstStyle/>
          <a:p>
            <a:r>
              <a:rPr lang="nb-NO" sz="3200" dirty="0"/>
              <a:t>Den langsiktig prisøkningen på eiendom er lav rundt 1%  realprisstigning pr år.</a:t>
            </a:r>
          </a:p>
          <a:p>
            <a:endParaRPr lang="nb-NO" sz="3200" dirty="0"/>
          </a:p>
          <a:p>
            <a:r>
              <a:rPr lang="nb-NO" sz="3200" dirty="0"/>
              <a:t>Kapitalgevinsten på aksjer over tid er</a:t>
            </a:r>
            <a:r>
              <a:rPr lang="nb-NO" sz="3200" i="1" dirty="0"/>
              <a:t> høyere </a:t>
            </a:r>
            <a:r>
              <a:rPr lang="nb-NO" sz="3200" dirty="0"/>
              <a:t>enn for eiendom</a:t>
            </a:r>
          </a:p>
          <a:p>
            <a:endParaRPr lang="nb-NO" sz="3200" dirty="0"/>
          </a:p>
          <a:p>
            <a:r>
              <a:rPr lang="nb-NO" sz="3200" dirty="0"/>
              <a:t>Dividendeutbetalinger fra aksjer </a:t>
            </a:r>
            <a:r>
              <a:rPr lang="nb-NO" sz="3200" i="1" dirty="0"/>
              <a:t>er lavere og mer ustabile </a:t>
            </a:r>
            <a:r>
              <a:rPr lang="nb-NO" sz="3200" dirty="0"/>
              <a:t>enn leieinntekter fra eiendom.</a:t>
            </a:r>
          </a:p>
          <a:p>
            <a:endParaRPr lang="nb-NO" sz="3200" dirty="0"/>
          </a:p>
          <a:p>
            <a:r>
              <a:rPr lang="nb-NO" sz="3200" dirty="0"/>
              <a:t>Risikopremien på investeringer har variert mye over hele perioden. I </a:t>
            </a:r>
            <a:r>
              <a:rPr lang="nb-NO" sz="3200" dirty="0">
                <a:solidFill>
                  <a:schemeClr val="accent1"/>
                </a:solidFill>
              </a:rPr>
              <a:t>fredstid</a:t>
            </a:r>
            <a:r>
              <a:rPr lang="nb-NO" sz="3200" dirty="0"/>
              <a:t> har premien ligget </a:t>
            </a:r>
            <a:r>
              <a:rPr lang="nb-NO" sz="3200" dirty="0">
                <a:solidFill>
                  <a:schemeClr val="accent1"/>
                </a:solidFill>
              </a:rPr>
              <a:t>mellom 4-5%</a:t>
            </a:r>
            <a:r>
              <a:rPr lang="nb-NO" sz="3200" dirty="0"/>
              <a:t> men har </a:t>
            </a:r>
            <a:r>
              <a:rPr lang="nb-NO" sz="3200" dirty="0">
                <a:solidFill>
                  <a:srgbClr val="FF0000"/>
                </a:solidFill>
              </a:rPr>
              <a:t>økt i perioder med krig</a:t>
            </a:r>
            <a:r>
              <a:rPr lang="nb-NO" sz="3200" dirty="0"/>
              <a:t>. I snitt over alle perioder ligger risikopremien mellom </a:t>
            </a:r>
            <a:r>
              <a:rPr lang="nb-NO" sz="3200" u="sng" dirty="0"/>
              <a:t>6-8%</a:t>
            </a:r>
          </a:p>
          <a:p>
            <a:endParaRPr lang="nb-NO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85D3E-6A8A-8F41-4D9B-5DB59751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64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559E-8746-3835-DCC2-A98C2C910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586"/>
            <a:ext cx="10515600" cy="522694"/>
          </a:xfrm>
        </p:spPr>
        <p:txBody>
          <a:bodyPr>
            <a:normAutofit fontScale="90000"/>
          </a:bodyPr>
          <a:lstStyle/>
          <a:p>
            <a:r>
              <a:rPr kumimoji="0" lang="nb-NO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Jordà</a:t>
            </a:r>
            <a:r>
              <a:rPr kumimoji="0" lang="nb-NO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et al. (2019);  (iii); hovedfunn 1870-2015</a:t>
            </a:r>
            <a:endParaRPr lang="nb-NO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04D94-DCEC-2E94-59AB-019696804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43" y="1068573"/>
            <a:ext cx="11655706" cy="5432683"/>
          </a:xfrm>
        </p:spPr>
        <p:txBody>
          <a:bodyPr>
            <a:normAutofit/>
          </a:bodyPr>
          <a:lstStyle/>
          <a:p>
            <a:r>
              <a:rPr lang="nb-NO" sz="3200" dirty="0"/>
              <a:t>Totalavkastning på eiendom og aksjer er </a:t>
            </a:r>
            <a:r>
              <a:rPr lang="nb-NO" sz="3200" dirty="0" err="1"/>
              <a:t>ca</a:t>
            </a:r>
            <a:r>
              <a:rPr lang="nb-NO" sz="3200" dirty="0"/>
              <a:t> 7% per år</a:t>
            </a:r>
          </a:p>
          <a:p>
            <a:endParaRPr lang="nb-NO" sz="3200" dirty="0"/>
          </a:p>
          <a:p>
            <a:r>
              <a:rPr lang="nb-NO" sz="3200" dirty="0"/>
              <a:t>Eiendom gav bedre avkastning enn aksjer før andre verdenskrig.</a:t>
            </a:r>
          </a:p>
          <a:p>
            <a:endParaRPr lang="nb-NO" sz="3200" dirty="0"/>
          </a:p>
          <a:p>
            <a:r>
              <a:rPr lang="nb-NO" sz="3200" dirty="0"/>
              <a:t> Etter andre verdenskrig har aksjer i gj.sn gitt høyere avkastning</a:t>
            </a:r>
          </a:p>
          <a:p>
            <a:endParaRPr lang="nb-NO" sz="3200" dirty="0"/>
          </a:p>
          <a:p>
            <a:r>
              <a:rPr lang="nb-NO" sz="3200" dirty="0"/>
              <a:t> Den lave kovariansen mellom aksje- og eiendomsavkastning viser at det er aggregerte diversifiseringsgevinster ved å holde begge </a:t>
            </a:r>
            <a:r>
              <a:rPr lang="nb-NO" sz="3200" dirty="0" err="1"/>
              <a:t>aktivaklassene</a:t>
            </a:r>
            <a:r>
              <a:rPr lang="nb-NO" sz="32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FDB41-4B57-2224-D626-C471343F7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6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8B010-C6FE-D5E6-06DA-BAC466610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478464"/>
            <a:ext cx="11637334" cy="58778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dirty="0"/>
              <a:t>“Piketty (2014) argued that if investors’ return to wealth (</a:t>
            </a:r>
            <a:r>
              <a:rPr lang="en-US" sz="3600" i="1" dirty="0">
                <a:solidFill>
                  <a:srgbClr val="FF0000"/>
                </a:solidFill>
              </a:rPr>
              <a:t>r</a:t>
            </a:r>
            <a:r>
              <a:rPr lang="en-US" sz="3600" dirty="0"/>
              <a:t>) exceeded the rate of economic growth (</a:t>
            </a:r>
            <a:r>
              <a:rPr lang="en-US" sz="3600" i="1" dirty="0">
                <a:solidFill>
                  <a:srgbClr val="FF0000"/>
                </a:solidFill>
              </a:rPr>
              <a:t>g</a:t>
            </a:r>
            <a:r>
              <a:rPr lang="en-US" sz="3600" dirty="0"/>
              <a:t>), rentiers would accumulate wealth at a faster rate and thus worsen wealth inequality.”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“Using a measure of portfolio returns to compute “</a:t>
            </a:r>
            <a:r>
              <a:rPr lang="en-US" sz="3600" i="1" dirty="0">
                <a:solidFill>
                  <a:srgbClr val="FF0000"/>
                </a:solidFill>
              </a:rPr>
              <a:t>r – g</a:t>
            </a:r>
            <a:r>
              <a:rPr lang="en-US" sz="3600" dirty="0"/>
              <a:t>” in Piketty’s notation, we find” </a:t>
            </a:r>
          </a:p>
          <a:p>
            <a:pPr marL="0" indent="0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 </a:t>
            </a:r>
            <a:r>
              <a:rPr lang="en-US" sz="3900" b="1" dirty="0">
                <a:solidFill>
                  <a:srgbClr val="FF0000"/>
                </a:solidFill>
              </a:rPr>
              <a:t>r &gt; g</a:t>
            </a:r>
            <a:r>
              <a:rPr lang="en-US" sz="3600" dirty="0"/>
              <a:t>.</a:t>
            </a:r>
          </a:p>
          <a:p>
            <a:pPr marL="0" indent="0" algn="ctr">
              <a:buNone/>
            </a:pPr>
            <a:endParaRPr lang="en-US" sz="3600" dirty="0"/>
          </a:p>
          <a:p>
            <a:pPr marL="0" indent="0">
              <a:buNone/>
            </a:pPr>
            <a:r>
              <a:rPr lang="nb-NO" sz="3600" noProof="0" dirty="0"/>
              <a:t>Dette kan forklare den økte ulikheten vi ser i mange land fordi avkastningen på kapital har vært høyere enn veksten i de fleste land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D5855-E0D4-EBE6-BDA7-F25D5A239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5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829A81-03A0-BC9D-DF99-7AB26C3C1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822" y="0"/>
            <a:ext cx="9556356" cy="68580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2A2EFC-80FA-5377-AED4-C74F3A8FEF92}"/>
              </a:ext>
            </a:extLst>
          </p:cNvPr>
          <p:cNvCxnSpPr/>
          <p:nvPr/>
        </p:nvCxnSpPr>
        <p:spPr>
          <a:xfrm>
            <a:off x="2241755" y="4513006"/>
            <a:ext cx="837708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F1D9A0A-C075-0010-3E11-BACC5894962B}"/>
              </a:ext>
            </a:extLst>
          </p:cNvPr>
          <p:cNvSpPr txBox="1"/>
          <p:nvPr/>
        </p:nvSpPr>
        <p:spPr>
          <a:xfrm>
            <a:off x="103868" y="1535298"/>
            <a:ext cx="3329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Aksjer (</a:t>
            </a: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equity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nb-NO" sz="24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gjør det bedre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etter 1980!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5B22F6A-2F00-D72B-DBFF-DAEBB84CADD9}"/>
              </a:ext>
            </a:extLst>
          </p:cNvPr>
          <p:cNvSpPr/>
          <p:nvPr/>
        </p:nvSpPr>
        <p:spPr>
          <a:xfrm>
            <a:off x="8649050" y="2227906"/>
            <a:ext cx="327682" cy="234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A42465D-6DFB-352B-CA30-F9DA7AA78A92}"/>
              </a:ext>
            </a:extLst>
          </p:cNvPr>
          <p:cNvSpPr/>
          <p:nvPr/>
        </p:nvSpPr>
        <p:spPr>
          <a:xfrm>
            <a:off x="8649049" y="2502967"/>
            <a:ext cx="312817" cy="234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7442843-1B12-3BFE-A584-8AB1197DA0F4}"/>
              </a:ext>
            </a:extLst>
          </p:cNvPr>
          <p:cNvSpPr/>
          <p:nvPr/>
        </p:nvSpPr>
        <p:spPr>
          <a:xfrm>
            <a:off x="8663915" y="4236143"/>
            <a:ext cx="312817" cy="234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D63519C-BE51-2C27-33D7-D9391AFAA3D2}"/>
              </a:ext>
            </a:extLst>
          </p:cNvPr>
          <p:cNvSpPr/>
          <p:nvPr/>
        </p:nvSpPr>
        <p:spPr>
          <a:xfrm>
            <a:off x="8649049" y="5091079"/>
            <a:ext cx="379724" cy="234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C5D2E-9D63-6AAC-2D7D-6395E1BD3780}"/>
              </a:ext>
            </a:extLst>
          </p:cNvPr>
          <p:cNvSpPr txBox="1"/>
          <p:nvPr/>
        </p:nvSpPr>
        <p:spPr>
          <a:xfrm>
            <a:off x="86699" y="3746431"/>
            <a:ext cx="168187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</a:t>
            </a:r>
            <a:r>
              <a:rPr lang="nb-NO" sz="240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nordiske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landene har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400" dirty="0">
                <a:solidFill>
                  <a:srgbClr val="002060"/>
                </a:solidFill>
                <a:latin typeface="Calibri" panose="020F0502020204030204"/>
              </a:rPr>
              <a:t>h</a:t>
            </a: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øyere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400" dirty="0">
                <a:solidFill>
                  <a:srgbClr val="002060"/>
                </a:solidFill>
                <a:latin typeface="Calibri" panose="020F0502020204030204"/>
              </a:rPr>
              <a:t>a</a:t>
            </a: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vkastning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på aksjer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enn Norge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etter 1980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7517B49-A3D3-1163-9F62-4DBA1726C866}"/>
              </a:ext>
            </a:extLst>
          </p:cNvPr>
          <p:cNvCxnSpPr/>
          <p:nvPr/>
        </p:nvCxnSpPr>
        <p:spPr>
          <a:xfrm>
            <a:off x="2118730" y="6534615"/>
            <a:ext cx="875544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B6171D0-CD40-3550-D956-EBE91DB39A7C}"/>
              </a:ext>
            </a:extLst>
          </p:cNvPr>
          <p:cNvSpPr txBox="1"/>
          <p:nvPr/>
        </p:nvSpPr>
        <p:spPr>
          <a:xfrm>
            <a:off x="4813160" y="-4923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3B14B5-C8C0-8CB8-6837-1EFC923F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9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8FD2A-5A4F-7D5D-9774-7AEF8600D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717" y="85060"/>
            <a:ext cx="10981083" cy="6091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Er det bedre å kjøpe nordiske indeksfond enn norske indeksfond siden de andre skandinaviske landene har gjort det bedre enn Norge etter 1980?</a:t>
            </a:r>
          </a:p>
          <a:p>
            <a:pPr marL="0" indent="0">
              <a:buNone/>
            </a:pPr>
            <a:endParaRPr lang="nb-NO" sz="4000" dirty="0"/>
          </a:p>
          <a:p>
            <a:pPr marL="0" indent="0">
              <a:buNone/>
            </a:pPr>
            <a:endParaRPr lang="nb-NO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48582A-16C5-9D1B-F0E5-0BB6B52A9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88E627-0EC2-CDA9-3E42-7F5B7BC6F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35" y="940981"/>
            <a:ext cx="11076963" cy="583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297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B3ABB7-A48E-EEBA-538D-00928AAA6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041" y="143219"/>
            <a:ext cx="9601134" cy="67147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83AF72-05C7-C42E-7EC0-E6C6D2F54459}"/>
              </a:ext>
            </a:extLst>
          </p:cNvPr>
          <p:cNvCxnSpPr/>
          <p:nvPr/>
        </p:nvCxnSpPr>
        <p:spPr>
          <a:xfrm>
            <a:off x="9360976" y="3122908"/>
            <a:ext cx="4881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E172F-CE3F-D894-B103-7F3FFE05241C}"/>
              </a:ext>
            </a:extLst>
          </p:cNvPr>
          <p:cNvCxnSpPr/>
          <p:nvPr/>
        </p:nvCxnSpPr>
        <p:spPr>
          <a:xfrm>
            <a:off x="6235477" y="3174571"/>
            <a:ext cx="4881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14F999-1375-352F-8FBB-E78A588B59B3}"/>
              </a:ext>
            </a:extLst>
          </p:cNvPr>
          <p:cNvCxnSpPr/>
          <p:nvPr/>
        </p:nvCxnSpPr>
        <p:spPr>
          <a:xfrm>
            <a:off x="6235477" y="3429000"/>
            <a:ext cx="4881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176450-A35D-68C3-DC49-E28B2B81D3E9}"/>
              </a:ext>
            </a:extLst>
          </p:cNvPr>
          <p:cNvCxnSpPr/>
          <p:nvPr/>
        </p:nvCxnSpPr>
        <p:spPr>
          <a:xfrm>
            <a:off x="9360976" y="3445790"/>
            <a:ext cx="4881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FEBF6A-747A-A31B-8C2C-DA22927DCA52}"/>
              </a:ext>
            </a:extLst>
          </p:cNvPr>
          <p:cNvCxnSpPr/>
          <p:nvPr/>
        </p:nvCxnSpPr>
        <p:spPr>
          <a:xfrm>
            <a:off x="6235477" y="4736024"/>
            <a:ext cx="4881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9CF159-7739-2CEB-B10E-0A83B4176F47}"/>
              </a:ext>
            </a:extLst>
          </p:cNvPr>
          <p:cNvCxnSpPr/>
          <p:nvPr/>
        </p:nvCxnSpPr>
        <p:spPr>
          <a:xfrm>
            <a:off x="9360976" y="4736024"/>
            <a:ext cx="4881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0DA362-AED9-BF95-00F9-159D0A11C7C3}"/>
              </a:ext>
            </a:extLst>
          </p:cNvPr>
          <p:cNvCxnSpPr/>
          <p:nvPr/>
        </p:nvCxnSpPr>
        <p:spPr>
          <a:xfrm>
            <a:off x="9360976" y="5035658"/>
            <a:ext cx="4881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28B22C-BF03-9E3E-1649-F735A9453BD5}"/>
              </a:ext>
            </a:extLst>
          </p:cNvPr>
          <p:cNvCxnSpPr/>
          <p:nvPr/>
        </p:nvCxnSpPr>
        <p:spPr>
          <a:xfrm>
            <a:off x="6235477" y="5035658"/>
            <a:ext cx="4881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32C446D-7ECE-2CF6-4E8A-995019399574}"/>
              </a:ext>
            </a:extLst>
          </p:cNvPr>
          <p:cNvSpPr txBox="1"/>
          <p:nvPr/>
        </p:nvSpPr>
        <p:spPr>
          <a:xfrm>
            <a:off x="10172955" y="488197"/>
            <a:ext cx="201904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Housing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slår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aksjer (</a:t>
            </a: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equity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fram til 1950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 lavere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risiko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74A1FD-7EC3-726D-8BCE-73DE60D6A736}"/>
              </a:ext>
            </a:extLst>
          </p:cNvPr>
          <p:cNvSpPr txBox="1"/>
          <p:nvPr/>
        </p:nvSpPr>
        <p:spPr>
          <a:xfrm>
            <a:off x="10172954" y="3350519"/>
            <a:ext cx="19398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Aksjer (</a:t>
            </a: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equity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slår </a:t>
            </a: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Housing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etter 1950 men risikoen har økt for aksjer men gått ned for </a:t>
            </a: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housing</a:t>
            </a: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54BB8E-0820-C96B-DB9E-F9EC49FEB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93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B79C-5302-A007-3BCE-802BEDCB0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489"/>
            <a:ext cx="10515600" cy="1325563"/>
          </a:xfrm>
        </p:spPr>
        <p:txBody>
          <a:bodyPr>
            <a:normAutofit/>
          </a:bodyPr>
          <a:lstStyle/>
          <a:p>
            <a:r>
              <a:rPr lang="nb-NO" sz="3600" b="1" dirty="0"/>
              <a:t>Aksjer dårligere enn eiendom frem til 1950, mens aksjer litt bedre etter 1950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ED847-3D4A-1FC6-859A-3CEA9C593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35" y="1825625"/>
            <a:ext cx="11389659" cy="4351338"/>
          </a:xfrm>
        </p:spPr>
        <p:txBody>
          <a:bodyPr>
            <a:normAutofit/>
          </a:bodyPr>
          <a:lstStyle/>
          <a:p>
            <a:r>
              <a:rPr lang="nb-NO" sz="3600" dirty="0"/>
              <a:t>Kan det være slik at avkastningen på risikable investeringer </a:t>
            </a:r>
            <a:r>
              <a:rPr lang="nb-NO" sz="3600" dirty="0" err="1"/>
              <a:t>dvs</a:t>
            </a:r>
            <a:r>
              <a:rPr lang="nb-NO" sz="3600" dirty="0"/>
              <a:t> hus og aksjer utjevnes over tid </a:t>
            </a:r>
            <a:r>
              <a:rPr lang="nb-NO" sz="3600" dirty="0" err="1"/>
              <a:t>pga</a:t>
            </a:r>
            <a:r>
              <a:rPr lang="nb-NO" sz="3600" dirty="0"/>
              <a:t> tilbud og etterspørsel? </a:t>
            </a:r>
          </a:p>
          <a:p>
            <a:endParaRPr lang="nb-NO" sz="3600" dirty="0"/>
          </a:p>
          <a:p>
            <a:r>
              <a:rPr lang="nb-NO" sz="3600" dirty="0"/>
              <a:t>Tidsseriene er svært lange og gir derfor robuste trender.</a:t>
            </a:r>
          </a:p>
          <a:p>
            <a:endParaRPr lang="nb-NO" sz="3600" dirty="0"/>
          </a:p>
          <a:p>
            <a:r>
              <a:rPr lang="nb-NO" sz="3600" dirty="0"/>
              <a:t>Oljefondet er investert i både aksjer og eiendom</a:t>
            </a:r>
          </a:p>
          <a:p>
            <a:endParaRPr lang="nb-NO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D36CC-40AD-35FA-72F5-08F9AF9D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52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9CDE35-29B5-AFE9-E393-4336C7FF6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97932"/>
            <a:ext cx="10905066" cy="406213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059CD6-21BD-A584-5327-0ED13C22E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24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A42EF8-8CF4-C75B-A55C-B67CB4796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411" y="-31199"/>
            <a:ext cx="9206753" cy="684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278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A476F5-C2DA-DDB9-B490-4E4BB35C8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-12570"/>
            <a:ext cx="9377916" cy="683150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DF099E-E12B-C988-80DD-60873BEA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84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BB59-E9EA-17AA-D501-81B37AC0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7" y="365125"/>
            <a:ext cx="11453281" cy="1325563"/>
          </a:xfrm>
        </p:spPr>
        <p:txBody>
          <a:bodyPr>
            <a:normAutofit/>
          </a:bodyPr>
          <a:lstStyle/>
          <a:p>
            <a:r>
              <a:rPr lang="nb-NO" sz="3600" b="1" dirty="0"/>
              <a:t>Hvor mye får vi betalt for å ta risiko </a:t>
            </a:r>
            <a:r>
              <a:rPr lang="nb-NO" sz="3600" b="1" dirty="0" err="1"/>
              <a:t>vs</a:t>
            </a:r>
            <a:r>
              <a:rPr lang="nb-NO" sz="3600" b="1" dirty="0"/>
              <a:t> sikre investeringer?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0541B-141F-D703-FAF6-480EB598D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98600"/>
            <a:ext cx="10953750" cy="4678363"/>
          </a:xfrm>
        </p:spPr>
        <p:txBody>
          <a:bodyPr>
            <a:normAutofit fontScale="85000" lnSpcReduction="20000"/>
          </a:bodyPr>
          <a:lstStyle/>
          <a:p>
            <a:r>
              <a:rPr lang="nb-NO" sz="3600" dirty="0"/>
              <a:t>«Equity» og «</a:t>
            </a:r>
            <a:r>
              <a:rPr lang="nb-NO" sz="3600" dirty="0" err="1"/>
              <a:t>housing</a:t>
            </a:r>
            <a:r>
              <a:rPr lang="nb-NO" sz="3600" dirty="0"/>
              <a:t>» er risikable investeringer mens statsobligasjoner er sikre investeringer.</a:t>
            </a:r>
          </a:p>
          <a:p>
            <a:pPr marL="0" indent="0">
              <a:buNone/>
            </a:pPr>
            <a:r>
              <a:rPr lang="nb-NO" sz="3600" dirty="0"/>
              <a:t> </a:t>
            </a:r>
          </a:p>
          <a:p>
            <a:pPr>
              <a:buFont typeface="Calibri" panose="020F0502020204030204" pitchFamily="34" charset="0"/>
              <a:buChar char="→"/>
            </a:pPr>
            <a:r>
              <a:rPr lang="nb-NO" sz="3600" dirty="0"/>
              <a:t> Hva bør vi velge hvis vi ser det i et historisk perspektiv? </a:t>
            </a:r>
          </a:p>
          <a:p>
            <a:endParaRPr lang="nb-NO" sz="3600" dirty="0"/>
          </a:p>
          <a:p>
            <a:r>
              <a:rPr lang="nb-NO" sz="3600" dirty="0"/>
              <a:t>De historiske dataene sier noe om avkastningen på risikable </a:t>
            </a:r>
            <a:r>
              <a:rPr lang="nb-NO" sz="3600" dirty="0" err="1"/>
              <a:t>vs</a:t>
            </a:r>
            <a:r>
              <a:rPr lang="nb-NO" sz="3600" dirty="0"/>
              <a:t> risikofrie investeringer over tid.</a:t>
            </a:r>
          </a:p>
          <a:p>
            <a:endParaRPr lang="nb-NO" sz="3600" dirty="0"/>
          </a:p>
          <a:p>
            <a:r>
              <a:rPr lang="nb-NO" sz="3600" dirty="0"/>
              <a:t>I tider med høy inflasjon lite lurt å sitt med pengene  bank eller obligasjoner fordi renten justeres ikke med endringer i inflasjonen på samme måte som aksjer eller eiendom.</a:t>
            </a:r>
          </a:p>
          <a:p>
            <a:endParaRPr lang="nb-NO" sz="3600" dirty="0"/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0680D-22D5-C02E-FD98-1C0F564A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32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CE4BE2-A9EC-8580-7107-763F180F2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492" y="-131736"/>
            <a:ext cx="7213963" cy="69897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F0530A-5652-9721-5C0D-9871CA1E6AF5}"/>
              </a:ext>
            </a:extLst>
          </p:cNvPr>
          <p:cNvCxnSpPr/>
          <p:nvPr/>
        </p:nvCxnSpPr>
        <p:spPr>
          <a:xfrm>
            <a:off x="4432515" y="5377912"/>
            <a:ext cx="438602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059C386-D002-A1BA-24D9-9594000EE1DB}"/>
              </a:ext>
            </a:extLst>
          </p:cNvPr>
          <p:cNvSpPr txBox="1"/>
          <p:nvPr/>
        </p:nvSpPr>
        <p:spPr>
          <a:xfrm>
            <a:off x="9509074" y="294467"/>
            <a:ext cx="2683492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«</a:t>
            </a:r>
            <a:r>
              <a:rPr kumimoji="0" lang="nb-NO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Risky</a:t>
            </a: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nb-NO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</a:t>
            </a: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» 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veid snitt av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aksjer og hus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«Safe </a:t>
            </a:r>
            <a:r>
              <a:rPr kumimoji="0" lang="nb-NO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</a:t>
            </a: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» 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veid snitt av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statsobligasjoner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D68BC-E692-B827-E4F5-DFDFCF882BF7}"/>
              </a:ext>
            </a:extLst>
          </p:cNvPr>
          <p:cNvSpPr txBox="1"/>
          <p:nvPr/>
        </p:nvSpPr>
        <p:spPr>
          <a:xfrm>
            <a:off x="123986" y="216977"/>
            <a:ext cx="2126736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Høy inflasjon 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perioden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1950-1980 gir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lav avkastning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på sikre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investeringer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(«safe </a:t>
            </a: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»).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Avkastningen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på sikre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investeringer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økt etter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1980 relativt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til aksjer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616F30-3484-AFAB-C647-227A717A9B07}"/>
              </a:ext>
            </a:extLst>
          </p:cNvPr>
          <p:cNvCxnSpPr>
            <a:cxnSpLocks/>
          </p:cNvCxnSpPr>
          <p:nvPr/>
        </p:nvCxnSpPr>
        <p:spPr>
          <a:xfrm>
            <a:off x="4259451" y="3833897"/>
            <a:ext cx="455908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A51C45-059C-1386-CE8D-FD3F63036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37B4F-4AF9-02F1-9E8B-D74ED05DBEF3}"/>
              </a:ext>
            </a:extLst>
          </p:cNvPr>
          <p:cNvSpPr txBox="1"/>
          <p:nvPr/>
        </p:nvSpPr>
        <p:spPr>
          <a:xfrm>
            <a:off x="9048307" y="4482136"/>
            <a:ext cx="308033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/>
              <a:t>Tallene viser at man</a:t>
            </a:r>
          </a:p>
          <a:p>
            <a:r>
              <a:rPr lang="nb-NO" sz="2800" dirty="0"/>
              <a:t> har fått betalt for</a:t>
            </a:r>
          </a:p>
          <a:p>
            <a:r>
              <a:rPr lang="nb-NO" sz="2800" dirty="0"/>
              <a:t> å ta risiko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4BA5AC-AB2F-A37A-F629-4FC9ABE90CC0}"/>
              </a:ext>
            </a:extLst>
          </p:cNvPr>
          <p:cNvCxnSpPr>
            <a:cxnSpLocks/>
          </p:cNvCxnSpPr>
          <p:nvPr/>
        </p:nvCxnSpPr>
        <p:spPr>
          <a:xfrm>
            <a:off x="5791200" y="829733"/>
            <a:ext cx="59267" cy="47244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91BD83-5612-3C1F-32C2-505E5B3028F7}"/>
              </a:ext>
            </a:extLst>
          </p:cNvPr>
          <p:cNvCxnSpPr>
            <a:cxnSpLocks/>
          </p:cNvCxnSpPr>
          <p:nvPr/>
        </p:nvCxnSpPr>
        <p:spPr>
          <a:xfrm>
            <a:off x="7360486" y="809432"/>
            <a:ext cx="59267" cy="47244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82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2BD696-DF60-47DB-AA6B-F2EEB4B4D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58045"/>
            <a:ext cx="9698314" cy="65397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D72E08-3184-44FC-B54F-EF19DEAAF051}"/>
              </a:ext>
            </a:extLst>
          </p:cNvPr>
          <p:cNvSpPr txBox="1"/>
          <p:nvPr/>
        </p:nvSpPr>
        <p:spPr>
          <a:xfrm>
            <a:off x="659728" y="884742"/>
            <a:ext cx="10296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Større variasjon i avkastningen på aksjer enn eiendom (høyere standardavvik)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5C8DD9-54C3-12E6-3FE1-D55ED3D2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64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40691-712A-4E7D-8E92-599256D32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626" y="126585"/>
            <a:ext cx="11509513" cy="1325563"/>
          </a:xfrm>
        </p:spPr>
        <p:txBody>
          <a:bodyPr>
            <a:normAutofit/>
          </a:bodyPr>
          <a:lstStyle/>
          <a:p>
            <a:r>
              <a:rPr lang="nb-NO" sz="3600" dirty="0"/>
              <a:t>Eiendom vs. Aksjer (realavkastning – hensyn tatt til inflasjon)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74F8E-4255-4F51-9559-27FD70D1D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336813"/>
            <a:ext cx="11417300" cy="4840150"/>
          </a:xfrm>
        </p:spPr>
        <p:txBody>
          <a:bodyPr>
            <a:normAutofit/>
          </a:bodyPr>
          <a:lstStyle/>
          <a:p>
            <a:r>
              <a:rPr lang="nb-NO" sz="3600" dirty="0"/>
              <a:t>Aksjer og eiendom har omtrent lik avkastning på verdensbasis (rundt 7-8 prosent)</a:t>
            </a:r>
          </a:p>
          <a:p>
            <a:endParaRPr lang="nb-NO" sz="3600" dirty="0"/>
          </a:p>
          <a:p>
            <a:r>
              <a:rPr lang="nb-NO" sz="3600" dirty="0"/>
              <a:t>Eiendom har et standardavvik på </a:t>
            </a:r>
            <a:r>
              <a:rPr lang="nb-NO" sz="3600" dirty="0" err="1"/>
              <a:t>ca</a:t>
            </a:r>
            <a:r>
              <a:rPr lang="nb-NO" sz="3600" dirty="0"/>
              <a:t> 10 mot </a:t>
            </a:r>
            <a:r>
              <a:rPr lang="nb-NO" sz="3600" dirty="0" err="1"/>
              <a:t>ca</a:t>
            </a:r>
            <a:r>
              <a:rPr lang="nb-NO" sz="3600" dirty="0"/>
              <a:t> 24 for aksjer</a:t>
            </a:r>
          </a:p>
          <a:p>
            <a:endParaRPr lang="nb-NO" sz="3600" dirty="0"/>
          </a:p>
          <a:p>
            <a:r>
              <a:rPr lang="nb-NO" sz="3600" dirty="0"/>
              <a:t>Aksjer er mye mer risikable enn eiendom!</a:t>
            </a:r>
          </a:p>
          <a:p>
            <a:endParaRPr lang="nb-NO" sz="3600" dirty="0"/>
          </a:p>
          <a:p>
            <a:r>
              <a:rPr lang="nb-NO" sz="3600" dirty="0"/>
              <a:t>Betyr høy avkastning og lav risiko at eiendom er bedre?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C9EB3-C165-A55B-129C-314CF6952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22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F7464-44B5-4CB8-B73D-1E743FECE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9" y="18255"/>
            <a:ext cx="11032435" cy="826571"/>
          </a:xfrm>
        </p:spPr>
        <p:txBody>
          <a:bodyPr>
            <a:normAutofit/>
          </a:bodyPr>
          <a:lstStyle/>
          <a:p>
            <a:r>
              <a:rPr lang="nb-NO" sz="4000" dirty="0"/>
              <a:t>Mulig forklaring på avkastning på aksjer </a:t>
            </a:r>
            <a:r>
              <a:rPr lang="nb-NO" sz="4000" dirty="0" err="1"/>
              <a:t>vs</a:t>
            </a:r>
            <a:r>
              <a:rPr lang="nb-NO" sz="4000" dirty="0"/>
              <a:t> eiendom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54D50-63DA-4B33-AC15-DCDD7FA04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5" y="1053548"/>
            <a:ext cx="10956235" cy="5555974"/>
          </a:xfrm>
        </p:spPr>
        <p:txBody>
          <a:bodyPr>
            <a:noAutofit/>
          </a:bodyPr>
          <a:lstStyle/>
          <a:p>
            <a:r>
              <a:rPr lang="nb-NO" sz="3200" dirty="0"/>
              <a:t>Eiendom mer risikabelt enn hva tallene indikerer?</a:t>
            </a:r>
          </a:p>
          <a:p>
            <a:endParaRPr lang="nb-NO" sz="3200" dirty="0"/>
          </a:p>
          <a:p>
            <a:r>
              <a:rPr lang="nb-NO" sz="3200" dirty="0"/>
              <a:t>Tallene i artikkelen gjengir et snitt av avkastningen på eiendom («eiendomsportefølje») og ikke avkastningen av å eie et individuelt hus!</a:t>
            </a:r>
          </a:p>
          <a:p>
            <a:endParaRPr lang="nb-NO" sz="3200" dirty="0"/>
          </a:p>
          <a:p>
            <a:r>
              <a:rPr lang="nb-NO" sz="3200" dirty="0"/>
              <a:t>Risikoen ved å eie et hus er knyttet til prisutviklingen på huset.</a:t>
            </a:r>
          </a:p>
          <a:p>
            <a:endParaRPr lang="nb-NO" sz="3200" dirty="0"/>
          </a:p>
          <a:p>
            <a:r>
              <a:rPr lang="nb-NO" sz="3200" dirty="0"/>
              <a:t>Det sentrale spørsmålet er derfor hva forskjellen i risiko er på å investere i et eiendomsfond (indeks) kontra ett enkelt hus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56507-B3C2-7134-21FE-C49E2231F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49195B-1CC6-494C-9E9F-7A6D95E291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9" r="-2" b="-2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12B843-8E11-4EAA-8DA9-03538A91B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7"/>
            <a:ext cx="5452529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200" b="1" err="1">
                <a:solidFill>
                  <a:srgbClr val="FFFF00"/>
                </a:solidFill>
              </a:rPr>
              <a:t>Jordskredet</a:t>
            </a:r>
            <a:r>
              <a:rPr lang="en-US" sz="5200" b="1">
                <a:solidFill>
                  <a:srgbClr val="FFFF00"/>
                </a:solidFill>
              </a:rPr>
              <a:t> i </a:t>
            </a:r>
            <a:r>
              <a:rPr lang="en-US" sz="5200" b="1" err="1">
                <a:solidFill>
                  <a:srgbClr val="FFFF00"/>
                </a:solidFill>
              </a:rPr>
              <a:t>Gjerdrum</a:t>
            </a:r>
            <a:endParaRPr lang="en-US" sz="5200" b="1">
              <a:solidFill>
                <a:srgbClr val="FFFF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3DA70A-6FB6-DE6A-9A50-C36F356A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298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CFED-FA58-45C7-8F43-012A5231A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361"/>
            <a:ext cx="10515600" cy="1014828"/>
          </a:xfrm>
        </p:spPr>
        <p:txBody>
          <a:bodyPr/>
          <a:lstStyle/>
          <a:p>
            <a:r>
              <a:rPr lang="nb-NO" dirty="0"/>
              <a:t>Indeks over eiendomsinvesteringer viser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864AA-C5D4-44DA-AFC7-004963351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17" y="1222513"/>
            <a:ext cx="11728174" cy="5531126"/>
          </a:xfrm>
        </p:spPr>
        <p:txBody>
          <a:bodyPr>
            <a:normAutofit/>
          </a:bodyPr>
          <a:lstStyle/>
          <a:p>
            <a:r>
              <a:rPr lang="nb-NO" sz="3600" dirty="0"/>
              <a:t>2020 gav svært god avkastning i gjennomsnitt for eiendom</a:t>
            </a:r>
          </a:p>
          <a:p>
            <a:endParaRPr lang="nb-NO" sz="3600" dirty="0"/>
          </a:p>
          <a:p>
            <a:r>
              <a:rPr lang="nb-NO" sz="3600" dirty="0"/>
              <a:t>Avkastningen på eiendom </a:t>
            </a:r>
            <a:r>
              <a:rPr lang="nb-NO" sz="3600" i="1" dirty="0"/>
              <a:t>varierte mellom ulike regioner</a:t>
            </a:r>
          </a:p>
          <a:p>
            <a:endParaRPr lang="nb-NO" sz="3600" dirty="0"/>
          </a:p>
          <a:p>
            <a:r>
              <a:rPr lang="nb-NO" sz="3600" dirty="0"/>
              <a:t>Eiendom innen </a:t>
            </a:r>
            <a:r>
              <a:rPr lang="nb-NO" sz="3600" i="1" dirty="0"/>
              <a:t>samme region kan ha svært ulik prisutvikling</a:t>
            </a:r>
          </a:p>
          <a:p>
            <a:endParaRPr lang="nb-NO" sz="3600" dirty="0"/>
          </a:p>
          <a:p>
            <a:r>
              <a:rPr lang="nb-NO" sz="3600" dirty="0"/>
              <a:t>Når vi kjøper ett enkelt hus kan vi ikke diversifisere vekk den idiosynkratiske risikoen (risikoen knyttet til dette huset)</a:t>
            </a:r>
          </a:p>
          <a:p>
            <a:endParaRPr lang="nb-NO" dirty="0"/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4C47D-7C99-4692-B52D-6E7D8408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756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2377C-0D00-4AD4-9A90-1275FACA5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465"/>
            <a:ext cx="10515600" cy="693392"/>
          </a:xfrm>
        </p:spPr>
        <p:txBody>
          <a:bodyPr>
            <a:normAutofit fontScale="90000"/>
          </a:bodyPr>
          <a:lstStyle/>
          <a:p>
            <a:r>
              <a:rPr lang="nb-NO" dirty="0"/>
              <a:t>Aksjer og diversifisering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88E21-F0EF-416E-929B-358050DED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721" y="1083365"/>
            <a:ext cx="11733143" cy="5628170"/>
          </a:xfrm>
        </p:spPr>
        <p:txBody>
          <a:bodyPr>
            <a:normAutofit/>
          </a:bodyPr>
          <a:lstStyle/>
          <a:p>
            <a:r>
              <a:rPr lang="nb-NO" sz="3600" dirty="0"/>
              <a:t>Enkelt-aksjer og enkelt-hus er risikable: kan ikke eliminere den idiosynkratiske risikoen</a:t>
            </a:r>
          </a:p>
          <a:p>
            <a:endParaRPr lang="nb-NO" sz="3600" dirty="0"/>
          </a:p>
          <a:p>
            <a:r>
              <a:rPr lang="nb-NO" sz="3600" dirty="0"/>
              <a:t>Vi kan kjøpe aksjefond og eiendomsfond og eliminere den idiosynkratiske risikoen</a:t>
            </a:r>
          </a:p>
          <a:p>
            <a:endParaRPr lang="nb-NO" sz="3600" dirty="0"/>
          </a:p>
          <a:p>
            <a:r>
              <a:rPr lang="nb-NO" sz="3600" dirty="0"/>
              <a:t>Hvis vi må eie kun et hus er risikoen større enn å kjøpe et eiendomsindeksfond</a:t>
            </a:r>
          </a:p>
          <a:p>
            <a:endParaRPr lang="nb-NO" sz="36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EFA66-B064-B1A5-370A-DA05B06DC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75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4708-E835-9D05-348C-18EE8765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Autofit/>
          </a:bodyPr>
          <a:lstStyle/>
          <a:p>
            <a:r>
              <a:rPr lang="nb-NO" sz="3200" dirty="0">
                <a:latin typeface="+mn-lt"/>
              </a:rPr>
              <a:t>Kan vi lære noe om historiske priser på ulike investeringer (aksjer, verdipapirer) når det gjelder fremtidig avkastning?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49353-67D8-D5AD-CB64-59893F929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93" y="1481558"/>
            <a:ext cx="11552274" cy="4874791"/>
          </a:xfrm>
        </p:spPr>
        <p:txBody>
          <a:bodyPr>
            <a:normAutofit/>
          </a:bodyPr>
          <a:lstStyle/>
          <a:p>
            <a:r>
              <a:rPr lang="nb-NO" sz="3000" dirty="0"/>
              <a:t>Historiske priser og avkastning gir ingen garanti og sammenhengen varierer med tidshorisont, type investering og metode.</a:t>
            </a:r>
          </a:p>
          <a:p>
            <a:endParaRPr lang="nb-NO" sz="3000" dirty="0"/>
          </a:p>
          <a:p>
            <a:r>
              <a:rPr lang="nb-NO" sz="3000" dirty="0"/>
              <a:t>​Studier finner indikasjoner på </a:t>
            </a:r>
            <a:r>
              <a:rPr lang="nb-NO" sz="3000" dirty="0" err="1"/>
              <a:t>mean</a:t>
            </a:r>
            <a:r>
              <a:rPr lang="nb-NO" sz="3000" dirty="0"/>
              <a:t> </a:t>
            </a:r>
            <a:r>
              <a:rPr lang="nb-NO" sz="3000" dirty="0" err="1"/>
              <a:t>reversion</a:t>
            </a:r>
            <a:r>
              <a:rPr lang="nb-NO" sz="3000" dirty="0"/>
              <a:t> i aksjeavkastning over lengre horisonter</a:t>
            </a:r>
          </a:p>
          <a:p>
            <a:endParaRPr lang="nb-NO" sz="3000" dirty="0"/>
          </a:p>
          <a:p>
            <a:r>
              <a:rPr lang="nb-NO" sz="3000" dirty="0"/>
              <a:t>Historiske priser er nyttige til å:</a:t>
            </a:r>
          </a:p>
          <a:p>
            <a:pPr lvl="1"/>
            <a:r>
              <a:rPr lang="nb-NO" sz="3000" dirty="0"/>
              <a:t>Kalibrere realistiske langsiktige forventninger</a:t>
            </a:r>
          </a:p>
          <a:p>
            <a:pPr lvl="1"/>
            <a:r>
              <a:rPr lang="nb-NO" sz="3000" dirty="0"/>
              <a:t>Forstå risiko (volatilitet, </a:t>
            </a:r>
            <a:r>
              <a:rPr lang="nb-NO" sz="3000" dirty="0" err="1"/>
              <a:t>drawdowns</a:t>
            </a:r>
            <a:r>
              <a:rPr lang="nb-NO" sz="3000" dirty="0"/>
              <a:t>) og hvordan ulike </a:t>
            </a:r>
            <a:r>
              <a:rPr lang="nb-NO" sz="3000" dirty="0" err="1"/>
              <a:t>aktivaklasser</a:t>
            </a:r>
            <a:r>
              <a:rPr lang="nb-NO" sz="3000" dirty="0"/>
              <a:t> oppfører seg i kriser.​</a:t>
            </a:r>
          </a:p>
          <a:p>
            <a:pPr lvl="1"/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78DC9-9BAC-1C3D-AD9E-85EC8141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6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6FED6-C965-40C5-9D4E-3466BEEB4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743"/>
            <a:ext cx="10515600" cy="789240"/>
          </a:xfrm>
        </p:spPr>
        <p:txBody>
          <a:bodyPr>
            <a:normAutofit/>
          </a:bodyPr>
          <a:lstStyle/>
          <a:p>
            <a:r>
              <a:rPr lang="nb-NO" sz="4000" b="1" dirty="0"/>
              <a:t>Hvordan måler vi avkastning på en investering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7359F-44A0-444E-A2B8-F48C6D7ED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625" y="1043709"/>
            <a:ext cx="11653631" cy="56204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600" dirty="0"/>
              <a:t>Avkastning kan deles inn i fire komponenter</a:t>
            </a:r>
          </a:p>
          <a:p>
            <a:endParaRPr lang="nb-NO" sz="3600" dirty="0"/>
          </a:p>
          <a:p>
            <a:pPr marL="514350" indent="-514350">
              <a:buFont typeface="+mj-lt"/>
              <a:buAutoNum type="arabicPeriod"/>
            </a:pPr>
            <a:r>
              <a:rPr lang="nb-NO" sz="3600" dirty="0"/>
              <a:t>(+) </a:t>
            </a:r>
            <a:r>
              <a:rPr lang="nb-NO" sz="3600" dirty="0" err="1"/>
              <a:t>Yield</a:t>
            </a:r>
            <a:r>
              <a:rPr lang="nb-NO" sz="3600" dirty="0"/>
              <a:t>; nettoavkastningen i prosent av aktivumets verdi</a:t>
            </a:r>
          </a:p>
          <a:p>
            <a:pPr marL="514350" indent="-514350">
              <a:buFont typeface="+mj-lt"/>
              <a:buAutoNum type="arabicPeriod"/>
            </a:pPr>
            <a:r>
              <a:rPr lang="nb-NO" sz="3600" dirty="0"/>
              <a:t>(+/-) Kapitalgevinst: Økning (tap)  i prosent av kjøpsverdi</a:t>
            </a:r>
          </a:p>
          <a:p>
            <a:pPr marL="514350" indent="-514350">
              <a:buFont typeface="+mj-lt"/>
              <a:buAutoNum type="arabicPeriod"/>
            </a:pPr>
            <a:r>
              <a:rPr lang="nb-NO" sz="3600" dirty="0"/>
              <a:t> (-) Skatter</a:t>
            </a:r>
          </a:p>
          <a:p>
            <a:pPr marL="514350" indent="-514350">
              <a:buFont typeface="+mj-lt"/>
              <a:buAutoNum type="arabicPeriod"/>
            </a:pPr>
            <a:r>
              <a:rPr lang="nb-NO" sz="3600" dirty="0"/>
              <a:t>(-) Inflasjon</a:t>
            </a:r>
          </a:p>
          <a:p>
            <a:pPr marL="0" indent="0">
              <a:buNone/>
            </a:pPr>
            <a:endParaRPr lang="nb-NO" sz="32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1AE64-F345-24F3-A2B2-8AC4B7355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307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49AC-8701-F991-41E7-BB1D388D8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7193"/>
          </a:xfrm>
        </p:spPr>
        <p:txBody>
          <a:bodyPr/>
          <a:lstStyle/>
          <a:p>
            <a:r>
              <a:rPr lang="nb-NO" dirty="0"/>
              <a:t>Avkastning aksjer og obligasjoner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2C651-7AE1-11E7-BC5E-38AE1A0EDB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3023" y="1443319"/>
                <a:ext cx="10515600" cy="5329798"/>
              </a:xfrm>
            </p:spPr>
            <p:txBody>
              <a:bodyPr/>
              <a:lstStyle/>
              <a:p>
                <a:pPr marL="0" indent="0">
                  <a:buNone/>
                </a:pPr>
                <a:endParaRPr kumimoji="0" lang="nb-NO" sz="3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nb-NO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kumimoji="0" lang="nb-NO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nb-NO" dirty="0"/>
                  <a:t>måler avkastningen på aktivumet fra investor kjøpte aksjen </a:t>
                </a:r>
                <a:r>
                  <a:rPr lang="nb-NO" dirty="0" err="1"/>
                  <a:t>dvs</a:t>
                </a:r>
                <a:r>
                  <a:rPr lang="nb-NO" dirty="0"/>
                  <a:t> i periode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b-NO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b-NO" dirty="0"/>
                  <a:t> i til aksjen selges i periode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b-NO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b-NO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nb-NO" dirty="0"/>
              </a:p>
              <a:p>
                <a:endParaRPr lang="nb-NO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dirty="0"/>
                  <a:t>er mottatt kontantstrøm fra aksjen (utbytte) eller obligasjonen (kupongrente) i perioden såkalt «</a:t>
                </a:r>
                <a:r>
                  <a:rPr lang="nb-NO" dirty="0" err="1"/>
                  <a:t>yield</a:t>
                </a:r>
                <a:r>
                  <a:rPr lang="nb-NO" dirty="0"/>
                  <a:t>»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2C651-7AE1-11E7-BC5E-38AE1A0ED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3023" y="1443319"/>
                <a:ext cx="10515600" cy="532979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2368B-744B-F5B0-1150-95F4D632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468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2AC91-DD7A-4E21-B785-5C77D869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>
            <a:noAutofit/>
          </a:bodyPr>
          <a:lstStyle/>
          <a:p>
            <a:pPr algn="ctr"/>
            <a:r>
              <a:rPr lang="nb-NO" dirty="0"/>
              <a:t>Verdsetting eiendom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5C5D-FF4D-428D-9BBD-EC8DAC130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117" y="1251856"/>
            <a:ext cx="11807687" cy="5496813"/>
          </a:xfrm>
        </p:spPr>
        <p:txBody>
          <a:bodyPr>
            <a:normAutofit/>
          </a:bodyPr>
          <a:lstStyle/>
          <a:p>
            <a:r>
              <a:rPr lang="nb-NO" sz="4000" dirty="0" err="1"/>
              <a:t>Yield</a:t>
            </a:r>
            <a:r>
              <a:rPr lang="nb-NO" sz="4000" dirty="0"/>
              <a:t> (+) = (+) husleie  – vedlikehold/utgifter</a:t>
            </a:r>
          </a:p>
          <a:p>
            <a:r>
              <a:rPr lang="nb-NO" sz="4000" dirty="0"/>
              <a:t>Kapitalgevinst (+/-) = endring i pris </a:t>
            </a:r>
          </a:p>
          <a:p>
            <a:pPr marL="0" indent="0">
              <a:buNone/>
            </a:pPr>
            <a:endParaRPr lang="nb-NO" sz="4000" dirty="0"/>
          </a:p>
          <a:p>
            <a:pPr marL="0" indent="0">
              <a:buNone/>
            </a:pPr>
            <a:r>
              <a:rPr lang="nb-NO" sz="4000" dirty="0"/>
              <a:t>To ulike strategier knyttet til investering i eiendom</a:t>
            </a:r>
          </a:p>
          <a:p>
            <a:pPr lvl="1"/>
            <a:r>
              <a:rPr lang="nb-NO" sz="3600" dirty="0"/>
              <a:t>Leie og investere det man sparer på å kjøpe</a:t>
            </a:r>
          </a:p>
          <a:p>
            <a:pPr lvl="1"/>
            <a:r>
              <a:rPr lang="nb-NO" sz="3600" dirty="0"/>
              <a:t>Eller kjøpe og slippe å betale husleie</a:t>
            </a:r>
          </a:p>
          <a:p>
            <a:pPr lvl="1"/>
            <a:r>
              <a:rPr lang="nb-NO" sz="3600" dirty="0"/>
              <a:t>Endring i eiendomspriser viktig driver for valg av strategi</a:t>
            </a:r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F7300-AF98-53A7-A601-1F08AD058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219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C7D4D-B8D9-1FCB-5505-1DD7A1D7B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BE99E06-4B46-45F8-D12C-4B6E80F9BE5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39905" y="98611"/>
                <a:ext cx="10515600" cy="1286435"/>
              </a:xfrm>
            </p:spPr>
            <p:txBody>
              <a:bodyPr>
                <a:normAutofit/>
              </a:bodyPr>
              <a:lstStyle/>
              <a:p>
                <a:r>
                  <a:rPr lang="nb-NO" sz="3200" b="1" dirty="0">
                    <a:latin typeface="+mn-lt"/>
                  </a:rPr>
                  <a:t>Verdsetting eiendom når det kun finnes en inngangsverdi men ingen utgangsverdi (vi har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nb-NO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nb-NO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b-NO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32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𝐦𝐞𝐧</m:t>
                    </m:r>
                    <m:r>
                      <a:rPr lang="en-US" sz="32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𝐢𝐤𝐤𝐞</m:t>
                    </m:r>
                    <m:sSub>
                      <m:sSubPr>
                        <m:ctrlPr>
                          <a:rPr lang="nb-NO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b-NO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nb-NO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32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b-NO" sz="32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BE99E06-4B46-45F8-D12C-4B6E80F9BE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39905" y="98611"/>
                <a:ext cx="10515600" cy="1286435"/>
              </a:xfrm>
              <a:blipFill>
                <a:blip r:embed="rId2"/>
                <a:stretch>
                  <a:fillRect l="-1507" b="-379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19A32-E3D8-116F-272E-FCA5ADCCD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47" y="1467292"/>
            <a:ext cx="11721248" cy="5766255"/>
          </a:xfrm>
        </p:spPr>
        <p:txBody>
          <a:bodyPr>
            <a:normAutofit/>
          </a:bodyPr>
          <a:lstStyle/>
          <a:p>
            <a:r>
              <a:rPr lang="nb-NO" dirty="0"/>
              <a:t>Dette er en typisk problemstilling ved ekspropriasjon</a:t>
            </a:r>
          </a:p>
          <a:p>
            <a:endParaRPr lang="nb-NO" dirty="0"/>
          </a:p>
          <a:p>
            <a:r>
              <a:rPr lang="nb-NO" dirty="0"/>
              <a:t>Verdien av en eiendom er eiendommens kontantstrøm frem i tid. Er husleieinntekten 1 mill. i året betraktes det som en evigvarende kontantstrøm i norsk rett.</a:t>
            </a:r>
          </a:p>
          <a:p>
            <a:endParaRPr lang="nb-NO" dirty="0"/>
          </a:p>
          <a:p>
            <a:r>
              <a:rPr lang="nb-NO" dirty="0"/>
              <a:t> Hva slags kapitaliseringsrente, alternativkostnad for kapitalen skal man bruke? </a:t>
            </a:r>
          </a:p>
          <a:p>
            <a:endParaRPr lang="nb-NO" dirty="0"/>
          </a:p>
          <a:p>
            <a:r>
              <a:rPr lang="nb-NO" dirty="0"/>
              <a:t>Den som mister sin eiendom må få en erstatning som kan gjenskape den tapte kontantstrømmen. Diskonteringsrenten er en sentral faktor!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58A74-43A7-3E9D-A5ED-B724C24A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879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625A9-DF1E-982E-DAB6-6D65677F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D18C645-B778-23E8-4F46-73698C7D06B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76447" y="98611"/>
                <a:ext cx="11279058" cy="1286435"/>
              </a:xfrm>
            </p:spPr>
            <p:txBody>
              <a:bodyPr>
                <a:normAutofit/>
              </a:bodyPr>
              <a:lstStyle/>
              <a:p>
                <a:r>
                  <a:rPr lang="nb-NO" sz="3000" b="1" dirty="0">
                    <a:latin typeface="+mn-lt"/>
                  </a:rPr>
                  <a:t>Verdsetting eiendom når det kun finnes en inngangsverdi men ingen utgangsverdi (vi har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nb-NO" sz="3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nb-NO" sz="3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b-NO" sz="3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3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𝐦𝐞𝐧</m:t>
                    </m:r>
                    <m:r>
                      <a:rPr lang="en-US" sz="30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𝐢𝐤𝐤𝐞</m:t>
                    </m:r>
                    <m:sSub>
                      <m:sSubPr>
                        <m:ctrlPr>
                          <a:rPr lang="nb-NO" sz="3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b-NO" sz="3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nb-NO" sz="3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3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b-NO" sz="30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D18C645-B778-23E8-4F46-73698C7D0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76447" y="98611"/>
                <a:ext cx="11279058" cy="1286435"/>
              </a:xfrm>
              <a:blipFill>
                <a:blip r:embed="rId2"/>
                <a:stretch>
                  <a:fillRect l="-1243" b="-948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63F0E4-ACCD-1A8D-1075-A0500334A9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6447" y="1467292"/>
                <a:ext cx="11721248" cy="5766255"/>
              </a:xfrm>
            </p:spPr>
            <p:txBody>
              <a:bodyPr>
                <a:normAutofit/>
              </a:bodyPr>
              <a:lstStyle/>
              <a:p>
                <a:r>
                  <a:rPr lang="nb-NO" dirty="0"/>
                  <a:t>La oss se på en eiendom som gir 1 millioner i leieinntekt i året (før skatt). Hvilken erstatningssum skal utbetales for å gjenskape  1 mill. til evig tid?</a:t>
                </a:r>
              </a:p>
              <a:p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𝑉𝑒𝑟𝑑𝑖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𝑒𝑖𝑒𝑛𝑑𝑜𝑚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𝑟𝑒𝑛𝑡𝑒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r>
                  <a:rPr lang="nb-NO" dirty="0"/>
                  <a:t>Verdien bestemmes av diskonteringssatsen (kapitaliseringsrenten </a:t>
                </a:r>
                <a:r>
                  <a:rPr lang="nb-NO" i="1" dirty="0"/>
                  <a:t>r</a:t>
                </a:r>
                <a:r>
                  <a:rPr lang="nb-NO" dirty="0"/>
                  <a:t>). Hva kan den som får ekspropriert sin eiendom oppnå i avkastning? </a:t>
                </a:r>
              </a:p>
              <a:p>
                <a:endParaRPr lang="nb-NO" dirty="0"/>
              </a:p>
              <a:p>
                <a:r>
                  <a:rPr lang="nb-NO" dirty="0"/>
                  <a:t>Høyesterett sier diskonteringsrente skal være en realrente mens leieinntekten er en nominell størrelse! Her kolliderer juss og økonomifaget. Og hva med skatt? Er realrenten før eller </a:t>
                </a:r>
                <a:r>
                  <a:rPr lang="nb-NO"/>
                  <a:t>etter skatt? </a:t>
                </a:r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63F0E4-ACCD-1A8D-1075-A0500334A9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6447" y="1467292"/>
                <a:ext cx="11721248" cy="5766255"/>
              </a:xfrm>
              <a:blipFill>
                <a:blip r:embed="rId3"/>
                <a:stretch>
                  <a:fillRect l="-936" t="-1797" r="-780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843DC-A583-C7E6-FDC4-1497AE906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46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A88F09-AC1A-6E5F-90D7-B11B9EBFC1C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39905" y="98611"/>
                <a:ext cx="10515600" cy="1286435"/>
              </a:xfrm>
            </p:spPr>
            <p:txBody>
              <a:bodyPr>
                <a:normAutofit/>
              </a:bodyPr>
              <a:lstStyle/>
              <a:p>
                <a:r>
                  <a:rPr lang="nb-NO" sz="2800" b="1" dirty="0">
                    <a:latin typeface="+mn-lt"/>
                  </a:rPr>
                  <a:t>Verdsetting eiendom når det kun finnes en inngangsverdi men ingen utgangsverdi (vi har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nb-NO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nb-NO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b-NO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𝐦𝐞𝐧</m:t>
                    </m:r>
                    <m:r>
                      <a:rPr lang="en-US" sz="28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𝐢𝐤𝐤𝐞</m:t>
                    </m:r>
                    <m:sSub>
                      <m:sSubPr>
                        <m:ctrlPr>
                          <a:rPr lang="nb-NO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b-NO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nb-NO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2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b-NO" sz="28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A88F09-AC1A-6E5F-90D7-B11B9EBFC1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39905" y="98611"/>
                <a:ext cx="10515600" cy="1286435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A2AB57-F9B3-A20E-26D4-77632AAB45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9636" y="1492344"/>
                <a:ext cx="11134164" cy="5267045"/>
              </a:xfrm>
            </p:spPr>
            <p:txBody>
              <a:bodyPr>
                <a:normAutofit/>
              </a:bodyPr>
              <a:lstStyle/>
              <a:p>
                <a:r>
                  <a:rPr lang="nb-NO" dirty="0"/>
                  <a:t>Diskonteringsrenten for </a:t>
                </a:r>
                <a:r>
                  <a:rPr lang="nb-NO" i="1" dirty="0"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ekspropriering av eiendom</a:t>
                </a:r>
                <a:r>
                  <a:rPr lang="nb-NO" i="1" dirty="0"/>
                  <a:t> </a:t>
                </a:r>
                <a:r>
                  <a:rPr lang="nb-NO" dirty="0"/>
                  <a:t>i Norge er en standardisert </a:t>
                </a:r>
                <a:r>
                  <a:rPr lang="nb-NO" i="1" dirty="0">
                    <a:hlinkClick r:id="rId4"/>
                  </a:rPr>
                  <a:t>kapitaliseringsrente</a:t>
                </a:r>
                <a:r>
                  <a:rPr lang="nb-NO" i="1" dirty="0"/>
                  <a:t>,</a:t>
                </a:r>
                <a:r>
                  <a:rPr lang="nb-NO" dirty="0"/>
                  <a:t> som Høyesterett nylig har fastholdt skal være </a:t>
                </a:r>
                <a:r>
                  <a:rPr lang="nb-NO" b="1" dirty="0"/>
                  <a:t>4 % realrente </a:t>
                </a:r>
                <a:r>
                  <a:rPr lang="nb-NO" dirty="0"/>
                  <a:t>for å beregne nåverdien av fremtidige inntektstap</a:t>
                </a:r>
              </a:p>
              <a:p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𝑉𝑒𝑟𝑑𝑖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0,04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r>
                  <a:rPr lang="nb-NO" dirty="0"/>
                  <a:t>Klarer den som mister sin eiendom og investere til 4 prosent realrente?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A2AB57-F9B3-A20E-26D4-77632AAB45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9636" y="1492344"/>
                <a:ext cx="11134164" cy="5267045"/>
              </a:xfrm>
              <a:blipFill>
                <a:blip r:embed="rId5"/>
                <a:stretch>
                  <a:fillRect l="-985" t="-1968" r="-1533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37DE6-D8B8-8118-8ABB-81F46B1C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310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3380-8E84-827A-F7FF-FD75746D2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740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nb-NO" sz="4000" b="1" dirty="0">
                <a:latin typeface="+mn-lt"/>
              </a:rPr>
              <a:t>Oljefondet (NIMB); hvor godt investerer NIMB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EAA8-9B57-A95C-7ACC-DBB03D831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19" y="951614"/>
            <a:ext cx="11504428" cy="5560827"/>
          </a:xfrm>
        </p:spPr>
        <p:txBody>
          <a:bodyPr>
            <a:normAutofit/>
          </a:bodyPr>
          <a:lstStyle/>
          <a:p>
            <a:r>
              <a:rPr lang="nb-NO" sz="3200" dirty="0"/>
              <a:t>2024: Fondets avkastning målt i fondets valutakurv var 13,1 prosent, før fradrag for forvaltningskostnader.</a:t>
            </a:r>
          </a:p>
          <a:p>
            <a:pPr lvl="1"/>
            <a:r>
              <a:rPr lang="nb-NO" sz="2800" dirty="0"/>
              <a:t>Aksjeavkastningen; 18,2 prosent.</a:t>
            </a:r>
          </a:p>
          <a:p>
            <a:pPr lvl="1"/>
            <a:r>
              <a:rPr lang="nb-NO" sz="2800" dirty="0"/>
              <a:t>Rentebærende instrumenter; 1,3 prosent</a:t>
            </a:r>
          </a:p>
          <a:p>
            <a:pPr lvl="1"/>
            <a:r>
              <a:rPr lang="nb-NO" sz="2800" dirty="0"/>
              <a:t>Avkastning unotert eiendom: -0,6 prosent.</a:t>
            </a:r>
          </a:p>
          <a:p>
            <a:pPr lvl="1"/>
            <a:r>
              <a:rPr lang="nb-NO" sz="2800" dirty="0"/>
              <a:t>Avkastningen unotert infrastruktur for fornybar energi: -9,8 prosent.</a:t>
            </a:r>
          </a:p>
          <a:p>
            <a:endParaRPr lang="nb-NO" sz="3200" dirty="0"/>
          </a:p>
          <a:p>
            <a:r>
              <a:rPr lang="nb-NO" sz="3200" dirty="0">
                <a:solidFill>
                  <a:srgbClr val="FF0000"/>
                </a:solidFill>
              </a:rPr>
              <a:t>Realavkastningen til NIMB har årlig ligget rett under fire prosent.</a:t>
            </a:r>
          </a:p>
          <a:p>
            <a:endParaRPr lang="nb-NO" sz="3200" dirty="0">
              <a:solidFill>
                <a:srgbClr val="FF0000"/>
              </a:solidFill>
            </a:endParaRPr>
          </a:p>
          <a:p>
            <a:r>
              <a:rPr lang="nb-NO" sz="3200" dirty="0">
                <a:solidFill>
                  <a:srgbClr val="FF0000"/>
                </a:solidFill>
              </a:rPr>
              <a:t>Mye å kreve av en som blir ekspropriert at vedkommende skal slå eller være like god som oljefondet?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D7E4C-C839-D607-6B07-FAB277EE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1046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260AABE-E686-43AE-BD51-2A652E032CB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697057"/>
              </a:xfrm>
            </p:spPr>
            <p:txBody>
              <a:bodyPr>
                <a:normAutofit/>
              </a:bodyPr>
              <a:lstStyle/>
              <a:p>
                <a:r>
                  <a:rPr lang="nb-NO" sz="3600" dirty="0">
                    <a:solidFill>
                      <a:schemeClr val="tx1"/>
                    </a:solidFill>
                    <a:latin typeface="+mn-lt"/>
                  </a:rPr>
                  <a:t>Realavkastning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b-NO" sz="36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260AABE-E686-43AE-BD51-2A652E032C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697057"/>
              </a:xfrm>
              <a:blipFill>
                <a:blip r:embed="rId2"/>
                <a:stretch>
                  <a:fillRect l="-1797" t="-13158" b="-25439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728E01-49F7-4C4E-906F-4202F2DC96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4691"/>
                <a:ext cx="11017250" cy="4782272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𝑁𝑜𝑚𝑖𝑛𝑒𝑙𝑙</m:t>
                      </m:r>
                      <m:r>
                        <a:rPr lang="en-US" sz="36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𝑎𝑣𝑘𝑎𝑠𝑡𝑛𝑖𝑛𝑔</m:t>
                      </m:r>
                      <m:r>
                        <a:rPr lang="en-US" sz="36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:    </m:t>
                      </m:r>
                      <m:sSub>
                        <m:sSubPr>
                          <m:ctrlPr>
                            <a:rPr lang="nb-NO" sz="3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3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nb-NO" sz="3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b-NO" sz="3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sz="3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nb-NO" sz="3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nb-NO" sz="3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b-NO" sz="3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nb-NO" sz="3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6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b-NO" sz="3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𝑅𝑒𝑎𝑙𝑎𝑣𝑘𝑎𝑠𝑡𝑛𝑖𝑛𝑔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nb-NO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b-NO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nb-NO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nb-NO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nb-NO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nb-NO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nb-NO" sz="3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nb-NO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b-NO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nb-NO" sz="3600" dirty="0">
                  <a:solidFill>
                    <a:schemeClr val="tx1"/>
                  </a:solidFill>
                </a:endParaRPr>
              </a:p>
              <a:p>
                <a:endParaRPr lang="nb-NO" dirty="0">
                  <a:solidFill>
                    <a:schemeClr val="tx1"/>
                  </a:solidFill>
                </a:endParaRPr>
              </a:p>
              <a:p>
                <a:r>
                  <a:rPr lang="nb-NO" sz="3600" dirty="0">
                    <a:solidFill>
                      <a:schemeClr val="tx1"/>
                    </a:solidFill>
                  </a:rPr>
                  <a:t>Hvor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b-NO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nb-NO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er</m:t>
                    </m:r>
                    <m:r>
                      <a:rPr lang="nb-NO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nb-NO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inflasjonen</m:t>
                    </m:r>
                  </m:oMath>
                </a14:m>
                <a:endParaRPr lang="nb-NO" sz="3600" dirty="0">
                  <a:solidFill>
                    <a:schemeClr val="tx1"/>
                  </a:solidFill>
                </a:endParaRPr>
              </a:p>
              <a:p>
                <a:endParaRPr lang="nb-NO" sz="3600" dirty="0">
                  <a:solidFill>
                    <a:schemeClr val="tx1"/>
                  </a:solidFill>
                </a:endParaRPr>
              </a:p>
              <a:p>
                <a:r>
                  <a:rPr lang="nb-NO" sz="3600" dirty="0">
                    <a:solidFill>
                      <a:schemeClr val="tx1"/>
                    </a:solidFill>
                  </a:rPr>
                  <a:t>Approksimasjonen er ok så lenge ikke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b-NO" sz="3600" dirty="0">
                    <a:solidFill>
                      <a:schemeClr val="tx1"/>
                    </a:solidFill>
                  </a:rPr>
                  <a:t> er veldig stor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728E01-49F7-4C4E-906F-4202F2DC9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4691"/>
                <a:ext cx="11017250" cy="4782272"/>
              </a:xfrm>
              <a:blipFill>
                <a:blip r:embed="rId3"/>
                <a:stretch>
                  <a:fillRect l="-1328" b="-3699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C5C58-E123-1C3A-AE7C-219FEB094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624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5578-1A7A-2F6A-4A25-87227E47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373" y="66952"/>
            <a:ext cx="10625254" cy="761148"/>
          </a:xfrm>
        </p:spPr>
        <p:txBody>
          <a:bodyPr>
            <a:normAutofit/>
          </a:bodyPr>
          <a:lstStyle/>
          <a:p>
            <a:pPr algn="ctr"/>
            <a:r>
              <a:rPr lang="nb-NO" sz="4000" dirty="0"/>
              <a:t>Eksempel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8DFEBB-82B4-D9AC-E6D4-0CB1EC1CF4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991" y="1126274"/>
                <a:ext cx="11469999" cy="53666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nb-NO" sz="3200" dirty="0">
                    <a:solidFill>
                      <a:schemeClr val="tx1"/>
                    </a:solidFill>
                  </a:rPr>
                  <a:t>Vi kjøper en aksje til kr 100 den 1.januar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nb-NO" sz="3200" dirty="0">
                    <a:solidFill>
                      <a:schemeClr val="tx1"/>
                    </a:solidFill>
                  </a:rPr>
                  <a:t>) og selger den rett over årsskiftet til kr 98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b-NO" sz="3200" dirty="0">
                    <a:solidFill>
                      <a:schemeClr val="tx1"/>
                    </a:solidFill>
                  </a:rPr>
                  <a:t> Vi mottar utbytte på 5 kr. Inflasjon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b-NO" sz="3200" dirty="0">
                    <a:solidFill>
                      <a:schemeClr val="tx1"/>
                    </a:solidFill>
                  </a:rPr>
                  <a:t>) er 3%</a:t>
                </a:r>
              </a:p>
              <a:p>
                <a:pPr marL="0" indent="0">
                  <a:buNone/>
                </a:pPr>
                <a:endParaRPr lang="nb-NO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𝑁𝑜𝑚𝑖𝑛𝑒𝑙𝑙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𝑎𝑣𝑘𝑎𝑠𝑡𝑛𝑖𝑛𝑔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sSub>
                        <m:sSub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nb-NO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kumimoji="0" lang="nb-NO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𝑈𝑡𝑏𝑦𝑡𝑡𝑒</m:t>
                          </m:r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/</m:t>
                          </m:r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𝑔𝑒𝑣𝑖𝑛𝑠𝑡</m:t>
                          </m:r>
                        </m:num>
                        <m:den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nb-NO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nb-NO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nb-NO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98</m:t>
                          </m:r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100</m:t>
                          </m:r>
                        </m:num>
                        <m:den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100</m:t>
                          </m:r>
                        </m:den>
                      </m:f>
                      <m:r>
                        <a:rPr kumimoji="0" lang="nb-NO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</m:t>
                          </m:r>
                        </m:num>
                        <m:den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100</m:t>
                          </m:r>
                        </m:den>
                      </m:f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=3%</m:t>
                      </m:r>
                    </m:oMath>
                  </m:oMathPara>
                </a14:m>
                <a:endParaRPr lang="nb-NO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nb-NO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nb-NO" sz="3200" dirty="0">
                    <a:solidFill>
                      <a:schemeClr val="tx1"/>
                    </a:solidFill>
                  </a:rPr>
                  <a:t>Realavkastning: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nb-NO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nb-NO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nb-NO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kumimoji="0" lang="en-US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sSub>
                      <m:sSubPr>
                        <m:ctrlP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=3%−3%=0</m:t>
                    </m:r>
                  </m:oMath>
                </a14:m>
                <a:r>
                  <a:rPr lang="nb-NO" sz="3200" dirty="0">
                    <a:solidFill>
                      <a:schemeClr val="tx1"/>
                    </a:solidFill>
                  </a:rPr>
                  <a:t>. </a:t>
                </a:r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8DFEBB-82B4-D9AC-E6D4-0CB1EC1CF4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991" y="1126274"/>
                <a:ext cx="11469999" cy="5366600"/>
              </a:xfrm>
              <a:blipFill>
                <a:blip r:embed="rId2"/>
                <a:stretch>
                  <a:fillRect l="-1382" t="-3068" r="-1595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5F991-82AC-A0FC-88BA-FE72C100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15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4665681-AC63-4846-ABB9-5D0F4121C56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82097" y="71921"/>
                <a:ext cx="10515600" cy="1325563"/>
              </a:xfrm>
            </p:spPr>
            <p:txBody>
              <a:bodyPr/>
              <a:lstStyle/>
              <a:p>
                <a:r>
                  <a:rPr lang="nb-NO" sz="3600" dirty="0">
                    <a:solidFill>
                      <a:srgbClr val="FFFF00"/>
                    </a:solidFill>
                    <a:latin typeface="+mn-lt"/>
                  </a:rPr>
                  <a:t>Superprofitt («</a:t>
                </a:r>
                <a:r>
                  <a:rPr lang="nb-NO" sz="3600" dirty="0" err="1">
                    <a:solidFill>
                      <a:srgbClr val="FFFF00"/>
                    </a:solidFill>
                    <a:latin typeface="+mn-lt"/>
                  </a:rPr>
                  <a:t>excess</a:t>
                </a:r>
                <a:r>
                  <a:rPr lang="nb-NO" sz="3600" dirty="0">
                    <a:solidFill>
                      <a:srgbClr val="FFFF00"/>
                    </a:solidFill>
                    <a:latin typeface="+mn-lt"/>
                  </a:rPr>
                  <a:t> </a:t>
                </a:r>
                <a:r>
                  <a:rPr lang="nb-NO" sz="3600" dirty="0" err="1">
                    <a:solidFill>
                      <a:srgbClr val="FFFF00"/>
                    </a:solidFill>
                    <a:latin typeface="+mn-lt"/>
                  </a:rPr>
                  <a:t>return</a:t>
                </a:r>
                <a:r>
                  <a:rPr lang="nb-NO" sz="3600" dirty="0">
                    <a:solidFill>
                      <a:srgbClr val="FFFF00"/>
                    </a:solidFill>
                    <a:latin typeface="+mn-lt"/>
                  </a:rPr>
                  <a:t>»):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𝐸𝑅</m:t>
                        </m:r>
                      </m:e>
                      <m:sub>
                        <m:r>
                          <a:rPr lang="nb-NO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𝑎𝑠𝑠𝑒𝑡</m:t>
                        </m:r>
                      </m:sub>
                    </m:sSub>
                  </m:oMath>
                </a14:m>
                <a:endParaRPr lang="nb-NO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4665681-AC63-4846-ABB9-5D0F4121C5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82097" y="71921"/>
                <a:ext cx="10515600" cy="1325563"/>
              </a:xfrm>
              <a:blipFill>
                <a:blip r:embed="rId2"/>
                <a:stretch>
                  <a:fillRect l="-1797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FBFE4-5FE3-4A23-A57D-B46E30C6C6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8478" y="1690687"/>
                <a:ext cx="11782839" cy="480218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nb-NO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𝐸𝑅</m:t>
                        </m:r>
                      </m:e>
                      <m:sub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𝑎𝑠𝑠𝑒𝑡</m:t>
                        </m:r>
                      </m:sub>
                    </m:sSub>
                    <m:r>
                      <a:rPr lang="nb-NO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𝑎𝑠𝑠𝑒𝑡</m:t>
                        </m:r>
                      </m:sub>
                    </m:sSub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 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,3 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𝑚𝑛𝑑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𝑠𝑡𝑎𝑡𝑠𝑘𝑎𝑠𝑠𝑒𝑣𝑒𝑘𝑠𝑙𝑒𝑟</m:t>
                        </m:r>
                        <m:r>
                          <a:rPr lang="nb-NO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nb-NO" sz="3600" dirty="0">
                  <a:solidFill>
                    <a:schemeClr val="bg1"/>
                  </a:solidFill>
                </a:endParaRPr>
              </a:p>
              <a:p>
                <a:endParaRPr lang="nb-NO" sz="3600" dirty="0">
                  <a:solidFill>
                    <a:schemeClr val="bg1"/>
                  </a:solidFill>
                </a:endParaRPr>
              </a:p>
              <a:p>
                <a:endParaRPr lang="nb-NO" sz="3600" dirty="0">
                  <a:solidFill>
                    <a:schemeClr val="bg1"/>
                  </a:solidFill>
                </a:endParaRPr>
              </a:p>
              <a:p>
                <a:r>
                  <a:rPr lang="nb-NO" sz="3600" dirty="0">
                    <a:solidFill>
                      <a:schemeClr val="bg1"/>
                    </a:solidFill>
                  </a:rPr>
                  <a:t>Vanlig å anta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,3 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𝑚𝑛𝑑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𝑠𝑡𝑎𝑡𝑠𝑘𝑎𝑠𝑠𝑒𝑣𝑒𝑘𝑠𝑙𝑒𝑟</m:t>
                        </m:r>
                        <m:r>
                          <a:rPr lang="nb-NO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er risikofri rente</a:t>
                </a:r>
              </a:p>
              <a:p>
                <a:endParaRPr lang="nb-NO" sz="3600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𝐸𝑅</m:t>
                        </m:r>
                      </m:e>
                      <m:sub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𝑎𝑠𝑠𝑒𝑡</m:t>
                        </m:r>
                      </m:sub>
                    </m:sSub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 er avkastningen vi får ut over risikofri avkastning ofte omtalt som risikopremien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FBFE4-5FE3-4A23-A57D-B46E30C6C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8478" y="1690687"/>
                <a:ext cx="11782839" cy="4802187"/>
              </a:xfrm>
              <a:blipFill>
                <a:blip r:embed="rId3"/>
                <a:stretch>
                  <a:fillRect l="-1449" t="-279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17AECFB-CE98-CDA8-3A72-EA9B28CDED2C}"/>
              </a:ext>
            </a:extLst>
          </p:cNvPr>
          <p:cNvSpPr txBox="1"/>
          <p:nvPr/>
        </p:nvSpPr>
        <p:spPr>
          <a:xfrm>
            <a:off x="2253705" y="2649393"/>
            <a:ext cx="2278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realavkastning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C67F9-D404-865B-8A14-92DE5F665DF2}"/>
              </a:ext>
            </a:extLst>
          </p:cNvPr>
          <p:cNvSpPr txBox="1"/>
          <p:nvPr/>
        </p:nvSpPr>
        <p:spPr>
          <a:xfrm>
            <a:off x="5391569" y="2642895"/>
            <a:ext cx="43440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sikker avkastning (nominell!)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B794526E-2376-0D2C-39E5-9A6E2315EE1E}"/>
              </a:ext>
            </a:extLst>
          </p:cNvPr>
          <p:cNvSpPr/>
          <p:nvPr/>
        </p:nvSpPr>
        <p:spPr>
          <a:xfrm rot="5400000">
            <a:off x="6608661" y="454623"/>
            <a:ext cx="135899" cy="4089952"/>
          </a:xfrm>
          <a:prstGeom prst="rightBrace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F067DAB4-13EB-6AD1-D9A2-B5B0EA019F48}"/>
              </a:ext>
            </a:extLst>
          </p:cNvPr>
          <p:cNvSpPr/>
          <p:nvPr/>
        </p:nvSpPr>
        <p:spPr>
          <a:xfrm rot="5400000">
            <a:off x="3370988" y="1591793"/>
            <a:ext cx="135901" cy="1679714"/>
          </a:xfrm>
          <a:prstGeom prst="rightBrace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53340-EF6D-A091-AF59-17F86A031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347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34B8-D927-319A-347C-201B6645B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Skatt er også makroøkonomi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73A57-616D-0923-13C7-F3D29A081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sz="3200" dirty="0"/>
              <a:t>Konsum er den sterkeste driveren for vekst og påvirker prisveksten</a:t>
            </a:r>
          </a:p>
          <a:p>
            <a:endParaRPr lang="nb-NO" sz="3200" dirty="0"/>
          </a:p>
          <a:p>
            <a:r>
              <a:rPr lang="nb-NO" sz="3200" dirty="0"/>
              <a:t>Sentralbanken prøver å dempe konsumet og prisstigningen ved å senke konsumet gjennom høyere styringsrente</a:t>
            </a:r>
          </a:p>
          <a:p>
            <a:endParaRPr lang="nb-NO" sz="3200" dirty="0"/>
          </a:p>
          <a:p>
            <a:r>
              <a:rPr lang="nb-NO" sz="3200" dirty="0"/>
              <a:t>Skatt påvirker renten og konsumet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76780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EF24-D9C8-6348-6D52-F65F36812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11200"/>
          </a:xfrm>
        </p:spPr>
        <p:txBody>
          <a:bodyPr>
            <a:normAutofit/>
          </a:bodyPr>
          <a:lstStyle/>
          <a:p>
            <a:r>
              <a:rPr lang="nb-NO" sz="3600" dirty="0"/>
              <a:t>Skattlegging påvirker vårt konsum og sparing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7F8068-BE57-4A3A-8346-620762BCE6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5705" y="971550"/>
                <a:ext cx="11551535" cy="5608658"/>
              </a:xfrm>
            </p:spPr>
            <p:txBody>
              <a:bodyPr>
                <a:normAutofit/>
              </a:bodyPr>
              <a:lstStyle/>
              <a:p>
                <a:r>
                  <a:rPr lang="nb-NO" dirty="0"/>
                  <a:t>Når vi låner penger kan vi trekke fra gjeldsrenter mot skattepliktig inntekt.</a:t>
                </a:r>
              </a:p>
              <a:p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𝑅𝑒𝑛𝑡𝑒𝑘𝑜𝑠𝑡𝑛𝑎𝑑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r>
                  <a:rPr lang="nb-NO" dirty="0"/>
                  <a:t>hvor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nb-NO" dirty="0"/>
                  <a:t> er lånerenten og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dirty="0"/>
                  <a:t>er skatten på alminnelig inntekt (22%) </a:t>
                </a:r>
              </a:p>
              <a:p>
                <a:pPr marL="0" indent="0">
                  <a:buNone/>
                </a:pPr>
                <a:endParaRPr lang="nb-NO" dirty="0"/>
              </a:p>
              <a:p>
                <a:r>
                  <a:rPr lang="nb-NO" dirty="0"/>
                  <a:t>Hvis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dirty="0"/>
                  <a:t> har det samme effekt som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dirty="0"/>
                  <a:t>fordi vi får trekke fra en større andel av gjeldsrentene </a:t>
                </a:r>
                <a:r>
                  <a:rPr lang="nb-NO"/>
                  <a:t>når skatten øker.</a:t>
                </a:r>
                <a:endParaRPr lang="nb-NO" dirty="0"/>
              </a:p>
              <a:p>
                <a:endParaRPr lang="nb-NO" dirty="0"/>
              </a:p>
              <a:p>
                <a:r>
                  <a:rPr lang="nb-NO" dirty="0"/>
                  <a:t>Vi rammes ulikt av rente- og skatteøkninger avhengig av om vi er låntaker eller långiver.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7F8068-BE57-4A3A-8346-620762BCE6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5705" y="971550"/>
                <a:ext cx="11551535" cy="5608658"/>
              </a:xfrm>
              <a:blipFill>
                <a:blip r:embed="rId2"/>
                <a:stretch>
                  <a:fillRect l="-1055" t="-1739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7C36A-7055-43EB-098C-E5346BCD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48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24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3350" y="136525"/>
                <a:ext cx="12058650" cy="6584950"/>
              </a:xfrm>
            </p:spPr>
            <p:txBody>
              <a:bodyPr>
                <a:normAutofit/>
              </a:bodyPr>
              <a:lstStyle/>
              <a:p>
                <a:pPr marL="342900" lvl="1" indent="-342900">
                  <a:buFont typeface="Arial" panose="020B0604020202020204" pitchFamily="34" charset="0"/>
                  <a:buChar char="•"/>
                  <a:defRPr/>
                </a:pPr>
                <a:r>
                  <a:rPr lang="nb-NO" altLang="nb-NO" sz="2600" dirty="0"/>
                  <a:t>To-periodemodell med nytte (U) over konsum (</a:t>
                </a:r>
                <a:r>
                  <a:rPr lang="nb-NO" altLang="nb-NO" sz="2600" dirty="0" err="1"/>
                  <a:t>C</a:t>
                </a:r>
                <a:r>
                  <a:rPr lang="nb-NO" altLang="nb-NO" sz="2600" baseline="-25000" dirty="0" err="1"/>
                  <a:t>i</a:t>
                </a:r>
                <a:r>
                  <a:rPr lang="nb-NO" altLang="nb-NO" sz="2600" dirty="0"/>
                  <a:t>): U(C</a:t>
                </a:r>
                <a:r>
                  <a:rPr lang="nb-NO" altLang="nb-NO" sz="2600" baseline="-25000" dirty="0"/>
                  <a:t>1</a:t>
                </a:r>
                <a:r>
                  <a:rPr lang="nb-NO" altLang="nb-NO" sz="2600" dirty="0"/>
                  <a:t>, C</a:t>
                </a:r>
                <a:r>
                  <a:rPr lang="nb-NO" altLang="nb-NO" sz="2600" baseline="-25000" dirty="0"/>
                  <a:t>2</a:t>
                </a:r>
                <a:r>
                  <a:rPr lang="nb-NO" altLang="nb-NO" sz="2600" dirty="0"/>
                  <a:t>)</a:t>
                </a:r>
              </a:p>
              <a:p>
                <a:pPr marL="342900" lvl="1" indent="-342900">
                  <a:defRPr/>
                </a:pPr>
                <a:r>
                  <a:rPr lang="nb-NO" altLang="nb-NO" sz="2600" dirty="0"/>
                  <a:t>Eksogen inntekt (</a:t>
                </a:r>
                <a14:m>
                  <m:oMath xmlns:m="http://schemas.openxmlformats.org/officeDocument/2006/math">
                    <m:r>
                      <a:rPr lang="en-US" altLang="nb-NO" sz="26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nb-NO" altLang="nb-NO" sz="2600" dirty="0"/>
                  <a:t>) i hver periode: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altLang="nb-NO" sz="2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altLang="nb-NO" sz="2600" dirty="0"/>
                  <a:t>og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nb-NO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nb-NO" altLang="nb-NO" sz="2600" dirty="0"/>
                  <a:t>, </a:t>
                </a:r>
              </a:p>
              <a:p>
                <a:pPr marL="342900" lvl="1" indent="-342900">
                  <a:defRPr/>
                </a:pPr>
                <a14:m>
                  <m:oMath xmlns:m="http://schemas.openxmlformats.org/officeDocument/2006/math">
                    <m:r>
                      <a:rPr lang="nb-NO" altLang="nb-NO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nb-NO" altLang="nb-NO" sz="2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altLang="nb-NO" sz="2600" dirty="0"/>
                  <a:t> = sparing og </a:t>
                </a:r>
                <a14:m>
                  <m:oMath xmlns:m="http://schemas.openxmlformats.org/officeDocument/2006/math">
                    <m:r>
                      <a:rPr lang="en-US" altLang="nb-NO" sz="26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nb-NO" altLang="nb-NO" sz="2600" dirty="0"/>
                  <a:t> =rente</a:t>
                </a:r>
              </a:p>
              <a:p>
                <a:pPr marL="0" indent="0">
                  <a:buNone/>
                  <a:defRPr/>
                </a:pPr>
                <a:endParaRPr lang="nb-NO" altLang="nb-NO" dirty="0"/>
              </a:p>
              <a:p>
                <a:pPr>
                  <a:defRPr/>
                </a:pPr>
                <a:r>
                  <a:rPr lang="nb-NO" altLang="nb-NO" dirty="0"/>
                  <a:t>Budsjettbetingelser:</a:t>
                </a:r>
              </a:p>
              <a:p>
                <a:pPr lvl="1">
                  <a:defRPr/>
                </a:pPr>
                <a:r>
                  <a:rPr lang="nb-NO" altLang="nb-NO" sz="2600" dirty="0"/>
                  <a:t>Periode 1;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altLang="nb-NO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altLang="nb-NO" sz="2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nb-NO" altLang="nb-NO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nb-NO" altLang="nb-NO" sz="2600" i="1">
                        <a:latin typeface="Cambria Math" panose="02040503050406030204" pitchFamily="18" charset="0"/>
                      </a:rPr>
                      <m:t>    →   </m:t>
                    </m:r>
                    <m:r>
                      <a:rPr lang="nb-NO" altLang="nb-NO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nb-NO" altLang="nb-NO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altLang="nb-NO" sz="2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nb-NO" altLang="nb-NO" sz="2600" dirty="0"/>
              </a:p>
              <a:p>
                <a:pPr lvl="1">
                  <a:defRPr/>
                </a:pPr>
                <a:r>
                  <a:rPr lang="nb-NO" altLang="nb-NO" sz="2600" dirty="0"/>
                  <a:t>Periode 2: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altLang="nb-NO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altLang="nb-NO" sz="2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b-NO" altLang="nb-NO" sz="26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altLang="nb-NO" sz="2600" i="1" dirty="0">
                  <a:latin typeface="Cambria Math" panose="02040503050406030204" pitchFamily="18" charset="0"/>
                </a:endParaRPr>
              </a:p>
              <a:p>
                <a:pPr lvl="1">
                  <a:defRPr/>
                </a:pPr>
                <a:endParaRPr lang="en-US" altLang="nb-NO" sz="2600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nb-NO" altLang="nb-NO" dirty="0"/>
                  <a:t>Slår vi de to budsjettbetingelsene sammen har vi: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b-NO" b="0" i="1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altLang="nb-NO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alt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altLang="nb-NO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b-NO" alt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altLang="nb-NO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b-NO" alt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altLang="nb-NO" i="1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nb-NO" alt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nb-NO" altLang="nb-NO" dirty="0"/>
              </a:p>
              <a:p>
                <a:pPr>
                  <a:defRPr/>
                </a:pPr>
                <a:endParaRPr lang="nb-NO" altLang="nb-NO" dirty="0"/>
              </a:p>
              <a:p>
                <a:pPr>
                  <a:defRPr/>
                </a:pPr>
                <a:r>
                  <a:rPr lang="nb-NO" altLang="nb-NO" dirty="0"/>
                  <a:t>Vi skulle skrevet </a:t>
                </a:r>
                <a14:m>
                  <m:oMath xmlns:m="http://schemas.openxmlformats.org/officeDocument/2006/math">
                    <m:r>
                      <a:rPr lang="en-US" altLang="nb-NO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altLang="nb-N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b-NO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nb-NO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nb-NO" altLang="nb-NO" dirty="0"/>
                  <a:t> siden vi må betale skatt på renteinntekt. Men </a:t>
                </a:r>
                <a14:m>
                  <m:oMath xmlns:m="http://schemas.openxmlformats.org/officeDocument/2006/math">
                    <m:r>
                      <a:rPr lang="en-US" altLang="nb-NO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alt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nb-NO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nb-NO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nb-N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alt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å</m:t>
                    </m:r>
                    <m:r>
                      <a:rPr lang="en-US" alt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alt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𝑜𝑔</m:t>
                    </m:r>
                    <m:r>
                      <a:rPr lang="en-US" alt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 .</m:t>
                    </m:r>
                  </m:oMath>
                </a14:m>
                <a:r>
                  <a:rPr lang="nb-NO" altLang="nb-NO" dirty="0"/>
                  <a:t> Vi kan analysere virkningen av lavere skatt ved å se på hva som skjer når </a:t>
                </a:r>
                <a14:m>
                  <m:oMath xmlns:m="http://schemas.openxmlformats.org/officeDocument/2006/math">
                    <m:r>
                      <a:rPr lang="en-US" alt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å</m:t>
                    </m:r>
                    <m:r>
                      <a:rPr lang="en-US" alt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nb-NO" altLang="nb-NO" dirty="0"/>
              </a:p>
            </p:txBody>
          </p:sp>
        </mc:Choice>
        <mc:Fallback>
          <p:sp>
            <p:nvSpPr>
              <p:cNvPr id="1024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350" y="136525"/>
                <a:ext cx="12058650" cy="6584950"/>
              </a:xfrm>
              <a:blipFill>
                <a:blip r:embed="rId3"/>
                <a:stretch>
                  <a:fillRect l="-910" t="-1388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C97E69-9997-4FEC-BA07-BBB9DFAE0AD4}" type="slidenum">
              <a:rPr lang="nb-NO" altLang="nb-N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nb-NO" altLang="nb-NO" sz="1200">
              <a:solidFill>
                <a:srgbClr val="898989"/>
              </a:solidFill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44D6CC4F-B8C7-8DB0-C949-98C72551F0C2}"/>
              </a:ext>
            </a:extLst>
          </p:cNvPr>
          <p:cNvSpPr/>
          <p:nvPr/>
        </p:nvSpPr>
        <p:spPr>
          <a:xfrm rot="5400000">
            <a:off x="9844226" y="3140476"/>
            <a:ext cx="275948" cy="577048"/>
          </a:xfrm>
          <a:prstGeom prst="lef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2A2508-C4BC-9D38-221E-97904244F457}"/>
                  </a:ext>
                </a:extLst>
              </p:cNvPr>
              <p:cNvSpPr txBox="1"/>
              <p:nvPr/>
            </p:nvSpPr>
            <p:spPr>
              <a:xfrm>
                <a:off x="9788076" y="2846328"/>
                <a:ext cx="388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nb-NO" sz="2000" b="1" i="1" smtClean="0"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nb-NO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2A2508-C4BC-9D38-221E-97904244F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8076" y="2846328"/>
                <a:ext cx="388247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2525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3107"/>
    </mc:Choice>
    <mc:Fallback xmlns="">
      <p:transition spd="slow" advTm="253107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E11D5D-0045-2550-5538-F50E420EBD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36525"/>
                <a:ext cx="11049000" cy="636145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nb-NO" altLang="nb-NO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𝑜𝑔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r>
                  <a:rPr lang="nb-NO" dirty="0"/>
                  <a:t>La oss nå substituere budsjettbetingelsen for konsum i periode 1 inn i budsjettbetingelsen for konsum i periode 2</a:t>
                </a:r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b-NO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nb-NO" dirty="0"/>
              </a:p>
              <a:p>
                <a:pPr marL="0" indent="0" algn="ctr">
                  <a:buNone/>
                </a:pPr>
                <a:endParaRPr lang="nb-NO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nb-NO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sSub>
                        <m:sSubPr>
                          <m:ctrlP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b-NO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  <a:p>
                <a:pPr marL="0" indent="0" algn="ctr">
                  <a:buNone/>
                </a:pPr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r>
                  <a:rPr lang="nb-NO" dirty="0"/>
                  <a:t>Hvis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b-NO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&lt;0 </m:t>
                    </m:r>
                  </m:oMath>
                </a14:m>
                <a:r>
                  <a:rPr lang="nb-NO" dirty="0"/>
                  <a:t>er sparingen negativ (låntaker) og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nb-NO" dirty="0"/>
                  <a:t>o</a:t>
                </a:r>
              </a:p>
              <a:p>
                <a:pPr marL="0" indent="0">
                  <a:buNone/>
                </a:pPr>
                <a:r>
                  <a:rPr lang="nb-NO" dirty="0"/>
                  <a:t>Hvis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b-NO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b-NO" dirty="0"/>
                  <a:t> er individet långiver (rentenist)</a:t>
                </a:r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E11D5D-0045-2550-5538-F50E420EBD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36525"/>
                <a:ext cx="11049000" cy="6361458"/>
              </a:xfrm>
              <a:blipFill>
                <a:blip r:embed="rId2"/>
                <a:stretch>
                  <a:fillRect l="-1103" b="-134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D6EAC-85D0-A6C0-5C5E-E34DD14E9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45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22DECD-358A-DE7A-3765-7CD012B4D35A}"/>
              </a:ext>
            </a:extLst>
          </p:cNvPr>
          <p:cNvCxnSpPr>
            <a:cxnSpLocks/>
          </p:cNvCxnSpPr>
          <p:nvPr/>
        </p:nvCxnSpPr>
        <p:spPr>
          <a:xfrm flipH="1">
            <a:off x="4631123" y="2588591"/>
            <a:ext cx="1743173" cy="5698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ight Brace 8">
            <a:extLst>
              <a:ext uri="{FF2B5EF4-FFF2-40B4-BE49-F238E27FC236}">
                <a16:creationId xmlns:a16="http://schemas.microsoft.com/office/drawing/2014/main" id="{74F47781-0E23-C524-8CC2-6AB985E08EB7}"/>
              </a:ext>
            </a:extLst>
          </p:cNvPr>
          <p:cNvSpPr/>
          <p:nvPr/>
        </p:nvSpPr>
        <p:spPr>
          <a:xfrm rot="5400000">
            <a:off x="5219699" y="3867150"/>
            <a:ext cx="371476" cy="1819275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6D2FF8-100D-0A22-B5F0-04CD5102AD4B}"/>
              </a:ext>
            </a:extLst>
          </p:cNvPr>
          <p:cNvSpPr txBox="1"/>
          <p:nvPr/>
        </p:nvSpPr>
        <p:spPr>
          <a:xfrm>
            <a:off x="4692966" y="4962526"/>
            <a:ext cx="2968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Konstantledd eksogen inntekt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4CBCB0-48F1-F4AF-A652-C6D68B9A6803}"/>
              </a:ext>
            </a:extLst>
          </p:cNvPr>
          <p:cNvCxnSpPr>
            <a:cxnSpLocks/>
          </p:cNvCxnSpPr>
          <p:nvPr/>
        </p:nvCxnSpPr>
        <p:spPr>
          <a:xfrm>
            <a:off x="6630504" y="2805043"/>
            <a:ext cx="485913" cy="4505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1564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155E5E-02CD-B418-F8A0-34111047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46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0DC6B-EAA4-320E-72B8-23234DAC01E1}"/>
                  </a:ext>
                </a:extLst>
              </p:cNvPr>
              <p:cNvSpPr txBox="1"/>
              <p:nvPr/>
            </p:nvSpPr>
            <p:spPr>
              <a:xfrm>
                <a:off x="2105025" y="354848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nb-NO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nb-NO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nb-NO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nb-NO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  <m:sub>
                          <m:r>
                            <a:rPr kumimoji="0" lang="nb-NO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nb-NO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nb-NO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nb-NO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  <m:sub>
                          <m:r>
                            <a:rPr kumimoji="0" lang="nb-NO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0" lang="nb-NO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nb-NO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nb-NO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</m:d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d>
                        <m:dPr>
                          <m:ctrlPr>
                            <a:rPr kumimoji="0" lang="nb-NO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nb-NO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nb-NO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</m:d>
                      <m:sSub>
                        <m:sSubPr>
                          <m:ctrlPr>
                            <a:rPr kumimoji="0" lang="nb-NO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nb-NO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  <m:sub>
                          <m:r>
                            <a:rPr kumimoji="0" lang="nb-NO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0DC6B-EAA4-320E-72B8-23234DAC0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025" y="354848"/>
                <a:ext cx="60960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00CE0E-9461-EEA0-E6A8-6A7886DD2E29}"/>
                  </a:ext>
                </a:extLst>
              </p:cNvPr>
              <p:cNvSpPr txBox="1"/>
              <p:nvPr/>
            </p:nvSpPr>
            <p:spPr>
              <a:xfrm>
                <a:off x="161925" y="1657350"/>
                <a:ext cx="118300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b-NO" sz="2400" dirty="0"/>
                  <a:t>Dere har sett funksjoner på formen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𝑏𝑥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;  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𝑙𝑖𝑔𝑛𝑖𝑛𝑔𝑒𝑛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𝑜𝑣𝑒𝑟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𝑒𝑟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𝑙𝑖𝑘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𝑜𝑔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𝑒𝑟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nb-NO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−(1+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nb-NO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b-NO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nb-NO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00CE0E-9461-EEA0-E6A8-6A7886DD2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5" y="1657350"/>
                <a:ext cx="11830050" cy="830997"/>
              </a:xfrm>
              <a:prstGeom prst="rect">
                <a:avLst/>
              </a:prstGeom>
              <a:blipFill>
                <a:blip r:embed="rId3"/>
                <a:stretch>
                  <a:fillRect l="-825" t="-5882" b="-9559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Brace 7">
            <a:extLst>
              <a:ext uri="{FF2B5EF4-FFF2-40B4-BE49-F238E27FC236}">
                <a16:creationId xmlns:a16="http://schemas.microsoft.com/office/drawing/2014/main" id="{50CB4F84-3F8C-ED8B-A54F-D1A6FDCAFEB7}"/>
              </a:ext>
            </a:extLst>
          </p:cNvPr>
          <p:cNvSpPr/>
          <p:nvPr/>
        </p:nvSpPr>
        <p:spPr>
          <a:xfrm rot="5400000">
            <a:off x="4410074" y="172334"/>
            <a:ext cx="371476" cy="1819275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D9F205-3E20-8DE0-4CC6-0223A7B69C27}"/>
              </a:ext>
            </a:extLst>
          </p:cNvPr>
          <p:cNvSpPr txBox="1"/>
          <p:nvPr/>
        </p:nvSpPr>
        <p:spPr>
          <a:xfrm>
            <a:off x="3883341" y="1288018"/>
            <a:ext cx="142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Konstantledd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74B3BA-5603-F355-1220-3F7B76689CA8}"/>
              </a:ext>
            </a:extLst>
          </p:cNvPr>
          <p:cNvCxnSpPr/>
          <p:nvPr/>
        </p:nvCxnSpPr>
        <p:spPr>
          <a:xfrm>
            <a:off x="2314575" y="2981325"/>
            <a:ext cx="0" cy="2609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F142B2-98BC-1743-E69C-79502B4E42F0}"/>
              </a:ext>
            </a:extLst>
          </p:cNvPr>
          <p:cNvCxnSpPr>
            <a:cxnSpLocks/>
          </p:cNvCxnSpPr>
          <p:nvPr/>
        </p:nvCxnSpPr>
        <p:spPr>
          <a:xfrm flipH="1">
            <a:off x="2314575" y="5591175"/>
            <a:ext cx="41243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D2DD823-F55E-4752-7368-C30CC7FFDD9D}"/>
                  </a:ext>
                </a:extLst>
              </p:cNvPr>
              <p:cNvSpPr txBox="1"/>
              <p:nvPr/>
            </p:nvSpPr>
            <p:spPr>
              <a:xfrm>
                <a:off x="6334125" y="5360342"/>
                <a:ext cx="76199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b-NO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D2DD823-F55E-4752-7368-C30CC7FFD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125" y="5360342"/>
                <a:ext cx="761999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71C77C-6198-6619-F098-772F16A236FC}"/>
                  </a:ext>
                </a:extLst>
              </p:cNvPr>
              <p:cNvSpPr txBox="1"/>
              <p:nvPr/>
            </p:nvSpPr>
            <p:spPr>
              <a:xfrm rot="10984138" flipV="1">
                <a:off x="1997636" y="2519662"/>
                <a:ext cx="304799" cy="461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nb-NO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nb-NO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71C77C-6198-6619-F098-772F16A23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984138" flipV="1">
                <a:off x="1997636" y="2519662"/>
                <a:ext cx="304799" cy="461664"/>
              </a:xfrm>
              <a:prstGeom prst="rect">
                <a:avLst/>
              </a:prstGeom>
              <a:blipFill>
                <a:blip r:embed="rId5"/>
                <a:stretch>
                  <a:fillRect l="-3636" r="-41818" b="-1266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9A4E9B-9497-BA38-B6E3-8C5F34718206}"/>
              </a:ext>
            </a:extLst>
          </p:cNvPr>
          <p:cNvCxnSpPr>
            <a:cxnSpLocks/>
          </p:cNvCxnSpPr>
          <p:nvPr/>
        </p:nvCxnSpPr>
        <p:spPr>
          <a:xfrm>
            <a:off x="2314573" y="3822916"/>
            <a:ext cx="3638552" cy="176825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4C8557C-DA4F-04F0-619A-D254C8E96123}"/>
                  </a:ext>
                </a:extLst>
              </p:cNvPr>
              <p:cNvSpPr txBox="1"/>
              <p:nvPr/>
            </p:nvSpPr>
            <p:spPr>
              <a:xfrm>
                <a:off x="3790950" y="3096780"/>
                <a:ext cx="8611496" cy="104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normalizeH="0" baseline="0" noProof="0" smtClean="0">
                          <a:ln w="0"/>
                          <a:solidFill>
                            <a:srgbClr val="FF000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kumimoji="0" lang="nb-NO" sz="2400" i="1" u="none" strike="noStrike" kern="1200" normalizeH="0" baseline="0" noProof="0">
                              <a:ln w="0"/>
                              <a:solidFill>
                                <a:srgbClr val="FF0000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nb-NO" sz="2400" b="0" i="1" u="none" strike="noStrike" kern="1200" normalizeH="0" baseline="0" noProof="0">
                              <a:ln w="0"/>
                              <a:solidFill>
                                <a:srgbClr val="FF0000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kumimoji="0" lang="nb-NO" sz="2400" b="0" i="1" u="none" strike="noStrike" kern="1200" normalizeH="0" baseline="0" noProof="0">
                              <a:ln w="0"/>
                              <a:solidFill>
                                <a:srgbClr val="FF0000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kumimoji="0" lang="en-US" sz="2400" b="0" i="1" u="none" strike="noStrike" kern="1200" normalizeH="0" baseline="0" noProof="0" smtClean="0">
                          <a:ln w="0"/>
                          <a:solidFill>
                            <a:srgbClr val="FF000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en-US" sz="2400" b="0" i="1" u="none" strike="noStrike" kern="1200" normalizeH="0" baseline="0" noProof="0" smtClean="0">
                          <a:ln w="0"/>
                          <a:solidFill>
                            <a:srgbClr val="FF000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</a:rPr>
                        <m:t>𝑎𝑛𝑔𝑖𝑟</m:t>
                      </m:r>
                      <m:r>
                        <a:rPr kumimoji="0" lang="en-US" sz="2400" b="0" i="1" u="none" strike="noStrike" kern="1200" normalizeH="0" baseline="0" noProof="0" smtClean="0">
                          <a:ln w="0"/>
                          <a:solidFill>
                            <a:srgbClr val="FF000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en-US" sz="2400" b="0" i="1" u="none" strike="noStrike" kern="1200" normalizeH="0" baseline="0" noProof="0" smtClean="0">
                          <a:ln w="0"/>
                          <a:solidFill>
                            <a:srgbClr val="FF000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</a:rPr>
                        <m:t>h𝑒𝑙𝑙𝑛𝑖𝑛𝑔𝑒𝑛</m:t>
                      </m:r>
                      <m:r>
                        <a:rPr kumimoji="0" lang="en-US" sz="2400" b="0" i="1" u="none" strike="noStrike" kern="1200" normalizeH="0" baseline="0" noProof="0" smtClean="0">
                          <a:ln w="0"/>
                          <a:solidFill>
                            <a:srgbClr val="FF000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en-US" sz="2400" b="0" i="1" u="none" strike="noStrike" kern="1200" normalizeH="0" baseline="0" noProof="0" smtClean="0">
                          <a:ln w="0"/>
                          <a:solidFill>
                            <a:srgbClr val="FF000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0" lang="en-US" sz="2400" b="0" i="1" u="none" strike="noStrike" kern="1200" normalizeH="0" baseline="0" noProof="0" smtClean="0">
                          <a:ln w="0"/>
                          <a:solidFill>
                            <a:srgbClr val="FF000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</a:rPr>
                        <m:t>å </m:t>
                      </m:r>
                      <m:r>
                        <a:rPr kumimoji="0" lang="en-US" sz="2400" b="0" i="1" u="none" strike="noStrike" kern="1200" normalizeH="0" baseline="0" noProof="0" smtClean="0">
                          <a:ln w="0"/>
                          <a:solidFill>
                            <a:srgbClr val="FF000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</a:rPr>
                        <m:t>𝑏𝑢𝑑𝑠𝑗𝑒𝑡𝑡𝑙𝑖𝑛𝑗𝑒𝑛</m:t>
                      </m:r>
                      <m:r>
                        <a:rPr kumimoji="0" lang="en-US" sz="2400" b="0" i="1" u="none" strike="noStrike" kern="1200" normalizeH="0" baseline="0" noProof="0" smtClean="0">
                          <a:ln w="0"/>
                          <a:solidFill>
                            <a:srgbClr val="FF000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kumimoji="0" lang="en-US" sz="2400" b="0" i="1" u="none" strike="noStrike" kern="1200" normalizeH="0" baseline="0" noProof="0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</a:rPr>
                        <m:t>h𝑣𝑖𝑠</m:t>
                      </m:r>
                    </m:oMath>
                  </m:oMathPara>
                </a14:m>
                <a:endParaRPr lang="nb-NO" sz="14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400" b="0" i="1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å</m:t>
                      </m:r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𝑜𝑝𝑝</m:t>
                      </m:r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𝑏𝑙𝑖𝑟</m:t>
                      </m:r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𝑏𝑢𝑑𝑠𝑗𝑒𝑡𝑡𝑙𝑖𝑛𝑒𝑛</m:t>
                      </m:r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𝑚𝑒𝑟</m:t>
                      </m:r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𝑛𝑒𝑔𝑎𝑡𝑖𝑣</m:t>
                      </m:r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 smtClean="0">
                              <a:ln w="0"/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n w="0"/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𝑏𝑟𝑎𝑡𝑡𝑒𝑟𝑒</m:t>
                          </m:r>
                        </m:e>
                      </m:d>
                      <m:r>
                        <a:rPr lang="en-US" sz="2400" b="0" i="1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  <a:p>
                <a:pPr/>
                <a:endParaRPr lang="nb-NO" sz="140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4C8557C-DA4F-04F0-619A-D254C8E96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950" y="3096780"/>
                <a:ext cx="8611496" cy="10464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C385DE-2207-BC11-2166-D590094B9803}"/>
                  </a:ext>
                </a:extLst>
              </p:cNvPr>
              <p:cNvSpPr txBox="1"/>
              <p:nvPr/>
            </p:nvSpPr>
            <p:spPr>
              <a:xfrm>
                <a:off x="3790950" y="5622301"/>
                <a:ext cx="5334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nb-NO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  <m:sub>
                          <m:r>
                            <a:rPr kumimoji="0" lang="nb-NO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C385DE-2207-BC11-2166-D590094B9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950" y="5622301"/>
                <a:ext cx="533400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CED8CE4-3914-A9EF-A3BF-BF54DD49EAFD}"/>
                  </a:ext>
                </a:extLst>
              </p:cNvPr>
              <p:cNvSpPr txBox="1"/>
              <p:nvPr/>
            </p:nvSpPr>
            <p:spPr>
              <a:xfrm>
                <a:off x="1781174" y="4374754"/>
                <a:ext cx="5334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nb-NO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CED8CE4-3914-A9EF-A3BF-BF54DD49E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174" y="4374754"/>
                <a:ext cx="533400" cy="461665"/>
              </a:xfrm>
              <a:prstGeom prst="rect">
                <a:avLst/>
              </a:prstGeom>
              <a:blipFill>
                <a:blip r:embed="rId8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D43D0E4-3CFF-6342-ABF5-82603FC5AB0B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314574" y="4605587"/>
            <a:ext cx="16664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A697853-456F-FF3B-16CF-76C3409E9AE3}"/>
              </a:ext>
            </a:extLst>
          </p:cNvPr>
          <p:cNvCxnSpPr/>
          <p:nvPr/>
        </p:nvCxnSpPr>
        <p:spPr>
          <a:xfrm>
            <a:off x="3981024" y="4605586"/>
            <a:ext cx="0" cy="9855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93464B0-2398-52EF-B7E6-C9A56A1BF806}"/>
              </a:ext>
            </a:extLst>
          </p:cNvPr>
          <p:cNvCxnSpPr>
            <a:cxnSpLocks/>
          </p:cNvCxnSpPr>
          <p:nvPr/>
        </p:nvCxnSpPr>
        <p:spPr>
          <a:xfrm flipH="1" flipV="1">
            <a:off x="2314572" y="3088943"/>
            <a:ext cx="2736307" cy="250223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C7778D-0C51-B5E8-2E87-AABED586E355}"/>
              </a:ext>
            </a:extLst>
          </p:cNvPr>
          <p:cNvCxnSpPr>
            <a:cxnSpLocks/>
          </p:cNvCxnSpPr>
          <p:nvPr/>
        </p:nvCxnSpPr>
        <p:spPr>
          <a:xfrm flipV="1">
            <a:off x="2556681" y="3591652"/>
            <a:ext cx="290775" cy="28886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B8A8005-EFFD-1C0B-66DE-E57BCB092A56}"/>
              </a:ext>
            </a:extLst>
          </p:cNvPr>
          <p:cNvSpPr txBox="1"/>
          <p:nvPr/>
        </p:nvSpPr>
        <p:spPr>
          <a:xfrm>
            <a:off x="5153025" y="4164105"/>
            <a:ext cx="65425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Når renten øker er det det samme som at skatten </a:t>
            </a:r>
          </a:p>
          <a:p>
            <a:r>
              <a:rPr lang="nb-NO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faller (rentefradraget blir mindre)</a:t>
            </a:r>
            <a:endParaRPr lang="nb-NO" sz="1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nb-N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7FADA70-D176-0DFF-DE5C-02CF853492E6}"/>
                  </a:ext>
                </a:extLst>
              </p:cNvPr>
              <p:cNvSpPr txBox="1"/>
              <p:nvPr/>
            </p:nvSpPr>
            <p:spPr>
              <a:xfrm>
                <a:off x="591402" y="6179867"/>
                <a:ext cx="10183301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b-NO" sz="2400" dirty="0"/>
                  <a:t>Hvis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𝑒𝑟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nb-NO" sz="2400" dirty="0"/>
                  <a:t> og individet låner ikke. Nyttefunksjon tangerer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b-NO" sz="2400" dirty="0"/>
              </a:p>
              <a:p>
                <a:endParaRPr lang="nb-NO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7FADA70-D176-0DFF-DE5C-02CF85349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02" y="6179867"/>
                <a:ext cx="10183301" cy="738664"/>
              </a:xfrm>
              <a:prstGeom prst="rect">
                <a:avLst/>
              </a:prstGeom>
              <a:blipFill>
                <a:blip r:embed="rId9"/>
                <a:stretch>
                  <a:fillRect l="-898" t="-661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c 32">
            <a:extLst>
              <a:ext uri="{FF2B5EF4-FFF2-40B4-BE49-F238E27FC236}">
                <a16:creationId xmlns:a16="http://schemas.microsoft.com/office/drawing/2014/main" id="{BE9DF4B5-9BBB-D030-7B71-3DDA1FB21ADF}"/>
              </a:ext>
            </a:extLst>
          </p:cNvPr>
          <p:cNvSpPr/>
          <p:nvPr/>
        </p:nvSpPr>
        <p:spPr>
          <a:xfrm rot="9484078">
            <a:off x="3514231" y="2442673"/>
            <a:ext cx="2311016" cy="2371187"/>
          </a:xfrm>
          <a:prstGeom prst="arc">
            <a:avLst>
              <a:gd name="adj1" fmla="val 17021998"/>
              <a:gd name="adj2" fmla="val 71394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33796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1" grpId="0"/>
      <p:bldP spid="3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ED947-A5FA-D227-A37D-C88340B56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1EC9D7-CB19-17DB-8206-09C98F9D64B1}"/>
              </a:ext>
            </a:extLst>
          </p:cNvPr>
          <p:cNvCxnSpPr/>
          <p:nvPr/>
        </p:nvCxnSpPr>
        <p:spPr>
          <a:xfrm>
            <a:off x="2235495" y="1489461"/>
            <a:ext cx="0" cy="50403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7CE9BD-389C-E3A7-43D4-02B520CEBBCF}"/>
              </a:ext>
            </a:extLst>
          </p:cNvPr>
          <p:cNvCxnSpPr/>
          <p:nvPr/>
        </p:nvCxnSpPr>
        <p:spPr>
          <a:xfrm>
            <a:off x="2225969" y="6501198"/>
            <a:ext cx="525621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DEDB54B-B92B-C36A-5C2D-C0C23C00068D}"/>
              </a:ext>
            </a:extLst>
          </p:cNvPr>
          <p:cNvCxnSpPr/>
          <p:nvPr/>
        </p:nvCxnSpPr>
        <p:spPr>
          <a:xfrm>
            <a:off x="2225970" y="3116648"/>
            <a:ext cx="4967287" cy="33845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D76ECE-063A-470B-8F6A-3555DAC117A1}"/>
              </a:ext>
            </a:extLst>
          </p:cNvPr>
          <p:cNvCxnSpPr/>
          <p:nvPr/>
        </p:nvCxnSpPr>
        <p:spPr>
          <a:xfrm>
            <a:off x="4313531" y="4558098"/>
            <a:ext cx="0" cy="194310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CF0C55-5517-084A-2A12-7E5119DF8F51}"/>
              </a:ext>
            </a:extLst>
          </p:cNvPr>
          <p:cNvCxnSpPr/>
          <p:nvPr/>
        </p:nvCxnSpPr>
        <p:spPr>
          <a:xfrm flipH="1">
            <a:off x="2225969" y="4558098"/>
            <a:ext cx="2087562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3">
            <a:extLst>
              <a:ext uri="{FF2B5EF4-FFF2-40B4-BE49-F238E27FC236}">
                <a16:creationId xmlns:a16="http://schemas.microsoft.com/office/drawing/2014/main" id="{01A8DA66-5AEA-8753-113A-981DA42B1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632" y="4404112"/>
            <a:ext cx="423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>
                <a:latin typeface="Arial" panose="020B0604020202020204" pitchFamily="34" charset="0"/>
              </a:rPr>
              <a:t>Y</a:t>
            </a:r>
            <a:r>
              <a:rPr lang="nb-NO" altLang="nb-NO" sz="1800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7AA70B8C-68FA-37AB-CFA9-2006AE440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8595" y="6491673"/>
            <a:ext cx="422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>
                <a:latin typeface="Arial" panose="020B0604020202020204" pitchFamily="34" charset="0"/>
              </a:rPr>
              <a:t>Y</a:t>
            </a:r>
            <a:r>
              <a:rPr lang="nb-NO" altLang="nb-NO" sz="1800" baseline="-25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927EA97-FADF-2DDF-8104-AD3E42B20005}"/>
              </a:ext>
            </a:extLst>
          </p:cNvPr>
          <p:cNvSpPr/>
          <p:nvPr/>
        </p:nvSpPr>
        <p:spPr>
          <a:xfrm>
            <a:off x="4267812" y="4558097"/>
            <a:ext cx="135511" cy="671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2E4BA7-C07C-0DEB-6489-054131022473}"/>
              </a:ext>
            </a:extLst>
          </p:cNvPr>
          <p:cNvCxnSpPr>
            <a:cxnSpLocks/>
          </p:cNvCxnSpPr>
          <p:nvPr/>
        </p:nvCxnSpPr>
        <p:spPr>
          <a:xfrm>
            <a:off x="2245020" y="1642369"/>
            <a:ext cx="3471686" cy="4887404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587496B-B5DF-63E8-4858-189A23020D61}"/>
              </a:ext>
            </a:extLst>
          </p:cNvPr>
          <p:cNvCxnSpPr/>
          <p:nvPr/>
        </p:nvCxnSpPr>
        <p:spPr>
          <a:xfrm flipV="1">
            <a:off x="2722150" y="2911076"/>
            <a:ext cx="340646" cy="5119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7338D01-D4E6-1ACC-77A9-CAE2BC999C85}"/>
                  </a:ext>
                </a:extLst>
              </p:cNvPr>
              <p:cNvSpPr txBox="1"/>
              <p:nvPr/>
            </p:nvSpPr>
            <p:spPr>
              <a:xfrm>
                <a:off x="7529819" y="6345107"/>
                <a:ext cx="4017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altLang="nb-NO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altLang="nb-NO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b-NO" altLang="nb-NO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nb-NO" sz="1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E0BA71F-DE2A-1745-EE0A-BF6229867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9819" y="6345107"/>
                <a:ext cx="40171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31732E-F4E4-145A-A747-E664596B0287}"/>
                  </a:ext>
                </a:extLst>
              </p:cNvPr>
              <p:cNvSpPr txBox="1"/>
              <p:nvPr/>
            </p:nvSpPr>
            <p:spPr>
              <a:xfrm>
                <a:off x="4762732" y="6488668"/>
                <a:ext cx="4017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nb-NO" altLang="nb-NO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nb-NO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nb-NO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nb-NO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171592-352F-BA4B-23F3-EF55800F9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732" y="6488668"/>
                <a:ext cx="40171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58CDCA3C-5F4E-4318-1EB3-E27A7F8C3838}"/>
              </a:ext>
            </a:extLst>
          </p:cNvPr>
          <p:cNvSpPr txBox="1"/>
          <p:nvPr/>
        </p:nvSpPr>
        <p:spPr>
          <a:xfrm>
            <a:off x="4915250" y="3429000"/>
            <a:ext cx="68633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dirty="0"/>
              <a:t>Stiger renten blir budsjettlinjen (blå linje) brattere og erstattet av en ny rød budsjettlinje. Hvor tilpasser vi oss nå?</a:t>
            </a:r>
            <a:endParaRPr lang="nb-NO" dirty="0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5A0FE9E3-66E0-1460-2AC9-1232795E1F23}"/>
              </a:ext>
            </a:extLst>
          </p:cNvPr>
          <p:cNvSpPr/>
          <p:nvPr/>
        </p:nvSpPr>
        <p:spPr>
          <a:xfrm rot="10956742">
            <a:off x="4541094" y="3154337"/>
            <a:ext cx="2520950" cy="2087563"/>
          </a:xfrm>
          <a:prstGeom prst="arc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nb-NO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C69202D-86B3-39A5-180C-E44183EAB7C0}"/>
              </a:ext>
            </a:extLst>
          </p:cNvPr>
          <p:cNvCxnSpPr/>
          <p:nvPr/>
        </p:nvCxnSpPr>
        <p:spPr>
          <a:xfrm flipH="1">
            <a:off x="2245020" y="4927107"/>
            <a:ext cx="266433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804F73B-F9FC-9EE1-BE70-9B249A046EED}"/>
                  </a:ext>
                </a:extLst>
              </p:cNvPr>
              <p:cNvSpPr txBox="1"/>
              <p:nvPr/>
            </p:nvSpPr>
            <p:spPr>
              <a:xfrm>
                <a:off x="1695894" y="4742441"/>
                <a:ext cx="401713" cy="375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nb-NO" altLang="nb-NO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nb-NO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nb-NO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nb-NO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88EBF4F-8218-34F2-9500-134DF73E4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5894" y="4742441"/>
                <a:ext cx="401713" cy="3754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DAE2688-33C4-9BA1-C53A-F3F06B9B8F0B}"/>
                  </a:ext>
                </a:extLst>
              </p:cNvPr>
              <p:cNvSpPr txBox="1"/>
              <p:nvPr/>
            </p:nvSpPr>
            <p:spPr>
              <a:xfrm>
                <a:off x="1941726" y="1103873"/>
                <a:ext cx="4017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altLang="nb-NO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altLang="nb-NO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nb-NO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nb-NO" sz="1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6C75F9B-BA00-4874-4496-491F7F2C7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726" y="1103873"/>
                <a:ext cx="40171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32">
            <a:extLst>
              <a:ext uri="{FF2B5EF4-FFF2-40B4-BE49-F238E27FC236}">
                <a16:creationId xmlns:a16="http://schemas.microsoft.com/office/drawing/2014/main" id="{7D418231-93F8-4EB3-BF09-4B8582DDC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4022" y="4528645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 b="1" dirty="0">
                <a:solidFill>
                  <a:srgbClr val="0070C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D19380E-1A91-48BF-4B0F-1ADA1DDE771F}"/>
              </a:ext>
            </a:extLst>
          </p:cNvPr>
          <p:cNvSpPr/>
          <p:nvPr/>
        </p:nvSpPr>
        <p:spPr>
          <a:xfrm>
            <a:off x="4890750" y="4808923"/>
            <a:ext cx="45719" cy="187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77095CA-8A30-1CF0-20CE-551443C3A1B4}"/>
              </a:ext>
            </a:extLst>
          </p:cNvPr>
          <p:cNvCxnSpPr>
            <a:cxnSpLocks/>
            <a:stCxn id="51" idx="6"/>
            <a:endCxn id="30" idx="0"/>
          </p:cNvCxnSpPr>
          <p:nvPr/>
        </p:nvCxnSpPr>
        <p:spPr>
          <a:xfrm>
            <a:off x="4936469" y="4902863"/>
            <a:ext cx="27120" cy="15858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805BEF-0485-723F-C649-C91CCF200DF9}"/>
                  </a:ext>
                </a:extLst>
              </p:cNvPr>
              <p:cNvSpPr txBox="1"/>
              <p:nvPr/>
            </p:nvSpPr>
            <p:spPr>
              <a:xfrm>
                <a:off x="1242168" y="19928"/>
                <a:ext cx="10415352" cy="12319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b-NO" sz="2400" dirty="0"/>
                  <a:t>Anta et individ som er låntaker: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nb-NO" sz="2400" dirty="0"/>
                  <a:t> og at renten stiger. Individet har valgt</a:t>
                </a:r>
              </a:p>
              <a:p>
                <a:r>
                  <a:rPr lang="nb-NO" sz="2400" dirty="0"/>
                  <a:t>Tilpasningen A. Hva skjer nå? Når renten stiger (rentefradraget faller) blir individet</a:t>
                </a:r>
              </a:p>
              <a:p>
                <a:r>
                  <a:rPr lang="nb-NO" sz="2400" dirty="0"/>
                  <a:t>Fattigere </a:t>
                </a:r>
                <a:r>
                  <a:rPr lang="nb-NO" sz="2400" dirty="0" err="1"/>
                  <a:t>oghavner</a:t>
                </a:r>
                <a:r>
                  <a:rPr lang="nb-NO" sz="2400" dirty="0"/>
                  <a:t> på et lavere nyttenivå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b-NO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b-NO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805BEF-0485-723F-C649-C91CCF200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168" y="19928"/>
                <a:ext cx="10415352" cy="1231940"/>
              </a:xfrm>
              <a:prstGeom prst="rect">
                <a:avLst/>
              </a:prstGeom>
              <a:blipFill>
                <a:blip r:embed="rId9"/>
                <a:stretch>
                  <a:fillRect l="-937" t="-3960" b="-792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1CC2B4-589B-6900-C102-3E66F9D79F61}"/>
                  </a:ext>
                </a:extLst>
              </p:cNvPr>
              <p:cNvSpPr txBox="1"/>
              <p:nvPr/>
            </p:nvSpPr>
            <p:spPr>
              <a:xfrm>
                <a:off x="5506393" y="4910612"/>
                <a:ext cx="1212468" cy="52437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b-NO" sz="2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</m:oMath>
                  </m:oMathPara>
                </a14:m>
                <a:endParaRPr lang="nb-NO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1CC2B4-589B-6900-C102-3E66F9D79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393" y="4910612"/>
                <a:ext cx="1212468" cy="52437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01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/>
      <p:bldP spid="33" grpId="0" animBg="1"/>
      <p:bldP spid="47" grpId="0"/>
      <p:bldP spid="49" grpId="0"/>
      <p:bldP spid="5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AD1C56-0036-4229-B0CF-48A482621346}" type="slidenum">
              <a:rPr lang="nb-NO" altLang="nb-N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nb-NO" altLang="nb-NO" sz="1200">
              <a:solidFill>
                <a:srgbClr val="898989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2208213" y="1052513"/>
            <a:ext cx="0" cy="50403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208213" y="6092825"/>
            <a:ext cx="525621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208214" y="2708275"/>
            <a:ext cx="4967287" cy="338455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295775" y="4149725"/>
            <a:ext cx="0" cy="194310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2208213" y="4149725"/>
            <a:ext cx="208756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8" name="TextBox 13"/>
          <p:cNvSpPr txBox="1">
            <a:spLocks noChangeArrowheads="1"/>
          </p:cNvSpPr>
          <p:nvPr/>
        </p:nvSpPr>
        <p:spPr bwMode="auto">
          <a:xfrm>
            <a:off x="1793876" y="3995739"/>
            <a:ext cx="423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>
                <a:latin typeface="Arial" panose="020B0604020202020204" pitchFamily="34" charset="0"/>
              </a:rPr>
              <a:t>Y</a:t>
            </a:r>
            <a:r>
              <a:rPr lang="nb-NO" altLang="nb-NO" sz="1800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249" name="TextBox 14"/>
          <p:cNvSpPr txBox="1">
            <a:spLocks noChangeArrowheads="1"/>
          </p:cNvSpPr>
          <p:nvPr/>
        </p:nvSpPr>
        <p:spPr bwMode="auto">
          <a:xfrm>
            <a:off x="4160839" y="6083300"/>
            <a:ext cx="422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>
                <a:latin typeface="Arial" panose="020B0604020202020204" pitchFamily="34" charset="0"/>
              </a:rPr>
              <a:t>Y</a:t>
            </a:r>
            <a:r>
              <a:rPr lang="nb-NO" altLang="nb-NO" sz="1800" baseline="-25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8" name="Arc 17"/>
          <p:cNvSpPr/>
          <p:nvPr/>
        </p:nvSpPr>
        <p:spPr>
          <a:xfrm rot="10956742">
            <a:off x="4897438" y="3013076"/>
            <a:ext cx="2520950" cy="2087563"/>
          </a:xfrm>
          <a:prstGeom prst="arc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nb-NO"/>
          </a:p>
        </p:txBody>
      </p:sp>
      <p:sp>
        <p:nvSpPr>
          <p:cNvPr id="10251" name="TextBox 18"/>
          <p:cNvSpPr txBox="1">
            <a:spLocks noChangeArrowheads="1"/>
          </p:cNvSpPr>
          <p:nvPr/>
        </p:nvSpPr>
        <p:spPr bwMode="auto">
          <a:xfrm>
            <a:off x="1828801" y="620714"/>
            <a:ext cx="434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>
                <a:latin typeface="Arial" panose="020B0604020202020204" pitchFamily="34" charset="0"/>
              </a:rPr>
              <a:t>C</a:t>
            </a:r>
            <a:r>
              <a:rPr lang="nb-NO" altLang="nb-NO" sz="1800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252" name="TextBox 19"/>
          <p:cNvSpPr txBox="1">
            <a:spLocks noChangeArrowheads="1"/>
          </p:cNvSpPr>
          <p:nvPr/>
        </p:nvSpPr>
        <p:spPr bwMode="auto">
          <a:xfrm>
            <a:off x="7196138" y="6121400"/>
            <a:ext cx="4365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 dirty="0">
                <a:latin typeface="Arial" panose="020B0604020202020204" pitchFamily="34" charset="0"/>
              </a:rPr>
              <a:t>C</a:t>
            </a:r>
            <a:r>
              <a:rPr lang="nb-NO" altLang="nb-NO" sz="1800" baseline="-25000" dirty="0">
                <a:latin typeface="Arial" panose="020B0604020202020204" pitchFamily="34" charset="0"/>
              </a:rPr>
              <a:t>1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5375275" y="4908550"/>
            <a:ext cx="0" cy="11747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2208214" y="4868863"/>
            <a:ext cx="3170237" cy="63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211388" y="1268413"/>
            <a:ext cx="3524250" cy="483076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8" name="TextBox 32"/>
          <p:cNvSpPr txBox="1">
            <a:spLocks noChangeArrowheads="1"/>
          </p:cNvSpPr>
          <p:nvPr/>
        </p:nvSpPr>
        <p:spPr bwMode="auto">
          <a:xfrm>
            <a:off x="5378450" y="4581525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 b="1" dirty="0">
                <a:solidFill>
                  <a:srgbClr val="0070C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4650642" y="1728930"/>
            <a:ext cx="721880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2200" b="1" dirty="0">
                <a:latin typeface="Arial" panose="020B0604020202020204" pitchFamily="34" charset="0"/>
              </a:rPr>
              <a:t>B</a:t>
            </a:r>
            <a:r>
              <a:rPr lang="nb-NO" altLang="nb-NO" sz="2200" dirty="0">
                <a:latin typeface="Arial" panose="020B0604020202020204" pitchFamily="34" charset="0"/>
              </a:rPr>
              <a:t> → </a:t>
            </a:r>
            <a:r>
              <a:rPr lang="nb-NO" altLang="nb-NO" sz="2200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nb-NO" altLang="nb-NO" sz="2200" dirty="0">
                <a:latin typeface="Arial" panose="020B0604020202020204" pitchFamily="34" charset="0"/>
              </a:rPr>
              <a:t>; Inntektseffekten. Siden (Y</a:t>
            </a:r>
            <a:r>
              <a:rPr lang="nb-NO" altLang="nb-NO" sz="2200" baseline="-25000" dirty="0">
                <a:latin typeface="Arial" panose="020B0604020202020204" pitchFamily="34" charset="0"/>
              </a:rPr>
              <a:t>1 </a:t>
            </a:r>
            <a:r>
              <a:rPr lang="nb-NO" altLang="nb-NO" sz="2200" dirty="0">
                <a:latin typeface="Arial" panose="020B0604020202020204" pitchFamily="34" charset="0"/>
              </a:rPr>
              <a:t>- C</a:t>
            </a:r>
            <a:r>
              <a:rPr lang="nb-NO" altLang="nb-NO" sz="2200" baseline="-25000" dirty="0">
                <a:latin typeface="Arial" panose="020B0604020202020204" pitchFamily="34" charset="0"/>
              </a:rPr>
              <a:t>1</a:t>
            </a:r>
            <a:r>
              <a:rPr lang="nb-NO" altLang="nb-NO" sz="2200" dirty="0">
                <a:latin typeface="Arial" panose="020B0604020202020204" pitchFamily="34" charset="0"/>
              </a:rPr>
              <a:t>) &lt; 0 →   C</a:t>
            </a:r>
            <a:r>
              <a:rPr lang="nb-NO" altLang="nb-NO" sz="2200" baseline="-25000" dirty="0">
                <a:latin typeface="Arial" panose="020B0604020202020204" pitchFamily="34" charset="0"/>
              </a:rPr>
              <a:t>1</a:t>
            </a:r>
            <a:r>
              <a:rPr lang="nb-NO" altLang="nb-NO" sz="2200" dirty="0">
                <a:latin typeface="Arial" panose="020B0604020202020204" pitchFamily="34" charset="0"/>
              </a:rPr>
              <a:t>↓</a:t>
            </a:r>
            <a:r>
              <a:rPr lang="nb-NO" altLang="nb-NO" sz="1800" dirty="0">
                <a:latin typeface="Arial" panose="020B0604020202020204" pitchFamily="34" charset="0"/>
              </a:rPr>
              <a:t>	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2787651" y="1420814"/>
            <a:ext cx="3370263" cy="4662487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5043489" y="4346575"/>
            <a:ext cx="350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 b="1" dirty="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39" name="Arc 38"/>
          <p:cNvSpPr/>
          <p:nvPr/>
        </p:nvSpPr>
        <p:spPr>
          <a:xfrm rot="10956742">
            <a:off x="4630738" y="3228976"/>
            <a:ext cx="2519362" cy="2087563"/>
          </a:xfrm>
          <a:prstGeom prst="arc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nb-NO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547144" y="4902994"/>
            <a:ext cx="3508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 b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872038" y="4868863"/>
            <a:ext cx="0" cy="122396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302931" y="4759267"/>
            <a:ext cx="91395" cy="1267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nb-NO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571907" y="1061673"/>
            <a:ext cx="194316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b-NO" sz="2200" dirty="0">
                <a:solidFill>
                  <a:srgbClr val="FF0000"/>
                </a:solidFill>
                <a:latin typeface="Arial" panose="020B0604020202020204" pitchFamily="34" charset="0"/>
              </a:rPr>
              <a:t>Renten </a:t>
            </a:r>
            <a:r>
              <a:rPr lang="en-US" altLang="nb-NO" sz="2200" dirty="0" err="1">
                <a:solidFill>
                  <a:srgbClr val="FF0000"/>
                </a:solidFill>
                <a:latin typeface="Arial" panose="020B0604020202020204" pitchFamily="34" charset="0"/>
              </a:rPr>
              <a:t>stiger</a:t>
            </a:r>
            <a:r>
              <a:rPr lang="en-US" altLang="nb-NO" sz="2200" dirty="0">
                <a:solidFill>
                  <a:srgbClr val="FF0000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6478473" y="1061673"/>
            <a:ext cx="52434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2200" b="1" dirty="0">
                <a:solidFill>
                  <a:srgbClr val="0070C0"/>
                </a:solidFill>
                <a:latin typeface="Arial" panose="020B0604020202020204" pitchFamily="34" charset="0"/>
              </a:rPr>
              <a:t>A</a:t>
            </a:r>
            <a:r>
              <a:rPr lang="nb-NO" altLang="nb-NO" sz="2200" dirty="0">
                <a:latin typeface="Arial" panose="020B0604020202020204" pitchFamily="34" charset="0"/>
              </a:rPr>
              <a:t> → </a:t>
            </a:r>
            <a:r>
              <a:rPr lang="nb-NO" altLang="nb-NO" sz="2200" b="1" dirty="0">
                <a:latin typeface="Arial" panose="020B0604020202020204" pitchFamily="34" charset="0"/>
              </a:rPr>
              <a:t>B</a:t>
            </a:r>
            <a:r>
              <a:rPr lang="nb-NO" altLang="nb-NO" sz="2200" dirty="0">
                <a:latin typeface="Arial" panose="020B0604020202020204" pitchFamily="34" charset="0"/>
              </a:rPr>
              <a:t> angir substitusjonseffekten; C</a:t>
            </a:r>
            <a:r>
              <a:rPr lang="nb-NO" altLang="nb-NO" sz="2200" baseline="-25000" dirty="0">
                <a:latin typeface="Arial" panose="020B0604020202020204" pitchFamily="34" charset="0"/>
              </a:rPr>
              <a:t>1</a:t>
            </a:r>
            <a:r>
              <a:rPr lang="nb-NO" altLang="nb-NO" sz="2200" dirty="0">
                <a:latin typeface="Arial" panose="020B0604020202020204" pitchFamily="34" charset="0"/>
              </a:rPr>
              <a:t>↓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b-NO" sz="18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kstSylinder 1">
                <a:extLst>
                  <a:ext uri="{FF2B5EF4-FFF2-40B4-BE49-F238E27FC236}">
                    <a16:creationId xmlns:a16="http://schemas.microsoft.com/office/drawing/2014/main" id="{4E998271-6306-4D6A-998C-422D03F6578F}"/>
                  </a:ext>
                </a:extLst>
              </p:cNvPr>
              <p:cNvSpPr txBox="1"/>
              <p:nvPr/>
            </p:nvSpPr>
            <p:spPr>
              <a:xfrm>
                <a:off x="5106123" y="2279122"/>
                <a:ext cx="7030021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b-NO" sz="2200" dirty="0">
                    <a:solidFill>
                      <a:schemeClr val="tx1"/>
                    </a:solidFill>
                  </a:rPr>
                  <a:t>For en låntaker går substitusjons- og inntektseffekten i samme retning. Når renten øker blir vi fattigere og reduserer konsumet. Slik vi har tegnet det endres ikke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b-NO" altLang="nb-N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b-NO" altLang="nb-N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altLang="nb-N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nb-NO" altLang="nb-N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nb-NO" sz="2200" dirty="0">
                    <a:solidFill>
                      <a:schemeClr val="tx1"/>
                    </a:solidFill>
                  </a:rPr>
                  <a:t> men det kan tenkes at økt rente (eller økt skatt) også reduserer konsumet i periode 2. </a:t>
                </a: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2" name="TekstSylinder 1">
                <a:extLst>
                  <a:ext uri="{FF2B5EF4-FFF2-40B4-BE49-F238E27FC236}">
                    <a16:creationId xmlns:a16="http://schemas.microsoft.com/office/drawing/2014/main" id="{4E998271-6306-4D6A-998C-422D03F65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123" y="2279122"/>
                <a:ext cx="7030021" cy="2062103"/>
              </a:xfrm>
              <a:prstGeom prst="rect">
                <a:avLst/>
              </a:prstGeom>
              <a:blipFill>
                <a:blip r:embed="rId4"/>
                <a:stretch>
                  <a:fillRect l="-1127" t="-207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9">
                <a:extLst>
                  <a:ext uri="{FF2B5EF4-FFF2-40B4-BE49-F238E27FC236}">
                    <a16:creationId xmlns:a16="http://schemas.microsoft.com/office/drawing/2014/main" id="{80BCD4DB-C42E-2A22-69A8-808224AECB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1494" y="6081125"/>
                <a:ext cx="470642" cy="362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nb-NO" altLang="nb-NO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nb-NO" altLang="nb-NO" sz="1800" baseline="-250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extBox 19">
                <a:extLst>
                  <a:ext uri="{FF2B5EF4-FFF2-40B4-BE49-F238E27FC236}">
                    <a16:creationId xmlns:a16="http://schemas.microsoft.com/office/drawing/2014/main" id="{80BCD4DB-C42E-2A22-69A8-808224AEC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494" y="6081125"/>
                <a:ext cx="470642" cy="362984"/>
              </a:xfrm>
              <a:prstGeom prst="rect">
                <a:avLst/>
              </a:prstGeom>
              <a:blipFill>
                <a:blip r:embed="rId10"/>
                <a:stretch>
                  <a:fillRect b="-50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19">
                <a:extLst>
                  <a:ext uri="{FF2B5EF4-FFF2-40B4-BE49-F238E27FC236}">
                    <a16:creationId xmlns:a16="http://schemas.microsoft.com/office/drawing/2014/main" id="{FB421254-0FC4-F3A3-0B99-46CF04694E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0642" y="6070083"/>
                <a:ext cx="552395" cy="362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nb-NO" altLang="nb-NO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nb-NO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nb-NO" altLang="nb-NO" sz="1800" baseline="-250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extBox 19">
                <a:extLst>
                  <a:ext uri="{FF2B5EF4-FFF2-40B4-BE49-F238E27FC236}">
                    <a16:creationId xmlns:a16="http://schemas.microsoft.com/office/drawing/2014/main" id="{FB421254-0FC4-F3A3-0B99-46CF04694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0642" y="6070083"/>
                <a:ext cx="552395" cy="362984"/>
              </a:xfrm>
              <a:prstGeom prst="rect">
                <a:avLst/>
              </a:prstGeom>
              <a:blipFill>
                <a:blip r:embed="rId11"/>
                <a:stretch>
                  <a:fillRect b="-50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19">
                <a:extLst>
                  <a:ext uri="{FF2B5EF4-FFF2-40B4-BE49-F238E27FC236}">
                    <a16:creationId xmlns:a16="http://schemas.microsoft.com/office/drawing/2014/main" id="{D80AC0C0-9A58-BC9B-F3BA-7854F906C2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4588" y="4664256"/>
                <a:ext cx="470642" cy="363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nb-NO" altLang="nb-NO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nb-NO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nb-NO" altLang="nb-NO" sz="1800" baseline="-250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extBox 19">
                <a:extLst>
                  <a:ext uri="{FF2B5EF4-FFF2-40B4-BE49-F238E27FC236}">
                    <a16:creationId xmlns:a16="http://schemas.microsoft.com/office/drawing/2014/main" id="{D80AC0C0-9A58-BC9B-F3BA-7854F906C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4588" y="4664256"/>
                <a:ext cx="470642" cy="363176"/>
              </a:xfrm>
              <a:prstGeom prst="rect">
                <a:avLst/>
              </a:prstGeom>
              <a:blipFill>
                <a:blip r:embed="rId12"/>
                <a:stretch>
                  <a:fillRect b="-3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F8B1205D-93A9-E795-FF01-8F4B0076240E}"/>
              </a:ext>
            </a:extLst>
          </p:cNvPr>
          <p:cNvSpPr/>
          <p:nvPr/>
        </p:nvSpPr>
        <p:spPr>
          <a:xfrm>
            <a:off x="5043489" y="4581525"/>
            <a:ext cx="104889" cy="8273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38D8409-A084-E4D9-FEC7-DDE9FA76A1A3}"/>
              </a:ext>
            </a:extLst>
          </p:cNvPr>
          <p:cNvSpPr/>
          <p:nvPr/>
        </p:nvSpPr>
        <p:spPr>
          <a:xfrm>
            <a:off x="4844824" y="4857822"/>
            <a:ext cx="45719" cy="4571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83D6DA-DFE8-5ABA-7A3F-87C0F35B87FE}"/>
                  </a:ext>
                </a:extLst>
              </p:cNvPr>
              <p:cNvSpPr txBox="1"/>
              <p:nvPr/>
            </p:nvSpPr>
            <p:spPr>
              <a:xfrm>
                <a:off x="6139177" y="4816191"/>
                <a:ext cx="588649" cy="468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b-NO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p>
                    </m:oMath>
                  </m:oMathPara>
                </a14:m>
                <a:endParaRPr lang="nb-NO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83D6DA-DFE8-5ABA-7A3F-87C0F35B8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177" y="4816191"/>
                <a:ext cx="588649" cy="4689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DC3E12-8CAB-7940-0F7A-933C708B824F}"/>
                  </a:ext>
                </a:extLst>
              </p:cNvPr>
              <p:cNvSpPr txBox="1"/>
              <p:nvPr/>
            </p:nvSpPr>
            <p:spPr>
              <a:xfrm>
                <a:off x="5667192" y="5237733"/>
                <a:ext cx="712118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b-NO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lang="nb-NO" b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DC3E12-8CAB-7940-0F7A-933C708B8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192" y="5237733"/>
                <a:ext cx="712118" cy="470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188FE8-BF88-AB59-91C2-14CFFD1296D1}"/>
                  </a:ext>
                </a:extLst>
              </p:cNvPr>
              <p:cNvSpPr txBox="1"/>
              <p:nvPr/>
            </p:nvSpPr>
            <p:spPr>
              <a:xfrm>
                <a:off x="7271884" y="4438224"/>
                <a:ext cx="2072283" cy="524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b-NO" sz="2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nb-NO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nb-NO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188FE8-BF88-AB59-91C2-14CFFD129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884" y="4438224"/>
                <a:ext cx="2072283" cy="5246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56026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4004"/>
    </mc:Choice>
    <mc:Fallback xmlns="">
      <p:transition spd="slow" advTm="4040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7" grpId="0"/>
      <p:bldP spid="39" grpId="0" animBg="1"/>
      <p:bldP spid="40" grpId="0"/>
      <p:bldP spid="13" grpId="0"/>
      <p:bldP spid="23" grpId="0"/>
      <p:bldP spid="2" grpId="0"/>
      <p:bldP spid="21" grpId="0"/>
      <p:bldP spid="22" grpId="0"/>
      <p:bldP spid="33" grpId="0" animBg="1"/>
      <p:bldP spid="35" grpId="0" animBg="1"/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89264-9ED6-0276-2A1F-5CFA3D9D2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194"/>
          </a:xfrm>
        </p:spPr>
        <p:txBody>
          <a:bodyPr>
            <a:normAutofit/>
          </a:bodyPr>
          <a:lstStyle/>
          <a:p>
            <a:r>
              <a:rPr lang="nb-NO" sz="3200" dirty="0"/>
              <a:t>Virkningen av en renteendring kan utledes teoretisk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EBB0C-4974-F034-4B46-BA9D9100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EFB1-CF9F-D14D-8CB9-93A761515641}" type="slidenum">
              <a:rPr lang="en-US" smtClean="0"/>
              <a:t>49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51F49A-8211-87E6-C1ED-A05FB0C7A0D4}"/>
                  </a:ext>
                </a:extLst>
              </p:cNvPr>
              <p:cNvSpPr txBox="1"/>
              <p:nvPr/>
            </p:nvSpPr>
            <p:spPr>
              <a:xfrm>
                <a:off x="407483" y="4262447"/>
                <a:ext cx="8298740" cy="635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b-NO" sz="2400" dirty="0"/>
                  <a:t>Låntaker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nb-NO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    </m:t>
                    </m:r>
                  </m:oMath>
                </a14:m>
                <a:endParaRPr lang="nb-NO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51F49A-8211-87E6-C1ED-A05FB0C7A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83" y="4262447"/>
                <a:ext cx="8298740" cy="635367"/>
              </a:xfrm>
              <a:prstGeom prst="rect">
                <a:avLst/>
              </a:prstGeom>
              <a:blipFill>
                <a:blip r:embed="rId2"/>
                <a:stretch>
                  <a:fillRect l="-1176" b="-9615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1B1ACB-BCF6-72F7-0E28-42811492D1FC}"/>
                  </a:ext>
                </a:extLst>
              </p:cNvPr>
              <p:cNvSpPr txBox="1"/>
              <p:nvPr/>
            </p:nvSpPr>
            <p:spPr>
              <a:xfrm>
                <a:off x="450850" y="5534735"/>
                <a:ext cx="11741150" cy="1004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b-NO" sz="2400" dirty="0"/>
                  <a:t>Långiver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nb-NO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 </m:t>
                    </m:r>
                  </m:oMath>
                </a14:m>
                <a:r>
                  <a:rPr lang="nb-NO" sz="2400" dirty="0"/>
                  <a:t> Inntektseffekten har motsatt fortegn av substitusjonseffekten</a:t>
                </a:r>
              </a:p>
              <a:p>
                <a:r>
                  <a:rPr lang="nb-NO" sz="2400" dirty="0"/>
                  <a:t>				Usikkert hva totaleffekten er; kan gi økt eller mindre konsum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1B1ACB-BCF6-72F7-0E28-42811492D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50" y="5534735"/>
                <a:ext cx="11741150" cy="1004699"/>
              </a:xfrm>
              <a:prstGeom prst="rect">
                <a:avLst/>
              </a:prstGeom>
              <a:blipFill>
                <a:blip r:embed="rId3"/>
                <a:stretch>
                  <a:fillRect l="-831" b="-12727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F8AB10-4F24-87AB-BF17-4D6E00DEAF1B}"/>
                  </a:ext>
                </a:extLst>
              </p:cNvPr>
              <p:cNvSpPr txBox="1"/>
              <p:nvPr/>
            </p:nvSpPr>
            <p:spPr>
              <a:xfrm>
                <a:off x="450850" y="2851966"/>
                <a:ext cx="6013441" cy="6937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err="1">
                    <a:ea typeface="Cambria Math" panose="02040503050406030204" pitchFamily="18" charset="0"/>
                  </a:rPr>
                  <a:t>Slutskyligningen</a:t>
                </a:r>
                <a:r>
                  <a:rPr lang="en-US" sz="2400" dirty="0">
                    <a:ea typeface="Cambria Math" panose="02040503050406030204" pitchFamily="18" charset="0"/>
                  </a:rPr>
                  <a:t>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nb-NO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nb-NO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</m:sSub>
                  </m:oMath>
                </a14:m>
                <a:endParaRPr lang="nb-NO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F8AB10-4F24-87AB-BF17-4D6E00DEA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50" y="2851966"/>
                <a:ext cx="6013441" cy="693716"/>
              </a:xfrm>
              <a:prstGeom prst="rect">
                <a:avLst/>
              </a:prstGeom>
              <a:blipFill>
                <a:blip r:embed="rId4"/>
                <a:stretch>
                  <a:fillRect l="-1623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2">
            <a:extLst>
              <a:ext uri="{FF2B5EF4-FFF2-40B4-BE49-F238E27FC236}">
                <a16:creationId xmlns:a16="http://schemas.microsoft.com/office/drawing/2014/main" id="{09272719-E18D-6F7A-CB8B-E8D37E8413A2}"/>
              </a:ext>
            </a:extLst>
          </p:cNvPr>
          <p:cNvSpPr/>
          <p:nvPr/>
        </p:nvSpPr>
        <p:spPr>
          <a:xfrm rot="16200000">
            <a:off x="4083424" y="2172659"/>
            <a:ext cx="358588" cy="98611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9C45C-E70B-23DE-4808-20307F91434A}"/>
              </a:ext>
            </a:extLst>
          </p:cNvPr>
          <p:cNvSpPr txBox="1"/>
          <p:nvPr/>
        </p:nvSpPr>
        <p:spPr>
          <a:xfrm>
            <a:off x="3321424" y="2141084"/>
            <a:ext cx="2048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solidFill>
                  <a:srgbClr val="00B0F0"/>
                </a:solidFill>
              </a:rPr>
              <a:t>Inntektseffekten +/-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4BD12053-CBEB-7A92-5529-D892E604E08E}"/>
              </a:ext>
            </a:extLst>
          </p:cNvPr>
          <p:cNvSpPr/>
          <p:nvPr/>
        </p:nvSpPr>
        <p:spPr>
          <a:xfrm rot="16200000">
            <a:off x="5271514" y="3443637"/>
            <a:ext cx="197223" cy="470647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F88999-2194-3207-93B5-FE52A28EEAA4}"/>
              </a:ext>
            </a:extLst>
          </p:cNvPr>
          <p:cNvSpPr txBox="1"/>
          <p:nvPr/>
        </p:nvSpPr>
        <p:spPr>
          <a:xfrm>
            <a:off x="4493826" y="3759321"/>
            <a:ext cx="2467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solidFill>
                  <a:srgbClr val="FF0000"/>
                </a:solidFill>
              </a:rPr>
              <a:t>Substitusjonseffekten (-)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CF7949-C524-976F-00C5-47EF3195FF25}"/>
              </a:ext>
            </a:extLst>
          </p:cNvPr>
          <p:cNvSpPr txBox="1"/>
          <p:nvPr/>
        </p:nvSpPr>
        <p:spPr>
          <a:xfrm>
            <a:off x="4598894" y="4355739"/>
            <a:ext cx="74605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dirty="0"/>
              <a:t>Substitusjons- og inntektseffekt begge negative. Redusert etterspørsel i dag når renten går opp (skatten ned). </a:t>
            </a:r>
          </a:p>
        </p:txBody>
      </p:sp>
    </p:spTree>
    <p:extLst>
      <p:ext uri="{BB962C8B-B14F-4D97-AF65-F5344CB8AC3E}">
        <p14:creationId xmlns:p14="http://schemas.microsoft.com/office/powerpoint/2010/main" val="12346960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448B5E1-EAAA-781E-98F6-76C63659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583"/>
            <a:ext cx="10515600" cy="717951"/>
          </a:xfrm>
        </p:spPr>
        <p:txBody>
          <a:bodyPr>
            <a:normAutofit/>
          </a:bodyPr>
          <a:lstStyle/>
          <a:p>
            <a:r>
              <a:rPr lang="nb-NO" sz="3600" b="1" dirty="0"/>
              <a:t>Renteendringer og boligpriser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9617130-F051-0CD3-1232-DE592630D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48522"/>
            <a:ext cx="10956235" cy="5261113"/>
          </a:xfrm>
        </p:spPr>
        <p:txBody>
          <a:bodyPr>
            <a:noAutofit/>
          </a:bodyPr>
          <a:lstStyle/>
          <a:p>
            <a:r>
              <a:rPr lang="nb-NO" sz="3200" dirty="0"/>
              <a:t>Fra teorimodellen over følger det at makrobildet består av låntakere og långivere. </a:t>
            </a:r>
          </a:p>
          <a:p>
            <a:endParaRPr lang="nb-NO" sz="3200" dirty="0"/>
          </a:p>
          <a:p>
            <a:r>
              <a:rPr lang="nb-NO" sz="3200" dirty="0"/>
              <a:t>Sammensetningen av låntakere og långivere har betydning for hva som skjer med</a:t>
            </a:r>
          </a:p>
          <a:p>
            <a:endParaRPr lang="nb-NO" sz="3200" dirty="0"/>
          </a:p>
          <a:p>
            <a:pPr lvl="1">
              <a:buFont typeface="Calibri" panose="020F0502020204030204" pitchFamily="34" charset="0"/>
              <a:buChar char="→"/>
            </a:pPr>
            <a:r>
              <a:rPr lang="nb-NO" sz="3600" dirty="0"/>
              <a:t>Farten i økonomien</a:t>
            </a:r>
          </a:p>
          <a:p>
            <a:pPr marL="457200" lvl="1" indent="0">
              <a:buNone/>
            </a:pPr>
            <a:endParaRPr lang="nb-NO" sz="3600" dirty="0"/>
          </a:p>
          <a:p>
            <a:pPr lvl="1">
              <a:buFont typeface="Calibri" panose="020F0502020204030204" pitchFamily="34" charset="0"/>
              <a:buChar char="→"/>
            </a:pPr>
            <a:r>
              <a:rPr lang="nb-NO" sz="3600" dirty="0"/>
              <a:t>Farten i boligmarkedet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1BAF8BAD-3657-BEB5-2015-87F496EF2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EFB1-CF9F-D14D-8CB9-93A76151564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2626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1|46|1.5|7|102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6.1|62.5|60|44.9|71.3"/>
</p:tagLst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20091</TotalTime>
  <Words>2796</Words>
  <Application>Microsoft Office PowerPoint</Application>
  <PresentationFormat>Widescreen</PresentationFormat>
  <Paragraphs>440</Paragraphs>
  <Slides>50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Aptos</vt:lpstr>
      <vt:lpstr>Arial</vt:lpstr>
      <vt:lpstr>Calibri</vt:lpstr>
      <vt:lpstr>Calibri Light</vt:lpstr>
      <vt:lpstr>Cambria Math</vt:lpstr>
      <vt:lpstr>Office-tema</vt:lpstr>
      <vt:lpstr>1_Office-tema</vt:lpstr>
      <vt:lpstr>Office Theme</vt:lpstr>
      <vt:lpstr> FIE 432 Personlig økonomi Forelesning 2</vt:lpstr>
      <vt:lpstr>Hva er realavkastningen på ulike aktiva  </vt:lpstr>
      <vt:lpstr>To sentrale spørsmål</vt:lpstr>
      <vt:lpstr>PowerPoint Presentation</vt:lpstr>
      <vt:lpstr>Vi kan oppsummere forrige slide slik:</vt:lpstr>
      <vt:lpstr>Børsnoterte vs ikke-børsnoterte aksjer</vt:lpstr>
      <vt:lpstr>Den skattemessige fordelen ved å eie unoterte aksjer</vt:lpstr>
      <vt:lpstr>PowerPoint Presentation</vt:lpstr>
      <vt:lpstr>PowerPoint Presentation</vt:lpstr>
      <vt:lpstr>Forskningsspørsmålene i artikkelen er</vt:lpstr>
      <vt:lpstr>Jordà et al. (2019); 1870-2015 (i)</vt:lpstr>
      <vt:lpstr>PowerPoint Presentation</vt:lpstr>
      <vt:lpstr>Jordà et al. (2019); ); 1870-2015 (ii)</vt:lpstr>
      <vt:lpstr>Jordà et al. (2019);  (iii); hovedfunn 1870-2015</vt:lpstr>
      <vt:lpstr>PowerPoint Presentation</vt:lpstr>
      <vt:lpstr>PowerPoint Presentation</vt:lpstr>
      <vt:lpstr>PowerPoint Presentation</vt:lpstr>
      <vt:lpstr>PowerPoint Presentation</vt:lpstr>
      <vt:lpstr>Aksjer dårligere enn eiendom frem til 1950, mens aksjer litt bedre etter 1950</vt:lpstr>
      <vt:lpstr>PowerPoint Presentation</vt:lpstr>
      <vt:lpstr>PowerPoint Presentation</vt:lpstr>
      <vt:lpstr>PowerPoint Presentation</vt:lpstr>
      <vt:lpstr>Hvor mye får vi betalt for å ta risiko vs sikre investeringer? </vt:lpstr>
      <vt:lpstr>PowerPoint Presentation</vt:lpstr>
      <vt:lpstr>PowerPoint Presentation</vt:lpstr>
      <vt:lpstr>Eiendom vs. Aksjer (realavkastning – hensyn tatt til inflasjon)</vt:lpstr>
      <vt:lpstr>Mulig forklaring på avkastning på aksjer vs eiendom </vt:lpstr>
      <vt:lpstr>Jordskredet i Gjerdrum</vt:lpstr>
      <vt:lpstr>Indeks over eiendomsinvesteringer viser</vt:lpstr>
      <vt:lpstr>Aksjer og diversifisering</vt:lpstr>
      <vt:lpstr>Kan vi lære noe om historiske priser på ulike investeringer (aksjer, verdipapirer) når det gjelder fremtidig avkastning?</vt:lpstr>
      <vt:lpstr>Hvordan måler vi avkastning på en investering</vt:lpstr>
      <vt:lpstr>Avkastning aksjer og obligasjoner</vt:lpstr>
      <vt:lpstr>Verdsetting eiendom</vt:lpstr>
      <vt:lpstr>Verdsetting eiendom når det kun finnes en inngangsverdi men ingen utgangsverdi (vi har P_(t-1)  men ikke〖 P〗_t)</vt:lpstr>
      <vt:lpstr>Verdsetting eiendom når det kun finnes en inngangsverdi men ingen utgangsverdi (vi har P_(t-1)  men ikke〖 P〗_t)</vt:lpstr>
      <vt:lpstr>Verdsetting eiendom når det kun finnes en inngangsverdi men ingen utgangsverdi (vi har P_(t-1)  men ikke〖 P〗_t)</vt:lpstr>
      <vt:lpstr>Oljefondet (NIMB); hvor godt investerer NIMB</vt:lpstr>
      <vt:lpstr>Realavkastning (r_t)</vt:lpstr>
      <vt:lpstr>Eksempel</vt:lpstr>
      <vt:lpstr>Superprofitt («excess return»): 〖ER〗_(t,asset)</vt:lpstr>
      <vt:lpstr>Skatt er også makroøkonomi</vt:lpstr>
      <vt:lpstr>Skattlegging påvirker vårt konsum og sparing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Virkningen av en renteendring kan utledes teoretisk</vt:lpstr>
      <vt:lpstr>Renteendringer og boligpriser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Guttorm Schjelderup</dc:creator>
  <cp:lastModifiedBy>Guttorm Schjelderup</cp:lastModifiedBy>
  <cp:revision>1</cp:revision>
  <dcterms:created xsi:type="dcterms:W3CDTF">2025-12-15T13:53:44Z</dcterms:created>
  <dcterms:modified xsi:type="dcterms:W3CDTF">2026-05-12T09:44:45Z</dcterms:modified>
</cp:coreProperties>
</file>