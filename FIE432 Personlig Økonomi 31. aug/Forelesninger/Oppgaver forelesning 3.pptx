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378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450B6-9C1C-4B0D-A54F-EBCDF26E7B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6405B4-70A2-4AC8-BBAF-C34E9901E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4740F-3F51-4D61-90A9-C2CD41D6A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810B2-DFEE-4C5C-B319-A7E169942007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2C6F3-4EC6-4B90-9340-97BE507AE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757B3-F724-462D-BFC1-EE9337C48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8902-662D-45C0-9C6C-8231C43A412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2784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804FD-6E60-4846-A2F4-44D09CD7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D7758-AF1C-4C56-BE36-24D0F1257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A102F-2939-4C95-8184-80F793A97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810B2-DFEE-4C5C-B319-A7E169942007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92A24-7AFF-42F5-AD6E-14814173E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1632A-F045-4E47-A2D8-E81C06657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8902-662D-45C0-9C6C-8231C43A412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8015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1F5DC-E658-48D4-9069-C633EE180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E18BB-3EA3-4742-9DC8-58A51372F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0F66C-0C89-4234-9FAA-1D15DDAAC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810B2-DFEE-4C5C-B319-A7E169942007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B80BB-08F3-4FD5-921A-15AB3846E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57E16-E503-4EB8-B271-14CB97A69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8902-662D-45C0-9C6C-8231C43A412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60159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747BC-70EC-4F8E-BF0F-F5853EF09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CC37F-DBCB-4DCA-8F3B-B1F9666F7F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78D5CE-1554-46F1-A428-947EBF873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8A1C8-E564-4368-AC11-B86E1C0A4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810B2-DFEE-4C5C-B319-A7E169942007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9A27A-7C39-4BF3-BEC4-9D8B0575F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78E93B-C179-4C47-8ADD-71B26D61C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8902-662D-45C0-9C6C-8231C43A412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35827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F3B0A-4765-423F-B904-50F366961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15ECD-3CE2-4040-B86B-EABF3B075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23994F-4382-46AA-BE03-AF11FA07D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8C1EA7-D548-408B-8010-8589509A29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558CEE-863A-4795-AE83-E82B4428D3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8404CE-7DCA-43F8-827D-4A88DDFC3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810B2-DFEE-4C5C-B319-A7E169942007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53E76D-5BB0-4908-956C-F47A6AF08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AE25D9-1944-43FC-8257-432813E35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8902-662D-45C0-9C6C-8231C43A412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42234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ADE67-6EDD-4D25-B19D-993134D61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532915-0EE8-4A42-B2DA-027FE41B4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810B2-DFEE-4C5C-B319-A7E169942007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1640DF-0612-432D-B538-20F9CE520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EDCA09-EEDA-4424-8FA8-2F8D03D7D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8902-662D-45C0-9C6C-8231C43A412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76747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D1E929-5215-4038-91BD-472D78E78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810B2-DFEE-4C5C-B319-A7E169942007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D473C8-DEC1-47C6-BBB4-9F6968A0C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C2CD7-A7FE-4028-8CD3-D6E486CB2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8902-662D-45C0-9C6C-8231C43A412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88237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E47C5-F8A9-4778-A6D3-537D8EF24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CAE6B-F107-4A98-99F5-E667D8244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3FBB0F-EA72-490E-BDC7-AB67BF955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20EA3-7194-48BD-8BB4-000EA1352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810B2-DFEE-4C5C-B319-A7E169942007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C2255-1AEB-44EE-9FE8-55B3DDBB6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5CE77-F232-47AC-BEBD-F5C260B86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8902-662D-45C0-9C6C-8231C43A412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14495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39A16-7363-44F8-A400-59B11EA5F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127118-B4E4-4C7C-89ED-DAB1E2C4E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7172-8072-4451-B6F5-BBF8C3BC8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0891E-B57E-414A-999B-F1CA9F435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810B2-DFEE-4C5C-B319-A7E169942007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2AA5F-7FEF-417C-9D85-247607504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5E2D1-0926-476A-8878-DD2F17C76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8902-662D-45C0-9C6C-8231C43A412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12214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8766D-37D6-4F07-BAF7-DF7CEFEF2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891A4-805F-475D-86FC-E0FB17E8D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E3B98-26C2-4155-A7AC-10328CD1D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810B2-DFEE-4C5C-B319-A7E169942007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C7909-946B-47E9-8497-44662E2BB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75A28-662A-4FF7-86E8-6E73FDC6A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8902-662D-45C0-9C6C-8231C43A412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84578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6D7E2-FE46-489D-8329-534069D7C1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F59F2D-7301-48CD-8204-8C9D5A8B6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B45D9-3DB8-486D-8B5D-14DFF2B10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810B2-DFEE-4C5C-B319-A7E169942007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3423D-5B9C-4F8E-A100-174261663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9C9D9-AFE9-412F-A831-67F72B6F3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8902-662D-45C0-9C6C-8231C43A412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00951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9490A4-9A64-4012-A199-368D97ABE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DEC21B-BD47-4AF3-A920-A112BE4E4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1546E-A55A-497F-B05D-A41BD698ED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810B2-DFEE-4C5C-B319-A7E169942007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678FE-B51A-4010-9719-CC6237417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DA34B-0FCF-4578-8AF1-0CA505A924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B8902-662D-45C0-9C6C-8231C43A412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11211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FA84E-9288-453B-9361-C3AAABC9D8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Oppgaver forelesning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AAD81D-2325-4986-965B-4B7B057618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42515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2C99E-CE82-427C-8E3E-7A5B8CB21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Du skal investere i sekundærbolig for utleie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3DF4F-B684-40A0-89CC-2FA345BFA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b-NO" dirty="0"/>
              <a:t>Anita kjøper en leilighet sentralt i Bergen for 5 millioner kroner. Hun betaler kontant. Netto leieinntekter pr år etter fradrag for utgifter men før skatt på 22% er kr 240 000. Anita har en et avkastningskrav før skatt på 8 %</a:t>
            </a:r>
          </a:p>
          <a:p>
            <a:endParaRPr lang="nb-NO" dirty="0"/>
          </a:p>
          <a:p>
            <a:r>
              <a:rPr lang="nb-NO" dirty="0"/>
              <a:t>Spørsmål 1: Hva er markedsverdien av denne investeringen om vi forutsetter at inntektsstrømmen er sikker og varer ut i evigheten og vi tar hensyn til at det skal betales skatt?</a:t>
            </a:r>
          </a:p>
          <a:p>
            <a:endParaRPr lang="nb-NO" dirty="0"/>
          </a:p>
          <a:p>
            <a:r>
              <a:rPr lang="nb-NO" dirty="0"/>
              <a:t>Spørsmål 2: Har Anita gjort en god investering?</a:t>
            </a:r>
          </a:p>
          <a:p>
            <a:endParaRPr lang="nb-NO" dirty="0"/>
          </a:p>
          <a:p>
            <a:r>
              <a:rPr lang="nb-NO" dirty="0"/>
              <a:t>Spørsmål 3. Anta at Anita er fornøyd med 4 % avkastning før skatt. Hvordan skal vi vurdere da investeringen?</a:t>
            </a:r>
          </a:p>
        </p:txBody>
      </p:sp>
    </p:spTree>
    <p:extLst>
      <p:ext uri="{BB962C8B-B14F-4D97-AF65-F5344CB8AC3E}">
        <p14:creationId xmlns:p14="http://schemas.microsoft.com/office/powerpoint/2010/main" val="2377579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ECF33-79F7-4A6A-8DE3-601BB8B64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Svar på spørsmål 1,2 og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061B7D-3FB3-48C0-9457-2961C7913C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/>
              <a:lstStyle/>
              <a:p>
                <a:r>
                  <a:rPr lang="nb-NO" dirty="0"/>
                  <a:t>Spørsmål 1: Vi justerer overskuddet og diskonteringsrenten for skatt slik at vi får etter-skatt verdier slik og bruker </a:t>
                </a:r>
                <a:r>
                  <a:rPr lang="nb-NO" dirty="0" err="1"/>
                  <a:t>formlen</a:t>
                </a:r>
                <a:r>
                  <a:rPr lang="nb-NO" dirty="0"/>
                  <a:t> for en uendelig rekke: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𝑁𝑉</m:t>
                      </m:r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240 000(1−22%)</m:t>
                          </m:r>
                        </m:num>
                        <m:den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8%(1−22%)</m:t>
                          </m:r>
                        </m:den>
                      </m:f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187 200</m:t>
                          </m:r>
                        </m:num>
                        <m:den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6,4%</m:t>
                          </m:r>
                        </m:den>
                      </m:f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=2 925 000</m:t>
                      </m:r>
                    </m:oMath>
                  </m:oMathPara>
                </a14:m>
                <a:endParaRPr lang="nb-NO" dirty="0"/>
              </a:p>
              <a:p>
                <a:endParaRPr lang="nb-NO" dirty="0"/>
              </a:p>
              <a:p>
                <a:r>
                  <a:rPr lang="nb-NO" dirty="0"/>
                  <a:t>Spørsmål 2. Leiligheten skaper kun verdier for 2 925 000 mens Anita har betalt 5 000 000. Hun har betalt for mye.</a:t>
                </a:r>
              </a:p>
              <a:p>
                <a:r>
                  <a:rPr lang="nb-NO" dirty="0"/>
                  <a:t>Spørsmål 3. Med et avkastningskrav på 4% er kravet etter skatt 3,12% er NV av investeringen 6 000 000 og Anita har gjort et godt kjøp. </a:t>
                </a:r>
              </a:p>
              <a:p>
                <a:endParaRPr lang="nb-N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061B7D-3FB3-48C0-9457-2961C7913C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43" t="-2089" r="-928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9298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214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Oppgaver forelesning 2</vt:lpstr>
      <vt:lpstr>Du skal investere i sekundærbolig for utleie</vt:lpstr>
      <vt:lpstr>Svar på spørsmål 1,2 og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Oppgaver forelesning 2</dc:title>
  <dc:creator>Guttorm Schjelderup</dc:creator>
  <cp:lastModifiedBy>Guttorm Schjelderup</cp:lastModifiedBy>
  <cp:revision>2</cp:revision>
  <dcterms:created xsi:type="dcterms:W3CDTF">2023-05-08T10:28:43Z</dcterms:created>
  <dcterms:modified xsi:type="dcterms:W3CDTF">2026-06-05T08:02:04Z</dcterms:modified>
</cp:coreProperties>
</file>