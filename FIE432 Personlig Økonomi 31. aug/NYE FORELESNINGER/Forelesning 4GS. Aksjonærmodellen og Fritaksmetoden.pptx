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ink/inkAction1.xml" ContentType="application/vnd.ms-office.inkAction+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2.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3" r:id="rId5"/>
  </p:sldMasterIdLst>
  <p:notesMasterIdLst>
    <p:notesMasterId r:id="rId86"/>
  </p:notesMasterIdLst>
  <p:handoutMasterIdLst>
    <p:handoutMasterId r:id="rId87"/>
  </p:handoutMasterIdLst>
  <p:sldIdLst>
    <p:sldId id="256" r:id="rId6"/>
    <p:sldId id="622" r:id="rId7"/>
    <p:sldId id="440" r:id="rId8"/>
    <p:sldId id="667" r:id="rId9"/>
    <p:sldId id="441" r:id="rId10"/>
    <p:sldId id="616" r:id="rId11"/>
    <p:sldId id="443" r:id="rId12"/>
    <p:sldId id="668" r:id="rId13"/>
    <p:sldId id="678" r:id="rId14"/>
    <p:sldId id="674" r:id="rId15"/>
    <p:sldId id="697" r:id="rId16"/>
    <p:sldId id="702" r:id="rId17"/>
    <p:sldId id="698" r:id="rId18"/>
    <p:sldId id="700" r:id="rId19"/>
    <p:sldId id="624" r:id="rId20"/>
    <p:sldId id="350" r:id="rId21"/>
    <p:sldId id="376" r:id="rId22"/>
    <p:sldId id="701" r:id="rId23"/>
    <p:sldId id="640" r:id="rId24"/>
    <p:sldId id="625" r:id="rId25"/>
    <p:sldId id="411" r:id="rId26"/>
    <p:sldId id="659" r:id="rId27"/>
    <p:sldId id="669" r:id="rId28"/>
    <p:sldId id="446" r:id="rId29"/>
    <p:sldId id="364" r:id="rId30"/>
    <p:sldId id="703" r:id="rId31"/>
    <p:sldId id="347" r:id="rId32"/>
    <p:sldId id="470" r:id="rId33"/>
    <p:sldId id="472" r:id="rId34"/>
    <p:sldId id="415" r:id="rId35"/>
    <p:sldId id="405" r:id="rId36"/>
    <p:sldId id="448" r:id="rId37"/>
    <p:sldId id="355" r:id="rId38"/>
    <p:sldId id="343" r:id="rId39"/>
    <p:sldId id="388" r:id="rId40"/>
    <p:sldId id="363" r:id="rId41"/>
    <p:sldId id="679" r:id="rId42"/>
    <p:sldId id="257" r:id="rId43"/>
    <p:sldId id="680" r:id="rId44"/>
    <p:sldId id="696" r:id="rId45"/>
    <p:sldId id="395" r:id="rId46"/>
    <p:sldId id="646" r:id="rId47"/>
    <p:sldId id="445" r:id="rId48"/>
    <p:sldId id="689" r:id="rId49"/>
    <p:sldId id="690" r:id="rId50"/>
    <p:sldId id="434" r:id="rId51"/>
    <p:sldId id="436" r:id="rId52"/>
    <p:sldId id="647" r:id="rId53"/>
    <p:sldId id="648" r:id="rId54"/>
    <p:sldId id="634" r:id="rId55"/>
    <p:sldId id="686" r:id="rId56"/>
    <p:sldId id="683" r:id="rId57"/>
    <p:sldId id="692" r:id="rId58"/>
    <p:sldId id="693" r:id="rId59"/>
    <p:sldId id="694" r:id="rId60"/>
    <p:sldId id="695" r:id="rId61"/>
    <p:sldId id="259" r:id="rId62"/>
    <p:sldId id="631" r:id="rId63"/>
    <p:sldId id="607" r:id="rId64"/>
    <p:sldId id="608" r:id="rId65"/>
    <p:sldId id="629" r:id="rId66"/>
    <p:sldId id="627" r:id="rId67"/>
    <p:sldId id="641" r:id="rId68"/>
    <p:sldId id="652" r:id="rId69"/>
    <p:sldId id="664" r:id="rId70"/>
    <p:sldId id="474" r:id="rId71"/>
    <p:sldId id="637" r:id="rId72"/>
    <p:sldId id="410" r:id="rId73"/>
    <p:sldId id="619" r:id="rId74"/>
    <p:sldId id="618" r:id="rId75"/>
    <p:sldId id="649" r:id="rId76"/>
    <p:sldId id="650" r:id="rId77"/>
    <p:sldId id="651" r:id="rId78"/>
    <p:sldId id="439" r:id="rId79"/>
    <p:sldId id="428" r:id="rId80"/>
    <p:sldId id="429" r:id="rId81"/>
    <p:sldId id="430" r:id="rId82"/>
    <p:sldId id="390" r:id="rId83"/>
    <p:sldId id="391" r:id="rId84"/>
    <p:sldId id="398" r:id="rId85"/>
  </p:sldIdLst>
  <p:sldSz cx="12192000" cy="6858000"/>
  <p:notesSz cx="6669088" cy="97536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9682CC-D33D-5A4C-A525-AA2623E45802}" v="1623" dt="2026-08-28T14:22:35.1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97" autoAdjust="0"/>
    <p:restoredTop sz="96084"/>
  </p:normalViewPr>
  <p:slideViewPr>
    <p:cSldViewPr snapToGrid="0">
      <p:cViewPr varScale="1">
        <p:scale>
          <a:sx n="128" d="100"/>
          <a:sy n="128" d="100"/>
        </p:scale>
        <p:origin x="208" y="165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openxmlformats.org/officeDocument/2006/relationships/theme" Target="theme/theme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microsoft.com/office/2016/11/relationships/changesInfo" Target="changesInfos/changesInfo1.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handoutMaster" Target="handoutMasters/handoutMaster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ttorm Schjelderup" userId="e0ac67c0-b505-4405-ab95-266cbfcd4586" providerId="ADAL" clId="{495AF721-4E66-5624-A6F1-D11890231467}"/>
    <pc:docChg chg="custSel addSld delSld modSld sldOrd">
      <pc:chgData name="Guttorm Schjelderup" userId="e0ac67c0-b505-4405-ab95-266cbfcd4586" providerId="ADAL" clId="{495AF721-4E66-5624-A6F1-D11890231467}" dt="2026-08-28T14:22:40.001" v="2817" actId="2696"/>
      <pc:docMkLst>
        <pc:docMk/>
      </pc:docMkLst>
      <pc:sldChg chg="modSp modAnim">
        <pc:chgData name="Guttorm Schjelderup" userId="e0ac67c0-b505-4405-ab95-266cbfcd4586" providerId="ADAL" clId="{495AF721-4E66-5624-A6F1-D11890231467}" dt="2026-08-28T14:03:35.493" v="1303" actId="20577"/>
        <pc:sldMkLst>
          <pc:docMk/>
          <pc:sldMk cId="352643143" sldId="257"/>
        </pc:sldMkLst>
        <pc:spChg chg="mod">
          <ac:chgData name="Guttorm Schjelderup" userId="e0ac67c0-b505-4405-ab95-266cbfcd4586" providerId="ADAL" clId="{495AF721-4E66-5624-A6F1-D11890231467}" dt="2026-08-28T14:03:35.493" v="1303" actId="20577"/>
          <ac:spMkLst>
            <pc:docMk/>
            <pc:sldMk cId="352643143" sldId="257"/>
            <ac:spMk id="3" creationId="{1D77431C-0140-FE48-A62C-753C5C8B4F8F}"/>
          </ac:spMkLst>
        </pc:spChg>
      </pc:sldChg>
      <pc:sldChg chg="add del">
        <pc:chgData name="Guttorm Schjelderup" userId="e0ac67c0-b505-4405-ab95-266cbfcd4586" providerId="ADAL" clId="{495AF721-4E66-5624-A6F1-D11890231467}" dt="2026-08-28T13:35:36.708" v="658" actId="2696"/>
        <pc:sldMkLst>
          <pc:docMk/>
          <pc:sldMk cId="452235431" sldId="346"/>
        </pc:sldMkLst>
      </pc:sldChg>
      <pc:sldChg chg="del">
        <pc:chgData name="Guttorm Schjelderup" userId="e0ac67c0-b505-4405-ab95-266cbfcd4586" providerId="ADAL" clId="{495AF721-4E66-5624-A6F1-D11890231467}" dt="2026-08-28T13:19:06.234" v="406" actId="2696"/>
        <pc:sldMkLst>
          <pc:docMk/>
          <pc:sldMk cId="720088263" sldId="346"/>
        </pc:sldMkLst>
      </pc:sldChg>
      <pc:sldChg chg="add">
        <pc:chgData name="Guttorm Schjelderup" userId="e0ac67c0-b505-4405-ab95-266cbfcd4586" providerId="ADAL" clId="{495AF721-4E66-5624-A6F1-D11890231467}" dt="2026-08-28T13:19:12.633" v="407"/>
        <pc:sldMkLst>
          <pc:docMk/>
          <pc:sldMk cId="2019156392" sldId="347"/>
        </pc:sldMkLst>
      </pc:sldChg>
      <pc:sldChg chg="del">
        <pc:chgData name="Guttorm Schjelderup" userId="e0ac67c0-b505-4405-ab95-266cbfcd4586" providerId="ADAL" clId="{495AF721-4E66-5624-A6F1-D11890231467}" dt="2026-08-28T13:19:06.234" v="406" actId="2696"/>
        <pc:sldMkLst>
          <pc:docMk/>
          <pc:sldMk cId="3664348908" sldId="347"/>
        </pc:sldMkLst>
      </pc:sldChg>
      <pc:sldChg chg="del">
        <pc:chgData name="Guttorm Schjelderup" userId="e0ac67c0-b505-4405-ab95-266cbfcd4586" providerId="ADAL" clId="{495AF721-4E66-5624-A6F1-D11890231467}" dt="2026-08-28T13:17:51.634" v="399" actId="2696"/>
        <pc:sldMkLst>
          <pc:docMk/>
          <pc:sldMk cId="1116937933" sldId="350"/>
        </pc:sldMkLst>
      </pc:sldChg>
      <pc:sldChg chg="add">
        <pc:chgData name="Guttorm Schjelderup" userId="e0ac67c0-b505-4405-ab95-266cbfcd4586" providerId="ADAL" clId="{495AF721-4E66-5624-A6F1-D11890231467}" dt="2026-08-28T13:17:56.619" v="400"/>
        <pc:sldMkLst>
          <pc:docMk/>
          <pc:sldMk cId="3460908832" sldId="350"/>
        </pc:sldMkLst>
      </pc:sldChg>
      <pc:sldChg chg="modSp">
        <pc:chgData name="Guttorm Schjelderup" userId="e0ac67c0-b505-4405-ab95-266cbfcd4586" providerId="ADAL" clId="{495AF721-4E66-5624-A6F1-D11890231467}" dt="2026-08-28T13:53:18.343" v="1150" actId="20577"/>
        <pc:sldMkLst>
          <pc:docMk/>
          <pc:sldMk cId="236000273" sldId="355"/>
        </pc:sldMkLst>
        <pc:spChg chg="mod">
          <ac:chgData name="Guttorm Schjelderup" userId="e0ac67c0-b505-4405-ab95-266cbfcd4586" providerId="ADAL" clId="{495AF721-4E66-5624-A6F1-D11890231467}" dt="2026-08-28T13:53:18.343" v="1150" actId="20577"/>
          <ac:spMkLst>
            <pc:docMk/>
            <pc:sldMk cId="236000273" sldId="355"/>
            <ac:spMk id="3" creationId="{80450C16-43A4-E4CD-C60B-A436EB26544C}"/>
          </ac:spMkLst>
        </pc:spChg>
      </pc:sldChg>
      <pc:sldChg chg="modSp del mod">
        <pc:chgData name="Guttorm Schjelderup" userId="e0ac67c0-b505-4405-ab95-266cbfcd4586" providerId="ADAL" clId="{495AF721-4E66-5624-A6F1-D11890231467}" dt="2026-08-28T12:59:33.913" v="51" actId="2696"/>
        <pc:sldMkLst>
          <pc:docMk/>
          <pc:sldMk cId="3535074766" sldId="361"/>
        </pc:sldMkLst>
        <pc:spChg chg="mod">
          <ac:chgData name="Guttorm Schjelderup" userId="e0ac67c0-b505-4405-ab95-266cbfcd4586" providerId="ADAL" clId="{495AF721-4E66-5624-A6F1-D11890231467}" dt="2026-08-28T12:59:11.374" v="50" actId="20577"/>
          <ac:spMkLst>
            <pc:docMk/>
            <pc:sldMk cId="3535074766" sldId="361"/>
            <ac:spMk id="3" creationId="{23E6B03E-C389-45CA-D1AD-A84CA694586E}"/>
          </ac:spMkLst>
        </pc:spChg>
      </pc:sldChg>
      <pc:sldChg chg="modSp mod">
        <pc:chgData name="Guttorm Schjelderup" userId="e0ac67c0-b505-4405-ab95-266cbfcd4586" providerId="ADAL" clId="{495AF721-4E66-5624-A6F1-D11890231467}" dt="2026-08-28T13:50:21.227" v="988" actId="20577"/>
        <pc:sldMkLst>
          <pc:docMk/>
          <pc:sldMk cId="4131684337" sldId="364"/>
        </pc:sldMkLst>
        <pc:spChg chg="mod">
          <ac:chgData name="Guttorm Schjelderup" userId="e0ac67c0-b505-4405-ab95-266cbfcd4586" providerId="ADAL" clId="{495AF721-4E66-5624-A6F1-D11890231467}" dt="2026-08-28T13:50:21.227" v="988" actId="20577"/>
          <ac:spMkLst>
            <pc:docMk/>
            <pc:sldMk cId="4131684337" sldId="364"/>
            <ac:spMk id="3" creationId="{01602003-3545-4A89-A3F9-A4C99934F043}"/>
          </ac:spMkLst>
        </pc:spChg>
      </pc:sldChg>
      <pc:sldChg chg="del">
        <pc:chgData name="Guttorm Schjelderup" userId="e0ac67c0-b505-4405-ab95-266cbfcd4586" providerId="ADAL" clId="{495AF721-4E66-5624-A6F1-D11890231467}" dt="2026-08-28T13:17:51.634" v="399" actId="2696"/>
        <pc:sldMkLst>
          <pc:docMk/>
          <pc:sldMk cId="1413018607" sldId="376"/>
        </pc:sldMkLst>
      </pc:sldChg>
      <pc:sldChg chg="modSp add modAnim">
        <pc:chgData name="Guttorm Schjelderup" userId="e0ac67c0-b505-4405-ab95-266cbfcd4586" providerId="ADAL" clId="{495AF721-4E66-5624-A6F1-D11890231467}" dt="2026-08-28T13:18:46.950" v="405" actId="20577"/>
        <pc:sldMkLst>
          <pc:docMk/>
          <pc:sldMk cId="4217689053" sldId="376"/>
        </pc:sldMkLst>
        <pc:spChg chg="mod">
          <ac:chgData name="Guttorm Schjelderup" userId="e0ac67c0-b505-4405-ab95-266cbfcd4586" providerId="ADAL" clId="{495AF721-4E66-5624-A6F1-D11890231467}" dt="2026-08-28T13:18:46.950" v="405" actId="20577"/>
          <ac:spMkLst>
            <pc:docMk/>
            <pc:sldMk cId="4217689053" sldId="376"/>
            <ac:spMk id="3" creationId="{3F3C30A6-8C14-DA67-9CE8-D948335EFA5E}"/>
          </ac:spMkLst>
        </pc:spChg>
      </pc:sldChg>
      <pc:sldChg chg="modSp mod modAnim">
        <pc:chgData name="Guttorm Schjelderup" userId="e0ac67c0-b505-4405-ab95-266cbfcd4586" providerId="ADAL" clId="{495AF721-4E66-5624-A6F1-D11890231467}" dt="2026-08-28T14:15:42.784" v="2209" actId="20577"/>
        <pc:sldMkLst>
          <pc:docMk/>
          <pc:sldMk cId="3040626739" sldId="395"/>
        </pc:sldMkLst>
        <pc:spChg chg="mod">
          <ac:chgData name="Guttorm Schjelderup" userId="e0ac67c0-b505-4405-ab95-266cbfcd4586" providerId="ADAL" clId="{495AF721-4E66-5624-A6F1-D11890231467}" dt="2026-08-28T14:15:42.784" v="2209" actId="20577"/>
          <ac:spMkLst>
            <pc:docMk/>
            <pc:sldMk cId="3040626739" sldId="395"/>
            <ac:spMk id="4" creationId="{F5291D20-FB34-22F0-C437-FE6B9DCADC26}"/>
          </ac:spMkLst>
        </pc:spChg>
      </pc:sldChg>
      <pc:sldChg chg="modSp del mod modAnim">
        <pc:chgData name="Guttorm Schjelderup" userId="e0ac67c0-b505-4405-ab95-266cbfcd4586" providerId="ADAL" clId="{495AF721-4E66-5624-A6F1-D11890231467}" dt="2026-08-28T14:22:38.565" v="2816" actId="2696"/>
        <pc:sldMkLst>
          <pc:docMk/>
          <pc:sldMk cId="3084479412" sldId="431"/>
        </pc:sldMkLst>
        <pc:spChg chg="mod">
          <ac:chgData name="Guttorm Schjelderup" userId="e0ac67c0-b505-4405-ab95-266cbfcd4586" providerId="ADAL" clId="{495AF721-4E66-5624-A6F1-D11890231467}" dt="2026-08-28T14:18:24.434" v="2496" actId="20577"/>
          <ac:spMkLst>
            <pc:docMk/>
            <pc:sldMk cId="3084479412" sldId="431"/>
            <ac:spMk id="2" creationId="{98478CDA-7487-B9DA-E2F9-05F7DC901D72}"/>
          </ac:spMkLst>
        </pc:spChg>
        <pc:spChg chg="mod">
          <ac:chgData name="Guttorm Schjelderup" userId="e0ac67c0-b505-4405-ab95-266cbfcd4586" providerId="ADAL" clId="{495AF721-4E66-5624-A6F1-D11890231467}" dt="2026-08-28T14:22:35.138" v="2815" actId="20577"/>
          <ac:spMkLst>
            <pc:docMk/>
            <pc:sldMk cId="3084479412" sldId="431"/>
            <ac:spMk id="3" creationId="{D01C8F6C-4EC7-B71D-215E-B1FF1D83B5AD}"/>
          </ac:spMkLst>
        </pc:spChg>
      </pc:sldChg>
      <pc:sldChg chg="ord">
        <pc:chgData name="Guttorm Schjelderup" userId="e0ac67c0-b505-4405-ab95-266cbfcd4586" providerId="ADAL" clId="{495AF721-4E66-5624-A6F1-D11890231467}" dt="2026-08-28T14:14:27.666" v="1999" actId="20578"/>
        <pc:sldMkLst>
          <pc:docMk/>
          <pc:sldMk cId="1639026989" sldId="445"/>
        </pc:sldMkLst>
      </pc:sldChg>
      <pc:sldChg chg="modSp mod">
        <pc:chgData name="Guttorm Schjelderup" userId="e0ac67c0-b505-4405-ab95-266cbfcd4586" providerId="ADAL" clId="{495AF721-4E66-5624-A6F1-D11890231467}" dt="2026-08-28T13:49:34.839" v="973" actId="20577"/>
        <pc:sldMkLst>
          <pc:docMk/>
          <pc:sldMk cId="692872401" sldId="446"/>
        </pc:sldMkLst>
        <pc:spChg chg="mod">
          <ac:chgData name="Guttorm Schjelderup" userId="e0ac67c0-b505-4405-ab95-266cbfcd4586" providerId="ADAL" clId="{495AF721-4E66-5624-A6F1-D11890231467}" dt="2026-08-28T13:49:34.839" v="973" actId="20577"/>
          <ac:spMkLst>
            <pc:docMk/>
            <pc:sldMk cId="692872401" sldId="446"/>
            <ac:spMk id="25" creationId="{C6A18BDC-95B9-E702-7844-9E65A9ED29AF}"/>
          </ac:spMkLst>
        </pc:spChg>
      </pc:sldChg>
      <pc:sldChg chg="modSp mod ord">
        <pc:chgData name="Guttorm Schjelderup" userId="e0ac67c0-b505-4405-ab95-266cbfcd4586" providerId="ADAL" clId="{495AF721-4E66-5624-A6F1-D11890231467}" dt="2026-08-28T13:53:32.562" v="1153" actId="20577"/>
        <pc:sldMkLst>
          <pc:docMk/>
          <pc:sldMk cId="1790201898" sldId="448"/>
        </pc:sldMkLst>
        <pc:spChg chg="mod">
          <ac:chgData name="Guttorm Schjelderup" userId="e0ac67c0-b505-4405-ab95-266cbfcd4586" providerId="ADAL" clId="{495AF721-4E66-5624-A6F1-D11890231467}" dt="2026-08-28T13:53:32.562" v="1153" actId="20577"/>
          <ac:spMkLst>
            <pc:docMk/>
            <pc:sldMk cId="1790201898" sldId="448"/>
            <ac:spMk id="3" creationId="{91EA3E7D-B413-5319-A93E-990E88749A3F}"/>
          </ac:spMkLst>
        </pc:spChg>
      </pc:sldChg>
      <pc:sldChg chg="del">
        <pc:chgData name="Guttorm Schjelderup" userId="e0ac67c0-b505-4405-ab95-266cbfcd4586" providerId="ADAL" clId="{495AF721-4E66-5624-A6F1-D11890231467}" dt="2026-08-28T13:19:06.234" v="406" actId="2696"/>
        <pc:sldMkLst>
          <pc:docMk/>
          <pc:sldMk cId="1392888982" sldId="470"/>
        </pc:sldMkLst>
      </pc:sldChg>
      <pc:sldChg chg="add ord">
        <pc:chgData name="Guttorm Schjelderup" userId="e0ac67c0-b505-4405-ab95-266cbfcd4586" providerId="ADAL" clId="{495AF721-4E66-5624-A6F1-D11890231467}" dt="2026-08-28T13:33:50.576" v="608" actId="20578"/>
        <pc:sldMkLst>
          <pc:docMk/>
          <pc:sldMk cId="3184985281" sldId="470"/>
        </pc:sldMkLst>
      </pc:sldChg>
      <pc:sldChg chg="del">
        <pc:chgData name="Guttorm Schjelderup" userId="e0ac67c0-b505-4405-ab95-266cbfcd4586" providerId="ADAL" clId="{495AF721-4E66-5624-A6F1-D11890231467}" dt="2026-08-28T14:22:40.001" v="2817" actId="2696"/>
        <pc:sldMkLst>
          <pc:docMk/>
          <pc:sldMk cId="96939259" sldId="480"/>
        </pc:sldMkLst>
      </pc:sldChg>
      <pc:sldChg chg="del">
        <pc:chgData name="Guttorm Schjelderup" userId="e0ac67c0-b505-4405-ab95-266cbfcd4586" providerId="ADAL" clId="{495AF721-4E66-5624-A6F1-D11890231467}" dt="2026-08-28T13:18:19.678" v="402" actId="2696"/>
        <pc:sldMkLst>
          <pc:docMk/>
          <pc:sldMk cId="2250642139" sldId="577"/>
        </pc:sldMkLst>
      </pc:sldChg>
      <pc:sldChg chg="modSp add mod modAnim">
        <pc:chgData name="Guttorm Schjelderup" userId="e0ac67c0-b505-4405-ab95-266cbfcd4586" providerId="ADAL" clId="{495AF721-4E66-5624-A6F1-D11890231467}" dt="2026-08-28T13:44:08.461" v="868" actId="27636"/>
        <pc:sldMkLst>
          <pc:docMk/>
          <pc:sldMk cId="4889883" sldId="624"/>
        </pc:sldMkLst>
        <pc:spChg chg="mod">
          <ac:chgData name="Guttorm Schjelderup" userId="e0ac67c0-b505-4405-ab95-266cbfcd4586" providerId="ADAL" clId="{495AF721-4E66-5624-A6F1-D11890231467}" dt="2026-08-28T13:44:08.461" v="868" actId="27636"/>
          <ac:spMkLst>
            <pc:docMk/>
            <pc:sldMk cId="4889883" sldId="624"/>
            <ac:spMk id="3" creationId="{AA53823A-A0C1-117C-94A5-88FC173FBBFB}"/>
          </ac:spMkLst>
        </pc:spChg>
      </pc:sldChg>
      <pc:sldChg chg="del">
        <pc:chgData name="Guttorm Schjelderup" userId="e0ac67c0-b505-4405-ab95-266cbfcd4586" providerId="ADAL" clId="{495AF721-4E66-5624-A6F1-D11890231467}" dt="2026-08-28T13:18:17.251" v="401" actId="2696"/>
        <pc:sldMkLst>
          <pc:docMk/>
          <pc:sldMk cId="252377995" sldId="624"/>
        </pc:sldMkLst>
      </pc:sldChg>
      <pc:sldChg chg="modSp mod modAnim">
        <pc:chgData name="Guttorm Schjelderup" userId="e0ac67c0-b505-4405-ab95-266cbfcd4586" providerId="ADAL" clId="{495AF721-4E66-5624-A6F1-D11890231467}" dt="2026-08-28T13:48:01.855" v="912" actId="20577"/>
        <pc:sldMkLst>
          <pc:docMk/>
          <pc:sldMk cId="1326396163" sldId="625"/>
        </pc:sldMkLst>
        <pc:spChg chg="mod">
          <ac:chgData name="Guttorm Schjelderup" userId="e0ac67c0-b505-4405-ab95-266cbfcd4586" providerId="ADAL" clId="{495AF721-4E66-5624-A6F1-D11890231467}" dt="2026-08-28T13:48:01.855" v="912" actId="20577"/>
          <ac:spMkLst>
            <pc:docMk/>
            <pc:sldMk cId="1326396163" sldId="625"/>
            <ac:spMk id="3" creationId="{32BA1D03-ADD8-85ED-EC5C-A81ACFEE6E2C}"/>
          </ac:spMkLst>
        </pc:spChg>
      </pc:sldChg>
      <pc:sldChg chg="ord">
        <pc:chgData name="Guttorm Schjelderup" userId="e0ac67c0-b505-4405-ab95-266cbfcd4586" providerId="ADAL" clId="{495AF721-4E66-5624-A6F1-D11890231467}" dt="2026-08-28T14:14:24.519" v="1998" actId="20578"/>
        <pc:sldMkLst>
          <pc:docMk/>
          <pc:sldMk cId="4066130776" sldId="646"/>
        </pc:sldMkLst>
      </pc:sldChg>
      <pc:sldChg chg="del">
        <pc:chgData name="Guttorm Schjelderup" userId="e0ac67c0-b505-4405-ab95-266cbfcd4586" providerId="ADAL" clId="{495AF721-4E66-5624-A6F1-D11890231467}" dt="2026-08-28T13:00:25.541" v="52" actId="2696"/>
        <pc:sldMkLst>
          <pc:docMk/>
          <pc:sldMk cId="2055266921" sldId="658"/>
        </pc:sldMkLst>
      </pc:sldChg>
      <pc:sldChg chg="add del">
        <pc:chgData name="Guttorm Schjelderup" userId="e0ac67c0-b505-4405-ab95-266cbfcd4586" providerId="ADAL" clId="{495AF721-4E66-5624-A6F1-D11890231467}" dt="2026-08-28T13:00:45.057" v="54" actId="2696"/>
        <pc:sldMkLst>
          <pc:docMk/>
          <pc:sldMk cId="3797564547" sldId="658"/>
        </pc:sldMkLst>
      </pc:sldChg>
      <pc:sldChg chg="add">
        <pc:chgData name="Guttorm Schjelderup" userId="e0ac67c0-b505-4405-ab95-266cbfcd4586" providerId="ADAL" clId="{495AF721-4E66-5624-A6F1-D11890231467}" dt="2026-08-28T12:58:29.058" v="1"/>
        <pc:sldMkLst>
          <pc:docMk/>
          <pc:sldMk cId="2659358917" sldId="659"/>
        </pc:sldMkLst>
      </pc:sldChg>
      <pc:sldChg chg="del">
        <pc:chgData name="Guttorm Schjelderup" userId="e0ac67c0-b505-4405-ab95-266cbfcd4586" providerId="ADAL" clId="{495AF721-4E66-5624-A6F1-D11890231467}" dt="2026-08-28T12:58:22.296" v="0" actId="2696"/>
        <pc:sldMkLst>
          <pc:docMk/>
          <pc:sldMk cId="3373586055" sldId="659"/>
        </pc:sldMkLst>
      </pc:sldChg>
      <pc:sldChg chg="add">
        <pc:chgData name="Guttorm Schjelderup" userId="e0ac67c0-b505-4405-ab95-266cbfcd4586" providerId="ADAL" clId="{495AF721-4E66-5624-A6F1-D11890231467}" dt="2026-08-28T12:58:29.058" v="1"/>
        <pc:sldMkLst>
          <pc:docMk/>
          <pc:sldMk cId="719712521" sldId="669"/>
        </pc:sldMkLst>
      </pc:sldChg>
      <pc:sldChg chg="del">
        <pc:chgData name="Guttorm Schjelderup" userId="e0ac67c0-b505-4405-ab95-266cbfcd4586" providerId="ADAL" clId="{495AF721-4E66-5624-A6F1-D11890231467}" dt="2026-08-28T12:58:22.296" v="0" actId="2696"/>
        <pc:sldMkLst>
          <pc:docMk/>
          <pc:sldMk cId="2452804985" sldId="669"/>
        </pc:sldMkLst>
      </pc:sldChg>
      <pc:sldChg chg="del">
        <pc:chgData name="Guttorm Schjelderup" userId="e0ac67c0-b505-4405-ab95-266cbfcd4586" providerId="ADAL" clId="{495AF721-4E66-5624-A6F1-D11890231467}" dt="2026-08-28T13:17:03.162" v="397" actId="2696"/>
        <pc:sldMkLst>
          <pc:docMk/>
          <pc:sldMk cId="2512725358" sldId="672"/>
        </pc:sldMkLst>
      </pc:sldChg>
      <pc:sldChg chg="del">
        <pc:chgData name="Guttorm Schjelderup" userId="e0ac67c0-b505-4405-ab95-266cbfcd4586" providerId="ADAL" clId="{495AF721-4E66-5624-A6F1-D11890231467}" dt="2026-08-28T13:18:21.715" v="403" actId="2696"/>
        <pc:sldMkLst>
          <pc:docMk/>
          <pc:sldMk cId="3154350323" sldId="673"/>
        </pc:sldMkLst>
      </pc:sldChg>
      <pc:sldChg chg="modSp mod modAnim">
        <pc:chgData name="Guttorm Schjelderup" userId="e0ac67c0-b505-4405-ab95-266cbfcd4586" providerId="ADAL" clId="{495AF721-4E66-5624-A6F1-D11890231467}" dt="2026-08-28T14:05:16.630" v="1515"/>
        <pc:sldMkLst>
          <pc:docMk/>
          <pc:sldMk cId="1689582176" sldId="680"/>
        </pc:sldMkLst>
        <pc:spChg chg="mod">
          <ac:chgData name="Guttorm Schjelderup" userId="e0ac67c0-b505-4405-ab95-266cbfcd4586" providerId="ADAL" clId="{495AF721-4E66-5624-A6F1-D11890231467}" dt="2026-08-28T14:05:09.592" v="1514" actId="27636"/>
          <ac:spMkLst>
            <pc:docMk/>
            <pc:sldMk cId="1689582176" sldId="680"/>
            <ac:spMk id="3" creationId="{262CC61F-20D6-9BAD-CE5D-DA1A8300AD9D}"/>
          </ac:spMkLst>
        </pc:spChg>
      </pc:sldChg>
      <pc:sldChg chg="del">
        <pc:chgData name="Guttorm Schjelderup" userId="e0ac67c0-b505-4405-ab95-266cbfcd4586" providerId="ADAL" clId="{495AF721-4E66-5624-A6F1-D11890231467}" dt="2026-08-28T14:13:41.153" v="1971" actId="2696"/>
        <pc:sldMkLst>
          <pc:docMk/>
          <pc:sldMk cId="1192672544" sldId="688"/>
        </pc:sldMkLst>
      </pc:sldChg>
      <pc:sldChg chg="modSp mod modAnim">
        <pc:chgData name="Guttorm Schjelderup" userId="e0ac67c0-b505-4405-ab95-266cbfcd4586" providerId="ADAL" clId="{495AF721-4E66-5624-A6F1-D11890231467}" dt="2026-08-28T14:18:01.721" v="2451" actId="20577"/>
        <pc:sldMkLst>
          <pc:docMk/>
          <pc:sldMk cId="515856490" sldId="689"/>
        </pc:sldMkLst>
        <pc:spChg chg="mod">
          <ac:chgData name="Guttorm Schjelderup" userId="e0ac67c0-b505-4405-ab95-266cbfcd4586" providerId="ADAL" clId="{495AF721-4E66-5624-A6F1-D11890231467}" dt="2026-08-28T14:16:41.825" v="2225" actId="20577"/>
          <ac:spMkLst>
            <pc:docMk/>
            <pc:sldMk cId="515856490" sldId="689"/>
            <ac:spMk id="2" creationId="{9F4DED31-2CD0-E82F-7BD8-C78C81B05180}"/>
          </ac:spMkLst>
        </pc:spChg>
        <pc:spChg chg="mod">
          <ac:chgData name="Guttorm Schjelderup" userId="e0ac67c0-b505-4405-ab95-266cbfcd4586" providerId="ADAL" clId="{495AF721-4E66-5624-A6F1-D11890231467}" dt="2026-08-28T14:18:01.721" v="2451" actId="20577"/>
          <ac:spMkLst>
            <pc:docMk/>
            <pc:sldMk cId="515856490" sldId="689"/>
            <ac:spMk id="3" creationId="{6CFC5D64-4998-DD90-56E9-EF9009E1143D}"/>
          </ac:spMkLst>
        </pc:spChg>
      </pc:sldChg>
      <pc:sldChg chg="modSp mod">
        <pc:chgData name="Guttorm Schjelderup" userId="e0ac67c0-b505-4405-ab95-266cbfcd4586" providerId="ADAL" clId="{495AF721-4E66-5624-A6F1-D11890231467}" dt="2026-08-28T14:13:22.191" v="1970" actId="313"/>
        <pc:sldMkLst>
          <pc:docMk/>
          <pc:sldMk cId="820577858" sldId="696"/>
        </pc:sldMkLst>
        <pc:spChg chg="mod">
          <ac:chgData name="Guttorm Schjelderup" userId="e0ac67c0-b505-4405-ab95-266cbfcd4586" providerId="ADAL" clId="{495AF721-4E66-5624-A6F1-D11890231467}" dt="2026-08-28T14:12:59.668" v="1961" actId="790"/>
          <ac:spMkLst>
            <pc:docMk/>
            <pc:sldMk cId="820577858" sldId="696"/>
            <ac:spMk id="2" creationId="{BB9D0C3D-D30F-BCD9-45E7-83F906AD0000}"/>
          </ac:spMkLst>
        </pc:spChg>
        <pc:spChg chg="mod">
          <ac:chgData name="Guttorm Schjelderup" userId="e0ac67c0-b505-4405-ab95-266cbfcd4586" providerId="ADAL" clId="{495AF721-4E66-5624-A6F1-D11890231467}" dt="2026-08-28T14:13:22.191" v="1970" actId="313"/>
          <ac:spMkLst>
            <pc:docMk/>
            <pc:sldMk cId="820577858" sldId="696"/>
            <ac:spMk id="3" creationId="{1A13BA3C-2207-58AD-CC7A-A0D4E3779504}"/>
          </ac:spMkLst>
        </pc:spChg>
      </pc:sldChg>
      <pc:sldChg chg="modSp add mod modAnim">
        <pc:chgData name="Guttorm Schjelderup" userId="e0ac67c0-b505-4405-ab95-266cbfcd4586" providerId="ADAL" clId="{495AF721-4E66-5624-A6F1-D11890231467}" dt="2026-08-28T13:44:55.645" v="874" actId="20577"/>
        <pc:sldMkLst>
          <pc:docMk/>
          <pc:sldMk cId="3527276951" sldId="697"/>
        </pc:sldMkLst>
        <pc:spChg chg="mod">
          <ac:chgData name="Guttorm Schjelderup" userId="e0ac67c0-b505-4405-ab95-266cbfcd4586" providerId="ADAL" clId="{495AF721-4E66-5624-A6F1-D11890231467}" dt="2026-08-28T13:44:45.773" v="871" actId="14100"/>
          <ac:spMkLst>
            <pc:docMk/>
            <pc:sldMk cId="3527276951" sldId="697"/>
            <ac:spMk id="2" creationId="{930D0069-3DF6-1357-E271-18301C68533C}"/>
          </ac:spMkLst>
        </pc:spChg>
        <pc:spChg chg="mod">
          <ac:chgData name="Guttorm Schjelderup" userId="e0ac67c0-b505-4405-ab95-266cbfcd4586" providerId="ADAL" clId="{495AF721-4E66-5624-A6F1-D11890231467}" dt="2026-08-28T13:44:55.645" v="874" actId="20577"/>
          <ac:spMkLst>
            <pc:docMk/>
            <pc:sldMk cId="3527276951" sldId="697"/>
            <ac:spMk id="3" creationId="{452F9946-FD0E-DC5C-9E34-A204657E6CE7}"/>
          </ac:spMkLst>
        </pc:spChg>
      </pc:sldChg>
      <pc:sldChg chg="delSp add setBg delDesignElem">
        <pc:chgData name="Guttorm Schjelderup" userId="e0ac67c0-b505-4405-ab95-266cbfcd4586" providerId="ADAL" clId="{495AF721-4E66-5624-A6F1-D11890231467}" dt="2026-08-28T13:16:46.370" v="396"/>
        <pc:sldMkLst>
          <pc:docMk/>
          <pc:sldMk cId="1832357069" sldId="698"/>
        </pc:sldMkLst>
        <pc:spChg chg="del">
          <ac:chgData name="Guttorm Schjelderup" userId="e0ac67c0-b505-4405-ab95-266cbfcd4586" providerId="ADAL" clId="{495AF721-4E66-5624-A6F1-D11890231467}" dt="2026-08-28T13:16:46.370" v="396"/>
          <ac:spMkLst>
            <pc:docMk/>
            <pc:sldMk cId="1832357069" sldId="698"/>
            <ac:spMk id="14" creationId="{26DF87A6-226B-B7B0-4A29-5328A5A254C9}"/>
          </ac:spMkLst>
        </pc:spChg>
        <pc:spChg chg="del">
          <ac:chgData name="Guttorm Schjelderup" userId="e0ac67c0-b505-4405-ab95-266cbfcd4586" providerId="ADAL" clId="{495AF721-4E66-5624-A6F1-D11890231467}" dt="2026-08-28T13:16:46.370" v="396"/>
          <ac:spMkLst>
            <pc:docMk/>
            <pc:sldMk cId="1832357069" sldId="698"/>
            <ac:spMk id="16" creationId="{58854897-F421-DA2F-4715-C30189B68AA7}"/>
          </ac:spMkLst>
        </pc:spChg>
        <pc:spChg chg="del">
          <ac:chgData name="Guttorm Schjelderup" userId="e0ac67c0-b505-4405-ab95-266cbfcd4586" providerId="ADAL" clId="{495AF721-4E66-5624-A6F1-D11890231467}" dt="2026-08-28T13:16:46.370" v="396"/>
          <ac:spMkLst>
            <pc:docMk/>
            <pc:sldMk cId="1832357069" sldId="698"/>
            <ac:spMk id="18" creationId="{2E5CC1F7-D4A3-442F-34B0-BA57F6A192B4}"/>
          </ac:spMkLst>
        </pc:spChg>
      </pc:sldChg>
      <pc:sldChg chg="add del">
        <pc:chgData name="Guttorm Schjelderup" userId="e0ac67c0-b505-4405-ab95-266cbfcd4586" providerId="ADAL" clId="{495AF721-4E66-5624-A6F1-D11890231467}" dt="2026-08-28T13:41:51.056" v="800" actId="2696"/>
        <pc:sldMkLst>
          <pc:docMk/>
          <pc:sldMk cId="3541033291" sldId="699"/>
        </pc:sldMkLst>
      </pc:sldChg>
      <pc:sldChg chg="modSp add mod">
        <pc:chgData name="Guttorm Schjelderup" userId="e0ac67c0-b505-4405-ab95-266cbfcd4586" providerId="ADAL" clId="{495AF721-4E66-5624-A6F1-D11890231467}" dt="2026-08-28T13:42:04.060" v="801" actId="114"/>
        <pc:sldMkLst>
          <pc:docMk/>
          <pc:sldMk cId="3441321881" sldId="700"/>
        </pc:sldMkLst>
        <pc:spChg chg="mod">
          <ac:chgData name="Guttorm Schjelderup" userId="e0ac67c0-b505-4405-ab95-266cbfcd4586" providerId="ADAL" clId="{495AF721-4E66-5624-A6F1-D11890231467}" dt="2026-08-28T13:42:04.060" v="801" actId="114"/>
          <ac:spMkLst>
            <pc:docMk/>
            <pc:sldMk cId="3441321881" sldId="700"/>
            <ac:spMk id="23" creationId="{4459FF74-2262-DC04-303D-F34CB8FB911D}"/>
          </ac:spMkLst>
        </pc:spChg>
      </pc:sldChg>
      <pc:sldChg chg="addSp delSp modSp new mod ord">
        <pc:chgData name="Guttorm Schjelderup" userId="e0ac67c0-b505-4405-ab95-266cbfcd4586" providerId="ADAL" clId="{495AF721-4E66-5624-A6F1-D11890231467}" dt="2026-08-28T13:46:10.858" v="903" actId="20577"/>
        <pc:sldMkLst>
          <pc:docMk/>
          <pc:sldMk cId="3252435460" sldId="701"/>
        </pc:sldMkLst>
        <pc:spChg chg="add del mod">
          <ac:chgData name="Guttorm Schjelderup" userId="e0ac67c0-b505-4405-ab95-266cbfcd4586" providerId="ADAL" clId="{495AF721-4E66-5624-A6F1-D11890231467}" dt="2026-08-28T13:32:07.015" v="607" actId="478"/>
          <ac:spMkLst>
            <pc:docMk/>
            <pc:sldMk cId="3252435460" sldId="701"/>
            <ac:spMk id="5" creationId="{C1CB4F6D-0A14-13FF-D427-8511596D8754}"/>
          </ac:spMkLst>
        </pc:spChg>
        <pc:spChg chg="add mod">
          <ac:chgData name="Guttorm Schjelderup" userId="e0ac67c0-b505-4405-ab95-266cbfcd4586" providerId="ADAL" clId="{495AF721-4E66-5624-A6F1-D11890231467}" dt="2026-08-28T13:46:10.858" v="903" actId="20577"/>
          <ac:spMkLst>
            <pc:docMk/>
            <pc:sldMk cId="3252435460" sldId="701"/>
            <ac:spMk id="8" creationId="{7C2ADACA-1BD0-5889-F184-91C78291C3CC}"/>
          </ac:spMkLst>
        </pc:spChg>
        <pc:picChg chg="add mod">
          <ac:chgData name="Guttorm Schjelderup" userId="e0ac67c0-b505-4405-ab95-266cbfcd4586" providerId="ADAL" clId="{495AF721-4E66-5624-A6F1-D11890231467}" dt="2026-08-28T13:27:53.062" v="413" actId="14100"/>
          <ac:picMkLst>
            <pc:docMk/>
            <pc:sldMk cId="3252435460" sldId="701"/>
            <ac:picMk id="3" creationId="{8EA6A216-BA18-CA37-798C-7E5E15A4E8E3}"/>
          </ac:picMkLst>
        </pc:picChg>
        <pc:picChg chg="add mod">
          <ac:chgData name="Guttorm Schjelderup" userId="e0ac67c0-b505-4405-ab95-266cbfcd4586" providerId="ADAL" clId="{495AF721-4E66-5624-A6F1-D11890231467}" dt="2026-08-28T13:29:33.032" v="423" actId="1076"/>
          <ac:picMkLst>
            <pc:docMk/>
            <pc:sldMk cId="3252435460" sldId="701"/>
            <ac:picMk id="6" creationId="{2F239561-820D-584D-1339-D557C7F4CE52}"/>
          </ac:picMkLst>
        </pc:picChg>
      </pc:sldChg>
      <pc:sldChg chg="modSp add mod">
        <pc:chgData name="Guttorm Schjelderup" userId="e0ac67c0-b505-4405-ab95-266cbfcd4586" providerId="ADAL" clId="{495AF721-4E66-5624-A6F1-D11890231467}" dt="2026-08-28T13:41:44.298" v="799" actId="403"/>
        <pc:sldMkLst>
          <pc:docMk/>
          <pc:sldMk cId="2182011208" sldId="702"/>
        </pc:sldMkLst>
        <pc:spChg chg="mod">
          <ac:chgData name="Guttorm Schjelderup" userId="e0ac67c0-b505-4405-ab95-266cbfcd4586" providerId="ADAL" clId="{495AF721-4E66-5624-A6F1-D11890231467}" dt="2026-08-28T13:41:00.698" v="756" actId="20577"/>
          <ac:spMkLst>
            <pc:docMk/>
            <pc:sldMk cId="2182011208" sldId="702"/>
            <ac:spMk id="2" creationId="{9EEBA8AB-15BC-BBAE-A8C0-76901CE4924A}"/>
          </ac:spMkLst>
        </pc:spChg>
        <pc:spChg chg="mod">
          <ac:chgData name="Guttorm Schjelderup" userId="e0ac67c0-b505-4405-ab95-266cbfcd4586" providerId="ADAL" clId="{495AF721-4E66-5624-A6F1-D11890231467}" dt="2026-08-28T13:39:35.766" v="736" actId="790"/>
          <ac:spMkLst>
            <pc:docMk/>
            <pc:sldMk cId="2182011208" sldId="702"/>
            <ac:spMk id="4" creationId="{8407D1A4-8B10-F6B7-C17C-38FB85A6410B}"/>
          </ac:spMkLst>
        </pc:spChg>
        <pc:spChg chg="mod">
          <ac:chgData name="Guttorm Schjelderup" userId="e0ac67c0-b505-4405-ab95-266cbfcd4586" providerId="ADAL" clId="{495AF721-4E66-5624-A6F1-D11890231467}" dt="2026-08-28T13:41:44.298" v="799" actId="403"/>
          <ac:spMkLst>
            <pc:docMk/>
            <pc:sldMk cId="2182011208" sldId="702"/>
            <ac:spMk id="5" creationId="{4AB1238E-E64A-B23F-1919-3864ABF42A00}"/>
          </ac:spMkLst>
        </pc:spChg>
      </pc:sldChg>
      <pc:sldChg chg="addSp delSp modSp new del mod ord">
        <pc:chgData name="Guttorm Schjelderup" userId="e0ac67c0-b505-4405-ab95-266cbfcd4586" providerId="ADAL" clId="{495AF721-4E66-5624-A6F1-D11890231467}" dt="2026-08-28T13:38:56.486" v="734" actId="2696"/>
        <pc:sldMkLst>
          <pc:docMk/>
          <pc:sldMk cId="2806342869" sldId="702"/>
        </pc:sldMkLst>
        <pc:spChg chg="mod">
          <ac:chgData name="Guttorm Schjelderup" userId="e0ac67c0-b505-4405-ab95-266cbfcd4586" providerId="ADAL" clId="{495AF721-4E66-5624-A6F1-D11890231467}" dt="2026-08-28T13:38:40.888" v="732" actId="20577"/>
          <ac:spMkLst>
            <pc:docMk/>
            <pc:sldMk cId="2806342869" sldId="702"/>
            <ac:spMk id="2" creationId="{9EEBA8AB-15BC-BBAE-A8C0-76901CE4924A}"/>
          </ac:spMkLst>
        </pc:spChg>
        <pc:spChg chg="del">
          <ac:chgData name="Guttorm Schjelderup" userId="e0ac67c0-b505-4405-ab95-266cbfcd4586" providerId="ADAL" clId="{495AF721-4E66-5624-A6F1-D11890231467}" dt="2026-08-28T13:30:55.559" v="433"/>
          <ac:spMkLst>
            <pc:docMk/>
            <pc:sldMk cId="2806342869" sldId="702"/>
            <ac:spMk id="3" creationId="{7D17DA1E-5044-7239-9E59-E859AB015B77}"/>
          </ac:spMkLst>
        </pc:spChg>
        <pc:spChg chg="add mod">
          <ac:chgData name="Guttorm Schjelderup" userId="e0ac67c0-b505-4405-ab95-266cbfcd4586" providerId="ADAL" clId="{495AF721-4E66-5624-A6F1-D11890231467}" dt="2026-08-28T13:31:59.145" v="606" actId="20577"/>
          <ac:spMkLst>
            <pc:docMk/>
            <pc:sldMk cId="2806342869" sldId="702"/>
            <ac:spMk id="5" creationId="{4AB1238E-E64A-B23F-1919-3864ABF42A00}"/>
          </ac:spMkLst>
        </pc:spChg>
      </pc:sldChg>
      <pc:sldChg chg="addSp modSp new mod ord modAnim">
        <pc:chgData name="Guttorm Schjelderup" userId="e0ac67c0-b505-4405-ab95-266cbfcd4586" providerId="ADAL" clId="{495AF721-4E66-5624-A6F1-D11890231467}" dt="2026-08-28T13:50:32.371" v="989" actId="20578"/>
        <pc:sldMkLst>
          <pc:docMk/>
          <pc:sldMk cId="1274165672" sldId="703"/>
        </pc:sldMkLst>
        <pc:spChg chg="mod">
          <ac:chgData name="Guttorm Schjelderup" userId="e0ac67c0-b505-4405-ab95-266cbfcd4586" providerId="ADAL" clId="{495AF721-4E66-5624-A6F1-D11890231467}" dt="2026-08-28T13:35:14.494" v="646" actId="790"/>
          <ac:spMkLst>
            <pc:docMk/>
            <pc:sldMk cId="1274165672" sldId="703"/>
            <ac:spMk id="2" creationId="{2A1E4C6E-9BF1-B1A1-E1B2-443DB7209FAF}"/>
          </ac:spMkLst>
        </pc:spChg>
        <pc:spChg chg="mod">
          <ac:chgData name="Guttorm Schjelderup" userId="e0ac67c0-b505-4405-ab95-266cbfcd4586" providerId="ADAL" clId="{495AF721-4E66-5624-A6F1-D11890231467}" dt="2026-08-28T13:35:26.998" v="657" actId="20577"/>
          <ac:spMkLst>
            <pc:docMk/>
            <pc:sldMk cId="1274165672" sldId="703"/>
            <ac:spMk id="3" creationId="{568762C3-8350-D5C9-C576-AEB013D28E6F}"/>
          </ac:spMkLst>
        </pc:spChg>
        <pc:spChg chg="mod">
          <ac:chgData name="Guttorm Schjelderup" userId="e0ac67c0-b505-4405-ab95-266cbfcd4586" providerId="ADAL" clId="{495AF721-4E66-5624-A6F1-D11890231467}" dt="2026-08-28T13:35:14.494" v="646" actId="790"/>
          <ac:spMkLst>
            <pc:docMk/>
            <pc:sldMk cId="1274165672" sldId="703"/>
            <ac:spMk id="4" creationId="{57AA1C80-54F3-8911-AD9C-61BFB294D4E1}"/>
          </ac:spMkLst>
        </pc:spChg>
        <pc:spChg chg="add mod">
          <ac:chgData name="Guttorm Schjelderup" userId="e0ac67c0-b505-4405-ab95-266cbfcd4586" providerId="ADAL" clId="{495AF721-4E66-5624-A6F1-D11890231467}" dt="2026-08-28T13:37:49.182" v="711" actId="1076"/>
          <ac:spMkLst>
            <pc:docMk/>
            <pc:sldMk cId="1274165672" sldId="703"/>
            <ac:spMk id="5" creationId="{B9D4C8C7-7153-85A7-93CA-0FF020392910}"/>
          </ac:spMkLst>
        </pc:spChg>
      </pc:sldChg>
    </pc:docChg>
  </pc:docChgLst>
</pc:chgInfo>
</file>

<file path=ppt/diagrams/_rels/data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image" Target="../media/image130.png"/></Relationships>
</file>

<file path=ppt/diagrams/colors1.xml><?xml version="1.0" encoding="utf-8"?>
<dgm:colorsDef xmlns:dgm="http://schemas.openxmlformats.org/drawingml/2006/diagram" xmlns:a="http://schemas.openxmlformats.org/drawingml/2006/main" uniqueId="urn:microsoft.com/office/officeart/2005/8/colors/accent1_2#4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4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F335AA-382F-4D47-9249-361BEA1AFC77}" type="doc">
      <dgm:prSet loTypeId="urn:microsoft.com/office/officeart/2008/layout/LinedList" loCatId="list" qsTypeId="urn:microsoft.com/office/officeart/2005/8/quickstyle/simple1#89" qsCatId="simple" csTypeId="urn:microsoft.com/office/officeart/2005/8/colors/accent1_2#45" csCatId="accent1" phldr="1"/>
      <dgm:spPr/>
      <dgm:t>
        <a:bodyPr/>
        <a:lstStyle/>
        <a:p>
          <a:endParaRPr lang="en-US"/>
        </a:p>
      </dgm:t>
    </dgm:pt>
    <dgm:pt modelId="{CF1B1BB9-F812-4008-8CB8-B4591430D477}">
      <dgm:prSet custT="1"/>
      <dgm:spPr/>
      <dgm:t>
        <a:bodyPr/>
        <a:lstStyle/>
        <a:p>
          <a:r>
            <a:rPr lang="nb-NO" sz="3000" noProof="0"/>
            <a:t>Skattbar eierinntekt = utbetalt utbytte – skjermingsfradrag</a:t>
          </a:r>
          <a:endParaRPr lang="nb-NO" sz="3000" noProof="0" dirty="0"/>
        </a:p>
      </dgm:t>
    </dgm:pt>
    <dgm:pt modelId="{697E93FF-AB1D-4417-82D1-0AF7B39D1E89}" type="parTrans" cxnId="{49FDBEC6-46E2-44C7-9161-B77D2E058842}">
      <dgm:prSet/>
      <dgm:spPr/>
      <dgm:t>
        <a:bodyPr/>
        <a:lstStyle/>
        <a:p>
          <a:endParaRPr lang="en-US"/>
        </a:p>
      </dgm:t>
    </dgm:pt>
    <dgm:pt modelId="{0B56659B-3A58-4AB0-8791-F3D44276E474}" type="sibTrans" cxnId="{49FDBEC6-46E2-44C7-9161-B77D2E058842}">
      <dgm:prSet/>
      <dgm:spPr/>
      <dgm:t>
        <a:bodyPr/>
        <a:lstStyle/>
        <a:p>
          <a:endParaRPr lang="en-US"/>
        </a:p>
      </dgm:t>
    </dgm:pt>
    <mc:AlternateContent xmlns:mc="http://schemas.openxmlformats.org/markup-compatibility/2006" xmlns:a14="http://schemas.microsoft.com/office/drawing/2010/main">
      <mc:Choice Requires="a14">
        <dgm:pt modelId="{93BAF0EB-F442-4D4F-BD3A-EE9663E52D6B}">
          <dgm:prSet custT="1"/>
          <dgm:spPr/>
          <dgm:t>
            <a:bodyPr/>
            <a:lstStyle/>
            <a:p>
              <a:r>
                <a:rPr lang="nb-NO" sz="3000" noProof="0" dirty="0"/>
                <a:t>Skjermingsfradraget = skjermingsgrunnlaget * skjermingsrenten (</a:t>
              </a:r>
              <a14:m>
                <m:oMath xmlns:m="http://schemas.openxmlformats.org/officeDocument/2006/math">
                  <m:r>
                    <a:rPr lang="nb-NO" sz="3000" i="1" noProof="0" dirty="0" smtClean="0">
                      <a:solidFill>
                        <a:srgbClr val="FF0000"/>
                      </a:solidFill>
                      <a:latin typeface="Cambria Math" panose="02040503050406030204" pitchFamily="18" charset="0"/>
                    </a:rPr>
                    <m:t>𝑅</m:t>
                  </m:r>
                </m:oMath>
              </a14:m>
              <a:r>
                <a:rPr lang="nb-NO" sz="3000" noProof="0" dirty="0"/>
                <a:t>).</a:t>
              </a:r>
            </a:p>
          </dgm:t>
        </dgm:pt>
      </mc:Choice>
      <mc:Fallback xmlns="">
        <dgm:pt modelId="{93BAF0EB-F442-4D4F-BD3A-EE9663E52D6B}">
          <dgm:prSet custT="1"/>
          <dgm:spPr/>
          <dgm:t>
            <a:bodyPr/>
            <a:lstStyle/>
            <a:p>
              <a:r>
                <a:rPr lang="nb-NO" sz="3000" noProof="0" dirty="0"/>
                <a:t>Skjermingsfradraget = skjermingsgrunnlaget * skjermingsrenten (</a:t>
              </a:r>
              <a:r>
                <a:rPr lang="nb-NO" sz="3000" i="0" noProof="0" dirty="0">
                  <a:solidFill>
                    <a:srgbClr val="FF0000"/>
                  </a:solidFill>
                  <a:latin typeface="Cambria Math" panose="02040503050406030204" pitchFamily="18" charset="0"/>
                </a:rPr>
                <a:t>𝑅</a:t>
              </a:r>
              <a:r>
                <a:rPr lang="nb-NO" sz="3000" noProof="0" dirty="0"/>
                <a:t>).</a:t>
              </a:r>
            </a:p>
          </dgm:t>
        </dgm:pt>
      </mc:Fallback>
    </mc:AlternateContent>
    <dgm:pt modelId="{9ABC3A82-3100-407E-8024-5903E316402D}" type="parTrans" cxnId="{C8D469E7-E7DC-4F07-BAFB-09B8C142F11D}">
      <dgm:prSet/>
      <dgm:spPr/>
      <dgm:t>
        <a:bodyPr/>
        <a:lstStyle/>
        <a:p>
          <a:endParaRPr lang="en-US"/>
        </a:p>
      </dgm:t>
    </dgm:pt>
    <dgm:pt modelId="{DC785CFD-0FBC-4F5D-B79D-FD9CA4F49FFA}" type="sibTrans" cxnId="{C8D469E7-E7DC-4F07-BAFB-09B8C142F11D}">
      <dgm:prSet/>
      <dgm:spPr/>
      <dgm:t>
        <a:bodyPr/>
        <a:lstStyle/>
        <a:p>
          <a:endParaRPr lang="en-US"/>
        </a:p>
      </dgm:t>
    </dgm:pt>
    <dgm:pt modelId="{49215797-34D9-4572-8E42-B0C507CCCD75}">
      <dgm:prSet custT="1"/>
      <dgm:spPr/>
      <dgm:t>
        <a:bodyPr/>
        <a:lstStyle/>
        <a:p>
          <a:r>
            <a:rPr lang="nb-NO" sz="3000" noProof="0"/>
            <a:t>Skjermingsgrunnlaget er aksjens kostpris (det du kjøpte aksjen for)</a:t>
          </a:r>
          <a:endParaRPr lang="nb-NO" sz="3000" noProof="0" dirty="0"/>
        </a:p>
      </dgm:t>
    </dgm:pt>
    <dgm:pt modelId="{EE9EA27D-7B9C-4946-8478-8D037AA6A45E}" type="parTrans" cxnId="{145EF059-2E79-443E-AAF3-E584B5A6A5F1}">
      <dgm:prSet/>
      <dgm:spPr/>
      <dgm:t>
        <a:bodyPr/>
        <a:lstStyle/>
        <a:p>
          <a:endParaRPr lang="en-US"/>
        </a:p>
      </dgm:t>
    </dgm:pt>
    <dgm:pt modelId="{9073B1A9-7D79-4A4B-8456-6440EE6D157A}" type="sibTrans" cxnId="{145EF059-2E79-443E-AAF3-E584B5A6A5F1}">
      <dgm:prSet/>
      <dgm:spPr/>
      <dgm:t>
        <a:bodyPr/>
        <a:lstStyle/>
        <a:p>
          <a:endParaRPr lang="en-US"/>
        </a:p>
      </dgm:t>
    </dgm:pt>
    <mc:AlternateContent xmlns:mc="http://schemas.openxmlformats.org/markup-compatibility/2006" xmlns:a14="http://schemas.microsoft.com/office/drawing/2010/main">
      <mc:Choice Requires="a14">
        <dgm:pt modelId="{DC5D1F55-C19C-4B5A-9963-6556CDE41DF3}">
          <dgm:prSet custT="1"/>
          <dgm:spPr/>
          <dgm:t>
            <a:bodyPr/>
            <a:lstStyle/>
            <a:p>
              <a14:m>
                <m:oMath xmlns:m="http://schemas.openxmlformats.org/officeDocument/2006/math">
                  <m:r>
                    <a:rPr lang="nb-NO" sz="3000" i="1" noProof="0" dirty="0" smtClean="0">
                      <a:solidFill>
                        <a:srgbClr val="FF0000"/>
                      </a:solidFill>
                      <a:latin typeface="Cambria Math" panose="02040503050406030204" pitchFamily="18" charset="0"/>
                    </a:rPr>
                    <m:t>𝑅</m:t>
                  </m:r>
                </m:oMath>
              </a14:m>
              <a:r>
                <a:rPr lang="nb-NO" sz="3000" noProof="0" dirty="0"/>
                <a:t>= rente 3 mnd. statskasseveksler (</a:t>
              </a:r>
              <a:r>
                <a:rPr lang="nb-NO" sz="3000" noProof="0" dirty="0">
                  <a:solidFill>
                    <a:srgbClr val="FF0000"/>
                  </a:solidFill>
                </a:rPr>
                <a:t>r</a:t>
              </a:r>
              <a:r>
                <a:rPr lang="nb-NO" sz="3000" noProof="0" dirty="0"/>
                <a:t>) + risikotillegg (</a:t>
              </a:r>
              <a:r>
                <a:rPr lang="nb-NO" sz="3000" noProof="0" dirty="0">
                  <a:solidFill>
                    <a:schemeClr val="tx1"/>
                  </a:solidFill>
                </a:rPr>
                <a:t>0,5%) </a:t>
              </a:r>
              <a:r>
                <a:rPr lang="nb-NO" sz="3000" noProof="0" dirty="0"/>
                <a:t>men justert for den alminnelige skattesatsen (</a:t>
              </a:r>
              <a:r>
                <a:rPr lang="nb-NO" sz="3000" noProof="0" dirty="0">
                  <a:solidFill>
                    <a:schemeClr val="tx1"/>
                  </a:solidFill>
                </a:rPr>
                <a:t>22%</a:t>
              </a:r>
              <a:r>
                <a:rPr lang="nb-NO" sz="3000" noProof="0" dirty="0"/>
                <a:t>): </a:t>
              </a:r>
            </a:p>
            <a:p>
              <a:pPr/>
              <a14:m>
                <m:oMathPara xmlns:m="http://schemas.openxmlformats.org/officeDocument/2006/math">
                  <m:oMath>
                    <m:r>
                      <a:rPr lang="en-US" sz="3000" b="0" i="1" noProof="0" smtClean="0">
                        <a:solidFill>
                          <a:srgbClr val="FF0000"/>
                        </a:solidFill>
                        <a:latin typeface="Cambria Math" panose="02040503050406030204" pitchFamily="18" charset="0"/>
                      </a:rPr>
                      <m:t>𝑅</m:t>
                    </m:r>
                    <m:r>
                      <a:rPr lang="en-US" sz="3000" b="0" i="1" noProof="0" smtClean="0">
                        <a:latin typeface="Cambria Math" panose="02040503050406030204" pitchFamily="18" charset="0"/>
                      </a:rPr>
                      <m:t>=(</m:t>
                    </m:r>
                    <m:r>
                      <a:rPr lang="en-US" sz="3000" b="0" i="1" noProof="0" smtClean="0">
                        <a:solidFill>
                          <a:srgbClr val="FF0000"/>
                        </a:solidFill>
                        <a:latin typeface="Cambria Math" panose="02040503050406030204" pitchFamily="18" charset="0"/>
                      </a:rPr>
                      <m:t>𝑟</m:t>
                    </m:r>
                    <m:r>
                      <a:rPr lang="en-US" sz="3000" b="0" i="1" noProof="0" smtClean="0">
                        <a:latin typeface="Cambria Math" panose="02040503050406030204" pitchFamily="18" charset="0"/>
                      </a:rPr>
                      <m:t>+0,5)(100%−22%)</m:t>
                    </m:r>
                  </m:oMath>
                </m:oMathPara>
              </a14:m>
              <a:endParaRPr lang="nb-NO" sz="3000" noProof="0" dirty="0"/>
            </a:p>
            <a:p>
              <a:r>
                <a:rPr lang="nb-NO" sz="2800" noProof="0" dirty="0"/>
                <a:t>	</a:t>
              </a:r>
            </a:p>
          </dgm:t>
        </dgm:pt>
      </mc:Choice>
      <mc:Fallback xmlns="">
        <dgm:pt modelId="{DC5D1F55-C19C-4B5A-9963-6556CDE41DF3}">
          <dgm:prSet custT="1"/>
          <dgm:spPr/>
          <dgm:t>
            <a:bodyPr/>
            <a:lstStyle/>
            <a:p>
              <a:r>
                <a:rPr lang="nb-NO" sz="3000" i="0" noProof="0" dirty="0">
                  <a:solidFill>
                    <a:srgbClr val="FF0000"/>
                  </a:solidFill>
                  <a:latin typeface="Cambria Math" panose="02040503050406030204" pitchFamily="18" charset="0"/>
                </a:rPr>
                <a:t>𝑅</a:t>
              </a:r>
              <a:r>
                <a:rPr lang="nb-NO" sz="3000" noProof="0" dirty="0"/>
                <a:t>= rente 3 mnd. statskasseveksler (</a:t>
              </a:r>
              <a:r>
                <a:rPr lang="nb-NO" sz="3000" noProof="0" dirty="0">
                  <a:solidFill>
                    <a:srgbClr val="FF0000"/>
                  </a:solidFill>
                </a:rPr>
                <a:t>r</a:t>
              </a:r>
              <a:r>
                <a:rPr lang="nb-NO" sz="3000" noProof="0" dirty="0"/>
                <a:t>) + risikotillegg (</a:t>
              </a:r>
              <a:r>
                <a:rPr lang="nb-NO" sz="3000" noProof="0" dirty="0">
                  <a:solidFill>
                    <a:schemeClr val="tx1"/>
                  </a:solidFill>
                </a:rPr>
                <a:t>0,5%) </a:t>
              </a:r>
              <a:r>
                <a:rPr lang="nb-NO" sz="3000" noProof="0" dirty="0"/>
                <a:t>men justert for den alminnelige skattesatsen (</a:t>
              </a:r>
              <a:r>
                <a:rPr lang="nb-NO" sz="3000" noProof="0" dirty="0">
                  <a:solidFill>
                    <a:schemeClr val="tx1"/>
                  </a:solidFill>
                </a:rPr>
                <a:t>22%</a:t>
              </a:r>
              <a:r>
                <a:rPr lang="nb-NO" sz="3000" noProof="0" dirty="0"/>
                <a:t>): </a:t>
              </a:r>
            </a:p>
            <a:p>
              <a:pPr/>
              <a:r>
                <a:rPr lang="en-US" sz="3000" b="0" i="0" noProof="0">
                  <a:solidFill>
                    <a:srgbClr val="FF0000"/>
                  </a:solidFill>
                  <a:latin typeface="Cambria Math" panose="02040503050406030204" pitchFamily="18" charset="0"/>
                </a:rPr>
                <a:t>𝑅</a:t>
              </a:r>
              <a:r>
                <a:rPr lang="en-US" sz="3000" b="0" i="0" noProof="0">
                  <a:latin typeface="Cambria Math" panose="02040503050406030204" pitchFamily="18" charset="0"/>
                </a:rPr>
                <a:t>=(</a:t>
              </a:r>
              <a:r>
                <a:rPr lang="en-US" sz="3000" b="0" i="0" noProof="0">
                  <a:solidFill>
                    <a:srgbClr val="FF0000"/>
                  </a:solidFill>
                  <a:latin typeface="Cambria Math" panose="02040503050406030204" pitchFamily="18" charset="0"/>
                </a:rPr>
                <a:t>𝑟</a:t>
              </a:r>
              <a:r>
                <a:rPr lang="en-US" sz="3000" b="0" i="0" noProof="0">
                  <a:latin typeface="Cambria Math" panose="02040503050406030204" pitchFamily="18" charset="0"/>
                </a:rPr>
                <a:t>+0,5)(100%−22%)</a:t>
              </a:r>
              <a:endParaRPr lang="nb-NO" sz="3000" noProof="0" dirty="0"/>
            </a:p>
            <a:p>
              <a:r>
                <a:rPr lang="nb-NO" sz="2800" noProof="0" dirty="0"/>
                <a:t>	</a:t>
              </a:r>
            </a:p>
          </dgm:t>
        </dgm:pt>
      </mc:Fallback>
    </mc:AlternateContent>
    <dgm:pt modelId="{2F7341D4-987C-4748-AD7E-F4188C1C5BDF}" type="parTrans" cxnId="{5EB12D93-2ADD-4D64-9406-C5AE8AC1C145}">
      <dgm:prSet/>
      <dgm:spPr/>
      <dgm:t>
        <a:bodyPr/>
        <a:lstStyle/>
        <a:p>
          <a:endParaRPr lang="en-US"/>
        </a:p>
      </dgm:t>
    </dgm:pt>
    <dgm:pt modelId="{F2A2931E-55BD-4C25-B45B-664B9966566A}" type="sibTrans" cxnId="{5EB12D93-2ADD-4D64-9406-C5AE8AC1C145}">
      <dgm:prSet/>
      <dgm:spPr/>
      <dgm:t>
        <a:bodyPr/>
        <a:lstStyle/>
        <a:p>
          <a:endParaRPr lang="en-US"/>
        </a:p>
      </dgm:t>
    </dgm:pt>
    <dgm:pt modelId="{DB8B8A0B-90F1-4590-AE1C-F256E99076BD}" type="pres">
      <dgm:prSet presAssocID="{89F335AA-382F-4D47-9249-361BEA1AFC77}" presName="vert0" presStyleCnt="0">
        <dgm:presLayoutVars>
          <dgm:dir/>
          <dgm:animOne val="branch"/>
          <dgm:animLvl val="lvl"/>
        </dgm:presLayoutVars>
      </dgm:prSet>
      <dgm:spPr/>
    </dgm:pt>
    <dgm:pt modelId="{DAF83A94-61FE-4D56-901C-7B21C4840072}" type="pres">
      <dgm:prSet presAssocID="{CF1B1BB9-F812-4008-8CB8-B4591430D477}" presName="thickLine" presStyleLbl="alignNode1" presStyleIdx="0" presStyleCnt="4"/>
      <dgm:spPr/>
    </dgm:pt>
    <dgm:pt modelId="{0B322A21-9CD8-42B3-A36F-FC3C391D9149}" type="pres">
      <dgm:prSet presAssocID="{CF1B1BB9-F812-4008-8CB8-B4591430D477}" presName="horz1" presStyleCnt="0"/>
      <dgm:spPr/>
    </dgm:pt>
    <dgm:pt modelId="{0B3EACD1-E824-471C-AF46-CA11F46BC540}" type="pres">
      <dgm:prSet presAssocID="{CF1B1BB9-F812-4008-8CB8-B4591430D477}" presName="tx1" presStyleLbl="revTx" presStyleIdx="0" presStyleCnt="4"/>
      <dgm:spPr/>
    </dgm:pt>
    <dgm:pt modelId="{F77204C6-EBC3-4601-A9DA-74926695FB98}" type="pres">
      <dgm:prSet presAssocID="{CF1B1BB9-F812-4008-8CB8-B4591430D477}" presName="vert1" presStyleCnt="0"/>
      <dgm:spPr/>
    </dgm:pt>
    <dgm:pt modelId="{3390C0E8-BDA3-4E2F-9858-E1EA7A4EAEBA}" type="pres">
      <dgm:prSet presAssocID="{93BAF0EB-F442-4D4F-BD3A-EE9663E52D6B}" presName="thickLine" presStyleLbl="alignNode1" presStyleIdx="1" presStyleCnt="4"/>
      <dgm:spPr/>
    </dgm:pt>
    <dgm:pt modelId="{F6DC9F93-48A3-4DAA-9EB8-8ABD8912066A}" type="pres">
      <dgm:prSet presAssocID="{93BAF0EB-F442-4D4F-BD3A-EE9663E52D6B}" presName="horz1" presStyleCnt="0"/>
      <dgm:spPr/>
    </dgm:pt>
    <dgm:pt modelId="{5CCA136C-92C5-4BAC-AC4E-C4CE738ECE00}" type="pres">
      <dgm:prSet presAssocID="{93BAF0EB-F442-4D4F-BD3A-EE9663E52D6B}" presName="tx1" presStyleLbl="revTx" presStyleIdx="1" presStyleCnt="4"/>
      <dgm:spPr/>
    </dgm:pt>
    <dgm:pt modelId="{243D8D3E-CF8F-4741-9FC6-30E09A81750C}" type="pres">
      <dgm:prSet presAssocID="{93BAF0EB-F442-4D4F-BD3A-EE9663E52D6B}" presName="vert1" presStyleCnt="0"/>
      <dgm:spPr/>
    </dgm:pt>
    <dgm:pt modelId="{1EDC6418-EB77-44C6-834C-5A42F8CF5798}" type="pres">
      <dgm:prSet presAssocID="{49215797-34D9-4572-8E42-B0C507CCCD75}" presName="thickLine" presStyleLbl="alignNode1" presStyleIdx="2" presStyleCnt="4"/>
      <dgm:spPr/>
    </dgm:pt>
    <dgm:pt modelId="{1E1B2DF5-2013-4711-AF75-6131529DD278}" type="pres">
      <dgm:prSet presAssocID="{49215797-34D9-4572-8E42-B0C507CCCD75}" presName="horz1" presStyleCnt="0"/>
      <dgm:spPr/>
    </dgm:pt>
    <dgm:pt modelId="{8DDB9416-D494-4A0E-966B-44752C728066}" type="pres">
      <dgm:prSet presAssocID="{49215797-34D9-4572-8E42-B0C507CCCD75}" presName="tx1" presStyleLbl="revTx" presStyleIdx="2" presStyleCnt="4"/>
      <dgm:spPr/>
    </dgm:pt>
    <dgm:pt modelId="{C0716C7D-E19B-4503-9136-D5A613BFCCBF}" type="pres">
      <dgm:prSet presAssocID="{49215797-34D9-4572-8E42-B0C507CCCD75}" presName="vert1" presStyleCnt="0"/>
      <dgm:spPr/>
    </dgm:pt>
    <dgm:pt modelId="{AC5E0303-668F-4FAA-B95F-055F0F5ABAB7}" type="pres">
      <dgm:prSet presAssocID="{DC5D1F55-C19C-4B5A-9963-6556CDE41DF3}" presName="thickLine" presStyleLbl="alignNode1" presStyleIdx="3" presStyleCnt="4"/>
      <dgm:spPr/>
    </dgm:pt>
    <dgm:pt modelId="{0FBB3259-79F3-4833-8054-F89583CEA106}" type="pres">
      <dgm:prSet presAssocID="{DC5D1F55-C19C-4B5A-9963-6556CDE41DF3}" presName="horz1" presStyleCnt="0"/>
      <dgm:spPr/>
    </dgm:pt>
    <dgm:pt modelId="{5E7F82F6-A3BA-4D6F-910F-165BD26FF739}" type="pres">
      <dgm:prSet presAssocID="{DC5D1F55-C19C-4B5A-9963-6556CDE41DF3}" presName="tx1" presStyleLbl="revTx" presStyleIdx="3" presStyleCnt="4" custScaleY="152898"/>
      <dgm:spPr/>
    </dgm:pt>
    <dgm:pt modelId="{BB9EC775-BEF5-4DF6-B4B5-B2F5064D8C73}" type="pres">
      <dgm:prSet presAssocID="{DC5D1F55-C19C-4B5A-9963-6556CDE41DF3}" presName="vert1" presStyleCnt="0"/>
      <dgm:spPr/>
    </dgm:pt>
  </dgm:ptLst>
  <dgm:cxnLst>
    <dgm:cxn modelId="{D50E0653-C3ED-450C-B7FD-226E312FB52B}" type="presOf" srcId="{93BAF0EB-F442-4D4F-BD3A-EE9663E52D6B}" destId="{5CCA136C-92C5-4BAC-AC4E-C4CE738ECE00}" srcOrd="0" destOrd="0" presId="urn:microsoft.com/office/officeart/2008/layout/LinedList"/>
    <dgm:cxn modelId="{145EF059-2E79-443E-AAF3-E584B5A6A5F1}" srcId="{89F335AA-382F-4D47-9249-361BEA1AFC77}" destId="{49215797-34D9-4572-8E42-B0C507CCCD75}" srcOrd="2" destOrd="0" parTransId="{EE9EA27D-7B9C-4946-8478-8D037AA6A45E}" sibTransId="{9073B1A9-7D79-4A4B-8456-6440EE6D157A}"/>
    <dgm:cxn modelId="{44D7D75B-2AB1-4E77-AB1A-C7611EAE53B4}" type="presOf" srcId="{49215797-34D9-4572-8E42-B0C507CCCD75}" destId="{8DDB9416-D494-4A0E-966B-44752C728066}" srcOrd="0" destOrd="0" presId="urn:microsoft.com/office/officeart/2008/layout/LinedList"/>
    <dgm:cxn modelId="{4BEAF48B-5E32-46C0-857C-4DF3EBF69A7C}" type="presOf" srcId="{DC5D1F55-C19C-4B5A-9963-6556CDE41DF3}" destId="{5E7F82F6-A3BA-4D6F-910F-165BD26FF739}" srcOrd="0" destOrd="0" presId="urn:microsoft.com/office/officeart/2008/layout/LinedList"/>
    <dgm:cxn modelId="{5EB12D93-2ADD-4D64-9406-C5AE8AC1C145}" srcId="{89F335AA-382F-4D47-9249-361BEA1AFC77}" destId="{DC5D1F55-C19C-4B5A-9963-6556CDE41DF3}" srcOrd="3" destOrd="0" parTransId="{2F7341D4-987C-4748-AD7E-F4188C1C5BDF}" sibTransId="{F2A2931E-55BD-4C25-B45B-664B9966566A}"/>
    <dgm:cxn modelId="{2EC0CEC3-7AAC-4D23-9472-57B235D0DC84}" type="presOf" srcId="{CF1B1BB9-F812-4008-8CB8-B4591430D477}" destId="{0B3EACD1-E824-471C-AF46-CA11F46BC540}" srcOrd="0" destOrd="0" presId="urn:microsoft.com/office/officeart/2008/layout/LinedList"/>
    <dgm:cxn modelId="{49FDBEC6-46E2-44C7-9161-B77D2E058842}" srcId="{89F335AA-382F-4D47-9249-361BEA1AFC77}" destId="{CF1B1BB9-F812-4008-8CB8-B4591430D477}" srcOrd="0" destOrd="0" parTransId="{697E93FF-AB1D-4417-82D1-0AF7B39D1E89}" sibTransId="{0B56659B-3A58-4AB0-8791-F3D44276E474}"/>
    <dgm:cxn modelId="{C8D469E7-E7DC-4F07-BAFB-09B8C142F11D}" srcId="{89F335AA-382F-4D47-9249-361BEA1AFC77}" destId="{93BAF0EB-F442-4D4F-BD3A-EE9663E52D6B}" srcOrd="1" destOrd="0" parTransId="{9ABC3A82-3100-407E-8024-5903E316402D}" sibTransId="{DC785CFD-0FBC-4F5D-B79D-FD9CA4F49FFA}"/>
    <dgm:cxn modelId="{20C316FB-5422-45EF-8F5E-4122858C071D}" type="presOf" srcId="{89F335AA-382F-4D47-9249-361BEA1AFC77}" destId="{DB8B8A0B-90F1-4590-AE1C-F256E99076BD}" srcOrd="0" destOrd="0" presId="urn:microsoft.com/office/officeart/2008/layout/LinedList"/>
    <dgm:cxn modelId="{7C3BE74D-4D20-4029-8D1F-1D92F659948A}" type="presParOf" srcId="{DB8B8A0B-90F1-4590-AE1C-F256E99076BD}" destId="{DAF83A94-61FE-4D56-901C-7B21C4840072}" srcOrd="0" destOrd="0" presId="urn:microsoft.com/office/officeart/2008/layout/LinedList"/>
    <dgm:cxn modelId="{61E20561-4F1D-4B7F-8505-21EA7A69DA3E}" type="presParOf" srcId="{DB8B8A0B-90F1-4590-AE1C-F256E99076BD}" destId="{0B322A21-9CD8-42B3-A36F-FC3C391D9149}" srcOrd="1" destOrd="0" presId="urn:microsoft.com/office/officeart/2008/layout/LinedList"/>
    <dgm:cxn modelId="{1A0A137A-D844-49AC-B72D-E9C1EB2A9851}" type="presParOf" srcId="{0B322A21-9CD8-42B3-A36F-FC3C391D9149}" destId="{0B3EACD1-E824-471C-AF46-CA11F46BC540}" srcOrd="0" destOrd="0" presId="urn:microsoft.com/office/officeart/2008/layout/LinedList"/>
    <dgm:cxn modelId="{F6CBB664-0E5D-4E92-948B-9D04C2ACE7C5}" type="presParOf" srcId="{0B322A21-9CD8-42B3-A36F-FC3C391D9149}" destId="{F77204C6-EBC3-4601-A9DA-74926695FB98}" srcOrd="1" destOrd="0" presId="urn:microsoft.com/office/officeart/2008/layout/LinedList"/>
    <dgm:cxn modelId="{57814E56-F13F-40EA-BA39-C0078B692F7C}" type="presParOf" srcId="{DB8B8A0B-90F1-4590-AE1C-F256E99076BD}" destId="{3390C0E8-BDA3-4E2F-9858-E1EA7A4EAEBA}" srcOrd="2" destOrd="0" presId="urn:microsoft.com/office/officeart/2008/layout/LinedList"/>
    <dgm:cxn modelId="{DE482BBA-93A5-4E33-BF48-B20AC34C9630}" type="presParOf" srcId="{DB8B8A0B-90F1-4590-AE1C-F256E99076BD}" destId="{F6DC9F93-48A3-4DAA-9EB8-8ABD8912066A}" srcOrd="3" destOrd="0" presId="urn:microsoft.com/office/officeart/2008/layout/LinedList"/>
    <dgm:cxn modelId="{802A970D-5B55-404E-9C2C-FCBED490EC7A}" type="presParOf" srcId="{F6DC9F93-48A3-4DAA-9EB8-8ABD8912066A}" destId="{5CCA136C-92C5-4BAC-AC4E-C4CE738ECE00}" srcOrd="0" destOrd="0" presId="urn:microsoft.com/office/officeart/2008/layout/LinedList"/>
    <dgm:cxn modelId="{ECC094F8-B784-423A-B70B-036ADE0CF0BF}" type="presParOf" srcId="{F6DC9F93-48A3-4DAA-9EB8-8ABD8912066A}" destId="{243D8D3E-CF8F-4741-9FC6-30E09A81750C}" srcOrd="1" destOrd="0" presId="urn:microsoft.com/office/officeart/2008/layout/LinedList"/>
    <dgm:cxn modelId="{19847A3C-9087-4BD1-AD95-91F75AB0EDD4}" type="presParOf" srcId="{DB8B8A0B-90F1-4590-AE1C-F256E99076BD}" destId="{1EDC6418-EB77-44C6-834C-5A42F8CF5798}" srcOrd="4" destOrd="0" presId="urn:microsoft.com/office/officeart/2008/layout/LinedList"/>
    <dgm:cxn modelId="{BE6E51CD-2FB6-4CD8-9F9F-D2FF138A4788}" type="presParOf" srcId="{DB8B8A0B-90F1-4590-AE1C-F256E99076BD}" destId="{1E1B2DF5-2013-4711-AF75-6131529DD278}" srcOrd="5" destOrd="0" presId="urn:microsoft.com/office/officeart/2008/layout/LinedList"/>
    <dgm:cxn modelId="{3D77864A-D00D-45FC-9F8F-A274618838F6}" type="presParOf" srcId="{1E1B2DF5-2013-4711-AF75-6131529DD278}" destId="{8DDB9416-D494-4A0E-966B-44752C728066}" srcOrd="0" destOrd="0" presId="urn:microsoft.com/office/officeart/2008/layout/LinedList"/>
    <dgm:cxn modelId="{03E7A519-C550-46DB-B7EF-C6E00E59ABDB}" type="presParOf" srcId="{1E1B2DF5-2013-4711-AF75-6131529DD278}" destId="{C0716C7D-E19B-4503-9136-D5A613BFCCBF}" srcOrd="1" destOrd="0" presId="urn:microsoft.com/office/officeart/2008/layout/LinedList"/>
    <dgm:cxn modelId="{104580E7-222D-4B6D-897A-D82F2C51E463}" type="presParOf" srcId="{DB8B8A0B-90F1-4590-AE1C-F256E99076BD}" destId="{AC5E0303-668F-4FAA-B95F-055F0F5ABAB7}" srcOrd="6" destOrd="0" presId="urn:microsoft.com/office/officeart/2008/layout/LinedList"/>
    <dgm:cxn modelId="{7A954284-EF8E-4056-A195-E1E9749B959B}" type="presParOf" srcId="{DB8B8A0B-90F1-4590-AE1C-F256E99076BD}" destId="{0FBB3259-79F3-4833-8054-F89583CEA106}" srcOrd="7" destOrd="0" presId="urn:microsoft.com/office/officeart/2008/layout/LinedList"/>
    <dgm:cxn modelId="{804D5FE3-0CEA-4D46-88B1-DEA680A32A4F}" type="presParOf" srcId="{0FBB3259-79F3-4833-8054-F89583CEA106}" destId="{5E7F82F6-A3BA-4D6F-910F-165BD26FF739}" srcOrd="0" destOrd="0" presId="urn:microsoft.com/office/officeart/2008/layout/LinedList"/>
    <dgm:cxn modelId="{7232B08B-6632-458C-BE38-77BD8CFF95EA}" type="presParOf" srcId="{0FBB3259-79F3-4833-8054-F89583CEA106}" destId="{BB9EC775-BEF5-4DF6-B4B5-B2F5064D8C7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F335AA-382F-4D47-9249-361BEA1AFC77}" type="doc">
      <dgm:prSet loTypeId="urn:microsoft.com/office/officeart/2008/layout/LinedList" loCatId="list" qsTypeId="urn:microsoft.com/office/officeart/2005/8/quickstyle/simple1#89" qsCatId="simple" csTypeId="urn:microsoft.com/office/officeart/2005/8/colors/accent1_2#45" csCatId="accent1" phldr="1"/>
      <dgm:spPr/>
      <dgm:t>
        <a:bodyPr/>
        <a:lstStyle/>
        <a:p>
          <a:endParaRPr lang="en-US"/>
        </a:p>
      </dgm:t>
    </dgm:pt>
    <dgm:pt modelId="{CF1B1BB9-F812-4008-8CB8-B4591430D477}">
      <dgm:prSet custT="1"/>
      <dgm:spPr/>
      <dgm:t>
        <a:bodyPr/>
        <a:lstStyle/>
        <a:p>
          <a:r>
            <a:rPr lang="nb-NO" sz="3000" noProof="0" dirty="0"/>
            <a:t>Skattbar eierinntekt = utbetalt utbytte – skjermingsfradrag</a:t>
          </a:r>
        </a:p>
      </dgm:t>
    </dgm:pt>
    <dgm:pt modelId="{697E93FF-AB1D-4417-82D1-0AF7B39D1E89}" type="parTrans" cxnId="{49FDBEC6-46E2-44C7-9161-B77D2E058842}">
      <dgm:prSet/>
      <dgm:spPr/>
      <dgm:t>
        <a:bodyPr/>
        <a:lstStyle/>
        <a:p>
          <a:endParaRPr lang="en-US"/>
        </a:p>
      </dgm:t>
    </dgm:pt>
    <dgm:pt modelId="{0B56659B-3A58-4AB0-8791-F3D44276E474}" type="sibTrans" cxnId="{49FDBEC6-46E2-44C7-9161-B77D2E058842}">
      <dgm:prSet/>
      <dgm:spPr/>
      <dgm:t>
        <a:bodyPr/>
        <a:lstStyle/>
        <a:p>
          <a:endParaRPr lang="en-US"/>
        </a:p>
      </dgm:t>
    </dgm:pt>
    <dgm:pt modelId="{93BAF0EB-F442-4D4F-BD3A-EE9663E52D6B}">
      <dgm:prSet custT="1"/>
      <dgm:spPr>
        <a:blipFill>
          <a:blip xmlns:r="http://schemas.openxmlformats.org/officeDocument/2006/relationships" r:embed="rId1"/>
          <a:stretch>
            <a:fillRect l="-1111" t="-4673"/>
          </a:stretch>
        </a:blipFill>
      </dgm:spPr>
      <dgm:t>
        <a:bodyPr/>
        <a:lstStyle/>
        <a:p>
          <a:r>
            <a:rPr lang="en-US">
              <a:noFill/>
            </a:rPr>
            <a:t> </a:t>
          </a:r>
        </a:p>
      </dgm:t>
    </dgm:pt>
    <dgm:pt modelId="{9ABC3A82-3100-407E-8024-5903E316402D}" type="parTrans" cxnId="{C8D469E7-E7DC-4F07-BAFB-09B8C142F11D}">
      <dgm:prSet/>
      <dgm:spPr/>
      <dgm:t>
        <a:bodyPr/>
        <a:lstStyle/>
        <a:p>
          <a:endParaRPr lang="en-US"/>
        </a:p>
      </dgm:t>
    </dgm:pt>
    <dgm:pt modelId="{DC785CFD-0FBC-4F5D-B79D-FD9CA4F49FFA}" type="sibTrans" cxnId="{C8D469E7-E7DC-4F07-BAFB-09B8C142F11D}">
      <dgm:prSet/>
      <dgm:spPr/>
      <dgm:t>
        <a:bodyPr/>
        <a:lstStyle/>
        <a:p>
          <a:endParaRPr lang="en-US"/>
        </a:p>
      </dgm:t>
    </dgm:pt>
    <dgm:pt modelId="{49215797-34D9-4572-8E42-B0C507CCCD75}">
      <dgm:prSet custT="1"/>
      <dgm:spPr/>
      <dgm:t>
        <a:bodyPr/>
        <a:lstStyle/>
        <a:p>
          <a:r>
            <a:rPr lang="nb-NO" sz="3000" noProof="0" dirty="0"/>
            <a:t>Skjermingsgrunnlaget er aksjens kostpris (det du kjøpte aksjen for)</a:t>
          </a:r>
        </a:p>
      </dgm:t>
    </dgm:pt>
    <dgm:pt modelId="{EE9EA27D-7B9C-4946-8478-8D037AA6A45E}" type="parTrans" cxnId="{145EF059-2E79-443E-AAF3-E584B5A6A5F1}">
      <dgm:prSet/>
      <dgm:spPr/>
      <dgm:t>
        <a:bodyPr/>
        <a:lstStyle/>
        <a:p>
          <a:endParaRPr lang="en-US"/>
        </a:p>
      </dgm:t>
    </dgm:pt>
    <dgm:pt modelId="{9073B1A9-7D79-4A4B-8456-6440EE6D157A}" type="sibTrans" cxnId="{145EF059-2E79-443E-AAF3-E584B5A6A5F1}">
      <dgm:prSet/>
      <dgm:spPr/>
      <dgm:t>
        <a:bodyPr/>
        <a:lstStyle/>
        <a:p>
          <a:endParaRPr lang="en-US"/>
        </a:p>
      </dgm:t>
    </dgm:pt>
    <dgm:pt modelId="{DC5D1F55-C19C-4B5A-9963-6556CDE41DF3}">
      <dgm:prSet custT="1"/>
      <dgm:spPr>
        <a:blipFill>
          <a:blip xmlns:r="http://schemas.openxmlformats.org/officeDocument/2006/relationships" r:embed="rId2"/>
          <a:stretch>
            <a:fillRect l="-1112" t="-3067"/>
          </a:stretch>
        </a:blipFill>
      </dgm:spPr>
      <dgm:t>
        <a:bodyPr/>
        <a:lstStyle/>
        <a:p>
          <a:r>
            <a:rPr lang="en-US">
              <a:noFill/>
            </a:rPr>
            <a:t> </a:t>
          </a:r>
        </a:p>
      </dgm:t>
    </dgm:pt>
    <dgm:pt modelId="{2F7341D4-987C-4748-AD7E-F4188C1C5BDF}" type="parTrans" cxnId="{5EB12D93-2ADD-4D64-9406-C5AE8AC1C145}">
      <dgm:prSet/>
      <dgm:spPr/>
      <dgm:t>
        <a:bodyPr/>
        <a:lstStyle/>
        <a:p>
          <a:endParaRPr lang="en-US"/>
        </a:p>
      </dgm:t>
    </dgm:pt>
    <dgm:pt modelId="{F2A2931E-55BD-4C25-B45B-664B9966566A}" type="sibTrans" cxnId="{5EB12D93-2ADD-4D64-9406-C5AE8AC1C145}">
      <dgm:prSet/>
      <dgm:spPr/>
      <dgm:t>
        <a:bodyPr/>
        <a:lstStyle/>
        <a:p>
          <a:endParaRPr lang="en-US"/>
        </a:p>
      </dgm:t>
    </dgm:pt>
    <dgm:pt modelId="{DB8B8A0B-90F1-4590-AE1C-F256E99076BD}" type="pres">
      <dgm:prSet presAssocID="{89F335AA-382F-4D47-9249-361BEA1AFC77}" presName="vert0" presStyleCnt="0">
        <dgm:presLayoutVars>
          <dgm:dir/>
          <dgm:animOne val="branch"/>
          <dgm:animLvl val="lvl"/>
        </dgm:presLayoutVars>
      </dgm:prSet>
      <dgm:spPr/>
    </dgm:pt>
    <dgm:pt modelId="{DAF83A94-61FE-4D56-901C-7B21C4840072}" type="pres">
      <dgm:prSet presAssocID="{CF1B1BB9-F812-4008-8CB8-B4591430D477}" presName="thickLine" presStyleLbl="alignNode1" presStyleIdx="0" presStyleCnt="4"/>
      <dgm:spPr/>
    </dgm:pt>
    <dgm:pt modelId="{0B322A21-9CD8-42B3-A36F-FC3C391D9149}" type="pres">
      <dgm:prSet presAssocID="{CF1B1BB9-F812-4008-8CB8-B4591430D477}" presName="horz1" presStyleCnt="0"/>
      <dgm:spPr/>
    </dgm:pt>
    <dgm:pt modelId="{0B3EACD1-E824-471C-AF46-CA11F46BC540}" type="pres">
      <dgm:prSet presAssocID="{CF1B1BB9-F812-4008-8CB8-B4591430D477}" presName="tx1" presStyleLbl="revTx" presStyleIdx="0" presStyleCnt="4"/>
      <dgm:spPr/>
    </dgm:pt>
    <dgm:pt modelId="{F77204C6-EBC3-4601-A9DA-74926695FB98}" type="pres">
      <dgm:prSet presAssocID="{CF1B1BB9-F812-4008-8CB8-B4591430D477}" presName="vert1" presStyleCnt="0"/>
      <dgm:spPr/>
    </dgm:pt>
    <dgm:pt modelId="{3390C0E8-BDA3-4E2F-9858-E1EA7A4EAEBA}" type="pres">
      <dgm:prSet presAssocID="{93BAF0EB-F442-4D4F-BD3A-EE9663E52D6B}" presName="thickLine" presStyleLbl="alignNode1" presStyleIdx="1" presStyleCnt="4"/>
      <dgm:spPr/>
    </dgm:pt>
    <dgm:pt modelId="{F6DC9F93-48A3-4DAA-9EB8-8ABD8912066A}" type="pres">
      <dgm:prSet presAssocID="{93BAF0EB-F442-4D4F-BD3A-EE9663E52D6B}" presName="horz1" presStyleCnt="0"/>
      <dgm:spPr/>
    </dgm:pt>
    <dgm:pt modelId="{5CCA136C-92C5-4BAC-AC4E-C4CE738ECE00}" type="pres">
      <dgm:prSet presAssocID="{93BAF0EB-F442-4D4F-BD3A-EE9663E52D6B}" presName="tx1" presStyleLbl="revTx" presStyleIdx="1" presStyleCnt="4"/>
      <dgm:spPr/>
    </dgm:pt>
    <dgm:pt modelId="{243D8D3E-CF8F-4741-9FC6-30E09A81750C}" type="pres">
      <dgm:prSet presAssocID="{93BAF0EB-F442-4D4F-BD3A-EE9663E52D6B}" presName="vert1" presStyleCnt="0"/>
      <dgm:spPr/>
    </dgm:pt>
    <dgm:pt modelId="{1EDC6418-EB77-44C6-834C-5A42F8CF5798}" type="pres">
      <dgm:prSet presAssocID="{49215797-34D9-4572-8E42-B0C507CCCD75}" presName="thickLine" presStyleLbl="alignNode1" presStyleIdx="2" presStyleCnt="4"/>
      <dgm:spPr/>
    </dgm:pt>
    <dgm:pt modelId="{1E1B2DF5-2013-4711-AF75-6131529DD278}" type="pres">
      <dgm:prSet presAssocID="{49215797-34D9-4572-8E42-B0C507CCCD75}" presName="horz1" presStyleCnt="0"/>
      <dgm:spPr/>
    </dgm:pt>
    <dgm:pt modelId="{8DDB9416-D494-4A0E-966B-44752C728066}" type="pres">
      <dgm:prSet presAssocID="{49215797-34D9-4572-8E42-B0C507CCCD75}" presName="tx1" presStyleLbl="revTx" presStyleIdx="2" presStyleCnt="4"/>
      <dgm:spPr/>
    </dgm:pt>
    <dgm:pt modelId="{C0716C7D-E19B-4503-9136-D5A613BFCCBF}" type="pres">
      <dgm:prSet presAssocID="{49215797-34D9-4572-8E42-B0C507CCCD75}" presName="vert1" presStyleCnt="0"/>
      <dgm:spPr/>
    </dgm:pt>
    <dgm:pt modelId="{AC5E0303-668F-4FAA-B95F-055F0F5ABAB7}" type="pres">
      <dgm:prSet presAssocID="{DC5D1F55-C19C-4B5A-9963-6556CDE41DF3}" presName="thickLine" presStyleLbl="alignNode1" presStyleIdx="3" presStyleCnt="4"/>
      <dgm:spPr/>
    </dgm:pt>
    <dgm:pt modelId="{0FBB3259-79F3-4833-8054-F89583CEA106}" type="pres">
      <dgm:prSet presAssocID="{DC5D1F55-C19C-4B5A-9963-6556CDE41DF3}" presName="horz1" presStyleCnt="0"/>
      <dgm:spPr/>
    </dgm:pt>
    <dgm:pt modelId="{5E7F82F6-A3BA-4D6F-910F-165BD26FF739}" type="pres">
      <dgm:prSet presAssocID="{DC5D1F55-C19C-4B5A-9963-6556CDE41DF3}" presName="tx1" presStyleLbl="revTx" presStyleIdx="3" presStyleCnt="4" custScaleY="152898"/>
      <dgm:spPr/>
    </dgm:pt>
    <dgm:pt modelId="{BB9EC775-BEF5-4DF6-B4B5-B2F5064D8C73}" type="pres">
      <dgm:prSet presAssocID="{DC5D1F55-C19C-4B5A-9963-6556CDE41DF3}" presName="vert1" presStyleCnt="0"/>
      <dgm:spPr/>
    </dgm:pt>
  </dgm:ptLst>
  <dgm:cxnLst>
    <dgm:cxn modelId="{D50E0653-C3ED-450C-B7FD-226E312FB52B}" type="presOf" srcId="{93BAF0EB-F442-4D4F-BD3A-EE9663E52D6B}" destId="{5CCA136C-92C5-4BAC-AC4E-C4CE738ECE00}" srcOrd="0" destOrd="0" presId="urn:microsoft.com/office/officeart/2008/layout/LinedList"/>
    <dgm:cxn modelId="{145EF059-2E79-443E-AAF3-E584B5A6A5F1}" srcId="{89F335AA-382F-4D47-9249-361BEA1AFC77}" destId="{49215797-34D9-4572-8E42-B0C507CCCD75}" srcOrd="2" destOrd="0" parTransId="{EE9EA27D-7B9C-4946-8478-8D037AA6A45E}" sibTransId="{9073B1A9-7D79-4A4B-8456-6440EE6D157A}"/>
    <dgm:cxn modelId="{44D7D75B-2AB1-4E77-AB1A-C7611EAE53B4}" type="presOf" srcId="{49215797-34D9-4572-8E42-B0C507CCCD75}" destId="{8DDB9416-D494-4A0E-966B-44752C728066}" srcOrd="0" destOrd="0" presId="urn:microsoft.com/office/officeart/2008/layout/LinedList"/>
    <dgm:cxn modelId="{4BEAF48B-5E32-46C0-857C-4DF3EBF69A7C}" type="presOf" srcId="{DC5D1F55-C19C-4B5A-9963-6556CDE41DF3}" destId="{5E7F82F6-A3BA-4D6F-910F-165BD26FF739}" srcOrd="0" destOrd="0" presId="urn:microsoft.com/office/officeart/2008/layout/LinedList"/>
    <dgm:cxn modelId="{5EB12D93-2ADD-4D64-9406-C5AE8AC1C145}" srcId="{89F335AA-382F-4D47-9249-361BEA1AFC77}" destId="{DC5D1F55-C19C-4B5A-9963-6556CDE41DF3}" srcOrd="3" destOrd="0" parTransId="{2F7341D4-987C-4748-AD7E-F4188C1C5BDF}" sibTransId="{F2A2931E-55BD-4C25-B45B-664B9966566A}"/>
    <dgm:cxn modelId="{2EC0CEC3-7AAC-4D23-9472-57B235D0DC84}" type="presOf" srcId="{CF1B1BB9-F812-4008-8CB8-B4591430D477}" destId="{0B3EACD1-E824-471C-AF46-CA11F46BC540}" srcOrd="0" destOrd="0" presId="urn:microsoft.com/office/officeart/2008/layout/LinedList"/>
    <dgm:cxn modelId="{49FDBEC6-46E2-44C7-9161-B77D2E058842}" srcId="{89F335AA-382F-4D47-9249-361BEA1AFC77}" destId="{CF1B1BB9-F812-4008-8CB8-B4591430D477}" srcOrd="0" destOrd="0" parTransId="{697E93FF-AB1D-4417-82D1-0AF7B39D1E89}" sibTransId="{0B56659B-3A58-4AB0-8791-F3D44276E474}"/>
    <dgm:cxn modelId="{C8D469E7-E7DC-4F07-BAFB-09B8C142F11D}" srcId="{89F335AA-382F-4D47-9249-361BEA1AFC77}" destId="{93BAF0EB-F442-4D4F-BD3A-EE9663E52D6B}" srcOrd="1" destOrd="0" parTransId="{9ABC3A82-3100-407E-8024-5903E316402D}" sibTransId="{DC785CFD-0FBC-4F5D-B79D-FD9CA4F49FFA}"/>
    <dgm:cxn modelId="{20C316FB-5422-45EF-8F5E-4122858C071D}" type="presOf" srcId="{89F335AA-382F-4D47-9249-361BEA1AFC77}" destId="{DB8B8A0B-90F1-4590-AE1C-F256E99076BD}" srcOrd="0" destOrd="0" presId="urn:microsoft.com/office/officeart/2008/layout/LinedList"/>
    <dgm:cxn modelId="{7C3BE74D-4D20-4029-8D1F-1D92F659948A}" type="presParOf" srcId="{DB8B8A0B-90F1-4590-AE1C-F256E99076BD}" destId="{DAF83A94-61FE-4D56-901C-7B21C4840072}" srcOrd="0" destOrd="0" presId="urn:microsoft.com/office/officeart/2008/layout/LinedList"/>
    <dgm:cxn modelId="{61E20561-4F1D-4B7F-8505-21EA7A69DA3E}" type="presParOf" srcId="{DB8B8A0B-90F1-4590-AE1C-F256E99076BD}" destId="{0B322A21-9CD8-42B3-A36F-FC3C391D9149}" srcOrd="1" destOrd="0" presId="urn:microsoft.com/office/officeart/2008/layout/LinedList"/>
    <dgm:cxn modelId="{1A0A137A-D844-49AC-B72D-E9C1EB2A9851}" type="presParOf" srcId="{0B322A21-9CD8-42B3-A36F-FC3C391D9149}" destId="{0B3EACD1-E824-471C-AF46-CA11F46BC540}" srcOrd="0" destOrd="0" presId="urn:microsoft.com/office/officeart/2008/layout/LinedList"/>
    <dgm:cxn modelId="{F6CBB664-0E5D-4E92-948B-9D04C2ACE7C5}" type="presParOf" srcId="{0B322A21-9CD8-42B3-A36F-FC3C391D9149}" destId="{F77204C6-EBC3-4601-A9DA-74926695FB98}" srcOrd="1" destOrd="0" presId="urn:microsoft.com/office/officeart/2008/layout/LinedList"/>
    <dgm:cxn modelId="{57814E56-F13F-40EA-BA39-C0078B692F7C}" type="presParOf" srcId="{DB8B8A0B-90F1-4590-AE1C-F256E99076BD}" destId="{3390C0E8-BDA3-4E2F-9858-E1EA7A4EAEBA}" srcOrd="2" destOrd="0" presId="urn:microsoft.com/office/officeart/2008/layout/LinedList"/>
    <dgm:cxn modelId="{DE482BBA-93A5-4E33-BF48-B20AC34C9630}" type="presParOf" srcId="{DB8B8A0B-90F1-4590-AE1C-F256E99076BD}" destId="{F6DC9F93-48A3-4DAA-9EB8-8ABD8912066A}" srcOrd="3" destOrd="0" presId="urn:microsoft.com/office/officeart/2008/layout/LinedList"/>
    <dgm:cxn modelId="{802A970D-5B55-404E-9C2C-FCBED490EC7A}" type="presParOf" srcId="{F6DC9F93-48A3-4DAA-9EB8-8ABD8912066A}" destId="{5CCA136C-92C5-4BAC-AC4E-C4CE738ECE00}" srcOrd="0" destOrd="0" presId="urn:microsoft.com/office/officeart/2008/layout/LinedList"/>
    <dgm:cxn modelId="{ECC094F8-B784-423A-B70B-036ADE0CF0BF}" type="presParOf" srcId="{F6DC9F93-48A3-4DAA-9EB8-8ABD8912066A}" destId="{243D8D3E-CF8F-4741-9FC6-30E09A81750C}" srcOrd="1" destOrd="0" presId="urn:microsoft.com/office/officeart/2008/layout/LinedList"/>
    <dgm:cxn modelId="{19847A3C-9087-4BD1-AD95-91F75AB0EDD4}" type="presParOf" srcId="{DB8B8A0B-90F1-4590-AE1C-F256E99076BD}" destId="{1EDC6418-EB77-44C6-834C-5A42F8CF5798}" srcOrd="4" destOrd="0" presId="urn:microsoft.com/office/officeart/2008/layout/LinedList"/>
    <dgm:cxn modelId="{BE6E51CD-2FB6-4CD8-9F9F-D2FF138A4788}" type="presParOf" srcId="{DB8B8A0B-90F1-4590-AE1C-F256E99076BD}" destId="{1E1B2DF5-2013-4711-AF75-6131529DD278}" srcOrd="5" destOrd="0" presId="urn:microsoft.com/office/officeart/2008/layout/LinedList"/>
    <dgm:cxn modelId="{3D77864A-D00D-45FC-9F8F-A274618838F6}" type="presParOf" srcId="{1E1B2DF5-2013-4711-AF75-6131529DD278}" destId="{8DDB9416-D494-4A0E-966B-44752C728066}" srcOrd="0" destOrd="0" presId="urn:microsoft.com/office/officeart/2008/layout/LinedList"/>
    <dgm:cxn modelId="{03E7A519-C550-46DB-B7EF-C6E00E59ABDB}" type="presParOf" srcId="{1E1B2DF5-2013-4711-AF75-6131529DD278}" destId="{C0716C7D-E19B-4503-9136-D5A613BFCCBF}" srcOrd="1" destOrd="0" presId="urn:microsoft.com/office/officeart/2008/layout/LinedList"/>
    <dgm:cxn modelId="{104580E7-222D-4B6D-897A-D82F2C51E463}" type="presParOf" srcId="{DB8B8A0B-90F1-4590-AE1C-F256E99076BD}" destId="{AC5E0303-668F-4FAA-B95F-055F0F5ABAB7}" srcOrd="6" destOrd="0" presId="urn:microsoft.com/office/officeart/2008/layout/LinedList"/>
    <dgm:cxn modelId="{7A954284-EF8E-4056-A195-E1E9749B959B}" type="presParOf" srcId="{DB8B8A0B-90F1-4590-AE1C-F256E99076BD}" destId="{0FBB3259-79F3-4833-8054-F89583CEA106}" srcOrd="7" destOrd="0" presId="urn:microsoft.com/office/officeart/2008/layout/LinedList"/>
    <dgm:cxn modelId="{804D5FE3-0CEA-4D46-88B1-DEA680A32A4F}" type="presParOf" srcId="{0FBB3259-79F3-4833-8054-F89583CEA106}" destId="{5E7F82F6-A3BA-4D6F-910F-165BD26FF739}" srcOrd="0" destOrd="0" presId="urn:microsoft.com/office/officeart/2008/layout/LinedList"/>
    <dgm:cxn modelId="{7232B08B-6632-458C-BE38-77BD8CFF95EA}" type="presParOf" srcId="{0FBB3259-79F3-4833-8054-F89583CEA106}" destId="{BB9EC775-BEF5-4DF6-B4B5-B2F5064D8C7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F83A94-61FE-4D56-901C-7B21C4840072}">
      <dsp:nvSpPr>
        <dsp:cNvPr id="0" name=""/>
        <dsp:cNvSpPr/>
      </dsp:nvSpPr>
      <dsp:spPr>
        <a:xfrm>
          <a:off x="0" y="1344"/>
          <a:ext cx="1141893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3EACD1-E824-471C-AF46-CA11F46BC540}">
      <dsp:nvSpPr>
        <dsp:cNvPr id="0" name=""/>
        <dsp:cNvSpPr/>
      </dsp:nvSpPr>
      <dsp:spPr>
        <a:xfrm>
          <a:off x="0" y="1344"/>
          <a:ext cx="11418939" cy="1349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nb-NO" sz="3000" kern="1200" noProof="0"/>
            <a:t>Skattbar eierinntekt = utbetalt utbytte – skjermingsfradrag</a:t>
          </a:r>
          <a:endParaRPr lang="nb-NO" sz="3000" kern="1200" noProof="0" dirty="0"/>
        </a:p>
      </dsp:txBody>
      <dsp:txXfrm>
        <a:off x="0" y="1344"/>
        <a:ext cx="11418939" cy="1349363"/>
      </dsp:txXfrm>
    </dsp:sp>
    <dsp:sp modelId="{3390C0E8-BDA3-4E2F-9858-E1EA7A4EAEBA}">
      <dsp:nvSpPr>
        <dsp:cNvPr id="0" name=""/>
        <dsp:cNvSpPr/>
      </dsp:nvSpPr>
      <dsp:spPr>
        <a:xfrm>
          <a:off x="0" y="1350708"/>
          <a:ext cx="1141893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CA136C-92C5-4BAC-AC4E-C4CE738ECE00}">
      <dsp:nvSpPr>
        <dsp:cNvPr id="0" name=""/>
        <dsp:cNvSpPr/>
      </dsp:nvSpPr>
      <dsp:spPr>
        <a:xfrm>
          <a:off x="0" y="1350708"/>
          <a:ext cx="11418939" cy="1349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nb-NO" sz="3000" kern="1200" noProof="0" dirty="0"/>
            <a:t>Skjermingsfradraget = skjermingsgrunnlaget * skjermingsrenten (</a:t>
          </a:r>
          <a14:m xmlns:a14="http://schemas.microsoft.com/office/drawing/2010/main">
            <m:oMath xmlns:m="http://schemas.openxmlformats.org/officeDocument/2006/math">
              <m:r>
                <a:rPr lang="nb-NO" sz="3000" i="1" kern="1200" noProof="0" dirty="0" smtClean="0">
                  <a:solidFill>
                    <a:srgbClr val="FF0000"/>
                  </a:solidFill>
                  <a:latin typeface="Cambria Math" panose="02040503050406030204" pitchFamily="18" charset="0"/>
                </a:rPr>
                <m:t>𝑅</m:t>
              </m:r>
            </m:oMath>
          </a14:m>
          <a:r>
            <a:rPr lang="nb-NO" sz="3000" kern="1200" noProof="0" dirty="0"/>
            <a:t>).</a:t>
          </a:r>
        </a:p>
      </dsp:txBody>
      <dsp:txXfrm>
        <a:off x="0" y="1350708"/>
        <a:ext cx="11418939" cy="1349363"/>
      </dsp:txXfrm>
    </dsp:sp>
    <dsp:sp modelId="{1EDC6418-EB77-44C6-834C-5A42F8CF5798}">
      <dsp:nvSpPr>
        <dsp:cNvPr id="0" name=""/>
        <dsp:cNvSpPr/>
      </dsp:nvSpPr>
      <dsp:spPr>
        <a:xfrm>
          <a:off x="0" y="2700071"/>
          <a:ext cx="1141893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DB9416-D494-4A0E-966B-44752C728066}">
      <dsp:nvSpPr>
        <dsp:cNvPr id="0" name=""/>
        <dsp:cNvSpPr/>
      </dsp:nvSpPr>
      <dsp:spPr>
        <a:xfrm>
          <a:off x="0" y="2700071"/>
          <a:ext cx="11418939" cy="1349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nb-NO" sz="3000" kern="1200" noProof="0"/>
            <a:t>Skjermingsgrunnlaget er aksjens kostpris (det du kjøpte aksjen for)</a:t>
          </a:r>
          <a:endParaRPr lang="nb-NO" sz="3000" kern="1200" noProof="0" dirty="0"/>
        </a:p>
      </dsp:txBody>
      <dsp:txXfrm>
        <a:off x="0" y="2700071"/>
        <a:ext cx="11418939" cy="1349363"/>
      </dsp:txXfrm>
    </dsp:sp>
    <dsp:sp modelId="{AC5E0303-668F-4FAA-B95F-055F0F5ABAB7}">
      <dsp:nvSpPr>
        <dsp:cNvPr id="0" name=""/>
        <dsp:cNvSpPr/>
      </dsp:nvSpPr>
      <dsp:spPr>
        <a:xfrm>
          <a:off x="0" y="4049435"/>
          <a:ext cx="1141893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7F82F6-A3BA-4D6F-910F-165BD26FF739}">
      <dsp:nvSpPr>
        <dsp:cNvPr id="0" name=""/>
        <dsp:cNvSpPr/>
      </dsp:nvSpPr>
      <dsp:spPr>
        <a:xfrm>
          <a:off x="0" y="4049435"/>
          <a:ext cx="11407787" cy="2063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14:m xmlns:a14="http://schemas.microsoft.com/office/drawing/2010/main">
            <m:oMath xmlns:m="http://schemas.openxmlformats.org/officeDocument/2006/math">
              <m:r>
                <a:rPr lang="nb-NO" sz="3000" i="1" kern="1200" noProof="0" dirty="0" smtClean="0">
                  <a:solidFill>
                    <a:srgbClr val="FF0000"/>
                  </a:solidFill>
                  <a:latin typeface="Cambria Math" panose="02040503050406030204" pitchFamily="18" charset="0"/>
                </a:rPr>
                <m:t>𝑅</m:t>
              </m:r>
            </m:oMath>
          </a14:m>
          <a:r>
            <a:rPr lang="nb-NO" sz="3000" kern="1200" noProof="0" dirty="0"/>
            <a:t>= rente 3 mnd. statskasseveksler (</a:t>
          </a:r>
          <a:r>
            <a:rPr lang="nb-NO" sz="3000" kern="1200" noProof="0" dirty="0">
              <a:solidFill>
                <a:srgbClr val="FF0000"/>
              </a:solidFill>
            </a:rPr>
            <a:t>r</a:t>
          </a:r>
          <a:r>
            <a:rPr lang="nb-NO" sz="3000" kern="1200" noProof="0" dirty="0"/>
            <a:t>) + risikotillegg (</a:t>
          </a:r>
          <a:r>
            <a:rPr lang="nb-NO" sz="3000" kern="1200" noProof="0" dirty="0">
              <a:solidFill>
                <a:schemeClr val="tx1"/>
              </a:solidFill>
            </a:rPr>
            <a:t>0,5%) </a:t>
          </a:r>
          <a:r>
            <a:rPr lang="nb-NO" sz="3000" kern="1200" noProof="0" dirty="0"/>
            <a:t>men justert for den alminnelige skattesatsen (</a:t>
          </a:r>
          <a:r>
            <a:rPr lang="nb-NO" sz="3000" kern="1200" noProof="0" dirty="0">
              <a:solidFill>
                <a:schemeClr val="tx1"/>
              </a:solidFill>
            </a:rPr>
            <a:t>22%</a:t>
          </a:r>
          <a:r>
            <a:rPr lang="nb-NO" sz="3000" kern="1200" noProof="0" dirty="0"/>
            <a:t>): </a:t>
          </a:r>
        </a:p>
        <a:p>
          <a:pPr marL="0" lvl="0" indent="0" algn="l" defTabSz="1333500">
            <a:lnSpc>
              <a:spcPct val="90000"/>
            </a:lnSpc>
            <a:spcBef>
              <a:spcPct val="0"/>
            </a:spcBef>
            <a:spcAft>
              <a:spcPct val="35000"/>
            </a:spcAft>
            <a:buNone/>
          </a:pPr>
          <a14:m xmlns:a14="http://schemas.microsoft.com/office/drawing/2010/main">
            <m:oMathPara xmlns:m="http://schemas.openxmlformats.org/officeDocument/2006/math">
              <m:oMath>
                <m:r>
                  <a:rPr lang="en-US" sz="3000" b="0" i="1" kern="1200" noProof="0" smtClean="0">
                    <a:solidFill>
                      <a:srgbClr val="FF0000"/>
                    </a:solidFill>
                    <a:latin typeface="Cambria Math" panose="02040503050406030204" pitchFamily="18" charset="0"/>
                  </a:rPr>
                  <m:t>𝑅</m:t>
                </m:r>
                <m:r>
                  <a:rPr lang="en-US" sz="3000" b="0" i="1" kern="1200" noProof="0" smtClean="0">
                    <a:latin typeface="Cambria Math" panose="02040503050406030204" pitchFamily="18" charset="0"/>
                  </a:rPr>
                  <m:t>=(</m:t>
                </m:r>
                <m:r>
                  <a:rPr lang="en-US" sz="3000" b="0" i="1" kern="1200" noProof="0" smtClean="0">
                    <a:solidFill>
                      <a:srgbClr val="FF0000"/>
                    </a:solidFill>
                    <a:latin typeface="Cambria Math" panose="02040503050406030204" pitchFamily="18" charset="0"/>
                  </a:rPr>
                  <m:t>𝑟</m:t>
                </m:r>
                <m:r>
                  <a:rPr lang="en-US" sz="3000" b="0" i="1" kern="1200" noProof="0" smtClean="0">
                    <a:latin typeface="Cambria Math" panose="02040503050406030204" pitchFamily="18" charset="0"/>
                  </a:rPr>
                  <m:t>+0,5)(100%−22%)</m:t>
                </m:r>
              </m:oMath>
            </m:oMathPara>
          </a14:m>
          <a:endParaRPr lang="nb-NO" sz="3000" kern="1200" noProof="0" dirty="0"/>
        </a:p>
        <a:p>
          <a:pPr marL="0" lvl="0" indent="0" algn="l" defTabSz="1333500">
            <a:lnSpc>
              <a:spcPct val="90000"/>
            </a:lnSpc>
            <a:spcBef>
              <a:spcPct val="0"/>
            </a:spcBef>
            <a:spcAft>
              <a:spcPct val="35000"/>
            </a:spcAft>
            <a:buNone/>
          </a:pPr>
          <a:r>
            <a:rPr lang="nb-NO" sz="2800" kern="1200" noProof="0" dirty="0"/>
            <a:t>	</a:t>
          </a:r>
        </a:p>
      </dsp:txBody>
      <dsp:txXfrm>
        <a:off x="0" y="4049435"/>
        <a:ext cx="11407787" cy="206314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8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8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889938" cy="489374"/>
          </a:xfrm>
          <a:prstGeom prst="rect">
            <a:avLst/>
          </a:prstGeom>
        </p:spPr>
        <p:txBody>
          <a:bodyPr vert="horz" lIns="89904" tIns="44952" rIns="89904" bIns="44952" rtlCol="0"/>
          <a:lstStyle>
            <a:lvl1pPr algn="l">
              <a:defRPr sz="1200"/>
            </a:lvl1pPr>
          </a:lstStyle>
          <a:p>
            <a:endParaRPr lang="nb-NO"/>
          </a:p>
        </p:txBody>
      </p:sp>
      <p:sp>
        <p:nvSpPr>
          <p:cNvPr id="3" name="Date Placeholder 2"/>
          <p:cNvSpPr>
            <a:spLocks noGrp="1"/>
          </p:cNvSpPr>
          <p:nvPr>
            <p:ph type="dt" sz="quarter" idx="1"/>
          </p:nvPr>
        </p:nvSpPr>
        <p:spPr>
          <a:xfrm>
            <a:off x="3777608" y="2"/>
            <a:ext cx="2889938" cy="489374"/>
          </a:xfrm>
          <a:prstGeom prst="rect">
            <a:avLst/>
          </a:prstGeom>
        </p:spPr>
        <p:txBody>
          <a:bodyPr vert="horz" lIns="89904" tIns="44952" rIns="89904" bIns="44952" rtlCol="0"/>
          <a:lstStyle>
            <a:lvl1pPr algn="r">
              <a:defRPr sz="1200"/>
            </a:lvl1pPr>
          </a:lstStyle>
          <a:p>
            <a:fld id="{307A48F2-FF29-4C49-8ED3-017BE51BE69C}" type="datetimeFigureOut">
              <a:rPr lang="nb-NO" smtClean="0"/>
              <a:t>28.08.2026</a:t>
            </a:fld>
            <a:endParaRPr lang="nb-NO"/>
          </a:p>
        </p:txBody>
      </p:sp>
      <p:sp>
        <p:nvSpPr>
          <p:cNvPr id="4" name="Footer Placeholder 3"/>
          <p:cNvSpPr>
            <a:spLocks noGrp="1"/>
          </p:cNvSpPr>
          <p:nvPr>
            <p:ph type="ftr" sz="quarter" idx="2"/>
          </p:nvPr>
        </p:nvSpPr>
        <p:spPr>
          <a:xfrm>
            <a:off x="0" y="9264228"/>
            <a:ext cx="2889938" cy="489373"/>
          </a:xfrm>
          <a:prstGeom prst="rect">
            <a:avLst/>
          </a:prstGeom>
        </p:spPr>
        <p:txBody>
          <a:bodyPr vert="horz" lIns="89904" tIns="44952" rIns="89904" bIns="44952" rtlCol="0" anchor="b"/>
          <a:lstStyle>
            <a:lvl1pPr algn="l">
              <a:defRPr sz="1200"/>
            </a:lvl1pPr>
          </a:lstStyle>
          <a:p>
            <a:endParaRPr lang="nb-NO"/>
          </a:p>
        </p:txBody>
      </p:sp>
      <p:sp>
        <p:nvSpPr>
          <p:cNvPr id="5" name="Slide Number Placeholder 4"/>
          <p:cNvSpPr>
            <a:spLocks noGrp="1"/>
          </p:cNvSpPr>
          <p:nvPr>
            <p:ph type="sldNum" sz="quarter" idx="3"/>
          </p:nvPr>
        </p:nvSpPr>
        <p:spPr>
          <a:xfrm>
            <a:off x="3777608" y="9264228"/>
            <a:ext cx="2889938" cy="489373"/>
          </a:xfrm>
          <a:prstGeom prst="rect">
            <a:avLst/>
          </a:prstGeom>
        </p:spPr>
        <p:txBody>
          <a:bodyPr vert="horz" lIns="89904" tIns="44952" rIns="89904" bIns="44952" rtlCol="0" anchor="b"/>
          <a:lstStyle>
            <a:lvl1pPr algn="r">
              <a:defRPr sz="1200"/>
            </a:lvl1pPr>
          </a:lstStyle>
          <a:p>
            <a:fld id="{C11394D0-3B13-4F15-9A89-885FEBED6BF5}" type="slidenum">
              <a:rPr lang="nb-NO" smtClean="0"/>
              <a:t>‹#›</a:t>
            </a:fld>
            <a:endParaRPr lang="nb-NO"/>
          </a:p>
        </p:txBody>
      </p:sp>
    </p:spTree>
    <p:extLst>
      <p:ext uri="{BB962C8B-B14F-4D97-AF65-F5344CB8AC3E}">
        <p14:creationId xmlns:p14="http://schemas.microsoft.com/office/powerpoint/2010/main" val="2539672583"/>
      </p:ext>
    </p:extLst>
  </p:cSld>
  <p:clrMap bg1="lt1" tx1="dk1" bg2="lt2" tx2="dk2" accent1="accent1" accent2="accent2" accent3="accent3" accent4="accent4" accent5="accent5" accent6="accent6" hlink="hlink" folHlink="folHlink"/>
</p:handoutMaster>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min="-3840" max="3840" units="cm"/>
          <inkml:channel name="Y" type="integer" max="2164" units="cm"/>
          <inkml:channel name="T" type="integer" max="2.14748E9" units="dev"/>
        </inkml:traceFormat>
        <inkml:channelProperties>
          <inkml:channelProperty channel="X" name="resolution" value="128.64322" units="1/cm"/>
          <inkml:channelProperty channel="Y" name="resolution" value="64.40476" units="1/cm"/>
          <inkml:channelProperty channel="T" name="resolution" value="1" units="1/dev"/>
        </inkml:channelProperties>
      </inkml:inkSource>
      <inkml:timestamp xml:id="ts0" timeString="2020-08-25T10:45:47.150"/>
    </inkml:context>
    <inkml:brush xml:id="br0">
      <inkml:brushProperty name="width" value="0.08819" units="cm"/>
      <inkml:brushProperty name="height" value="0.35278" units="cm"/>
      <inkml:brushProperty name="tip" value="rectangle"/>
      <inkml:brushProperty name="rasterOp" value="maskPen"/>
    </inkml:brush>
  </inkml:definitions>
  <iact:action type="add" startTime="309815">
    <iact:property name="dataType"/>
    <iact:actionData xml:id="d0">
      <inkml:trace xmlns:inkml="http://www.w3.org/2003/InkML" xml:id="stk0" contextRef="#ctx0" brushRef="#br0">7137 18998 0</inkml:trace>
    </iact:actionData>
  </iact:action>
</iact:action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889938" cy="489374"/>
          </a:xfrm>
          <a:prstGeom prst="rect">
            <a:avLst/>
          </a:prstGeom>
        </p:spPr>
        <p:txBody>
          <a:bodyPr vert="horz" lIns="89904" tIns="44952" rIns="89904" bIns="44952" rtlCol="0"/>
          <a:lstStyle>
            <a:lvl1pPr algn="l">
              <a:defRPr sz="1200"/>
            </a:lvl1pPr>
          </a:lstStyle>
          <a:p>
            <a:endParaRPr lang="nb-NO"/>
          </a:p>
        </p:txBody>
      </p:sp>
      <p:sp>
        <p:nvSpPr>
          <p:cNvPr id="3" name="Date Placeholder 2"/>
          <p:cNvSpPr>
            <a:spLocks noGrp="1"/>
          </p:cNvSpPr>
          <p:nvPr>
            <p:ph type="dt" idx="1"/>
          </p:nvPr>
        </p:nvSpPr>
        <p:spPr>
          <a:xfrm>
            <a:off x="3777608" y="2"/>
            <a:ext cx="2889938" cy="489374"/>
          </a:xfrm>
          <a:prstGeom prst="rect">
            <a:avLst/>
          </a:prstGeom>
        </p:spPr>
        <p:txBody>
          <a:bodyPr vert="horz" lIns="89904" tIns="44952" rIns="89904" bIns="44952" rtlCol="0"/>
          <a:lstStyle>
            <a:lvl1pPr algn="r">
              <a:defRPr sz="1200"/>
            </a:lvl1pPr>
          </a:lstStyle>
          <a:p>
            <a:fld id="{94ED3731-67CD-415D-88FF-39CAC956E6B6}" type="datetimeFigureOut">
              <a:rPr lang="nb-NO" smtClean="0"/>
              <a:t>28.08.2026</a:t>
            </a:fld>
            <a:endParaRPr lang="nb-NO"/>
          </a:p>
        </p:txBody>
      </p:sp>
      <p:sp>
        <p:nvSpPr>
          <p:cNvPr id="4" name="Slide Image Placeholder 3"/>
          <p:cNvSpPr>
            <a:spLocks noGrp="1" noRot="1" noChangeAspect="1"/>
          </p:cNvSpPr>
          <p:nvPr>
            <p:ph type="sldImg" idx="2"/>
          </p:nvPr>
        </p:nvSpPr>
        <p:spPr>
          <a:xfrm>
            <a:off x="406400" y="1219200"/>
            <a:ext cx="5856288" cy="3294063"/>
          </a:xfrm>
          <a:prstGeom prst="rect">
            <a:avLst/>
          </a:prstGeom>
          <a:noFill/>
          <a:ln w="12700">
            <a:solidFill>
              <a:prstClr val="black"/>
            </a:solidFill>
          </a:ln>
        </p:spPr>
        <p:txBody>
          <a:bodyPr vert="horz" lIns="89904" tIns="44952" rIns="89904" bIns="44952" rtlCol="0" anchor="ctr"/>
          <a:lstStyle/>
          <a:p>
            <a:endParaRPr lang="nb-NO"/>
          </a:p>
        </p:txBody>
      </p:sp>
      <p:sp>
        <p:nvSpPr>
          <p:cNvPr id="5" name="Notes Placeholder 4"/>
          <p:cNvSpPr>
            <a:spLocks noGrp="1"/>
          </p:cNvSpPr>
          <p:nvPr>
            <p:ph type="body" sz="quarter" idx="3"/>
          </p:nvPr>
        </p:nvSpPr>
        <p:spPr>
          <a:xfrm>
            <a:off x="666910" y="4693920"/>
            <a:ext cx="5335270" cy="3840481"/>
          </a:xfrm>
          <a:prstGeom prst="rect">
            <a:avLst/>
          </a:prstGeom>
        </p:spPr>
        <p:txBody>
          <a:bodyPr vert="horz" lIns="89904" tIns="44952" rIns="89904" bIns="44952"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6" name="Footer Placeholder 5"/>
          <p:cNvSpPr>
            <a:spLocks noGrp="1"/>
          </p:cNvSpPr>
          <p:nvPr>
            <p:ph type="ftr" sz="quarter" idx="4"/>
          </p:nvPr>
        </p:nvSpPr>
        <p:spPr>
          <a:xfrm>
            <a:off x="0" y="9264228"/>
            <a:ext cx="2889938" cy="489373"/>
          </a:xfrm>
          <a:prstGeom prst="rect">
            <a:avLst/>
          </a:prstGeom>
        </p:spPr>
        <p:txBody>
          <a:bodyPr vert="horz" lIns="89904" tIns="44952" rIns="89904" bIns="44952" rtlCol="0" anchor="b"/>
          <a:lstStyle>
            <a:lvl1pPr algn="l">
              <a:defRPr sz="1200"/>
            </a:lvl1pPr>
          </a:lstStyle>
          <a:p>
            <a:endParaRPr lang="nb-NO"/>
          </a:p>
        </p:txBody>
      </p:sp>
      <p:sp>
        <p:nvSpPr>
          <p:cNvPr id="7" name="Slide Number Placeholder 6"/>
          <p:cNvSpPr>
            <a:spLocks noGrp="1"/>
          </p:cNvSpPr>
          <p:nvPr>
            <p:ph type="sldNum" sz="quarter" idx="5"/>
          </p:nvPr>
        </p:nvSpPr>
        <p:spPr>
          <a:xfrm>
            <a:off x="3777608" y="9264228"/>
            <a:ext cx="2889938" cy="489373"/>
          </a:xfrm>
          <a:prstGeom prst="rect">
            <a:avLst/>
          </a:prstGeom>
        </p:spPr>
        <p:txBody>
          <a:bodyPr vert="horz" lIns="89904" tIns="44952" rIns="89904" bIns="44952" rtlCol="0" anchor="b"/>
          <a:lstStyle>
            <a:lvl1pPr algn="r">
              <a:defRPr sz="1200"/>
            </a:lvl1pPr>
          </a:lstStyle>
          <a:p>
            <a:fld id="{45429662-A1D8-433E-B37E-584E1DC0F9AC}" type="slidenum">
              <a:rPr lang="nb-NO" smtClean="0"/>
              <a:t>‹#›</a:t>
            </a:fld>
            <a:endParaRPr lang="nb-NO"/>
          </a:p>
        </p:txBody>
      </p:sp>
    </p:spTree>
    <p:extLst>
      <p:ext uri="{BB962C8B-B14F-4D97-AF65-F5344CB8AC3E}">
        <p14:creationId xmlns:p14="http://schemas.microsoft.com/office/powerpoint/2010/main" val="221273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5"/>
          </p:nvPr>
        </p:nvSpPr>
        <p:spPr/>
        <p:txBody>
          <a:bodyPr/>
          <a:lstStyle/>
          <a:p>
            <a:fld id="{45429662-A1D8-433E-B37E-584E1DC0F9AC}" type="slidenum">
              <a:rPr lang="nb-NO" smtClean="0"/>
              <a:t>31</a:t>
            </a:fld>
            <a:endParaRPr lang="nb-NO"/>
          </a:p>
        </p:txBody>
      </p:sp>
    </p:spTree>
    <p:extLst>
      <p:ext uri="{BB962C8B-B14F-4D97-AF65-F5344CB8AC3E}">
        <p14:creationId xmlns:p14="http://schemas.microsoft.com/office/powerpoint/2010/main" val="3603859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5"/>
          </p:nvPr>
        </p:nvSpPr>
        <p:spPr/>
        <p:txBody>
          <a:bodyPr/>
          <a:lstStyle/>
          <a:p>
            <a:fld id="{45429662-A1D8-433E-B37E-584E1DC0F9AC}" type="slidenum">
              <a:rPr lang="nb-NO" smtClean="0"/>
              <a:t>34</a:t>
            </a:fld>
            <a:endParaRPr lang="nb-NO"/>
          </a:p>
        </p:txBody>
      </p:sp>
    </p:spTree>
    <p:extLst>
      <p:ext uri="{BB962C8B-B14F-4D97-AF65-F5344CB8AC3E}">
        <p14:creationId xmlns:p14="http://schemas.microsoft.com/office/powerpoint/2010/main" val="3043657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5"/>
          </p:nvPr>
        </p:nvSpPr>
        <p:spPr/>
        <p:txBody>
          <a:bodyPr/>
          <a:lstStyle/>
          <a:p>
            <a:fld id="{45429662-A1D8-433E-B37E-584E1DC0F9AC}" type="slidenum">
              <a:rPr lang="nb-NO" smtClean="0"/>
              <a:t>72</a:t>
            </a:fld>
            <a:endParaRPr lang="nb-NO"/>
          </a:p>
        </p:txBody>
      </p:sp>
    </p:spTree>
    <p:extLst>
      <p:ext uri="{BB962C8B-B14F-4D97-AF65-F5344CB8AC3E}">
        <p14:creationId xmlns:p14="http://schemas.microsoft.com/office/powerpoint/2010/main" val="2371864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p:cNvSpPr>
            <a:spLocks noGrp="1"/>
          </p:cNvSpPr>
          <p:nvPr>
            <p:ph type="dt" sz="half" idx="10"/>
          </p:nvPr>
        </p:nvSpPr>
        <p:spPr/>
        <p:txBody>
          <a:bodyPr/>
          <a:lstStyle/>
          <a:p>
            <a:fld id="{75279C2E-11F1-4201-92BA-CDE5252698D3}" type="datetime1">
              <a:rPr lang="nb-NO" smtClean="0"/>
              <a:t>28.08.2026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3514611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p:cNvSpPr>
            <a:spLocks noGrp="1"/>
          </p:cNvSpPr>
          <p:nvPr>
            <p:ph type="dt" sz="half" idx="10"/>
          </p:nvPr>
        </p:nvSpPr>
        <p:spPr/>
        <p:txBody>
          <a:bodyPr/>
          <a:lstStyle/>
          <a:p>
            <a:fld id="{EBA322A9-E993-4488-8D0B-60C97AD6964F}" type="datetime1">
              <a:rPr lang="nb-NO" smtClean="0"/>
              <a:t>28.08.2026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3295670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9055FEF-AB21-4C9D-8C5C-7DEB3DB8A868}" type="datetime1">
              <a:rPr lang="nb-NO" smtClean="0"/>
              <a:t>28.08.2026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1297841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p:cNvSpPr>
            <a:spLocks noGrp="1"/>
          </p:cNvSpPr>
          <p:nvPr>
            <p:ph type="dt" sz="half" idx="10"/>
          </p:nvPr>
        </p:nvSpPr>
        <p:spPr/>
        <p:txBody>
          <a:bodyPr/>
          <a:lstStyle/>
          <a:p>
            <a:fld id="{889D811A-934B-4BC5-B44A-B6580599A644}" type="datetime1">
              <a:rPr lang="nb-NO" smtClean="0"/>
              <a:t>28.08.2026</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3922286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p:cNvSpPr>
            <a:spLocks noGrp="1"/>
          </p:cNvSpPr>
          <p:nvPr>
            <p:ph type="dt" sz="half" idx="10"/>
          </p:nvPr>
        </p:nvSpPr>
        <p:spPr/>
        <p:txBody>
          <a:bodyPr/>
          <a:lstStyle/>
          <a:p>
            <a:fld id="{01203346-8F7F-4EC2-BFAC-7DC95807ACD9}" type="datetime1">
              <a:rPr lang="nb-NO" smtClean="0"/>
              <a:t>28.08.2026</a:t>
            </a:fld>
            <a:endParaRPr lang="nb-NO"/>
          </a:p>
        </p:txBody>
      </p:sp>
      <p:sp>
        <p:nvSpPr>
          <p:cNvPr id="8" name="Footer Placeholder 7"/>
          <p:cNvSpPr>
            <a:spLocks noGrp="1"/>
          </p:cNvSpPr>
          <p:nvPr>
            <p:ph type="ftr" sz="quarter" idx="11"/>
          </p:nvPr>
        </p:nvSpPr>
        <p:spPr/>
        <p:txBody>
          <a:bodyPr/>
          <a:lstStyle/>
          <a:p>
            <a:endParaRPr lang="nb-NO"/>
          </a:p>
        </p:txBody>
      </p:sp>
      <p:sp>
        <p:nvSpPr>
          <p:cNvPr id="9" name="Slide Number Placeholder 8"/>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4053064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Date Placeholder 2"/>
          <p:cNvSpPr>
            <a:spLocks noGrp="1"/>
          </p:cNvSpPr>
          <p:nvPr>
            <p:ph type="dt" sz="half" idx="10"/>
          </p:nvPr>
        </p:nvSpPr>
        <p:spPr/>
        <p:txBody>
          <a:bodyPr/>
          <a:lstStyle/>
          <a:p>
            <a:fld id="{764CECE0-A05E-48F4-8691-D7A4C5BBF505}" type="datetime1">
              <a:rPr lang="nb-NO" smtClean="0"/>
              <a:t>28.08.2026</a:t>
            </a:fld>
            <a:endParaRPr lang="nb-NO"/>
          </a:p>
        </p:txBody>
      </p:sp>
      <p:sp>
        <p:nvSpPr>
          <p:cNvPr id="4" name="Footer Placeholder 3"/>
          <p:cNvSpPr>
            <a:spLocks noGrp="1"/>
          </p:cNvSpPr>
          <p:nvPr>
            <p:ph type="ftr" sz="quarter" idx="11"/>
          </p:nvPr>
        </p:nvSpPr>
        <p:spPr/>
        <p:txBody>
          <a:bodyPr/>
          <a:lstStyle/>
          <a:p>
            <a:endParaRPr lang="nb-NO"/>
          </a:p>
        </p:txBody>
      </p:sp>
      <p:sp>
        <p:nvSpPr>
          <p:cNvPr id="5" name="Slide Number Placeholder 4"/>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3820233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50B6E6-8071-4623-B194-0CC736B65393}" type="datetime1">
              <a:rPr lang="nb-NO" smtClean="0"/>
              <a:t>28.08.2026</a:t>
            </a:fld>
            <a:endParaRPr lang="nb-NO"/>
          </a:p>
        </p:txBody>
      </p:sp>
      <p:sp>
        <p:nvSpPr>
          <p:cNvPr id="3" name="Footer Placeholder 2"/>
          <p:cNvSpPr>
            <a:spLocks noGrp="1"/>
          </p:cNvSpPr>
          <p:nvPr>
            <p:ph type="ftr" sz="quarter" idx="11"/>
          </p:nvPr>
        </p:nvSpPr>
        <p:spPr/>
        <p:txBody>
          <a:bodyPr/>
          <a:lstStyle/>
          <a:p>
            <a:endParaRPr lang="nb-NO"/>
          </a:p>
        </p:txBody>
      </p:sp>
      <p:sp>
        <p:nvSpPr>
          <p:cNvPr id="4" name="Slide Number Placeholder 3"/>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2383131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9F9AFC1-86E6-46CD-8498-D50CB9B7B210}" type="datetime1">
              <a:rPr lang="nb-NO" smtClean="0"/>
              <a:t>28.08.2026</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1768788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DF90B6-DB26-44E7-BDCD-98475B823E22}" type="datetime1">
              <a:rPr lang="nb-NO" smtClean="0"/>
              <a:t>28.08.2026</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1607121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p:cNvSpPr>
            <a:spLocks noGrp="1"/>
          </p:cNvSpPr>
          <p:nvPr>
            <p:ph type="dt" sz="half" idx="10"/>
          </p:nvPr>
        </p:nvSpPr>
        <p:spPr/>
        <p:txBody>
          <a:bodyPr/>
          <a:lstStyle/>
          <a:p>
            <a:fld id="{C25068C1-5E84-4CD3-BAC6-7E62F610096C}" type="datetime1">
              <a:rPr lang="nb-NO" smtClean="0"/>
              <a:t>28.08.2026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2048785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p:cNvSpPr>
            <a:spLocks noGrp="1"/>
          </p:cNvSpPr>
          <p:nvPr>
            <p:ph type="dt" sz="half" idx="10"/>
          </p:nvPr>
        </p:nvSpPr>
        <p:spPr/>
        <p:txBody>
          <a:bodyPr/>
          <a:lstStyle/>
          <a:p>
            <a:fld id="{05FE0BA5-B4E2-46F6-83D6-1CD58AC43C8D}" type="datetime1">
              <a:rPr lang="nb-NO" smtClean="0"/>
              <a:t>28.08.2026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92CA8B5-DBB4-47BA-9127-F945AE107A35}" type="slidenum">
              <a:rPr lang="nb-NO" smtClean="0"/>
              <a:t>‹#›</a:t>
            </a:fld>
            <a:endParaRPr lang="nb-NO"/>
          </a:p>
        </p:txBody>
      </p:sp>
    </p:spTree>
    <p:extLst>
      <p:ext uri="{BB962C8B-B14F-4D97-AF65-F5344CB8AC3E}">
        <p14:creationId xmlns:p14="http://schemas.microsoft.com/office/powerpoint/2010/main" val="1956549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6986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89B06-9D24-4240-6BDF-64349D9EFA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6F5B3D-264E-2530-90A1-F24FBE1048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9EEB1F-AB88-3E62-B716-1E7FACF2E8AA}"/>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5" name="Footer Placeholder 4">
            <a:extLst>
              <a:ext uri="{FF2B5EF4-FFF2-40B4-BE49-F238E27FC236}">
                <a16:creationId xmlns:a16="http://schemas.microsoft.com/office/drawing/2014/main" id="{A2BFF94E-4784-8863-7544-59AD1BE0AE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090F2D-A301-2A03-A14D-C3A8368C0EFC}"/>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1644877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9CB69-0595-6FF5-EECF-A29E227766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A989A0-7101-0CDC-B733-6929577F65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19D9F-BE48-E2DC-A28E-330F165BCFE9}"/>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5" name="Footer Placeholder 4">
            <a:extLst>
              <a:ext uri="{FF2B5EF4-FFF2-40B4-BE49-F238E27FC236}">
                <a16:creationId xmlns:a16="http://schemas.microsoft.com/office/drawing/2014/main" id="{FEC0558E-A7D2-2BF0-5152-497F15925F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FF98E8-4B3A-B9F1-172C-A1568BD6BAA2}"/>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2028487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8C456-8228-79D2-0750-C847C2C1E5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3A2BA0-A912-5596-936E-7274F0136F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936F8A-7AAB-F0C0-6664-741F3266B277}"/>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5" name="Footer Placeholder 4">
            <a:extLst>
              <a:ext uri="{FF2B5EF4-FFF2-40B4-BE49-F238E27FC236}">
                <a16:creationId xmlns:a16="http://schemas.microsoft.com/office/drawing/2014/main" id="{DAF127AE-19A7-425E-87F0-AC840ADDF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D0CF7F-C2EC-CA74-D3E0-30631FA80EBD}"/>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106322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F8D60-5A4F-EA41-63FB-42E063A1A3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DCED85-A8BA-DF67-BAA3-8AA0052133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C97857-E7A6-F8C9-0332-921F59342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4D1BFB-D473-8498-47A1-CBFC05599F8B}"/>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6" name="Footer Placeholder 5">
            <a:extLst>
              <a:ext uri="{FF2B5EF4-FFF2-40B4-BE49-F238E27FC236}">
                <a16:creationId xmlns:a16="http://schemas.microsoft.com/office/drawing/2014/main" id="{512C89A8-B057-BE13-CD2A-5FE4E3CB08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6AC783-D1F8-D888-7AE0-FFA98428A2C1}"/>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26859431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E6135-F4C6-1E6D-5D2D-2AE389F732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4E5F16-5E57-FF60-0383-25C928AD9F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9632A1-CD3B-0617-F174-57CEFB7B6E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9D4562-DF8E-CEBA-38B4-FA81D65791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862863-8337-C08F-8124-18B9EEB8D6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FAF043-02CE-6D18-DF12-88886842C79F}"/>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8" name="Footer Placeholder 7">
            <a:extLst>
              <a:ext uri="{FF2B5EF4-FFF2-40B4-BE49-F238E27FC236}">
                <a16:creationId xmlns:a16="http://schemas.microsoft.com/office/drawing/2014/main" id="{3726F0EB-4C4A-2FEB-07D8-30868AA8F7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4556B8-E90C-967A-F5E3-4103C0677946}"/>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28710769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DF47-F3F4-8484-3EA7-181006D423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70C033-F52A-9D77-19DE-8DE606AE7790}"/>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4" name="Footer Placeholder 3">
            <a:extLst>
              <a:ext uri="{FF2B5EF4-FFF2-40B4-BE49-F238E27FC236}">
                <a16:creationId xmlns:a16="http://schemas.microsoft.com/office/drawing/2014/main" id="{DB615998-6B3C-C600-4BDF-2C434CEC99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8F2FCB-25B8-15D8-14C2-2A7A1FE51871}"/>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6997050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C77C87-3E77-ACDD-32F3-3EB9222C3C04}"/>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3" name="Footer Placeholder 2">
            <a:extLst>
              <a:ext uri="{FF2B5EF4-FFF2-40B4-BE49-F238E27FC236}">
                <a16:creationId xmlns:a16="http://schemas.microsoft.com/office/drawing/2014/main" id="{DF351828-7940-5E18-9160-E4E222EC4B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31FA0B-3911-5517-EB8A-41BE45F81D32}"/>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6579232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2D5F-C016-9850-FE75-367CE7687F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022B92-A0F1-BCE0-3D41-23E0B8561D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F64C76-27E9-641D-279C-1D76BB566A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4F1337-92C7-4596-066C-9C8A5783F947}"/>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6" name="Footer Placeholder 5">
            <a:extLst>
              <a:ext uri="{FF2B5EF4-FFF2-40B4-BE49-F238E27FC236}">
                <a16:creationId xmlns:a16="http://schemas.microsoft.com/office/drawing/2014/main" id="{6829E20E-CCAD-C743-2B91-49057DADDD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BBA36F-EB57-4A29-6528-021FB6BC00A4}"/>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32817653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18919-E243-EAD0-37FA-AC67026D9B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536D5D-69CF-763C-F644-B829A05116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D2E5872-0570-2241-FC90-4D5CF2E8ED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42BA3F-2105-12D3-6431-78A9FCF712EC}"/>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6" name="Footer Placeholder 5">
            <a:extLst>
              <a:ext uri="{FF2B5EF4-FFF2-40B4-BE49-F238E27FC236}">
                <a16:creationId xmlns:a16="http://schemas.microsoft.com/office/drawing/2014/main" id="{ADDB666F-983A-87D6-A25D-BFF641EC43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87B667-E0BA-B048-4047-FA5B26A98D4F}"/>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1218627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FD08E-4346-B9EE-E30F-CDB7DB6FA9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BB1C31-E7D8-44E1-4492-63C06FF716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976EB4-48D5-37BE-CAD3-C94F92C2FD3B}"/>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5" name="Footer Placeholder 4">
            <a:extLst>
              <a:ext uri="{FF2B5EF4-FFF2-40B4-BE49-F238E27FC236}">
                <a16:creationId xmlns:a16="http://schemas.microsoft.com/office/drawing/2014/main" id="{DC65E2F1-273A-21B1-5651-518E41BF06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00F75F-93D4-FB3A-2D68-72AA508AC281}"/>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398937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BF0C81-F3E9-B708-D16B-9BAC8CC541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BF3B82-DAD8-6F4F-E5AF-C4EDE7F6FB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5DD00-635B-9C85-6D5F-35A5B1474D29}"/>
              </a:ext>
            </a:extLst>
          </p:cNvPr>
          <p:cNvSpPr>
            <a:spLocks noGrp="1"/>
          </p:cNvSpPr>
          <p:nvPr>
            <p:ph type="dt" sz="half" idx="10"/>
          </p:nvPr>
        </p:nvSpPr>
        <p:spPr/>
        <p:txBody>
          <a:bodyPr/>
          <a:lstStyle/>
          <a:p>
            <a:fld id="{F6B9D47C-221E-7542-BB18-6379C5CCC97B}" type="datetimeFigureOut">
              <a:rPr lang="en-US" smtClean="0"/>
              <a:t>8/28/26</a:t>
            </a:fld>
            <a:endParaRPr lang="en-US"/>
          </a:p>
        </p:txBody>
      </p:sp>
      <p:sp>
        <p:nvSpPr>
          <p:cNvPr id="5" name="Footer Placeholder 4">
            <a:extLst>
              <a:ext uri="{FF2B5EF4-FFF2-40B4-BE49-F238E27FC236}">
                <a16:creationId xmlns:a16="http://schemas.microsoft.com/office/drawing/2014/main" id="{8D0E3DE2-6C9C-423E-AB4A-C308C522B8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7C372-F520-D665-0719-0A98987058CE}"/>
              </a:ext>
            </a:extLst>
          </p:cNvPr>
          <p:cNvSpPr>
            <a:spLocks noGrp="1"/>
          </p:cNvSpPr>
          <p:nvPr>
            <p:ph type="sldNum" sz="quarter" idx="12"/>
          </p:nvPr>
        </p:nvSpPr>
        <p:spPr/>
        <p:txBody>
          <a:bodyPr/>
          <a:lstStyle/>
          <a:p>
            <a:fld id="{72661FEE-42A0-8941-B2A4-05B92D170C5B}" type="slidenum">
              <a:rPr lang="en-US" smtClean="0"/>
              <a:t>‹#›</a:t>
            </a:fld>
            <a:endParaRPr lang="en-US"/>
          </a:p>
        </p:txBody>
      </p:sp>
    </p:spTree>
    <p:extLst>
      <p:ext uri="{BB962C8B-B14F-4D97-AF65-F5344CB8AC3E}">
        <p14:creationId xmlns:p14="http://schemas.microsoft.com/office/powerpoint/2010/main" val="2081339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4F2316-5C91-455B-8CBB-EA67624C6712}" type="datetime1">
              <a:rPr lang="nb-NO" smtClean="0"/>
              <a:t>28.08.2026</a:t>
            </a:fld>
            <a:endParaRPr lang="nb-N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b-N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2CA8B5-DBB4-47BA-9127-F945AE107A35}" type="slidenum">
              <a:rPr lang="nb-NO" smtClean="0"/>
              <a:t>‹#›</a:t>
            </a:fld>
            <a:endParaRPr lang="nb-NO"/>
          </a:p>
        </p:txBody>
      </p:sp>
    </p:spTree>
    <p:extLst>
      <p:ext uri="{BB962C8B-B14F-4D97-AF65-F5344CB8AC3E}">
        <p14:creationId xmlns:p14="http://schemas.microsoft.com/office/powerpoint/2010/main" val="22542854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5B89B8-6AF6-A2C0-C13F-00E3B902FC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98BAA0-BD75-99F7-5B65-3779619C91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D239F2-EFFE-C9C8-A862-7755ADE95F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B9D47C-221E-7542-BB18-6379C5CCC97B}" type="datetimeFigureOut">
              <a:rPr lang="en-US" smtClean="0"/>
              <a:t>8/28/26</a:t>
            </a:fld>
            <a:endParaRPr lang="en-US"/>
          </a:p>
        </p:txBody>
      </p:sp>
      <p:sp>
        <p:nvSpPr>
          <p:cNvPr id="5" name="Footer Placeholder 4">
            <a:extLst>
              <a:ext uri="{FF2B5EF4-FFF2-40B4-BE49-F238E27FC236}">
                <a16:creationId xmlns:a16="http://schemas.microsoft.com/office/drawing/2014/main" id="{940C9805-1BB5-49DB-A38D-1F4D749DF2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5C14909-888A-2C22-2D2F-B2AB4F26BE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661FEE-42A0-8941-B2A4-05B92D170C5B}" type="slidenum">
              <a:rPr lang="en-US" smtClean="0"/>
              <a:t>‹#›</a:t>
            </a:fld>
            <a:endParaRPr lang="en-US"/>
          </a:p>
        </p:txBody>
      </p:sp>
    </p:spTree>
    <p:extLst>
      <p:ext uri="{BB962C8B-B14F-4D97-AF65-F5344CB8AC3E}">
        <p14:creationId xmlns:p14="http://schemas.microsoft.com/office/powerpoint/2010/main" val="281322515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10.xml"/><Relationship Id="rId5" Type="http://schemas.openxmlformats.org/officeDocument/2006/relationships/diagramQuickStyle" Target="../diagrams/quickStyle1.xml"/><Relationship Id="rId10" Type="http://schemas.openxmlformats.org/officeDocument/2006/relationships/diagramQuickStyle" Target="../diagrams/quickStyle10.xml"/><Relationship Id="rId4" Type="http://schemas.openxmlformats.org/officeDocument/2006/relationships/diagramLayout" Target="../diagrams/layout1.xml"/><Relationship Id="rId9" Type="http://schemas.openxmlformats.org/officeDocument/2006/relationships/diagramLayout" Target="../diagrams/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11/relationships/inkAction" Target="../ink/inkAction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ssb.no/virksomheter-foretak-og-regnskap/skatt-for-naeringsvirksomhet/artikler/latente-eierinntekter-og-skatteforpliktelser-pa-unoterte-aksjer-i-perioden-20112022/_/attachment/inline/0e7995b2-e27c-4deb-b21b-e17a96b97615:fb1c45e53aadbce5fc7c6dbbb74dc6ba6b135b50/RAPP2025-21.pdf"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noProof="0" dirty="0"/>
          </a:p>
        </p:txBody>
      </p:sp>
      <p:pic>
        <p:nvPicPr>
          <p:cNvPr id="6" name="Picture 5">
            <a:extLst>
              <a:ext uri="{FF2B5EF4-FFF2-40B4-BE49-F238E27FC236}">
                <a16:creationId xmlns:a16="http://schemas.microsoft.com/office/drawing/2014/main" id="{B57EEB1D-2C7F-9064-E584-3DF5A6255519}"/>
              </a:ext>
            </a:extLst>
          </p:cNvPr>
          <p:cNvPicPr>
            <a:picLocks noChangeAspect="1"/>
          </p:cNvPicPr>
          <p:nvPr/>
        </p:nvPicPr>
        <p:blipFill rotWithShape="1">
          <a:blip r:embed="rId2">
            <a:alphaModFix amt="50000"/>
          </a:blip>
          <a:srcRect t="7977" b="7754"/>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nb-NO" noProof="0" dirty="0">
                <a:solidFill>
                  <a:srgbClr val="FFFFFF"/>
                </a:solidFill>
              </a:rPr>
              <a:t>Aksjonærmodellen og Fritaksmetoden</a:t>
            </a:r>
          </a:p>
        </p:txBody>
      </p:sp>
      <p:sp>
        <p:nvSpPr>
          <p:cNvPr id="3" name="Subtitle 2"/>
          <p:cNvSpPr>
            <a:spLocks noGrp="1"/>
          </p:cNvSpPr>
          <p:nvPr>
            <p:ph type="subTitle" idx="1"/>
          </p:nvPr>
        </p:nvSpPr>
        <p:spPr>
          <a:xfrm>
            <a:off x="1524000" y="4159404"/>
            <a:ext cx="9144000" cy="1098395"/>
          </a:xfrm>
        </p:spPr>
        <p:txBody>
          <a:bodyPr>
            <a:normAutofit/>
          </a:bodyPr>
          <a:lstStyle/>
          <a:p>
            <a:r>
              <a:rPr lang="nb-NO" noProof="0" dirty="0">
                <a:solidFill>
                  <a:srgbClr val="FFFFFF"/>
                </a:solidFill>
              </a:rPr>
              <a:t>FIE 432 Personlig Økonomi </a:t>
            </a:r>
          </a:p>
          <a:p>
            <a:r>
              <a:rPr lang="nb-NO" noProof="0" dirty="0">
                <a:solidFill>
                  <a:srgbClr val="FFFFFF"/>
                </a:solidFill>
              </a:rPr>
              <a:t>Professor Guttorm Schjelderup</a:t>
            </a:r>
          </a:p>
        </p:txBody>
      </p:sp>
      <p:sp>
        <p:nvSpPr>
          <p:cNvPr id="4" name="Slide Number Placeholder 3"/>
          <p:cNvSpPr>
            <a:spLocks noGrp="1"/>
          </p:cNvSpPr>
          <p:nvPr>
            <p:ph type="sldNum" sz="quarter" idx="12"/>
          </p:nvPr>
        </p:nvSpPr>
        <p:spPr>
          <a:xfrm>
            <a:off x="8610600" y="6356350"/>
            <a:ext cx="2743200" cy="365125"/>
          </a:xfrm>
        </p:spPr>
        <p:txBody>
          <a:bodyPr>
            <a:normAutofit/>
          </a:bodyPr>
          <a:lstStyle/>
          <a:p>
            <a:pPr>
              <a:spcAft>
                <a:spcPts val="600"/>
              </a:spcAft>
            </a:pPr>
            <a:fld id="{092CA8B5-DBB4-47BA-9127-F945AE107A35}" type="slidenum">
              <a:rPr lang="nb-NO" noProof="0">
                <a:solidFill>
                  <a:srgbClr val="FFFFFF"/>
                </a:solidFill>
              </a:rPr>
              <a:pPr>
                <a:spcAft>
                  <a:spcPts val="600"/>
                </a:spcAft>
              </a:pPr>
              <a:t>1</a:t>
            </a:fld>
            <a:endParaRPr lang="nb-NO" noProof="0" dirty="0">
              <a:solidFill>
                <a:srgbClr val="FFFFFF"/>
              </a:solidFill>
            </a:endParaRPr>
          </a:p>
        </p:txBody>
      </p:sp>
    </p:spTree>
    <p:extLst>
      <p:ext uri="{BB962C8B-B14F-4D97-AF65-F5344CB8AC3E}">
        <p14:creationId xmlns:p14="http://schemas.microsoft.com/office/powerpoint/2010/main" val="2819625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37222"/>
    </mc:Choice>
    <mc:Fallback xmlns="">
      <p:transition spd="slow" advTm="3722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D07A1-04FA-F301-62DC-55A91F11D95B}"/>
              </a:ext>
            </a:extLst>
          </p:cNvPr>
          <p:cNvSpPr>
            <a:spLocks noGrp="1"/>
          </p:cNvSpPr>
          <p:nvPr>
            <p:ph type="title"/>
          </p:nvPr>
        </p:nvSpPr>
        <p:spPr>
          <a:xfrm>
            <a:off x="838200" y="365125"/>
            <a:ext cx="10515600" cy="603063"/>
          </a:xfrm>
        </p:spPr>
        <p:txBody>
          <a:bodyPr>
            <a:normAutofit/>
          </a:bodyPr>
          <a:lstStyle/>
          <a:p>
            <a:r>
              <a:rPr lang="nb-NO" sz="3200" dirty="0"/>
              <a:t>Disposisjon for forelesningene</a:t>
            </a:r>
          </a:p>
        </p:txBody>
      </p:sp>
      <p:sp>
        <p:nvSpPr>
          <p:cNvPr id="3" name="Content Placeholder 2">
            <a:extLst>
              <a:ext uri="{FF2B5EF4-FFF2-40B4-BE49-F238E27FC236}">
                <a16:creationId xmlns:a16="http://schemas.microsoft.com/office/drawing/2014/main" id="{7DE54A02-9583-3DC7-5AD1-F26FB87BD0A4}"/>
              </a:ext>
            </a:extLst>
          </p:cNvPr>
          <p:cNvSpPr>
            <a:spLocks noGrp="1"/>
          </p:cNvSpPr>
          <p:nvPr>
            <p:ph idx="1"/>
          </p:nvPr>
        </p:nvSpPr>
        <p:spPr>
          <a:xfrm>
            <a:off x="838200" y="1246094"/>
            <a:ext cx="10515600" cy="4930869"/>
          </a:xfrm>
        </p:spPr>
        <p:txBody>
          <a:bodyPr/>
          <a:lstStyle/>
          <a:p>
            <a:pPr marL="514350" indent="-514350">
              <a:buFont typeface="+mj-lt"/>
              <a:buAutoNum type="arabicPeriod"/>
            </a:pPr>
            <a:r>
              <a:rPr lang="nb-NO" sz="2800" noProof="0" dirty="0"/>
              <a:t>Skattereformen i 1992</a:t>
            </a:r>
            <a:r>
              <a:rPr lang="nb-NO" dirty="0"/>
              <a:t>. Tilpasninger</a:t>
            </a:r>
            <a:endParaRPr lang="nb-NO" sz="2800" noProof="0" dirty="0"/>
          </a:p>
          <a:p>
            <a:pPr marL="514350" indent="-514350">
              <a:buFont typeface="+mj-lt"/>
              <a:buAutoNum type="arabicPeriod"/>
            </a:pPr>
            <a:r>
              <a:rPr lang="nb-NO" dirty="0"/>
              <a:t>Skattereformen i 2006: Tilpasninger og konsekvenser</a:t>
            </a:r>
          </a:p>
          <a:p>
            <a:pPr marL="514350" indent="-514350">
              <a:buFont typeface="+mj-lt"/>
              <a:buAutoNum type="arabicPeriod"/>
            </a:pPr>
            <a:r>
              <a:rPr lang="nb-NO" dirty="0"/>
              <a:t>Fritaksmetoden</a:t>
            </a:r>
          </a:p>
          <a:p>
            <a:pPr marL="514350" indent="-514350">
              <a:buFont typeface="+mj-lt"/>
              <a:buAutoNum type="arabicPeriod"/>
            </a:pPr>
            <a:r>
              <a:rPr lang="nb-NO" dirty="0"/>
              <a:t>Aksjonærmodellen</a:t>
            </a:r>
          </a:p>
          <a:p>
            <a:pPr marL="514350" indent="-514350">
              <a:buFont typeface="+mj-lt"/>
              <a:buAutoNum type="arabicPeriod"/>
            </a:pPr>
            <a:r>
              <a:rPr lang="nb-NO" dirty="0"/>
              <a:t>Inntektsskiftningsligningen</a:t>
            </a:r>
          </a:p>
          <a:p>
            <a:pPr marL="514350" indent="-514350">
              <a:buFont typeface="+mj-lt"/>
              <a:buAutoNum type="arabicPeriod"/>
            </a:pPr>
            <a:r>
              <a:rPr lang="nb-NO" dirty="0"/>
              <a:t>Nominelle og effektive skattesatser</a:t>
            </a:r>
          </a:p>
          <a:p>
            <a:pPr marL="514350" indent="-514350">
              <a:buFont typeface="+mj-lt"/>
              <a:buAutoNum type="arabicPeriod"/>
            </a:pPr>
            <a:r>
              <a:rPr lang="nb-NO" sz="2800" noProof="0" dirty="0"/>
              <a:t>De rikeste og kapitalbeskatningen i Norge</a:t>
            </a:r>
            <a:endParaRPr lang="nb-NO" dirty="0"/>
          </a:p>
        </p:txBody>
      </p:sp>
      <p:sp>
        <p:nvSpPr>
          <p:cNvPr id="4" name="Slide Number Placeholder 3">
            <a:extLst>
              <a:ext uri="{FF2B5EF4-FFF2-40B4-BE49-F238E27FC236}">
                <a16:creationId xmlns:a16="http://schemas.microsoft.com/office/drawing/2014/main" id="{4D21C8C0-7B8E-9575-06DB-A66D70A7D285}"/>
              </a:ext>
            </a:extLst>
          </p:cNvPr>
          <p:cNvSpPr>
            <a:spLocks noGrp="1"/>
          </p:cNvSpPr>
          <p:nvPr>
            <p:ph type="sldNum" sz="quarter" idx="12"/>
          </p:nvPr>
        </p:nvSpPr>
        <p:spPr/>
        <p:txBody>
          <a:bodyPr/>
          <a:lstStyle/>
          <a:p>
            <a:fld id="{092CA8B5-DBB4-47BA-9127-F945AE107A35}" type="slidenum">
              <a:rPr lang="nb-NO" smtClean="0"/>
              <a:t>2</a:t>
            </a:fld>
            <a:endParaRPr lang="nb-NO"/>
          </a:p>
        </p:txBody>
      </p:sp>
    </p:spTree>
    <p:extLst>
      <p:ext uri="{BB962C8B-B14F-4D97-AF65-F5344CB8AC3E}">
        <p14:creationId xmlns:p14="http://schemas.microsoft.com/office/powerpoint/2010/main" val="2173165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86302-D6BD-B633-AEB7-FA4E0D090A49}"/>
              </a:ext>
            </a:extLst>
          </p:cNvPr>
          <p:cNvSpPr>
            <a:spLocks noGrp="1"/>
          </p:cNvSpPr>
          <p:nvPr>
            <p:ph type="ctrTitle"/>
          </p:nvPr>
        </p:nvSpPr>
        <p:spPr>
          <a:xfrm>
            <a:off x="682619" y="198999"/>
            <a:ext cx="10913806" cy="4075802"/>
          </a:xfrm>
        </p:spPr>
        <p:txBody>
          <a:bodyPr>
            <a:noAutofit/>
          </a:bodyPr>
          <a:lstStyle/>
          <a:p>
            <a:r>
              <a:rPr lang="nb-NO" sz="4000" noProof="0" dirty="0"/>
              <a:t>1. Skattereformen i 1992 og dens konsekvenser for skattepolitikken i dag </a:t>
            </a:r>
          </a:p>
        </p:txBody>
      </p:sp>
    </p:spTree>
    <p:extLst>
      <p:ext uri="{BB962C8B-B14F-4D97-AF65-F5344CB8AC3E}">
        <p14:creationId xmlns:p14="http://schemas.microsoft.com/office/powerpoint/2010/main" val="1321519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A2480-3102-4FE8-B313-AA6C5136D2F9}"/>
              </a:ext>
            </a:extLst>
          </p:cNvPr>
          <p:cNvSpPr>
            <a:spLocks noGrp="1"/>
          </p:cNvSpPr>
          <p:nvPr>
            <p:ph type="title"/>
          </p:nvPr>
        </p:nvSpPr>
        <p:spPr/>
        <p:txBody>
          <a:bodyPr/>
          <a:lstStyle/>
          <a:p>
            <a:r>
              <a:rPr lang="nb-NO" dirty="0"/>
              <a:t>Før skattereformen i 1992</a:t>
            </a:r>
          </a:p>
        </p:txBody>
      </p:sp>
      <p:sp>
        <p:nvSpPr>
          <p:cNvPr id="3" name="Content Placeholder 2">
            <a:extLst>
              <a:ext uri="{FF2B5EF4-FFF2-40B4-BE49-F238E27FC236}">
                <a16:creationId xmlns:a16="http://schemas.microsoft.com/office/drawing/2014/main" id="{FA375042-D07D-5095-11CB-90B8D12C5CAE}"/>
              </a:ext>
            </a:extLst>
          </p:cNvPr>
          <p:cNvSpPr>
            <a:spLocks noGrp="1"/>
          </p:cNvSpPr>
          <p:nvPr>
            <p:ph idx="1"/>
          </p:nvPr>
        </p:nvSpPr>
        <p:spPr/>
        <p:txBody>
          <a:bodyPr>
            <a:normAutofit/>
          </a:bodyPr>
          <a:lstStyle/>
          <a:p>
            <a:r>
              <a:rPr lang="nb-NO" sz="3600" dirty="0"/>
              <a:t>Høyeste marginalskatt på lønn 70%</a:t>
            </a:r>
          </a:p>
          <a:p>
            <a:endParaRPr lang="nb-NO" sz="3600" dirty="0"/>
          </a:p>
          <a:p>
            <a:r>
              <a:rPr lang="nb-NO" sz="3600" dirty="0"/>
              <a:t>Bedriftsskattesatsen var 50,8%</a:t>
            </a:r>
          </a:p>
          <a:p>
            <a:endParaRPr lang="nb-NO" sz="3600" dirty="0"/>
          </a:p>
          <a:p>
            <a:r>
              <a:rPr lang="nb-NO" sz="3600" dirty="0"/>
              <a:t>Utbytte flere satser, høyeste sats var 19,5%</a:t>
            </a:r>
          </a:p>
        </p:txBody>
      </p:sp>
      <p:sp>
        <p:nvSpPr>
          <p:cNvPr id="4" name="Slide Number Placeholder 3">
            <a:extLst>
              <a:ext uri="{FF2B5EF4-FFF2-40B4-BE49-F238E27FC236}">
                <a16:creationId xmlns:a16="http://schemas.microsoft.com/office/drawing/2014/main" id="{050AB8C7-FC44-D159-D844-6DDDBEEA2CE5}"/>
              </a:ext>
            </a:extLst>
          </p:cNvPr>
          <p:cNvSpPr>
            <a:spLocks noGrp="1"/>
          </p:cNvSpPr>
          <p:nvPr>
            <p:ph type="sldNum" sz="quarter" idx="12"/>
          </p:nvPr>
        </p:nvSpPr>
        <p:spPr/>
        <p:txBody>
          <a:bodyPr/>
          <a:lstStyle/>
          <a:p>
            <a:fld id="{092CA8B5-DBB4-47BA-9127-F945AE107A35}" type="slidenum">
              <a:rPr lang="nb-NO" smtClean="0"/>
              <a:t>4</a:t>
            </a:fld>
            <a:endParaRPr lang="nb-NO"/>
          </a:p>
        </p:txBody>
      </p:sp>
    </p:spTree>
    <p:extLst>
      <p:ext uri="{BB962C8B-B14F-4D97-AF65-F5344CB8AC3E}">
        <p14:creationId xmlns:p14="http://schemas.microsoft.com/office/powerpoint/2010/main" val="3175502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750C4-489F-54FD-8C8A-52844CAA5E70}"/>
              </a:ext>
            </a:extLst>
          </p:cNvPr>
          <p:cNvSpPr>
            <a:spLocks noGrp="1"/>
          </p:cNvSpPr>
          <p:nvPr>
            <p:ph type="title"/>
          </p:nvPr>
        </p:nvSpPr>
        <p:spPr>
          <a:xfrm>
            <a:off x="838200" y="365126"/>
            <a:ext cx="10515600" cy="804914"/>
          </a:xfrm>
        </p:spPr>
        <p:txBody>
          <a:bodyPr>
            <a:normAutofit/>
          </a:bodyPr>
          <a:lstStyle/>
          <a:p>
            <a:r>
              <a:rPr lang="nb-NO" sz="3600" b="1" noProof="0" dirty="0">
                <a:latin typeface="+mn-lt"/>
              </a:rPr>
              <a:t>Skattereformen i 1992 </a:t>
            </a:r>
          </a:p>
        </p:txBody>
      </p:sp>
      <p:sp>
        <p:nvSpPr>
          <p:cNvPr id="3" name="Content Placeholder 2">
            <a:extLst>
              <a:ext uri="{FF2B5EF4-FFF2-40B4-BE49-F238E27FC236}">
                <a16:creationId xmlns:a16="http://schemas.microsoft.com/office/drawing/2014/main" id="{D72A6948-BCA2-A5DF-2322-F6F882C01EE6}"/>
              </a:ext>
            </a:extLst>
          </p:cNvPr>
          <p:cNvSpPr>
            <a:spLocks noGrp="1"/>
          </p:cNvSpPr>
          <p:nvPr>
            <p:ph idx="1"/>
          </p:nvPr>
        </p:nvSpPr>
        <p:spPr>
          <a:xfrm>
            <a:off x="482742" y="1517911"/>
            <a:ext cx="11523407" cy="5250424"/>
          </a:xfrm>
        </p:spPr>
        <p:txBody>
          <a:bodyPr>
            <a:normAutofit/>
          </a:bodyPr>
          <a:lstStyle/>
          <a:p>
            <a:r>
              <a:rPr lang="nb-NO" noProof="0" dirty="0"/>
              <a:t>Man innførte den alminnelige skattesatsen på alle inntekter </a:t>
            </a:r>
          </a:p>
          <a:p>
            <a:pPr lvl="1"/>
            <a:r>
              <a:rPr lang="nb-NO" noProof="0" dirty="0"/>
              <a:t>Lønn og k</a:t>
            </a:r>
            <a:r>
              <a:rPr lang="nb-NO" dirty="0" err="1"/>
              <a:t>apitalinntekt</a:t>
            </a:r>
            <a:r>
              <a:rPr lang="nb-NO" dirty="0"/>
              <a:t> (selskaper og aksjegevinster og renter) skattlagt med 28%</a:t>
            </a:r>
          </a:p>
          <a:p>
            <a:pPr lvl="1"/>
            <a:r>
              <a:rPr lang="nb-NO" dirty="0"/>
              <a:t>I 2026 er den alminnelige skattesatsen 22%</a:t>
            </a:r>
          </a:p>
          <a:p>
            <a:pPr lvl="1"/>
            <a:r>
              <a:rPr lang="nb-NO" dirty="0"/>
              <a:t>Ingen skatt på utbytte </a:t>
            </a:r>
          </a:p>
          <a:p>
            <a:endParaRPr lang="nb-NO" dirty="0"/>
          </a:p>
          <a:p>
            <a:r>
              <a:rPr lang="nb-NO" dirty="0"/>
              <a:t>Personinntekt (lønn) ble skattlagt med den alminnelige skattesatsen på 28%</a:t>
            </a:r>
          </a:p>
          <a:p>
            <a:pPr lvl="1"/>
            <a:r>
              <a:rPr lang="nb-NO" sz="2800" noProof="0" dirty="0"/>
              <a:t>På toppen av 28% kom trinnskatt som sikret progressivitet</a:t>
            </a:r>
          </a:p>
          <a:p>
            <a:pPr lvl="1"/>
            <a:r>
              <a:rPr lang="nb-NO" sz="2800" dirty="0"/>
              <a:t>Fordelingspolitikken var rettet mot lønnsmottakere. </a:t>
            </a:r>
          </a:p>
          <a:p>
            <a:pPr lvl="1"/>
            <a:endParaRPr lang="nb-NO" noProof="0" dirty="0"/>
          </a:p>
          <a:p>
            <a:r>
              <a:rPr lang="nb-NO" dirty="0"/>
              <a:t>Eiere av en bedrift som jobbet i egen bedrift fikk tilordnet lønnsinntekt gjennom </a:t>
            </a:r>
            <a:r>
              <a:rPr lang="nb-NO" b="1" dirty="0"/>
              <a:t>delingsmodellen (hvorfor det?)</a:t>
            </a:r>
          </a:p>
          <a:p>
            <a:pPr marL="0" indent="0">
              <a:buNone/>
            </a:pPr>
            <a:endParaRPr lang="nb-NO" noProof="0" dirty="0"/>
          </a:p>
        </p:txBody>
      </p:sp>
    </p:spTree>
    <p:extLst>
      <p:ext uri="{BB962C8B-B14F-4D97-AF65-F5344CB8AC3E}">
        <p14:creationId xmlns:p14="http://schemas.microsoft.com/office/powerpoint/2010/main" val="255821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03810-8036-0C6E-460A-A39C8396639D}"/>
              </a:ext>
            </a:extLst>
          </p:cNvPr>
          <p:cNvSpPr>
            <a:spLocks noGrp="1"/>
          </p:cNvSpPr>
          <p:nvPr>
            <p:ph type="title"/>
          </p:nvPr>
        </p:nvSpPr>
        <p:spPr>
          <a:xfrm>
            <a:off x="838200" y="0"/>
            <a:ext cx="10515600" cy="817632"/>
          </a:xfrm>
        </p:spPr>
        <p:txBody>
          <a:bodyPr>
            <a:normAutofit/>
          </a:bodyPr>
          <a:lstStyle/>
          <a:p>
            <a:r>
              <a:rPr lang="en-US" sz="3600" dirty="0" err="1">
                <a:latin typeface="+mn-lt"/>
              </a:rPr>
              <a:t>Delingsmodellen</a:t>
            </a:r>
            <a:r>
              <a:rPr lang="en-US" sz="3600" dirty="0">
                <a:latin typeface="+mn-lt"/>
              </a:rPr>
              <a:t> </a:t>
            </a:r>
          </a:p>
        </p:txBody>
      </p:sp>
      <p:sp>
        <p:nvSpPr>
          <p:cNvPr id="3" name="Content Placeholder 2">
            <a:extLst>
              <a:ext uri="{FF2B5EF4-FFF2-40B4-BE49-F238E27FC236}">
                <a16:creationId xmlns:a16="http://schemas.microsoft.com/office/drawing/2014/main" id="{265F13E0-07DD-FA02-3B6B-71EBD12B8055}"/>
              </a:ext>
            </a:extLst>
          </p:cNvPr>
          <p:cNvSpPr>
            <a:spLocks noGrp="1"/>
          </p:cNvSpPr>
          <p:nvPr>
            <p:ph idx="1"/>
          </p:nvPr>
        </p:nvSpPr>
        <p:spPr>
          <a:xfrm>
            <a:off x="838200" y="890954"/>
            <a:ext cx="10515600" cy="5684943"/>
          </a:xfrm>
        </p:spPr>
        <p:txBody>
          <a:bodyPr>
            <a:noAutofit/>
          </a:bodyPr>
          <a:lstStyle/>
          <a:p>
            <a:r>
              <a:rPr lang="nb-NO" sz="2600" noProof="0" dirty="0"/>
              <a:t>Hva skulle man gjøre med bedriftseiere som jobbet full tid i egen bedrift? De </a:t>
            </a:r>
            <a:r>
              <a:rPr lang="nb-NO" sz="2600" dirty="0"/>
              <a:t>skulle ha lønnsinntekt men kunne selvsagt velge å heller ta utbytte til 28% i stedet for lønn med marginalskatt over 50%.</a:t>
            </a:r>
          </a:p>
          <a:p>
            <a:endParaRPr lang="nb-NO" sz="2600" noProof="0" dirty="0"/>
          </a:p>
          <a:p>
            <a:r>
              <a:rPr lang="nb-NO" sz="2600" dirty="0"/>
              <a:t>Politikerne (bredt flertall på Stortinget) mente at</a:t>
            </a:r>
            <a:r>
              <a:rPr lang="nb-NO" sz="2600" noProof="0" dirty="0"/>
              <a:t> bedriftseiere som jobbet i egen bedrift og eide 66,67% eller mer av aksjene var aktive eiere og skulle tilordnes en lønnsinntekt.</a:t>
            </a:r>
          </a:p>
          <a:p>
            <a:endParaRPr lang="nb-NO" sz="2600" dirty="0"/>
          </a:p>
          <a:p>
            <a:r>
              <a:rPr lang="nb-NO" sz="2600" dirty="0"/>
              <a:t>Hvorfor 66,67%? I norsk selskapsrett er 2/3 flertall (kvalifisert flertall) det som skal til for å gjøre de virkelig inngripende beslutningene i et aksjeselskap</a:t>
            </a:r>
          </a:p>
          <a:p>
            <a:endParaRPr lang="nb-NO" sz="2600" noProof="0" dirty="0"/>
          </a:p>
          <a:p>
            <a:r>
              <a:rPr lang="nb-NO" sz="2600" dirty="0"/>
              <a:t>Juristene vant over fornuften</a:t>
            </a:r>
          </a:p>
        </p:txBody>
      </p:sp>
      <p:sp>
        <p:nvSpPr>
          <p:cNvPr id="4" name="Slide Number Placeholder 3">
            <a:extLst>
              <a:ext uri="{FF2B5EF4-FFF2-40B4-BE49-F238E27FC236}">
                <a16:creationId xmlns:a16="http://schemas.microsoft.com/office/drawing/2014/main" id="{A7CB8A77-D077-C64D-B7ED-2FD0A02CC6A2}"/>
              </a:ext>
            </a:extLst>
          </p:cNvPr>
          <p:cNvSpPr>
            <a:spLocks noGrp="1"/>
          </p:cNvSpPr>
          <p:nvPr>
            <p:ph type="sldNum" sz="quarter" idx="12"/>
          </p:nvPr>
        </p:nvSpPr>
        <p:spPr/>
        <p:txBody>
          <a:bodyPr/>
          <a:lstStyle/>
          <a:p>
            <a:fld id="{092CA8B5-DBB4-47BA-9127-F945AE107A35}" type="slidenum">
              <a:rPr lang="nb-NO" smtClean="0"/>
              <a:t>6</a:t>
            </a:fld>
            <a:endParaRPr lang="nb-NO"/>
          </a:p>
        </p:txBody>
      </p:sp>
    </p:spTree>
    <p:extLst>
      <p:ext uri="{BB962C8B-B14F-4D97-AF65-F5344CB8AC3E}">
        <p14:creationId xmlns:p14="http://schemas.microsoft.com/office/powerpoint/2010/main" val="224394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963D9-E750-D1BF-61A0-7E921C34F7FD}"/>
              </a:ext>
            </a:extLst>
          </p:cNvPr>
          <p:cNvSpPr>
            <a:spLocks noGrp="1"/>
          </p:cNvSpPr>
          <p:nvPr>
            <p:ph type="title"/>
          </p:nvPr>
        </p:nvSpPr>
        <p:spPr>
          <a:xfrm>
            <a:off x="838200" y="266514"/>
            <a:ext cx="10515600" cy="540310"/>
          </a:xfrm>
        </p:spPr>
        <p:txBody>
          <a:bodyPr>
            <a:normAutofit fontScale="90000"/>
          </a:bodyPr>
          <a:lstStyle/>
          <a:p>
            <a:r>
              <a:rPr lang="nb-NO" sz="3600" b="1" noProof="0" dirty="0">
                <a:latin typeface="+mn-lt"/>
              </a:rPr>
              <a:t>Delingsmodellen i praksis</a:t>
            </a:r>
          </a:p>
        </p:txBody>
      </p:sp>
      <p:sp>
        <p:nvSpPr>
          <p:cNvPr id="3" name="Content Placeholder 2">
            <a:extLst>
              <a:ext uri="{FF2B5EF4-FFF2-40B4-BE49-F238E27FC236}">
                <a16:creationId xmlns:a16="http://schemas.microsoft.com/office/drawing/2014/main" id="{3A29D8F6-315B-8FFE-3403-8121C7124E15}"/>
              </a:ext>
            </a:extLst>
          </p:cNvPr>
          <p:cNvSpPr>
            <a:spLocks noGrp="1"/>
          </p:cNvSpPr>
          <p:nvPr>
            <p:ph idx="1"/>
          </p:nvPr>
        </p:nvSpPr>
        <p:spPr>
          <a:xfrm>
            <a:off x="493059" y="1102659"/>
            <a:ext cx="10860741" cy="5265497"/>
          </a:xfrm>
        </p:spPr>
        <p:txBody>
          <a:bodyPr>
            <a:normAutofit/>
          </a:bodyPr>
          <a:lstStyle/>
          <a:p>
            <a:r>
              <a:rPr lang="nb-NO" sz="3200" dirty="0"/>
              <a:t>Aktive eiere fikk </a:t>
            </a:r>
            <a:r>
              <a:rPr lang="nb-NO" sz="3200" i="1" dirty="0"/>
              <a:t>tilordnet en lønnsinntekt basert på bedriftens overskudd minus fratrekk for en estimert avkastning på investert kapital. </a:t>
            </a:r>
            <a:r>
              <a:rPr lang="nb-NO" sz="3200" i="1" dirty="0" err="1"/>
              <a:t>Residualen</a:t>
            </a:r>
            <a:r>
              <a:rPr lang="nb-NO" sz="3200" i="1" dirty="0"/>
              <a:t> var lønn. </a:t>
            </a:r>
          </a:p>
          <a:p>
            <a:endParaRPr lang="nb-NO" sz="3200" i="1" noProof="0" dirty="0"/>
          </a:p>
          <a:p>
            <a:pPr marL="0" indent="0">
              <a:buNone/>
            </a:pPr>
            <a:r>
              <a:rPr lang="nb-NO" sz="3200" b="1" dirty="0"/>
              <a:t>EKSEMPEL</a:t>
            </a:r>
            <a:endParaRPr lang="nb-NO" sz="3000" b="1" noProof="0" dirty="0"/>
          </a:p>
          <a:p>
            <a:r>
              <a:rPr lang="nb-NO" sz="3000" noProof="0" dirty="0"/>
              <a:t>Bedriftens overskudd </a:t>
            </a:r>
            <a:r>
              <a:rPr lang="nb-NO" sz="3000" noProof="0" dirty="0">
                <a:solidFill>
                  <a:srgbClr val="0070C0"/>
                </a:solidFill>
              </a:rPr>
              <a:t>kr 100</a:t>
            </a:r>
            <a:r>
              <a:rPr lang="nb-NO" sz="3000" noProof="0" dirty="0"/>
              <a:t>.  Investert kapital i selskapet </a:t>
            </a:r>
            <a:r>
              <a:rPr lang="nb-NO" sz="3000" noProof="0" dirty="0">
                <a:solidFill>
                  <a:srgbClr val="FF0000"/>
                </a:solidFill>
              </a:rPr>
              <a:t>kr 1000</a:t>
            </a:r>
          </a:p>
          <a:p>
            <a:r>
              <a:rPr lang="nb-NO" sz="3000" noProof="0" dirty="0"/>
              <a:t>Sjablongmessig avkastning på kapital: 6% dvs. kr 60 (=</a:t>
            </a:r>
            <a:r>
              <a:rPr lang="nb-NO" sz="3000" noProof="0" dirty="0">
                <a:solidFill>
                  <a:srgbClr val="FF0000"/>
                </a:solidFill>
              </a:rPr>
              <a:t>1000</a:t>
            </a:r>
            <a:r>
              <a:rPr lang="nb-NO" sz="3000" noProof="0" dirty="0"/>
              <a:t>*6%)</a:t>
            </a:r>
          </a:p>
          <a:p>
            <a:r>
              <a:rPr lang="nb-NO" sz="3000" noProof="0" dirty="0" err="1"/>
              <a:t>Løn</a:t>
            </a:r>
            <a:r>
              <a:rPr lang="nb-NO" sz="3000" dirty="0" err="1"/>
              <a:t>nsinntekt</a:t>
            </a:r>
            <a:r>
              <a:rPr lang="nb-NO" sz="3000" noProof="0" dirty="0"/>
              <a:t> aktiv eier: kr 40 (= </a:t>
            </a:r>
            <a:r>
              <a:rPr lang="nb-NO" sz="3000" noProof="0" dirty="0">
                <a:solidFill>
                  <a:srgbClr val="0070C0"/>
                </a:solidFill>
              </a:rPr>
              <a:t>kr 100</a:t>
            </a:r>
            <a:r>
              <a:rPr lang="nb-NO" sz="3000" noProof="0" dirty="0"/>
              <a:t> – kr 60) </a:t>
            </a:r>
            <a:endParaRPr lang="nb-NO" sz="3000" dirty="0"/>
          </a:p>
          <a:p>
            <a:r>
              <a:rPr lang="nb-NO" sz="3000" dirty="0"/>
              <a:t>Bedriften betalte skatt av kr 100</a:t>
            </a:r>
            <a:r>
              <a:rPr lang="nb-NO" sz="3000" noProof="0" dirty="0"/>
              <a:t> (28% skatt)</a:t>
            </a:r>
          </a:p>
        </p:txBody>
      </p:sp>
    </p:spTree>
    <p:extLst>
      <p:ext uri="{BB962C8B-B14F-4D97-AF65-F5344CB8AC3E}">
        <p14:creationId xmlns:p14="http://schemas.microsoft.com/office/powerpoint/2010/main" val="2339019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D3CE-1816-1F9F-7012-9B21FB954956}"/>
              </a:ext>
            </a:extLst>
          </p:cNvPr>
          <p:cNvSpPr>
            <a:spLocks noGrp="1"/>
          </p:cNvSpPr>
          <p:nvPr>
            <p:ph type="title"/>
          </p:nvPr>
        </p:nvSpPr>
        <p:spPr/>
        <p:txBody>
          <a:bodyPr>
            <a:normAutofit fontScale="90000"/>
          </a:bodyPr>
          <a:lstStyle/>
          <a:p>
            <a:r>
              <a:rPr lang="nb-NO" dirty="0"/>
              <a:t>Hva ville dere gjort om dere var ene-eier av et aksjeselskap og dermed eide 100% av aksjene og var aktiv eier (eide mer enn 2/3 av aksjene)?</a:t>
            </a:r>
          </a:p>
        </p:txBody>
      </p:sp>
      <p:sp>
        <p:nvSpPr>
          <p:cNvPr id="4" name="Slide Number Placeholder 3">
            <a:extLst>
              <a:ext uri="{FF2B5EF4-FFF2-40B4-BE49-F238E27FC236}">
                <a16:creationId xmlns:a16="http://schemas.microsoft.com/office/drawing/2014/main" id="{FC418F41-70F6-91AC-08EB-F3B58E84FF95}"/>
              </a:ext>
            </a:extLst>
          </p:cNvPr>
          <p:cNvSpPr>
            <a:spLocks noGrp="1"/>
          </p:cNvSpPr>
          <p:nvPr>
            <p:ph type="sldNum" sz="quarter" idx="12"/>
          </p:nvPr>
        </p:nvSpPr>
        <p:spPr/>
        <p:txBody>
          <a:bodyPr/>
          <a:lstStyle/>
          <a:p>
            <a:fld id="{092CA8B5-DBB4-47BA-9127-F945AE107A35}" type="slidenum">
              <a:rPr lang="nb-NO" smtClean="0"/>
              <a:t>8</a:t>
            </a:fld>
            <a:endParaRPr lang="nb-NO"/>
          </a:p>
        </p:txBody>
      </p:sp>
    </p:spTree>
    <p:extLst>
      <p:ext uri="{BB962C8B-B14F-4D97-AF65-F5344CB8AC3E}">
        <p14:creationId xmlns:p14="http://schemas.microsoft.com/office/powerpoint/2010/main" val="571079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1C56C-C9B9-2E8E-495C-09F3D749D95A}"/>
              </a:ext>
            </a:extLst>
          </p:cNvPr>
          <p:cNvSpPr>
            <a:spLocks noGrp="1"/>
          </p:cNvSpPr>
          <p:nvPr>
            <p:ph type="title"/>
          </p:nvPr>
        </p:nvSpPr>
        <p:spPr/>
        <p:txBody>
          <a:bodyPr/>
          <a:lstStyle/>
          <a:p>
            <a:r>
              <a:rPr lang="en-US" noProof="0" dirty="0"/>
              <a:t>Dere </a:t>
            </a:r>
            <a:r>
              <a:rPr lang="en-US" noProof="0" dirty="0" err="1"/>
              <a:t>ville</a:t>
            </a:r>
            <a:r>
              <a:rPr lang="en-US" noProof="0" dirty="0"/>
              <a:t> </a:t>
            </a:r>
            <a:r>
              <a:rPr lang="en-US" noProof="0" dirty="0" err="1"/>
              <a:t>solgt</a:t>
            </a:r>
            <a:r>
              <a:rPr lang="en-US" noProof="0" dirty="0"/>
              <a:t> </a:t>
            </a:r>
            <a:r>
              <a:rPr lang="en-US" noProof="0" dirty="0" err="1"/>
              <a:t>dere</a:t>
            </a:r>
            <a:r>
              <a:rPr lang="en-US" noProof="0" dirty="0"/>
              <a:t> </a:t>
            </a:r>
            <a:r>
              <a:rPr lang="en-US" noProof="0" dirty="0" err="1"/>
              <a:t>ned</a:t>
            </a:r>
            <a:r>
              <a:rPr lang="en-US" noProof="0" dirty="0"/>
              <a:t> under </a:t>
            </a:r>
            <a:r>
              <a:rPr lang="en-US" noProof="0" dirty="0" err="1"/>
              <a:t>grensen</a:t>
            </a:r>
            <a:r>
              <a:rPr lang="en-US" noProof="0" dirty="0"/>
              <a:t> </a:t>
            </a:r>
            <a:r>
              <a:rPr lang="en-US" noProof="0" dirty="0" err="1"/>
              <a:t>på</a:t>
            </a:r>
            <a:r>
              <a:rPr lang="en-US" noProof="0" dirty="0"/>
              <a:t> 67,67% </a:t>
            </a:r>
          </a:p>
        </p:txBody>
      </p:sp>
      <p:sp>
        <p:nvSpPr>
          <p:cNvPr id="3" name="Text Placeholder 2">
            <a:extLst>
              <a:ext uri="{FF2B5EF4-FFF2-40B4-BE49-F238E27FC236}">
                <a16:creationId xmlns:a16="http://schemas.microsoft.com/office/drawing/2014/main" id="{33E26E4D-B655-DD7B-8F23-1F7487F79FC4}"/>
              </a:ext>
            </a:extLst>
          </p:cNvPr>
          <p:cNvSpPr>
            <a:spLocks noGrp="1"/>
          </p:cNvSpPr>
          <p:nvPr>
            <p:ph type="body" idx="1"/>
          </p:nvPr>
        </p:nvSpPr>
        <p:spPr/>
        <p:txBody>
          <a:bodyPr>
            <a:normAutofit/>
          </a:bodyPr>
          <a:lstStyle/>
          <a:p>
            <a:r>
              <a:rPr lang="en-US" sz="3600" noProof="0" dirty="0">
                <a:solidFill>
                  <a:schemeClr val="tx1"/>
                </a:solidFill>
              </a:rPr>
              <a:t>Ved </a:t>
            </a:r>
            <a:r>
              <a:rPr lang="en-US" sz="3600" noProof="0" dirty="0" err="1">
                <a:solidFill>
                  <a:schemeClr val="tx1"/>
                </a:solidFill>
              </a:rPr>
              <a:t>å</a:t>
            </a:r>
            <a:r>
              <a:rPr lang="en-US" sz="3600" noProof="0" dirty="0">
                <a:solidFill>
                  <a:schemeClr val="tx1"/>
                </a:solidFill>
              </a:rPr>
              <a:t> </a:t>
            </a:r>
            <a:r>
              <a:rPr lang="en-US" sz="3600" noProof="0" dirty="0" err="1">
                <a:solidFill>
                  <a:schemeClr val="tx1"/>
                </a:solidFill>
              </a:rPr>
              <a:t>eie</a:t>
            </a:r>
            <a:r>
              <a:rPr lang="en-US" sz="3600" noProof="0" dirty="0">
                <a:solidFill>
                  <a:schemeClr val="tx1"/>
                </a:solidFill>
              </a:rPr>
              <a:t> 67% av </a:t>
            </a:r>
            <a:r>
              <a:rPr lang="en-US" sz="3600" noProof="0" dirty="0" err="1">
                <a:solidFill>
                  <a:schemeClr val="tx1"/>
                </a:solidFill>
              </a:rPr>
              <a:t>aksjene</a:t>
            </a:r>
            <a:r>
              <a:rPr lang="en-US" sz="3600" noProof="0" dirty="0">
                <a:solidFill>
                  <a:schemeClr val="tx1"/>
                </a:solidFill>
              </a:rPr>
              <a:t> </a:t>
            </a:r>
            <a:r>
              <a:rPr lang="en-US" sz="3600" noProof="0" dirty="0" err="1">
                <a:solidFill>
                  <a:schemeClr val="tx1"/>
                </a:solidFill>
              </a:rPr>
              <a:t>kontrollerer</a:t>
            </a:r>
            <a:r>
              <a:rPr lang="en-US" sz="3600" noProof="0" dirty="0">
                <a:solidFill>
                  <a:schemeClr val="tx1"/>
                </a:solidFill>
              </a:rPr>
              <a:t> </a:t>
            </a:r>
            <a:r>
              <a:rPr lang="en-US" sz="3600" noProof="0" dirty="0" err="1">
                <a:solidFill>
                  <a:schemeClr val="tx1"/>
                </a:solidFill>
              </a:rPr>
              <a:t>dere</a:t>
            </a:r>
            <a:r>
              <a:rPr lang="en-US" sz="3600" noProof="0" dirty="0">
                <a:solidFill>
                  <a:schemeClr val="tx1"/>
                </a:solidFill>
              </a:rPr>
              <a:t> </a:t>
            </a:r>
            <a:r>
              <a:rPr lang="en-US" sz="3600" noProof="0" dirty="0" err="1">
                <a:solidFill>
                  <a:schemeClr val="tx1"/>
                </a:solidFill>
              </a:rPr>
              <a:t>fortsatt</a:t>
            </a:r>
            <a:r>
              <a:rPr lang="en-US" sz="3600" noProof="0" dirty="0">
                <a:solidFill>
                  <a:schemeClr val="tx1"/>
                </a:solidFill>
              </a:rPr>
              <a:t> </a:t>
            </a:r>
            <a:r>
              <a:rPr lang="en-US" sz="3600" noProof="0" dirty="0" err="1">
                <a:solidFill>
                  <a:schemeClr val="tx1"/>
                </a:solidFill>
              </a:rPr>
              <a:t>selskapet</a:t>
            </a:r>
            <a:r>
              <a:rPr lang="en-US" sz="3600" noProof="0" dirty="0">
                <a:solidFill>
                  <a:schemeClr val="tx1"/>
                </a:solidFill>
              </a:rPr>
              <a:t> </a:t>
            </a:r>
            <a:r>
              <a:rPr lang="en-US" sz="3600" noProof="0" dirty="0" err="1">
                <a:solidFill>
                  <a:schemeClr val="tx1"/>
                </a:solidFill>
              </a:rPr>
              <a:t>og</a:t>
            </a:r>
            <a:r>
              <a:rPr lang="en-US" sz="3600" noProof="0" dirty="0">
                <a:solidFill>
                  <a:schemeClr val="tx1"/>
                </a:solidFill>
              </a:rPr>
              <a:t> slipper </a:t>
            </a:r>
            <a:r>
              <a:rPr lang="en-US" sz="3600" noProof="0" dirty="0" err="1">
                <a:solidFill>
                  <a:schemeClr val="tx1"/>
                </a:solidFill>
              </a:rPr>
              <a:t>skatt</a:t>
            </a:r>
            <a:r>
              <a:rPr lang="en-US" sz="3600" noProof="0" dirty="0">
                <a:solidFill>
                  <a:schemeClr val="tx1"/>
                </a:solidFill>
              </a:rPr>
              <a:t> </a:t>
            </a:r>
            <a:r>
              <a:rPr lang="en-US" sz="3600" noProof="0" dirty="0" err="1">
                <a:solidFill>
                  <a:schemeClr val="tx1"/>
                </a:solidFill>
              </a:rPr>
              <a:t>på</a:t>
            </a:r>
            <a:r>
              <a:rPr lang="en-US" sz="3600" noProof="0" dirty="0">
                <a:solidFill>
                  <a:schemeClr val="tx1"/>
                </a:solidFill>
              </a:rPr>
              <a:t> </a:t>
            </a:r>
            <a:r>
              <a:rPr lang="en-US" sz="3600" noProof="0" dirty="0" err="1">
                <a:solidFill>
                  <a:schemeClr val="tx1"/>
                </a:solidFill>
              </a:rPr>
              <a:t>utbytte</a:t>
            </a:r>
            <a:r>
              <a:rPr lang="en-US" sz="3600" noProof="0" dirty="0">
                <a:solidFill>
                  <a:schemeClr val="tx1"/>
                </a:solidFill>
              </a:rPr>
              <a:t>!!</a:t>
            </a:r>
          </a:p>
        </p:txBody>
      </p:sp>
      <p:sp>
        <p:nvSpPr>
          <p:cNvPr id="4" name="Slide Number Placeholder 3">
            <a:extLst>
              <a:ext uri="{FF2B5EF4-FFF2-40B4-BE49-F238E27FC236}">
                <a16:creationId xmlns:a16="http://schemas.microsoft.com/office/drawing/2014/main" id="{BD889B8F-D50C-D4F0-0460-956F9BD82967}"/>
              </a:ext>
            </a:extLst>
          </p:cNvPr>
          <p:cNvSpPr>
            <a:spLocks noGrp="1"/>
          </p:cNvSpPr>
          <p:nvPr>
            <p:ph type="sldNum" sz="quarter" idx="12"/>
          </p:nvPr>
        </p:nvSpPr>
        <p:spPr/>
        <p:txBody>
          <a:bodyPr/>
          <a:lstStyle/>
          <a:p>
            <a:fld id="{092CA8B5-DBB4-47BA-9127-F945AE107A35}" type="slidenum">
              <a:rPr lang="en-US" noProof="0" smtClean="0"/>
              <a:t>9</a:t>
            </a:fld>
            <a:endParaRPr lang="en-US" noProof="0" dirty="0"/>
          </a:p>
        </p:txBody>
      </p:sp>
    </p:spTree>
    <p:extLst>
      <p:ext uri="{BB962C8B-B14F-4D97-AF65-F5344CB8AC3E}">
        <p14:creationId xmlns:p14="http://schemas.microsoft.com/office/powerpoint/2010/main" val="53228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C1107-6CF1-7147-0B55-C732FFB38665}"/>
              </a:ext>
            </a:extLst>
          </p:cNvPr>
          <p:cNvSpPr>
            <a:spLocks noGrp="1"/>
          </p:cNvSpPr>
          <p:nvPr>
            <p:ph type="title"/>
          </p:nvPr>
        </p:nvSpPr>
        <p:spPr/>
        <p:txBody>
          <a:bodyPr/>
          <a:lstStyle/>
          <a:p>
            <a:r>
              <a:rPr lang="nb-NO" b="1" dirty="0">
                <a:latin typeface="+mn-lt"/>
              </a:rPr>
              <a:t>Norgesparadokset</a:t>
            </a:r>
          </a:p>
        </p:txBody>
      </p:sp>
      <p:sp>
        <p:nvSpPr>
          <p:cNvPr id="3" name="Content Placeholder 2">
            <a:extLst>
              <a:ext uri="{FF2B5EF4-FFF2-40B4-BE49-F238E27FC236}">
                <a16:creationId xmlns:a16="http://schemas.microsoft.com/office/drawing/2014/main" id="{F3B82F83-B688-56A0-1010-A0A3CC97DE46}"/>
              </a:ext>
            </a:extLst>
          </p:cNvPr>
          <p:cNvSpPr>
            <a:spLocks noGrp="1"/>
          </p:cNvSpPr>
          <p:nvPr>
            <p:ph idx="1"/>
          </p:nvPr>
        </p:nvSpPr>
        <p:spPr/>
        <p:txBody>
          <a:bodyPr>
            <a:noAutofit/>
          </a:bodyPr>
          <a:lstStyle/>
          <a:p>
            <a:r>
              <a:rPr lang="nb-NO" sz="3200" dirty="0"/>
              <a:t>Norge: stor forskjell i skattesats mellom lønn og kapital</a:t>
            </a:r>
          </a:p>
          <a:p>
            <a:endParaRPr lang="nb-NO" sz="3200" dirty="0"/>
          </a:p>
          <a:p>
            <a:r>
              <a:rPr lang="nb-NO" sz="3200" dirty="0"/>
              <a:t>Det var svært lønnsomt å omdanne arbeidsinntekt til kapitalinntekt ved å unngå delingsmodellen (selge seg ned) </a:t>
            </a:r>
          </a:p>
          <a:p>
            <a:endParaRPr lang="nb-NO" sz="3200" dirty="0"/>
          </a:p>
          <a:p>
            <a:r>
              <a:rPr lang="nb-NO" sz="3200" dirty="0"/>
              <a:t>I 2006 var det nesten ingen aktive eiere igjen</a:t>
            </a:r>
          </a:p>
        </p:txBody>
      </p:sp>
      <p:sp>
        <p:nvSpPr>
          <p:cNvPr id="4" name="Slide Number Placeholder 3">
            <a:extLst>
              <a:ext uri="{FF2B5EF4-FFF2-40B4-BE49-F238E27FC236}">
                <a16:creationId xmlns:a16="http://schemas.microsoft.com/office/drawing/2014/main" id="{ED9C5E68-FAF9-B05F-1D83-8B60F443B28F}"/>
              </a:ext>
            </a:extLst>
          </p:cNvPr>
          <p:cNvSpPr>
            <a:spLocks noGrp="1"/>
          </p:cNvSpPr>
          <p:nvPr>
            <p:ph type="sldNum" sz="quarter" idx="12"/>
          </p:nvPr>
        </p:nvSpPr>
        <p:spPr/>
        <p:txBody>
          <a:bodyPr/>
          <a:lstStyle/>
          <a:p>
            <a:fld id="{092CA8B5-DBB4-47BA-9127-F945AE107A35}" type="slidenum">
              <a:rPr lang="nb-NO" smtClean="0"/>
              <a:t>10</a:t>
            </a:fld>
            <a:endParaRPr lang="nb-NO"/>
          </a:p>
        </p:txBody>
      </p:sp>
    </p:spTree>
    <p:extLst>
      <p:ext uri="{BB962C8B-B14F-4D97-AF65-F5344CB8AC3E}">
        <p14:creationId xmlns:p14="http://schemas.microsoft.com/office/powerpoint/2010/main" val="1297579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42BD4-FAFF-63DD-06FD-F332089B6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D0069-3DF6-1357-E271-18301C68533C}"/>
              </a:ext>
            </a:extLst>
          </p:cNvPr>
          <p:cNvSpPr>
            <a:spLocks noGrp="1"/>
          </p:cNvSpPr>
          <p:nvPr>
            <p:ph type="title"/>
          </p:nvPr>
        </p:nvSpPr>
        <p:spPr>
          <a:xfrm>
            <a:off x="521110" y="365126"/>
            <a:ext cx="11137490" cy="952398"/>
          </a:xfrm>
        </p:spPr>
        <p:txBody>
          <a:bodyPr>
            <a:normAutofit fontScale="90000"/>
          </a:bodyPr>
          <a:lstStyle/>
          <a:p>
            <a:r>
              <a:rPr lang="nb-NO" sz="3200" b="1" dirty="0">
                <a:latin typeface="+mn-lt"/>
              </a:rPr>
              <a:t>Bondevik II regjeringen (H + Krf + V) annonserte i 2004 ny skattereform</a:t>
            </a:r>
            <a:endParaRPr lang="nb-NO" sz="3200" b="1" noProof="0" dirty="0">
              <a:latin typeface="+mn-lt"/>
            </a:endParaRPr>
          </a:p>
        </p:txBody>
      </p:sp>
      <p:sp>
        <p:nvSpPr>
          <p:cNvPr id="3" name="Content Placeholder 2">
            <a:extLst>
              <a:ext uri="{FF2B5EF4-FFF2-40B4-BE49-F238E27FC236}">
                <a16:creationId xmlns:a16="http://schemas.microsoft.com/office/drawing/2014/main" id="{452F9946-FD0E-DC5C-9E34-A204657E6CE7}"/>
              </a:ext>
            </a:extLst>
          </p:cNvPr>
          <p:cNvSpPr>
            <a:spLocks noGrp="1"/>
          </p:cNvSpPr>
          <p:nvPr>
            <p:ph idx="1"/>
          </p:nvPr>
        </p:nvSpPr>
        <p:spPr>
          <a:xfrm>
            <a:off x="521110" y="1417320"/>
            <a:ext cx="11228438" cy="5360670"/>
          </a:xfrm>
        </p:spPr>
        <p:txBody>
          <a:bodyPr>
            <a:noAutofit/>
          </a:bodyPr>
          <a:lstStyle/>
          <a:p>
            <a:r>
              <a:rPr lang="nb-NO" sz="3600" noProof="0" dirty="0"/>
              <a:t>Man offentliggjorde at utbytteskatt (</a:t>
            </a:r>
            <a:r>
              <a:rPr lang="nb-NO" sz="3600" noProof="0" dirty="0">
                <a:solidFill>
                  <a:srgbClr val="FF0000"/>
                </a:solidFill>
              </a:rPr>
              <a:t>eierskatt</a:t>
            </a:r>
            <a:r>
              <a:rPr lang="nb-NO" sz="3600" noProof="0" dirty="0"/>
              <a:t>) i 2006</a:t>
            </a:r>
          </a:p>
          <a:p>
            <a:pPr marL="0" indent="0">
              <a:buNone/>
            </a:pPr>
            <a:endParaRPr lang="nb-NO" sz="3600" dirty="0"/>
          </a:p>
          <a:p>
            <a:r>
              <a:rPr lang="nb-NO" sz="3600" noProof="0" dirty="0"/>
              <a:t>Hva ville dere gjort hvis dere eide selskaper i 2004 og dere visste at utbytter  tatt i 2004 og 2005 var skattefrie men ikke i 2006 ?</a:t>
            </a:r>
          </a:p>
        </p:txBody>
      </p:sp>
    </p:spTree>
    <p:extLst>
      <p:ext uri="{BB962C8B-B14F-4D97-AF65-F5344CB8AC3E}">
        <p14:creationId xmlns:p14="http://schemas.microsoft.com/office/powerpoint/2010/main" val="3527276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BA8AB-15BC-BBAE-A8C0-76901CE4924A}"/>
              </a:ext>
            </a:extLst>
          </p:cNvPr>
          <p:cNvSpPr>
            <a:spLocks noGrp="1"/>
          </p:cNvSpPr>
          <p:nvPr>
            <p:ph type="title"/>
          </p:nvPr>
        </p:nvSpPr>
        <p:spPr/>
        <p:txBody>
          <a:bodyPr/>
          <a:lstStyle/>
          <a:p>
            <a:r>
              <a:rPr lang="nb-NO" dirty="0"/>
              <a:t>Dette </a:t>
            </a:r>
            <a:r>
              <a:rPr lang="nb-NO" noProof="0" dirty="0"/>
              <a:t>skjedde</a:t>
            </a:r>
          </a:p>
        </p:txBody>
      </p:sp>
      <p:sp>
        <p:nvSpPr>
          <p:cNvPr id="4" name="Slide Number Placeholder 3">
            <a:extLst>
              <a:ext uri="{FF2B5EF4-FFF2-40B4-BE49-F238E27FC236}">
                <a16:creationId xmlns:a16="http://schemas.microsoft.com/office/drawing/2014/main" id="{8407D1A4-8B10-F6B7-C17C-38FB85A6410B}"/>
              </a:ext>
            </a:extLst>
          </p:cNvPr>
          <p:cNvSpPr>
            <a:spLocks noGrp="1"/>
          </p:cNvSpPr>
          <p:nvPr>
            <p:ph type="sldNum" sz="quarter" idx="12"/>
          </p:nvPr>
        </p:nvSpPr>
        <p:spPr/>
        <p:txBody>
          <a:bodyPr/>
          <a:lstStyle/>
          <a:p>
            <a:fld id="{092CA8B5-DBB4-47BA-9127-F945AE107A35}" type="slidenum">
              <a:rPr lang="nb-NO" noProof="0" smtClean="0"/>
              <a:t>12</a:t>
            </a:fld>
            <a:endParaRPr lang="nb-NO" noProof="0" dirty="0"/>
          </a:p>
        </p:txBody>
      </p:sp>
      <p:sp>
        <p:nvSpPr>
          <p:cNvPr id="5" name="Content Placeholder 4">
            <a:extLst>
              <a:ext uri="{FF2B5EF4-FFF2-40B4-BE49-F238E27FC236}">
                <a16:creationId xmlns:a16="http://schemas.microsoft.com/office/drawing/2014/main" id="{4AB1238E-E64A-B23F-1919-3864ABF42A00}"/>
              </a:ext>
            </a:extLst>
          </p:cNvPr>
          <p:cNvSpPr txBox="1">
            <a:spLocks noGrp="1"/>
          </p:cNvSpPr>
          <p:nvPr>
            <p:ph idx="1"/>
          </p:nvPr>
        </p:nvSpPr>
        <p:spPr>
          <a:xfrm>
            <a:off x="838200" y="1825625"/>
            <a:ext cx="10515600" cy="4594078"/>
          </a:xfrm>
          <a:prstGeom prst="rect">
            <a:avLst/>
          </a:prstGeom>
          <a:noFill/>
        </p:spPr>
        <p:txBody>
          <a:bodyPr wrap="square">
            <a:spAutoFit/>
          </a:bodyPr>
          <a:lstStyle/>
          <a:p>
            <a:r>
              <a:rPr lang="nb-NO" sz="3200" noProof="0" dirty="0"/>
              <a:t>Etter at varsel om innføring av utbytteskatt kom i 2004, tømte mange investorer sine selskaper og tok maksimalt utbytte. </a:t>
            </a:r>
          </a:p>
          <a:p>
            <a:endParaRPr lang="nb-NO" sz="3200" noProof="0" dirty="0"/>
          </a:p>
          <a:p>
            <a:r>
              <a:rPr lang="nb-NO" sz="3200" noProof="0" dirty="0"/>
              <a:t>Pengene de tok ut, skjøt de inn igjen som innskutt egenkapital i selskapene, eventuelt lånte pengene tilbake til selskapet.</a:t>
            </a:r>
          </a:p>
          <a:p>
            <a:endParaRPr lang="nb-NO" sz="3200" noProof="0" dirty="0"/>
          </a:p>
          <a:p>
            <a:r>
              <a:rPr lang="nb-NO" sz="3200" noProof="0" dirty="0"/>
              <a:t>Men de fleste skjøt inn utbyttene som EK</a:t>
            </a:r>
          </a:p>
        </p:txBody>
      </p:sp>
    </p:spTree>
    <p:extLst>
      <p:ext uri="{BB962C8B-B14F-4D97-AF65-F5344CB8AC3E}">
        <p14:creationId xmlns:p14="http://schemas.microsoft.com/office/powerpoint/2010/main" val="2182011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5FFD5-E5DE-CFE3-EADD-FB06F51DA12C}"/>
            </a:ext>
          </a:extLst>
        </p:cNvPr>
        <p:cNvGrpSpPr/>
        <p:nvPr/>
      </p:nvGrpSpPr>
      <p:grpSpPr>
        <a:xfrm>
          <a:off x="0" y="0"/>
          <a:ext cx="0" cy="0"/>
          <a:chOff x="0" y="0"/>
          <a:chExt cx="0" cy="0"/>
        </a:xfrm>
      </p:grpSpPr>
      <p:pic>
        <p:nvPicPr>
          <p:cNvPr id="7" name="Content Placeholder 6" descr="A graph with green and blue lines&#10;&#10;AI-generated content may be incorrect.">
            <a:extLst>
              <a:ext uri="{FF2B5EF4-FFF2-40B4-BE49-F238E27FC236}">
                <a16:creationId xmlns:a16="http://schemas.microsoft.com/office/drawing/2014/main" id="{F354321B-EE14-C1AA-AA0B-F6B77BFF229E}"/>
              </a:ext>
            </a:extLst>
          </p:cNvPr>
          <p:cNvPicPr>
            <a:picLocks noGrp="1" noChangeAspect="1"/>
          </p:cNvPicPr>
          <p:nvPr>
            <p:ph sz="half" idx="2"/>
          </p:nvPr>
        </p:nvPicPr>
        <p:blipFill>
          <a:blip r:embed="rId2"/>
          <a:srcRect t="1466" b="11216"/>
          <a:stretch>
            <a:fillRect/>
          </a:stretch>
        </p:blipFill>
        <p:spPr>
          <a:xfrm>
            <a:off x="20" y="523875"/>
            <a:ext cx="6400781" cy="6334125"/>
          </a:xfrm>
          <a:prstGeom prst="rect">
            <a:avLst/>
          </a:prstGeom>
        </p:spPr>
      </p:pic>
      <p:pic>
        <p:nvPicPr>
          <p:cNvPr id="6" name="Content Placeholder 5">
            <a:extLst>
              <a:ext uri="{FF2B5EF4-FFF2-40B4-BE49-F238E27FC236}">
                <a16:creationId xmlns:a16="http://schemas.microsoft.com/office/drawing/2014/main" id="{A2FD9498-26D6-F8A0-6D8D-439F7187CBB3}"/>
              </a:ext>
            </a:extLst>
          </p:cNvPr>
          <p:cNvPicPr>
            <a:picLocks noChangeAspect="1"/>
          </p:cNvPicPr>
          <p:nvPr/>
        </p:nvPicPr>
        <p:blipFill>
          <a:blip r:embed="rId3"/>
          <a:srcRect r="5039"/>
          <a:stretch>
            <a:fillRect/>
          </a:stretch>
        </p:blipFill>
        <p:spPr>
          <a:xfrm>
            <a:off x="6591299" y="1"/>
            <a:ext cx="5600701" cy="6857999"/>
          </a:xfrm>
          <a:prstGeom prst="rect">
            <a:avLst/>
          </a:prstGeom>
        </p:spPr>
      </p:pic>
      <p:sp>
        <p:nvSpPr>
          <p:cNvPr id="5" name="Slide Number Placeholder 4">
            <a:extLst>
              <a:ext uri="{FF2B5EF4-FFF2-40B4-BE49-F238E27FC236}">
                <a16:creationId xmlns:a16="http://schemas.microsoft.com/office/drawing/2014/main" id="{0552410A-002F-3D01-FAD6-3E1D5E3E4605}"/>
              </a:ext>
            </a:extLst>
          </p:cNvPr>
          <p:cNvSpPr>
            <a:spLocks noGrp="1"/>
          </p:cNvSpPr>
          <p:nvPr>
            <p:ph type="sldNum" sz="quarter" idx="12"/>
          </p:nvPr>
        </p:nvSpPr>
        <p:spPr>
          <a:xfrm>
            <a:off x="8991599" y="6356350"/>
            <a:ext cx="2743200" cy="365125"/>
          </a:xfrm>
        </p:spPr>
        <p:txBody>
          <a:bodyPr vert="horz" lIns="91440" tIns="45720" rIns="91440" bIns="45720" rtlCol="0" anchor="ctr">
            <a:normAutofit/>
          </a:bodyPr>
          <a:lstStyle/>
          <a:p>
            <a:pPr>
              <a:spcAft>
                <a:spcPts val="600"/>
              </a:spcAft>
            </a:pPr>
            <a:fld id="{092CA8B5-DBB4-47BA-9127-F945AE107A35}" type="slidenum">
              <a:rPr lang="en-US">
                <a:solidFill>
                  <a:schemeClr val="bg1"/>
                </a:solidFill>
              </a:rPr>
              <a:pPr>
                <a:spcAft>
                  <a:spcPts val="600"/>
                </a:spcAft>
              </a:pPr>
              <a:t>13</a:t>
            </a:fld>
            <a:endParaRPr lang="en-US">
              <a:solidFill>
                <a:schemeClr val="bg1"/>
              </a:solidFill>
            </a:endParaRPr>
          </a:p>
        </p:txBody>
      </p:sp>
    </p:spTree>
    <p:extLst>
      <p:ext uri="{BB962C8B-B14F-4D97-AF65-F5344CB8AC3E}">
        <p14:creationId xmlns:p14="http://schemas.microsoft.com/office/powerpoint/2010/main" val="1832357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B8FEB-2691-0CEB-3DAA-B835C39541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AD0AFE-DF7E-E6AD-870F-AE87A779B503}"/>
              </a:ext>
            </a:extLst>
          </p:cNvPr>
          <p:cNvSpPr>
            <a:spLocks noGrp="1"/>
          </p:cNvSpPr>
          <p:nvPr>
            <p:ph type="sldNum" sz="quarter" idx="12"/>
          </p:nvPr>
        </p:nvSpPr>
        <p:spPr/>
        <p:txBody>
          <a:bodyPr/>
          <a:lstStyle/>
          <a:p>
            <a:fld id="{092CA8B5-DBB4-47BA-9127-F945AE107A35}" type="slidenum">
              <a:rPr lang="nb-NO" noProof="0" smtClean="0"/>
              <a:t>14</a:t>
            </a:fld>
            <a:endParaRPr lang="nb-NO" noProof="0" dirty="0"/>
          </a:p>
        </p:txBody>
      </p:sp>
      <p:cxnSp>
        <p:nvCxnSpPr>
          <p:cNvPr id="4" name="Straight Connector 3">
            <a:extLst>
              <a:ext uri="{FF2B5EF4-FFF2-40B4-BE49-F238E27FC236}">
                <a16:creationId xmlns:a16="http://schemas.microsoft.com/office/drawing/2014/main" id="{6F9EDFE1-5EAA-607B-B4A4-B8B4F6078C24}"/>
              </a:ext>
            </a:extLst>
          </p:cNvPr>
          <p:cNvCxnSpPr>
            <a:cxnSpLocks/>
          </p:cNvCxnSpPr>
          <p:nvPr/>
        </p:nvCxnSpPr>
        <p:spPr>
          <a:xfrm>
            <a:off x="1121079" y="1777218"/>
            <a:ext cx="0" cy="4022333"/>
          </a:xfrm>
          <a:prstGeom prst="line">
            <a:avLst/>
          </a:prstGeom>
          <a:ln w="19050"/>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66447990-7965-D571-A910-72D2853577D4}"/>
              </a:ext>
            </a:extLst>
          </p:cNvPr>
          <p:cNvCxnSpPr/>
          <p:nvPr/>
        </p:nvCxnSpPr>
        <p:spPr>
          <a:xfrm>
            <a:off x="1108553" y="5793288"/>
            <a:ext cx="56179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A63AAC2E-36D3-7951-2DDE-512B35409CE4}"/>
              </a:ext>
            </a:extLst>
          </p:cNvPr>
          <p:cNvSpPr/>
          <p:nvPr/>
        </p:nvSpPr>
        <p:spPr>
          <a:xfrm>
            <a:off x="1772433" y="1935271"/>
            <a:ext cx="1409178" cy="3250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noProof="0" dirty="0"/>
              <a:t>Overskudd utdelt som utbytte</a:t>
            </a:r>
          </a:p>
        </p:txBody>
      </p:sp>
      <p:sp>
        <p:nvSpPr>
          <p:cNvPr id="10" name="Rectangle 9">
            <a:extLst>
              <a:ext uri="{FF2B5EF4-FFF2-40B4-BE49-F238E27FC236}">
                <a16:creationId xmlns:a16="http://schemas.microsoft.com/office/drawing/2014/main" id="{67B35395-083D-5A5A-16D3-144F6208A51D}"/>
              </a:ext>
            </a:extLst>
          </p:cNvPr>
          <p:cNvSpPr/>
          <p:nvPr/>
        </p:nvSpPr>
        <p:spPr>
          <a:xfrm>
            <a:off x="1772433" y="4816261"/>
            <a:ext cx="1409175" cy="9707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noProof="0" dirty="0"/>
              <a:t>EK</a:t>
            </a:r>
          </a:p>
        </p:txBody>
      </p:sp>
      <p:sp>
        <p:nvSpPr>
          <p:cNvPr id="12" name="Rectangle 11">
            <a:extLst>
              <a:ext uri="{FF2B5EF4-FFF2-40B4-BE49-F238E27FC236}">
                <a16:creationId xmlns:a16="http://schemas.microsoft.com/office/drawing/2014/main" id="{3E24DE42-32B9-3288-A18B-8007B4649625}"/>
              </a:ext>
            </a:extLst>
          </p:cNvPr>
          <p:cNvSpPr/>
          <p:nvPr/>
        </p:nvSpPr>
        <p:spPr>
          <a:xfrm>
            <a:off x="4592871" y="1918571"/>
            <a:ext cx="1409178" cy="32567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noProof="0" dirty="0"/>
              <a:t>O</a:t>
            </a:r>
          </a:p>
        </p:txBody>
      </p:sp>
      <p:sp>
        <p:nvSpPr>
          <p:cNvPr id="13" name="Rectangle 12">
            <a:extLst>
              <a:ext uri="{FF2B5EF4-FFF2-40B4-BE49-F238E27FC236}">
                <a16:creationId xmlns:a16="http://schemas.microsoft.com/office/drawing/2014/main" id="{385C521B-41B8-1E0C-4A10-86C25276291A}"/>
              </a:ext>
            </a:extLst>
          </p:cNvPr>
          <p:cNvSpPr/>
          <p:nvPr/>
        </p:nvSpPr>
        <p:spPr>
          <a:xfrm>
            <a:off x="4592871" y="1935272"/>
            <a:ext cx="1409175" cy="3841316"/>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sz="2400" noProof="0" dirty="0"/>
              <a:t>EK</a:t>
            </a:r>
          </a:p>
        </p:txBody>
      </p:sp>
      <p:sp>
        <p:nvSpPr>
          <p:cNvPr id="15" name="TextBox 14">
            <a:extLst>
              <a:ext uri="{FF2B5EF4-FFF2-40B4-BE49-F238E27FC236}">
                <a16:creationId xmlns:a16="http://schemas.microsoft.com/office/drawing/2014/main" id="{FE6CEA92-0562-81DC-3EC4-33202F8F9FBF}"/>
              </a:ext>
            </a:extLst>
          </p:cNvPr>
          <p:cNvSpPr txBox="1"/>
          <p:nvPr/>
        </p:nvSpPr>
        <p:spPr>
          <a:xfrm>
            <a:off x="2167003" y="6087649"/>
            <a:ext cx="652743" cy="369332"/>
          </a:xfrm>
          <a:prstGeom prst="rect">
            <a:avLst/>
          </a:prstGeom>
          <a:noFill/>
        </p:spPr>
        <p:txBody>
          <a:bodyPr wrap="none" rtlCol="0">
            <a:spAutoFit/>
          </a:bodyPr>
          <a:lstStyle/>
          <a:p>
            <a:r>
              <a:rPr lang="nb-NO" noProof="0" dirty="0"/>
              <a:t>2005</a:t>
            </a:r>
          </a:p>
        </p:txBody>
      </p:sp>
      <p:sp>
        <p:nvSpPr>
          <p:cNvPr id="16" name="TextBox 15">
            <a:extLst>
              <a:ext uri="{FF2B5EF4-FFF2-40B4-BE49-F238E27FC236}">
                <a16:creationId xmlns:a16="http://schemas.microsoft.com/office/drawing/2014/main" id="{6B815977-7274-BE91-3A79-1992495909D2}"/>
              </a:ext>
            </a:extLst>
          </p:cNvPr>
          <p:cNvSpPr txBox="1"/>
          <p:nvPr/>
        </p:nvSpPr>
        <p:spPr>
          <a:xfrm>
            <a:off x="4971086" y="6087649"/>
            <a:ext cx="652743" cy="369332"/>
          </a:xfrm>
          <a:prstGeom prst="rect">
            <a:avLst/>
          </a:prstGeom>
          <a:noFill/>
        </p:spPr>
        <p:txBody>
          <a:bodyPr wrap="none" rtlCol="0">
            <a:spAutoFit/>
          </a:bodyPr>
          <a:lstStyle/>
          <a:p>
            <a:r>
              <a:rPr lang="nb-NO" noProof="0" dirty="0"/>
              <a:t>2006</a:t>
            </a:r>
          </a:p>
        </p:txBody>
      </p:sp>
      <p:cxnSp>
        <p:nvCxnSpPr>
          <p:cNvPr id="18" name="Straight Connector 17">
            <a:extLst>
              <a:ext uri="{FF2B5EF4-FFF2-40B4-BE49-F238E27FC236}">
                <a16:creationId xmlns:a16="http://schemas.microsoft.com/office/drawing/2014/main" id="{F05F5610-C92F-8F84-EF87-452ACA0663BA}"/>
              </a:ext>
            </a:extLst>
          </p:cNvPr>
          <p:cNvCxnSpPr/>
          <p:nvPr/>
        </p:nvCxnSpPr>
        <p:spPr>
          <a:xfrm>
            <a:off x="4592869" y="4885085"/>
            <a:ext cx="1409175" cy="0"/>
          </a:xfrm>
          <a:prstGeom prst="line">
            <a:avLst/>
          </a:prstGeom>
          <a:ln w="38100"/>
        </p:spPr>
        <p:style>
          <a:lnRef idx="1">
            <a:schemeClr val="dk1"/>
          </a:lnRef>
          <a:fillRef idx="0">
            <a:schemeClr val="dk1"/>
          </a:fillRef>
          <a:effectRef idx="0">
            <a:schemeClr val="dk1"/>
          </a:effectRef>
          <a:fontRef idx="minor">
            <a:schemeClr val="tx1"/>
          </a:fontRef>
        </p:style>
      </p:cxnSp>
      <p:sp>
        <p:nvSpPr>
          <p:cNvPr id="19" name="Right Brace 18">
            <a:extLst>
              <a:ext uri="{FF2B5EF4-FFF2-40B4-BE49-F238E27FC236}">
                <a16:creationId xmlns:a16="http://schemas.microsoft.com/office/drawing/2014/main" id="{2A4296C0-9C39-0D83-971C-3874873429BC}"/>
              </a:ext>
            </a:extLst>
          </p:cNvPr>
          <p:cNvSpPr/>
          <p:nvPr/>
        </p:nvSpPr>
        <p:spPr>
          <a:xfrm>
            <a:off x="3215148" y="1935271"/>
            <a:ext cx="294967" cy="2880987"/>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nb-NO" noProof="0" dirty="0"/>
          </a:p>
        </p:txBody>
      </p:sp>
      <p:cxnSp>
        <p:nvCxnSpPr>
          <p:cNvPr id="21" name="Straight Arrow Connector 20">
            <a:extLst>
              <a:ext uri="{FF2B5EF4-FFF2-40B4-BE49-F238E27FC236}">
                <a16:creationId xmlns:a16="http://schemas.microsoft.com/office/drawing/2014/main" id="{A955D76F-1271-7B80-6798-CAE95914E631}"/>
              </a:ext>
            </a:extLst>
          </p:cNvPr>
          <p:cNvCxnSpPr/>
          <p:nvPr/>
        </p:nvCxnSpPr>
        <p:spPr>
          <a:xfrm>
            <a:off x="3657601" y="3370005"/>
            <a:ext cx="5506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66E8EB6-BAD0-F43B-A502-5DE54E7DCE66}"/>
              </a:ext>
            </a:extLst>
          </p:cNvPr>
          <p:cNvSpPr txBox="1"/>
          <p:nvPr/>
        </p:nvSpPr>
        <p:spPr>
          <a:xfrm>
            <a:off x="3407856" y="2188305"/>
            <a:ext cx="1266437" cy="1200329"/>
          </a:xfrm>
          <a:prstGeom prst="rect">
            <a:avLst/>
          </a:prstGeom>
          <a:noFill/>
        </p:spPr>
        <p:txBody>
          <a:bodyPr wrap="none" rtlCol="0">
            <a:spAutoFit/>
          </a:bodyPr>
          <a:lstStyle/>
          <a:p>
            <a:r>
              <a:rPr lang="nb-NO" sz="2400" noProof="0" dirty="0"/>
              <a:t>Utbytte</a:t>
            </a:r>
          </a:p>
          <a:p>
            <a:r>
              <a:rPr lang="nb-NO" sz="2400" noProof="0" dirty="0"/>
              <a:t>skutt inn</a:t>
            </a:r>
          </a:p>
          <a:p>
            <a:r>
              <a:rPr lang="nb-NO" sz="2400" noProof="0" dirty="0"/>
              <a:t>som EK</a:t>
            </a:r>
          </a:p>
        </p:txBody>
      </p:sp>
      <p:sp>
        <p:nvSpPr>
          <p:cNvPr id="23" name="TextBox 22">
            <a:extLst>
              <a:ext uri="{FF2B5EF4-FFF2-40B4-BE49-F238E27FC236}">
                <a16:creationId xmlns:a16="http://schemas.microsoft.com/office/drawing/2014/main" id="{4459FF74-2262-DC04-303D-F34CB8FB911D}"/>
              </a:ext>
            </a:extLst>
          </p:cNvPr>
          <p:cNvSpPr txBox="1"/>
          <p:nvPr/>
        </p:nvSpPr>
        <p:spPr>
          <a:xfrm>
            <a:off x="6653402" y="2744378"/>
            <a:ext cx="4836324" cy="2308324"/>
          </a:xfrm>
          <a:prstGeom prst="rect">
            <a:avLst/>
          </a:prstGeom>
          <a:noFill/>
        </p:spPr>
        <p:txBody>
          <a:bodyPr wrap="square" rtlCol="0">
            <a:spAutoFit/>
          </a:bodyPr>
          <a:lstStyle/>
          <a:p>
            <a:r>
              <a:rPr lang="nb-NO" sz="2400" noProof="0" dirty="0"/>
              <a:t>Egenkapitalen økes med utbytte (skattefritt) før utbytteskatt i 2006</a:t>
            </a:r>
          </a:p>
          <a:p>
            <a:endParaRPr lang="nb-NO" sz="2400" dirty="0"/>
          </a:p>
          <a:p>
            <a:r>
              <a:rPr lang="nb-NO" sz="2400" dirty="0"/>
              <a:t>E</a:t>
            </a:r>
            <a:r>
              <a:rPr lang="nb-NO" sz="2400" noProof="0" dirty="0" err="1"/>
              <a:t>genkapitalen</a:t>
            </a:r>
            <a:r>
              <a:rPr lang="nb-NO" sz="2400" noProof="0" dirty="0"/>
              <a:t> kan nedskrives ned til minimum og nedskrivningen </a:t>
            </a:r>
            <a:r>
              <a:rPr lang="nb-NO" sz="2400" i="1" noProof="0" dirty="0"/>
              <a:t>utbetales til aksjonærene skattefritt</a:t>
            </a:r>
          </a:p>
        </p:txBody>
      </p:sp>
      <p:sp>
        <p:nvSpPr>
          <p:cNvPr id="24" name="TextBox 23">
            <a:extLst>
              <a:ext uri="{FF2B5EF4-FFF2-40B4-BE49-F238E27FC236}">
                <a16:creationId xmlns:a16="http://schemas.microsoft.com/office/drawing/2014/main" id="{C71BF62D-5977-490E-1D9A-73A112EF9564}"/>
              </a:ext>
            </a:extLst>
          </p:cNvPr>
          <p:cNvSpPr txBox="1"/>
          <p:nvPr/>
        </p:nvSpPr>
        <p:spPr>
          <a:xfrm>
            <a:off x="7002406" y="5614885"/>
            <a:ext cx="375424" cy="369332"/>
          </a:xfrm>
          <a:prstGeom prst="rect">
            <a:avLst/>
          </a:prstGeom>
          <a:noFill/>
        </p:spPr>
        <p:txBody>
          <a:bodyPr wrap="none" rtlCol="0">
            <a:spAutoFit/>
          </a:bodyPr>
          <a:lstStyle/>
          <a:p>
            <a:r>
              <a:rPr lang="nb-NO" noProof="0" dirty="0"/>
              <a:t>år</a:t>
            </a:r>
          </a:p>
        </p:txBody>
      </p:sp>
      <p:sp>
        <p:nvSpPr>
          <p:cNvPr id="3" name="TextBox 2">
            <a:extLst>
              <a:ext uri="{FF2B5EF4-FFF2-40B4-BE49-F238E27FC236}">
                <a16:creationId xmlns:a16="http://schemas.microsoft.com/office/drawing/2014/main" id="{D948135A-6F87-B016-9564-106CC2858263}"/>
              </a:ext>
            </a:extLst>
          </p:cNvPr>
          <p:cNvSpPr txBox="1"/>
          <p:nvPr/>
        </p:nvSpPr>
        <p:spPr>
          <a:xfrm>
            <a:off x="4934183" y="5016021"/>
            <a:ext cx="726546" cy="646331"/>
          </a:xfrm>
          <a:prstGeom prst="rect">
            <a:avLst/>
          </a:prstGeom>
          <a:noFill/>
        </p:spPr>
        <p:txBody>
          <a:bodyPr wrap="none" rtlCol="0">
            <a:spAutoFit/>
          </a:bodyPr>
          <a:lstStyle/>
          <a:p>
            <a:r>
              <a:rPr lang="nb-NO" noProof="0" dirty="0">
                <a:solidFill>
                  <a:schemeClr val="bg1"/>
                </a:solidFill>
              </a:rPr>
              <a:t>EK fra</a:t>
            </a:r>
          </a:p>
          <a:p>
            <a:r>
              <a:rPr lang="nb-NO" noProof="0" dirty="0">
                <a:solidFill>
                  <a:schemeClr val="bg1"/>
                </a:solidFill>
              </a:rPr>
              <a:t> 2005</a:t>
            </a:r>
          </a:p>
        </p:txBody>
      </p:sp>
      <p:sp>
        <p:nvSpPr>
          <p:cNvPr id="5" name="Right Brace 4">
            <a:extLst>
              <a:ext uri="{FF2B5EF4-FFF2-40B4-BE49-F238E27FC236}">
                <a16:creationId xmlns:a16="http://schemas.microsoft.com/office/drawing/2014/main" id="{AE839BA2-7418-57AD-8BB6-64572D5E8110}"/>
              </a:ext>
            </a:extLst>
          </p:cNvPr>
          <p:cNvSpPr/>
          <p:nvPr/>
        </p:nvSpPr>
        <p:spPr>
          <a:xfrm>
            <a:off x="6018775" y="1935271"/>
            <a:ext cx="367935" cy="2949814"/>
          </a:xfrm>
          <a:prstGeom prst="righ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nb-NO"/>
          </a:p>
        </p:txBody>
      </p:sp>
      <p:sp>
        <p:nvSpPr>
          <p:cNvPr id="6" name="TextBox 5">
            <a:extLst>
              <a:ext uri="{FF2B5EF4-FFF2-40B4-BE49-F238E27FC236}">
                <a16:creationId xmlns:a16="http://schemas.microsoft.com/office/drawing/2014/main" id="{EE39C509-18EC-4BCA-E28B-18002405D279}"/>
              </a:ext>
            </a:extLst>
          </p:cNvPr>
          <p:cNvSpPr txBox="1"/>
          <p:nvPr/>
        </p:nvSpPr>
        <p:spPr>
          <a:xfrm>
            <a:off x="299000" y="268850"/>
            <a:ext cx="11723077" cy="1200329"/>
          </a:xfrm>
          <a:prstGeom prst="rect">
            <a:avLst/>
          </a:prstGeom>
          <a:noFill/>
        </p:spPr>
        <p:txBody>
          <a:bodyPr wrap="square" rtlCol="0">
            <a:spAutoFit/>
          </a:bodyPr>
          <a:lstStyle/>
          <a:p>
            <a:r>
              <a:rPr lang="nb-NO" sz="2400" dirty="0"/>
              <a:t>Tilpasning: Ta ut store skattefrie utbytter før 2006 og skyte inn utbyttet som EK (øker skjermingsfradraget ) og så skrive ned egenkapitalen og ta ut nedskrivningen skattefritt fremover i tid (unngå utbytteskatt i fremtiden).   </a:t>
            </a:r>
          </a:p>
        </p:txBody>
      </p:sp>
    </p:spTree>
    <p:extLst>
      <p:ext uri="{BB962C8B-B14F-4D97-AF65-F5344CB8AC3E}">
        <p14:creationId xmlns:p14="http://schemas.microsoft.com/office/powerpoint/2010/main" val="3441321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C1029-499E-A22A-9C86-9C21D02B6B0E}"/>
              </a:ext>
            </a:extLst>
          </p:cNvPr>
          <p:cNvSpPr>
            <a:spLocks noGrp="1"/>
          </p:cNvSpPr>
          <p:nvPr>
            <p:ph type="title"/>
          </p:nvPr>
        </p:nvSpPr>
        <p:spPr>
          <a:xfrm>
            <a:off x="909917" y="0"/>
            <a:ext cx="10515600" cy="923365"/>
          </a:xfrm>
        </p:spPr>
        <p:txBody>
          <a:bodyPr>
            <a:normAutofit/>
          </a:bodyPr>
          <a:lstStyle/>
          <a:p>
            <a:r>
              <a:rPr lang="nb-NO" sz="3600" dirty="0"/>
              <a:t>Skattemessige konsekvenser av nedskrivning av EK</a:t>
            </a:r>
          </a:p>
        </p:txBody>
      </p:sp>
      <p:sp>
        <p:nvSpPr>
          <p:cNvPr id="3" name="Content Placeholder 2">
            <a:extLst>
              <a:ext uri="{FF2B5EF4-FFF2-40B4-BE49-F238E27FC236}">
                <a16:creationId xmlns:a16="http://schemas.microsoft.com/office/drawing/2014/main" id="{AA53823A-A0C1-117C-94A5-88FC173FBBFB}"/>
              </a:ext>
            </a:extLst>
          </p:cNvPr>
          <p:cNvSpPr>
            <a:spLocks noGrp="1"/>
          </p:cNvSpPr>
          <p:nvPr>
            <p:ph idx="1"/>
          </p:nvPr>
        </p:nvSpPr>
        <p:spPr>
          <a:xfrm>
            <a:off x="529883" y="923366"/>
            <a:ext cx="11301046" cy="5697070"/>
          </a:xfrm>
        </p:spPr>
        <p:txBody>
          <a:bodyPr>
            <a:normAutofit/>
          </a:bodyPr>
          <a:lstStyle/>
          <a:p>
            <a:r>
              <a:rPr lang="nb-NO" dirty="0"/>
              <a:t>Innskutt EK øker </a:t>
            </a:r>
            <a:r>
              <a:rPr lang="nb-NO" i="1" dirty="0">
                <a:solidFill>
                  <a:srgbClr val="FF0000"/>
                </a:solidFill>
              </a:rPr>
              <a:t>skjermingsgrunnlaget </a:t>
            </a:r>
            <a:r>
              <a:rPr lang="nb-NO" i="1" dirty="0"/>
              <a:t>(altså hvor mye vi kan ta ut skattefritt av utbytte)</a:t>
            </a:r>
            <a:r>
              <a:rPr lang="nb-NO" dirty="0"/>
              <a:t>. </a:t>
            </a:r>
          </a:p>
          <a:p>
            <a:r>
              <a:rPr lang="nb-NO" dirty="0"/>
              <a:t>Nedskrivning av EK reduserer </a:t>
            </a:r>
            <a:r>
              <a:rPr lang="nb-NO" i="1" dirty="0"/>
              <a:t>skjermingsgrunnlaget</a:t>
            </a:r>
            <a:endParaRPr lang="nb-NO" dirty="0"/>
          </a:p>
          <a:p>
            <a:endParaRPr lang="nb-NO" dirty="0"/>
          </a:p>
          <a:p>
            <a:r>
              <a:rPr lang="nb-NO" dirty="0"/>
              <a:t>To konsekvenser av nedskriving av EK:</a:t>
            </a:r>
          </a:p>
          <a:p>
            <a:pPr marL="514350" indent="-514350">
              <a:buFont typeface="+mj-lt"/>
              <a:buAutoNum type="arabicPeriod"/>
            </a:pPr>
            <a:r>
              <a:rPr lang="nb-NO" dirty="0"/>
              <a:t>Lavere skjermingsgrunnlag i fremtiden gir økt utbytteskatt frem i tid</a:t>
            </a:r>
          </a:p>
          <a:p>
            <a:pPr marL="514350" indent="-514350">
              <a:buFont typeface="+mj-lt"/>
              <a:buAutoNum type="arabicPeriod"/>
            </a:pPr>
            <a:r>
              <a:rPr lang="nb-NO" dirty="0"/>
              <a:t>Lavere inngangsverdi/kostverdi for aksjer </a:t>
            </a:r>
            <a:r>
              <a:rPr lang="nb-NO" dirty="0" err="1"/>
              <a:t>pga</a:t>
            </a:r>
            <a:r>
              <a:rPr lang="nb-NO" dirty="0"/>
              <a:t> nedskrivning gir økt skatt om aksjen selges med gevinst av personlig skattyter</a:t>
            </a:r>
          </a:p>
          <a:p>
            <a:pPr marL="514350" indent="-514350">
              <a:buFont typeface="+mj-lt"/>
              <a:buAutoNum type="arabicPeriod"/>
            </a:pPr>
            <a:endParaRPr lang="nb-NO" dirty="0"/>
          </a:p>
          <a:p>
            <a:r>
              <a:rPr lang="nb-NO" dirty="0"/>
              <a:t>Ved nedskrivning av EK utnytter vi en skattekreditt (utsetter utbytteskatt). Det er lønnsomt.</a:t>
            </a:r>
          </a:p>
        </p:txBody>
      </p:sp>
      <p:sp>
        <p:nvSpPr>
          <p:cNvPr id="4" name="Slide Number Placeholder 3">
            <a:extLst>
              <a:ext uri="{FF2B5EF4-FFF2-40B4-BE49-F238E27FC236}">
                <a16:creationId xmlns:a16="http://schemas.microsoft.com/office/drawing/2014/main" id="{D1A2858D-F03B-8D11-9A1C-5BB9CC218549}"/>
              </a:ext>
            </a:extLst>
          </p:cNvPr>
          <p:cNvSpPr>
            <a:spLocks noGrp="1"/>
          </p:cNvSpPr>
          <p:nvPr>
            <p:ph type="sldNum" sz="quarter" idx="12"/>
          </p:nvPr>
        </p:nvSpPr>
        <p:spPr/>
        <p:txBody>
          <a:bodyPr/>
          <a:lstStyle/>
          <a:p>
            <a:fld id="{092CA8B5-DBB4-47BA-9127-F945AE107A35}" type="slidenum">
              <a:rPr lang="nb-NO" smtClean="0"/>
              <a:t>15</a:t>
            </a:fld>
            <a:endParaRPr lang="nb-NO"/>
          </a:p>
        </p:txBody>
      </p:sp>
    </p:spTree>
    <p:extLst>
      <p:ext uri="{BB962C8B-B14F-4D97-AF65-F5344CB8AC3E}">
        <p14:creationId xmlns:p14="http://schemas.microsoft.com/office/powerpoint/2010/main" val="4889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7A22EF-9A83-5BA3-28AC-EBAA78582CB1}"/>
              </a:ext>
            </a:extLst>
          </p:cNvPr>
          <p:cNvPicPr>
            <a:picLocks noChangeAspect="1"/>
          </p:cNvPicPr>
          <p:nvPr/>
        </p:nvPicPr>
        <p:blipFill>
          <a:blip r:embed="rId2"/>
          <a:stretch>
            <a:fillRect/>
          </a:stretch>
        </p:blipFill>
        <p:spPr>
          <a:xfrm>
            <a:off x="-237034" y="291413"/>
            <a:ext cx="12468594" cy="3503798"/>
          </a:xfrm>
          <a:prstGeom prst="rect">
            <a:avLst/>
          </a:prstGeom>
        </p:spPr>
      </p:pic>
      <p:pic>
        <p:nvPicPr>
          <p:cNvPr id="5" name="Picture 4">
            <a:extLst>
              <a:ext uri="{FF2B5EF4-FFF2-40B4-BE49-F238E27FC236}">
                <a16:creationId xmlns:a16="http://schemas.microsoft.com/office/drawing/2014/main" id="{A4DBDE39-D3E6-D10E-4B8F-89874873FC40}"/>
              </a:ext>
            </a:extLst>
          </p:cNvPr>
          <p:cNvPicPr>
            <a:picLocks noChangeAspect="1"/>
          </p:cNvPicPr>
          <p:nvPr/>
        </p:nvPicPr>
        <p:blipFill>
          <a:blip r:embed="rId3"/>
          <a:stretch>
            <a:fillRect/>
          </a:stretch>
        </p:blipFill>
        <p:spPr>
          <a:xfrm>
            <a:off x="6964470" y="4662279"/>
            <a:ext cx="4489711" cy="2195154"/>
          </a:xfrm>
          <a:prstGeom prst="rect">
            <a:avLst/>
          </a:prstGeom>
        </p:spPr>
      </p:pic>
      <p:sp>
        <p:nvSpPr>
          <p:cNvPr id="6" name="TextBox 5">
            <a:extLst>
              <a:ext uri="{FF2B5EF4-FFF2-40B4-BE49-F238E27FC236}">
                <a16:creationId xmlns:a16="http://schemas.microsoft.com/office/drawing/2014/main" id="{23412F50-E1F2-634E-E527-75024EB97723}"/>
              </a:ext>
            </a:extLst>
          </p:cNvPr>
          <p:cNvSpPr txBox="1"/>
          <p:nvPr/>
        </p:nvSpPr>
        <p:spPr>
          <a:xfrm>
            <a:off x="6404284" y="6197256"/>
            <a:ext cx="2286203" cy="369332"/>
          </a:xfrm>
          <a:prstGeom prst="rect">
            <a:avLst/>
          </a:prstGeom>
          <a:noFill/>
        </p:spPr>
        <p:txBody>
          <a:bodyPr wrap="none" rtlCol="0">
            <a:spAutoFit/>
          </a:bodyPr>
          <a:lstStyle/>
          <a:p>
            <a:r>
              <a:rPr lang="nb-NO" b="1" noProof="0" dirty="0"/>
              <a:t>DN 13.desember 2019</a:t>
            </a:r>
          </a:p>
        </p:txBody>
      </p:sp>
      <p:pic>
        <p:nvPicPr>
          <p:cNvPr id="9" name="Bilde 8">
            <a:extLst>
              <a:ext uri="{FF2B5EF4-FFF2-40B4-BE49-F238E27FC236}">
                <a16:creationId xmlns:a16="http://schemas.microsoft.com/office/drawing/2014/main" id="{B3B31795-93A2-4493-BD67-BDD1AE063B5F}"/>
              </a:ext>
            </a:extLst>
          </p:cNvPr>
          <p:cNvPicPr>
            <a:picLocks noChangeAspect="1"/>
          </p:cNvPicPr>
          <p:nvPr/>
        </p:nvPicPr>
        <p:blipFill>
          <a:blip r:embed="rId4"/>
          <a:stretch>
            <a:fillRect/>
          </a:stretch>
        </p:blipFill>
        <p:spPr>
          <a:xfrm>
            <a:off x="503340" y="4057748"/>
            <a:ext cx="8500844" cy="1457105"/>
          </a:xfrm>
          <a:prstGeom prst="rect">
            <a:avLst/>
          </a:prstGeom>
        </p:spPr>
      </p:pic>
    </p:spTree>
    <p:extLst>
      <p:ext uri="{BB962C8B-B14F-4D97-AF65-F5344CB8AC3E}">
        <p14:creationId xmlns:p14="http://schemas.microsoft.com/office/powerpoint/2010/main" val="3460908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4F280-BE24-8248-F6CD-DB8C3CAB93D2}"/>
              </a:ext>
            </a:extLst>
          </p:cNvPr>
          <p:cNvSpPr>
            <a:spLocks noGrp="1"/>
          </p:cNvSpPr>
          <p:nvPr>
            <p:ph type="title"/>
          </p:nvPr>
        </p:nvSpPr>
        <p:spPr>
          <a:xfrm>
            <a:off x="838200" y="365126"/>
            <a:ext cx="10515600" cy="952398"/>
          </a:xfrm>
        </p:spPr>
        <p:txBody>
          <a:bodyPr>
            <a:normAutofit/>
          </a:bodyPr>
          <a:lstStyle/>
          <a:p>
            <a:r>
              <a:rPr lang="nb-NO" sz="3200" noProof="0" dirty="0">
                <a:latin typeface="Amasis MT Pro Black" panose="02040A04050005020304" pitchFamily="18" charset="0"/>
              </a:rPr>
              <a:t>Hva er Oligark-øyeblikket ?</a:t>
            </a:r>
          </a:p>
        </p:txBody>
      </p:sp>
      <p:sp>
        <p:nvSpPr>
          <p:cNvPr id="3" name="Content Placeholder 2">
            <a:extLst>
              <a:ext uri="{FF2B5EF4-FFF2-40B4-BE49-F238E27FC236}">
                <a16:creationId xmlns:a16="http://schemas.microsoft.com/office/drawing/2014/main" id="{3F3C30A6-8C14-DA67-9CE8-D948335EFA5E}"/>
              </a:ext>
            </a:extLst>
          </p:cNvPr>
          <p:cNvSpPr>
            <a:spLocks noGrp="1"/>
          </p:cNvSpPr>
          <p:nvPr>
            <p:ph idx="1"/>
          </p:nvPr>
        </p:nvSpPr>
        <p:spPr>
          <a:xfrm>
            <a:off x="521110" y="1417320"/>
            <a:ext cx="11228438" cy="5360670"/>
          </a:xfrm>
        </p:spPr>
        <p:txBody>
          <a:bodyPr>
            <a:noAutofit/>
          </a:bodyPr>
          <a:lstStyle/>
          <a:p>
            <a:pPr marL="0" indent="0">
              <a:buNone/>
            </a:pPr>
            <a:endParaRPr lang="nb-NO" sz="3600" noProof="0" dirty="0"/>
          </a:p>
          <a:p>
            <a:r>
              <a:rPr lang="nb-NO" sz="3600" dirty="0"/>
              <a:t>D</a:t>
            </a:r>
            <a:r>
              <a:rPr lang="nb-NO" sz="3600" noProof="0" dirty="0"/>
              <a:t>e med etablerte selskaper kunne </a:t>
            </a:r>
            <a:r>
              <a:rPr lang="nb-NO" sz="3600" i="1" noProof="0" dirty="0"/>
              <a:t>sikre seg mot å betale </a:t>
            </a:r>
            <a:r>
              <a:rPr lang="nb-NO" sz="3600" i="1" dirty="0"/>
              <a:t>eierskatt</a:t>
            </a:r>
            <a:r>
              <a:rPr lang="nb-NO" sz="3600" i="1" noProof="0" dirty="0"/>
              <a:t> i mange år framover ved å ta ut </a:t>
            </a:r>
            <a:r>
              <a:rPr lang="nb-NO" sz="3600" noProof="0" dirty="0"/>
              <a:t>enorme utbytter skattefritt og skyte dem inn igjen i bedriftene de eide og så skrive ned EK uten å betale skatt av nedskrivningen! </a:t>
            </a:r>
          </a:p>
          <a:p>
            <a:endParaRPr lang="nb-NO" sz="3600" dirty="0"/>
          </a:p>
          <a:p>
            <a:r>
              <a:rPr lang="nb-NO" sz="3600" noProof="0" dirty="0"/>
              <a:t>Reformen gav en skattefordel til de med «gamle penger»</a:t>
            </a:r>
          </a:p>
        </p:txBody>
      </p:sp>
    </p:spTree>
    <p:extLst>
      <p:ext uri="{BB962C8B-B14F-4D97-AF65-F5344CB8AC3E}">
        <p14:creationId xmlns:p14="http://schemas.microsoft.com/office/powerpoint/2010/main" val="4217689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43D687-8B55-F64E-4F92-A157D78EA5EE}"/>
              </a:ext>
            </a:extLst>
          </p:cNvPr>
          <p:cNvSpPr>
            <a:spLocks noGrp="1"/>
          </p:cNvSpPr>
          <p:nvPr>
            <p:ph type="sldNum" sz="quarter" idx="12"/>
          </p:nvPr>
        </p:nvSpPr>
        <p:spPr/>
        <p:txBody>
          <a:bodyPr/>
          <a:lstStyle/>
          <a:p>
            <a:fld id="{092CA8B5-DBB4-47BA-9127-F945AE107A35}" type="slidenum">
              <a:rPr lang="nb-NO" smtClean="0"/>
              <a:t>18</a:t>
            </a:fld>
            <a:endParaRPr lang="nb-NO"/>
          </a:p>
        </p:txBody>
      </p:sp>
      <p:pic>
        <p:nvPicPr>
          <p:cNvPr id="3" name="Picture 2">
            <a:extLst>
              <a:ext uri="{FF2B5EF4-FFF2-40B4-BE49-F238E27FC236}">
                <a16:creationId xmlns:a16="http://schemas.microsoft.com/office/drawing/2014/main" id="{8EA6A216-BA18-CA37-798C-7E5E15A4E8E3}"/>
              </a:ext>
            </a:extLst>
          </p:cNvPr>
          <p:cNvPicPr>
            <a:picLocks noChangeAspect="1"/>
          </p:cNvPicPr>
          <p:nvPr/>
        </p:nvPicPr>
        <p:blipFill>
          <a:blip r:embed="rId2"/>
          <a:stretch>
            <a:fillRect/>
          </a:stretch>
        </p:blipFill>
        <p:spPr>
          <a:xfrm>
            <a:off x="394082" y="267339"/>
            <a:ext cx="11373847" cy="4482701"/>
          </a:xfrm>
          <a:prstGeom prst="rect">
            <a:avLst/>
          </a:prstGeom>
        </p:spPr>
      </p:pic>
      <p:pic>
        <p:nvPicPr>
          <p:cNvPr id="6" name="Picture 5">
            <a:extLst>
              <a:ext uri="{FF2B5EF4-FFF2-40B4-BE49-F238E27FC236}">
                <a16:creationId xmlns:a16="http://schemas.microsoft.com/office/drawing/2014/main" id="{2F239561-820D-584D-1339-D557C7F4CE52}"/>
              </a:ext>
            </a:extLst>
          </p:cNvPr>
          <p:cNvPicPr>
            <a:picLocks noChangeAspect="1"/>
          </p:cNvPicPr>
          <p:nvPr/>
        </p:nvPicPr>
        <p:blipFill>
          <a:blip r:embed="rId3"/>
          <a:stretch>
            <a:fillRect/>
          </a:stretch>
        </p:blipFill>
        <p:spPr>
          <a:xfrm>
            <a:off x="59911" y="138357"/>
            <a:ext cx="1231900" cy="749300"/>
          </a:xfrm>
          <a:prstGeom prst="rect">
            <a:avLst/>
          </a:prstGeom>
        </p:spPr>
      </p:pic>
      <p:sp>
        <p:nvSpPr>
          <p:cNvPr id="8" name="TextBox 7">
            <a:extLst>
              <a:ext uri="{FF2B5EF4-FFF2-40B4-BE49-F238E27FC236}">
                <a16:creationId xmlns:a16="http://schemas.microsoft.com/office/drawing/2014/main" id="{7C2ADACA-1BD0-5889-F184-91C78291C3CC}"/>
              </a:ext>
            </a:extLst>
          </p:cNvPr>
          <p:cNvSpPr txBox="1"/>
          <p:nvPr/>
        </p:nvSpPr>
        <p:spPr>
          <a:xfrm>
            <a:off x="394081" y="4879022"/>
            <a:ext cx="11373847" cy="1938992"/>
          </a:xfrm>
          <a:prstGeom prst="rect">
            <a:avLst/>
          </a:prstGeom>
          <a:noFill/>
        </p:spPr>
        <p:txBody>
          <a:bodyPr wrap="square">
            <a:spAutoFit/>
          </a:bodyPr>
          <a:lstStyle/>
          <a:p>
            <a:r>
              <a:rPr lang="en-US" sz="2400" b="0" i="1" dirty="0" err="1">
                <a:solidFill>
                  <a:schemeClr val="tx1"/>
                </a:solidFill>
                <a:effectLst/>
                <a:latin typeface="+mn-lt"/>
              </a:rPr>
              <a:t>Familien</a:t>
            </a:r>
            <a:r>
              <a:rPr lang="en-US" sz="2400" b="0" i="1" dirty="0">
                <a:solidFill>
                  <a:schemeClr val="tx1"/>
                </a:solidFill>
                <a:effectLst/>
                <a:latin typeface="+mn-lt"/>
              </a:rPr>
              <a:t> Rasmussen </a:t>
            </a:r>
            <a:r>
              <a:rPr lang="en-US" sz="2400" b="0" i="1" dirty="0" err="1">
                <a:solidFill>
                  <a:schemeClr val="tx1"/>
                </a:solidFill>
                <a:effectLst/>
                <a:latin typeface="+mn-lt"/>
              </a:rPr>
              <a:t>i</a:t>
            </a:r>
            <a:r>
              <a:rPr lang="en-US" sz="2400" b="0" i="1" dirty="0">
                <a:solidFill>
                  <a:schemeClr val="tx1"/>
                </a:solidFill>
                <a:effectLst/>
                <a:latin typeface="+mn-lt"/>
              </a:rPr>
              <a:t> Kristiansand, </a:t>
            </a:r>
            <a:r>
              <a:rPr lang="en-US" sz="2400" b="0" i="1" dirty="0" err="1">
                <a:solidFill>
                  <a:schemeClr val="tx1"/>
                </a:solidFill>
                <a:effectLst/>
                <a:latin typeface="+mn-lt"/>
              </a:rPr>
              <a:t>en</a:t>
            </a:r>
            <a:r>
              <a:rPr lang="en-US" sz="2400" b="0" i="1" dirty="0">
                <a:solidFill>
                  <a:schemeClr val="tx1"/>
                </a:solidFill>
                <a:effectLst/>
                <a:latin typeface="+mn-lt"/>
              </a:rPr>
              <a:t> av </a:t>
            </a:r>
            <a:r>
              <a:rPr lang="en-US" sz="2400" b="0" i="1" dirty="0" err="1">
                <a:solidFill>
                  <a:schemeClr val="tx1"/>
                </a:solidFill>
                <a:effectLst/>
                <a:latin typeface="+mn-lt"/>
              </a:rPr>
              <a:t>Norges</a:t>
            </a:r>
            <a:r>
              <a:rPr lang="en-US" sz="2400" b="0" i="1" dirty="0">
                <a:solidFill>
                  <a:schemeClr val="tx1"/>
                </a:solidFill>
                <a:effectLst/>
                <a:latin typeface="+mn-lt"/>
              </a:rPr>
              <a:t> </a:t>
            </a:r>
            <a:r>
              <a:rPr lang="en-US" sz="2400" b="0" i="1" dirty="0" err="1">
                <a:solidFill>
                  <a:schemeClr val="tx1"/>
                </a:solidFill>
                <a:effectLst/>
                <a:latin typeface="+mn-lt"/>
              </a:rPr>
              <a:t>rikeste</a:t>
            </a:r>
            <a:r>
              <a:rPr lang="en-US" sz="2400" b="0" i="1" dirty="0">
                <a:solidFill>
                  <a:schemeClr val="tx1"/>
                </a:solidFill>
                <a:effectLst/>
                <a:latin typeface="+mn-lt"/>
              </a:rPr>
              <a:t> </a:t>
            </a:r>
            <a:r>
              <a:rPr lang="en-US" sz="2400" b="0" i="1" dirty="0" err="1">
                <a:solidFill>
                  <a:schemeClr val="tx1"/>
                </a:solidFill>
                <a:effectLst/>
                <a:latin typeface="+mn-lt"/>
              </a:rPr>
              <a:t>familier</a:t>
            </a:r>
            <a:r>
              <a:rPr lang="en-US" sz="2400" b="0" i="1" dirty="0">
                <a:solidFill>
                  <a:schemeClr val="tx1"/>
                </a:solidFill>
                <a:effectLst/>
                <a:latin typeface="+mn-lt"/>
              </a:rPr>
              <a:t>, </a:t>
            </a:r>
            <a:r>
              <a:rPr lang="en-US" sz="2400" b="0" i="1" dirty="0" err="1">
                <a:solidFill>
                  <a:schemeClr val="tx1"/>
                </a:solidFill>
                <a:effectLst/>
                <a:latin typeface="+mn-lt"/>
              </a:rPr>
              <a:t>tok</a:t>
            </a:r>
            <a:r>
              <a:rPr lang="en-US" sz="2400" b="0" i="1" dirty="0">
                <a:solidFill>
                  <a:schemeClr val="tx1"/>
                </a:solidFill>
                <a:effectLst/>
                <a:latin typeface="+mn-lt"/>
              </a:rPr>
              <a:t> </a:t>
            </a:r>
            <a:r>
              <a:rPr lang="en-US" sz="2400" b="0" i="1" dirty="0" err="1">
                <a:solidFill>
                  <a:schemeClr val="tx1"/>
                </a:solidFill>
                <a:effectLst/>
                <a:latin typeface="+mn-lt"/>
              </a:rPr>
              <a:t>ut</a:t>
            </a:r>
            <a:r>
              <a:rPr lang="en-US" sz="2400" b="0" i="1" dirty="0">
                <a:solidFill>
                  <a:schemeClr val="tx1"/>
                </a:solidFill>
                <a:effectLst/>
                <a:latin typeface="+mn-lt"/>
              </a:rPr>
              <a:t> </a:t>
            </a:r>
            <a:r>
              <a:rPr lang="en-US" sz="2400" b="0" i="1" dirty="0" err="1">
                <a:solidFill>
                  <a:schemeClr val="tx1"/>
                </a:solidFill>
                <a:effectLst/>
                <a:latin typeface="+mn-lt"/>
              </a:rPr>
              <a:t>nesten</a:t>
            </a:r>
            <a:r>
              <a:rPr lang="en-US" sz="2400" b="0" i="1" dirty="0">
                <a:solidFill>
                  <a:schemeClr val="tx1"/>
                </a:solidFill>
                <a:effectLst/>
                <a:latin typeface="+mn-lt"/>
              </a:rPr>
              <a:t> 1,7 </a:t>
            </a:r>
            <a:r>
              <a:rPr lang="en-US" sz="2400" b="0" i="1" dirty="0" err="1">
                <a:solidFill>
                  <a:schemeClr val="tx1"/>
                </a:solidFill>
                <a:effectLst/>
                <a:latin typeface="+mn-lt"/>
              </a:rPr>
              <a:t>milliarder</a:t>
            </a:r>
            <a:r>
              <a:rPr lang="en-US" sz="2400" b="0" i="1" dirty="0">
                <a:solidFill>
                  <a:schemeClr val="tx1"/>
                </a:solidFill>
                <a:effectLst/>
                <a:latin typeface="+mn-lt"/>
              </a:rPr>
              <a:t> kroner </a:t>
            </a:r>
            <a:r>
              <a:rPr lang="en-US" sz="2400" b="0" i="1" dirty="0" err="1">
                <a:solidFill>
                  <a:schemeClr val="tx1"/>
                </a:solidFill>
                <a:effectLst/>
                <a:latin typeface="+mn-lt"/>
              </a:rPr>
              <a:t>fra</a:t>
            </a:r>
            <a:r>
              <a:rPr lang="en-US" sz="2400" b="0" i="1" dirty="0">
                <a:solidFill>
                  <a:schemeClr val="tx1"/>
                </a:solidFill>
                <a:effectLst/>
                <a:latin typeface="+mn-lt"/>
              </a:rPr>
              <a:t> </a:t>
            </a:r>
            <a:r>
              <a:rPr lang="en-US" sz="2400" b="0" i="1" dirty="0" err="1">
                <a:solidFill>
                  <a:schemeClr val="tx1"/>
                </a:solidFill>
                <a:effectLst/>
                <a:latin typeface="+mn-lt"/>
              </a:rPr>
              <a:t>Rasmussengruppen</a:t>
            </a:r>
            <a:r>
              <a:rPr lang="en-US" sz="2400" b="0" i="1" dirty="0">
                <a:solidFill>
                  <a:schemeClr val="tx1"/>
                </a:solidFill>
                <a:effectLst/>
                <a:latin typeface="+mn-lt"/>
              </a:rPr>
              <a:t> </a:t>
            </a:r>
            <a:r>
              <a:rPr lang="en-US" sz="2400" b="0" i="1" dirty="0" err="1">
                <a:solidFill>
                  <a:schemeClr val="tx1"/>
                </a:solidFill>
                <a:effectLst/>
                <a:latin typeface="+mn-lt"/>
              </a:rPr>
              <a:t>i</a:t>
            </a:r>
            <a:r>
              <a:rPr lang="en-US" sz="2400" b="0" i="1" dirty="0">
                <a:solidFill>
                  <a:schemeClr val="tx1"/>
                </a:solidFill>
                <a:effectLst/>
                <a:latin typeface="+mn-lt"/>
              </a:rPr>
              <a:t> 2004 </a:t>
            </a:r>
            <a:r>
              <a:rPr lang="en-US" sz="2400" b="0" i="1" dirty="0" err="1">
                <a:solidFill>
                  <a:schemeClr val="tx1"/>
                </a:solidFill>
                <a:effectLst/>
                <a:latin typeface="+mn-lt"/>
              </a:rPr>
              <a:t>og</a:t>
            </a:r>
            <a:r>
              <a:rPr lang="en-US" sz="2400" b="0" i="1" dirty="0">
                <a:solidFill>
                  <a:schemeClr val="tx1"/>
                </a:solidFill>
                <a:effectLst/>
                <a:latin typeface="+mn-lt"/>
              </a:rPr>
              <a:t> 2005. </a:t>
            </a:r>
            <a:r>
              <a:rPr lang="en-US" sz="2400" b="0" i="1" dirty="0" err="1">
                <a:solidFill>
                  <a:schemeClr val="tx1"/>
                </a:solidFill>
                <a:effectLst/>
                <a:latin typeface="+mn-lt"/>
              </a:rPr>
              <a:t>Pengene</a:t>
            </a:r>
            <a:r>
              <a:rPr lang="en-US" sz="2400" b="0" i="1" dirty="0">
                <a:solidFill>
                  <a:schemeClr val="tx1"/>
                </a:solidFill>
                <a:effectLst/>
                <a:latin typeface="+mn-lt"/>
              </a:rPr>
              <a:t> </a:t>
            </a:r>
            <a:r>
              <a:rPr lang="en-US" sz="2400" b="0" i="1" dirty="0" err="1">
                <a:solidFill>
                  <a:schemeClr val="tx1"/>
                </a:solidFill>
                <a:effectLst/>
                <a:latin typeface="+mn-lt"/>
              </a:rPr>
              <a:t>ble</a:t>
            </a:r>
            <a:r>
              <a:rPr lang="en-US" sz="2400" b="0" i="1" dirty="0">
                <a:solidFill>
                  <a:schemeClr val="tx1"/>
                </a:solidFill>
                <a:effectLst/>
                <a:latin typeface="+mn-lt"/>
              </a:rPr>
              <a:t> </a:t>
            </a:r>
            <a:r>
              <a:rPr lang="en-US" sz="2400" b="0" i="1" dirty="0" err="1">
                <a:solidFill>
                  <a:schemeClr val="tx1"/>
                </a:solidFill>
                <a:effectLst/>
                <a:latin typeface="+mn-lt"/>
              </a:rPr>
              <a:t>skutt</a:t>
            </a:r>
            <a:r>
              <a:rPr lang="en-US" sz="2400" b="0" i="1" dirty="0">
                <a:solidFill>
                  <a:schemeClr val="tx1"/>
                </a:solidFill>
                <a:effectLst/>
                <a:latin typeface="+mn-lt"/>
              </a:rPr>
              <a:t> inn </a:t>
            </a:r>
            <a:r>
              <a:rPr lang="en-US" sz="2400" b="0" i="1" dirty="0" err="1">
                <a:solidFill>
                  <a:schemeClr val="tx1"/>
                </a:solidFill>
                <a:effectLst/>
                <a:latin typeface="+mn-lt"/>
              </a:rPr>
              <a:t>som</a:t>
            </a:r>
            <a:r>
              <a:rPr lang="en-US" sz="2400" b="0" i="1" dirty="0">
                <a:solidFill>
                  <a:schemeClr val="tx1"/>
                </a:solidFill>
                <a:effectLst/>
                <a:latin typeface="+mn-lt"/>
              </a:rPr>
              <a:t> </a:t>
            </a:r>
            <a:r>
              <a:rPr lang="en-US" sz="2400" b="0" i="1" dirty="0" err="1">
                <a:solidFill>
                  <a:schemeClr val="tx1"/>
                </a:solidFill>
                <a:effectLst/>
                <a:latin typeface="+mn-lt"/>
              </a:rPr>
              <a:t>egenkapital</a:t>
            </a:r>
            <a:r>
              <a:rPr lang="en-US" sz="2400" b="0" i="1" dirty="0">
                <a:solidFill>
                  <a:schemeClr val="tx1"/>
                </a:solidFill>
                <a:effectLst/>
                <a:latin typeface="+mn-lt"/>
              </a:rPr>
              <a:t> </a:t>
            </a:r>
            <a:r>
              <a:rPr lang="en-US" sz="2400" b="0" i="1" dirty="0" err="1">
                <a:solidFill>
                  <a:schemeClr val="tx1"/>
                </a:solidFill>
                <a:effectLst/>
                <a:latin typeface="+mn-lt"/>
              </a:rPr>
              <a:t>og</a:t>
            </a:r>
            <a:r>
              <a:rPr lang="en-US" sz="2400" b="0" i="1" dirty="0">
                <a:solidFill>
                  <a:schemeClr val="tx1"/>
                </a:solidFill>
                <a:effectLst/>
                <a:latin typeface="+mn-lt"/>
              </a:rPr>
              <a:t> </a:t>
            </a:r>
            <a:r>
              <a:rPr lang="en-US" sz="2400" b="0" i="1" dirty="0" err="1">
                <a:solidFill>
                  <a:schemeClr val="tx1"/>
                </a:solidFill>
                <a:effectLst/>
                <a:latin typeface="+mn-lt"/>
              </a:rPr>
              <a:t>lånt</a:t>
            </a:r>
            <a:r>
              <a:rPr lang="en-US" sz="2400" b="0" i="1" dirty="0">
                <a:solidFill>
                  <a:schemeClr val="tx1"/>
                </a:solidFill>
                <a:effectLst/>
                <a:latin typeface="+mn-lt"/>
              </a:rPr>
              <a:t> </a:t>
            </a:r>
            <a:r>
              <a:rPr lang="en-US" sz="2400" b="0" i="1" dirty="0" err="1">
                <a:solidFill>
                  <a:schemeClr val="tx1"/>
                </a:solidFill>
                <a:effectLst/>
                <a:latin typeface="+mn-lt"/>
              </a:rPr>
              <a:t>tilbake</a:t>
            </a:r>
            <a:r>
              <a:rPr lang="en-US" sz="2400" b="0" i="1" dirty="0">
                <a:solidFill>
                  <a:schemeClr val="tx1"/>
                </a:solidFill>
                <a:effectLst/>
                <a:latin typeface="+mn-lt"/>
              </a:rPr>
              <a:t> </a:t>
            </a:r>
            <a:r>
              <a:rPr lang="en-US" sz="2400" b="0" i="1" dirty="0" err="1">
                <a:solidFill>
                  <a:schemeClr val="tx1"/>
                </a:solidFill>
                <a:effectLst/>
                <a:latin typeface="+mn-lt"/>
              </a:rPr>
              <a:t>til</a:t>
            </a:r>
            <a:r>
              <a:rPr lang="en-US" sz="2400" b="0" i="1" dirty="0">
                <a:solidFill>
                  <a:schemeClr val="tx1"/>
                </a:solidFill>
                <a:effectLst/>
                <a:latin typeface="+mn-lt"/>
              </a:rPr>
              <a:t> </a:t>
            </a:r>
            <a:r>
              <a:rPr lang="en-US" sz="2400" b="0" i="1" dirty="0" err="1">
                <a:solidFill>
                  <a:schemeClr val="tx1"/>
                </a:solidFill>
                <a:effectLst/>
                <a:latin typeface="+mn-lt"/>
              </a:rPr>
              <a:t>selskapet</a:t>
            </a:r>
            <a:r>
              <a:rPr lang="en-US" sz="2400" b="0" i="1" dirty="0">
                <a:solidFill>
                  <a:schemeClr val="tx1"/>
                </a:solidFill>
                <a:effectLst/>
                <a:latin typeface="+mn-lt"/>
              </a:rPr>
              <a:t>.</a:t>
            </a:r>
          </a:p>
          <a:p>
            <a:endParaRPr lang="en-US" sz="2400" i="1" dirty="0"/>
          </a:p>
          <a:p>
            <a:r>
              <a:rPr lang="en-US" sz="2400" i="1" dirty="0"/>
              <a:t>DN 16. </a:t>
            </a:r>
            <a:r>
              <a:rPr lang="en-US" sz="2400" i="1" dirty="0" err="1"/>
              <a:t>desember</a:t>
            </a:r>
            <a:r>
              <a:rPr lang="en-US" sz="2400" i="1" dirty="0"/>
              <a:t> 2019</a:t>
            </a:r>
          </a:p>
        </p:txBody>
      </p:sp>
    </p:spTree>
    <p:extLst>
      <p:ext uri="{BB962C8B-B14F-4D97-AF65-F5344CB8AC3E}">
        <p14:creationId xmlns:p14="http://schemas.microsoft.com/office/powerpoint/2010/main" val="3252435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9757A-5654-4404-21A5-840364F46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73F26-4804-F7F3-D8B4-A0ED28F4548E}"/>
              </a:ext>
            </a:extLst>
          </p:cNvPr>
          <p:cNvSpPr>
            <a:spLocks noGrp="1"/>
          </p:cNvSpPr>
          <p:nvPr>
            <p:ph type="ctrTitle"/>
          </p:nvPr>
        </p:nvSpPr>
        <p:spPr>
          <a:xfrm>
            <a:off x="557113" y="560295"/>
            <a:ext cx="10913806" cy="5625352"/>
          </a:xfrm>
        </p:spPr>
        <p:txBody>
          <a:bodyPr>
            <a:noAutofit/>
          </a:bodyPr>
          <a:lstStyle/>
          <a:p>
            <a:r>
              <a:rPr lang="nb-NO" sz="4000" b="1" dirty="0"/>
              <a:t>2. </a:t>
            </a:r>
            <a:r>
              <a:rPr lang="nb-NO" sz="4400" b="1" dirty="0"/>
              <a:t>Skattereformen i 2006: </a:t>
            </a:r>
            <a:br>
              <a:rPr lang="nb-NO" sz="4400" dirty="0"/>
            </a:br>
            <a:br>
              <a:rPr lang="nb-NO" sz="4400" dirty="0"/>
            </a:br>
            <a:r>
              <a:rPr lang="nb-NO" sz="4400" dirty="0"/>
              <a:t>Man innførte:</a:t>
            </a:r>
            <a:br>
              <a:rPr lang="nb-NO" sz="4400" dirty="0"/>
            </a:br>
            <a:r>
              <a:rPr lang="nb-NO" sz="3600" dirty="0"/>
              <a:t> </a:t>
            </a:r>
            <a:r>
              <a:rPr lang="nb-NO" sz="3600" b="1" dirty="0">
                <a:solidFill>
                  <a:srgbClr val="FF0000"/>
                </a:solidFill>
              </a:rPr>
              <a:t>Fritaksmetoden</a:t>
            </a:r>
            <a:br>
              <a:rPr lang="nb-NO" sz="3600" b="1" dirty="0">
                <a:solidFill>
                  <a:srgbClr val="FF0000"/>
                </a:solidFill>
              </a:rPr>
            </a:br>
            <a:r>
              <a:rPr lang="nb-NO" sz="3600" b="1" dirty="0">
                <a:solidFill>
                  <a:srgbClr val="FF0000"/>
                </a:solidFill>
              </a:rPr>
              <a:t> og Aksjonærmodellen</a:t>
            </a:r>
            <a:br>
              <a:rPr lang="nb-NO" sz="3600" dirty="0"/>
            </a:br>
            <a:br>
              <a:rPr lang="nb-NO" sz="3600" dirty="0"/>
            </a:br>
            <a:r>
              <a:rPr lang="nb-NO" sz="4400" dirty="0"/>
              <a:t>Begge er i bruk i dag</a:t>
            </a:r>
            <a:endParaRPr lang="nb-NO" sz="4000" noProof="0" dirty="0"/>
          </a:p>
        </p:txBody>
      </p:sp>
    </p:spTree>
    <p:extLst>
      <p:ext uri="{BB962C8B-B14F-4D97-AF65-F5344CB8AC3E}">
        <p14:creationId xmlns:p14="http://schemas.microsoft.com/office/powerpoint/2010/main" val="326855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E9A59-A6DE-122D-7C44-E45876E83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BA807-F31D-99AF-733C-4D6F7576B68D}"/>
              </a:ext>
            </a:extLst>
          </p:cNvPr>
          <p:cNvSpPr>
            <a:spLocks noGrp="1"/>
          </p:cNvSpPr>
          <p:nvPr>
            <p:ph type="title"/>
          </p:nvPr>
        </p:nvSpPr>
        <p:spPr>
          <a:xfrm>
            <a:off x="869576" y="136525"/>
            <a:ext cx="10515600" cy="686927"/>
          </a:xfrm>
        </p:spPr>
        <p:txBody>
          <a:bodyPr>
            <a:normAutofit/>
          </a:bodyPr>
          <a:lstStyle/>
          <a:p>
            <a:r>
              <a:rPr lang="nb-NO" sz="3600" b="1" noProof="0" dirty="0">
                <a:latin typeface="+mn-lt"/>
              </a:rPr>
              <a:t>Kapitalbeskatningen i 2026</a:t>
            </a:r>
          </a:p>
        </p:txBody>
      </p:sp>
      <p:sp>
        <p:nvSpPr>
          <p:cNvPr id="3" name="Content Placeholder 2">
            <a:extLst>
              <a:ext uri="{FF2B5EF4-FFF2-40B4-BE49-F238E27FC236}">
                <a16:creationId xmlns:a16="http://schemas.microsoft.com/office/drawing/2014/main" id="{32BA1D03-ADD8-85ED-EC5C-A81ACFEE6E2C}"/>
              </a:ext>
            </a:extLst>
          </p:cNvPr>
          <p:cNvSpPr>
            <a:spLocks noGrp="1"/>
          </p:cNvSpPr>
          <p:nvPr>
            <p:ph idx="1"/>
          </p:nvPr>
        </p:nvSpPr>
        <p:spPr>
          <a:xfrm>
            <a:off x="570271" y="914400"/>
            <a:ext cx="11375923" cy="5578475"/>
          </a:xfrm>
        </p:spPr>
        <p:txBody>
          <a:bodyPr>
            <a:normAutofit lnSpcReduction="10000"/>
          </a:bodyPr>
          <a:lstStyle/>
          <a:p>
            <a:r>
              <a:rPr lang="nb-NO" noProof="0" dirty="0"/>
              <a:t>Den nominelle skattesatsen på </a:t>
            </a:r>
            <a:r>
              <a:rPr lang="nb-NO" dirty="0"/>
              <a:t>alminnelig inntekt (lønn, renteinntekt, selskapsoverskudd)</a:t>
            </a:r>
            <a:r>
              <a:rPr lang="nb-NO" noProof="0" dirty="0"/>
              <a:t> er 22%</a:t>
            </a:r>
          </a:p>
          <a:p>
            <a:pPr marL="457200" lvl="1" indent="0">
              <a:buNone/>
            </a:pPr>
            <a:endParaRPr lang="nb-NO" noProof="0" dirty="0"/>
          </a:p>
          <a:p>
            <a:r>
              <a:rPr lang="nb-NO" dirty="0"/>
              <a:t>For personinntekt kommer det trinnskatt (5 trinn) i intervaller på toppen av den alminnelige skattesatsen</a:t>
            </a:r>
          </a:p>
          <a:p>
            <a:pPr marL="0" indent="0">
              <a:buNone/>
            </a:pPr>
            <a:endParaRPr lang="nb-NO" dirty="0"/>
          </a:p>
          <a:p>
            <a:r>
              <a:rPr lang="nb-NO" dirty="0"/>
              <a:t>Nominell skattesats på utbytte til personlige aksjonærer er 22% men denne satsen skal </a:t>
            </a:r>
            <a:r>
              <a:rPr lang="nb-NO" noProof="0" dirty="0"/>
              <a:t>oppjusteres med 1,72 slik; 22%*</a:t>
            </a:r>
            <a:r>
              <a:rPr lang="nb-NO" noProof="0" dirty="0">
                <a:solidFill>
                  <a:srgbClr val="FF0000"/>
                </a:solidFill>
              </a:rPr>
              <a:t>1,72</a:t>
            </a:r>
            <a:r>
              <a:rPr lang="nb-NO" noProof="0" dirty="0"/>
              <a:t> = 37,84%</a:t>
            </a:r>
          </a:p>
          <a:p>
            <a:endParaRPr lang="nb-NO" noProof="0" dirty="0"/>
          </a:p>
          <a:p>
            <a:r>
              <a:rPr lang="nb-NO" noProof="0" dirty="0">
                <a:solidFill>
                  <a:srgbClr val="FF0000"/>
                </a:solidFill>
              </a:rPr>
              <a:t>Oppjusteringsfaktoren</a:t>
            </a:r>
            <a:r>
              <a:rPr lang="nb-NO" noProof="0" dirty="0"/>
              <a:t> skal gjøre det på marginen like lønnsomt få tjene penger i bedriften som å være lønnsmottaker</a:t>
            </a:r>
            <a:r>
              <a:rPr lang="nb-NO" dirty="0"/>
              <a:t>. Man vil unngå at skattyter gis insitamenter til å konvertere høyt beskattet lønnsinntekt til kapitalinntekt (utbytte). Såkalt inntektsskifting. </a:t>
            </a:r>
            <a:endParaRPr lang="nb-NO" noProof="0" dirty="0"/>
          </a:p>
        </p:txBody>
      </p:sp>
      <p:sp>
        <p:nvSpPr>
          <p:cNvPr id="4" name="Slide Number Placeholder 3">
            <a:extLst>
              <a:ext uri="{FF2B5EF4-FFF2-40B4-BE49-F238E27FC236}">
                <a16:creationId xmlns:a16="http://schemas.microsoft.com/office/drawing/2014/main" id="{9481B5F8-A79D-0BED-EC21-563645D45C31}"/>
              </a:ext>
            </a:extLst>
          </p:cNvPr>
          <p:cNvSpPr>
            <a:spLocks noGrp="1"/>
          </p:cNvSpPr>
          <p:nvPr>
            <p:ph type="sldNum" sz="quarter" idx="12"/>
          </p:nvPr>
        </p:nvSpPr>
        <p:spPr/>
        <p:txBody>
          <a:bodyPr/>
          <a:lstStyle/>
          <a:p>
            <a:fld id="{092CA8B5-DBB4-47BA-9127-F945AE107A35}" type="slidenum">
              <a:rPr lang="nb-NO" noProof="0" smtClean="0"/>
              <a:t>20</a:t>
            </a:fld>
            <a:endParaRPr lang="nb-NO" noProof="0" dirty="0"/>
          </a:p>
        </p:txBody>
      </p:sp>
    </p:spTree>
    <p:extLst>
      <p:ext uri="{BB962C8B-B14F-4D97-AF65-F5344CB8AC3E}">
        <p14:creationId xmlns:p14="http://schemas.microsoft.com/office/powerpoint/2010/main" val="132639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58048B4-3F65-4EB9-ABA8-099353BE8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noProof="0" dirty="0"/>
          </a:p>
        </p:txBody>
      </p:sp>
      <p:sp>
        <p:nvSpPr>
          <p:cNvPr id="16" name="Rectangle 15">
            <a:extLst>
              <a:ext uri="{FF2B5EF4-FFF2-40B4-BE49-F238E27FC236}">
                <a16:creationId xmlns:a16="http://schemas.microsoft.com/office/drawing/2014/main" id="{1AE2FDE4-8ECB-4D0B-B871-D4EE5260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noProof="0" dirty="0"/>
          </a:p>
        </p:txBody>
      </p:sp>
      <p:pic>
        <p:nvPicPr>
          <p:cNvPr id="5" name="Picture 4" descr="A person standing in front of a white cube&#10;&#10;Description automatically generated">
            <a:extLst>
              <a:ext uri="{FF2B5EF4-FFF2-40B4-BE49-F238E27FC236}">
                <a16:creationId xmlns:a16="http://schemas.microsoft.com/office/drawing/2014/main" id="{29BE773C-5CF1-1F9F-E3E3-326BF7C799F4}"/>
              </a:ext>
            </a:extLst>
          </p:cNvPr>
          <p:cNvPicPr>
            <a:picLocks noChangeAspect="1"/>
          </p:cNvPicPr>
          <p:nvPr/>
        </p:nvPicPr>
        <p:blipFill rotWithShape="1">
          <a:blip r:embed="rId2">
            <a:duotone>
              <a:prstClr val="black"/>
              <a:schemeClr val="bg1">
                <a:tint val="45000"/>
                <a:satMod val="400000"/>
              </a:schemeClr>
            </a:duotone>
            <a:alphaModFix amt="10000"/>
          </a:blip>
          <a:srcRect t="8907"/>
          <a:stretch/>
        </p:blipFill>
        <p:spPr>
          <a:xfrm>
            <a:off x="20" y="1"/>
            <a:ext cx="12191980" cy="6857999"/>
          </a:xfrm>
          <a:prstGeom prst="rect">
            <a:avLst/>
          </a:prstGeom>
        </p:spPr>
      </p:pic>
      <p:sp>
        <p:nvSpPr>
          <p:cNvPr id="2" name="Title 1">
            <a:extLst>
              <a:ext uri="{FF2B5EF4-FFF2-40B4-BE49-F238E27FC236}">
                <a16:creationId xmlns:a16="http://schemas.microsoft.com/office/drawing/2014/main" id="{F4C13FDD-3085-4BF0-9261-ED28A5FDDC1C}"/>
              </a:ext>
            </a:extLst>
          </p:cNvPr>
          <p:cNvSpPr>
            <a:spLocks noGrp="1"/>
          </p:cNvSpPr>
          <p:nvPr>
            <p:ph type="ctrTitle"/>
          </p:nvPr>
        </p:nvSpPr>
        <p:spPr>
          <a:xfrm>
            <a:off x="732568" y="1169982"/>
            <a:ext cx="10530318" cy="2736390"/>
          </a:xfrm>
        </p:spPr>
        <p:txBody>
          <a:bodyPr anchor="b">
            <a:normAutofit/>
          </a:bodyPr>
          <a:lstStyle/>
          <a:p>
            <a:pPr algn="l"/>
            <a:r>
              <a:rPr lang="nb-NO" sz="8000" noProof="0" dirty="0">
                <a:solidFill>
                  <a:schemeClr val="tx2"/>
                </a:solidFill>
              </a:rPr>
              <a:t>3. Fritaksmetoden</a:t>
            </a:r>
          </a:p>
        </p:txBody>
      </p:sp>
      <p:sp>
        <p:nvSpPr>
          <p:cNvPr id="3" name="Subtitle 2">
            <a:extLst>
              <a:ext uri="{FF2B5EF4-FFF2-40B4-BE49-F238E27FC236}">
                <a16:creationId xmlns:a16="http://schemas.microsoft.com/office/drawing/2014/main" id="{88DF5ECE-DFCE-4B5E-984B-BCCA08A1046B}"/>
              </a:ext>
            </a:extLst>
          </p:cNvPr>
          <p:cNvSpPr>
            <a:spLocks noGrp="1"/>
          </p:cNvSpPr>
          <p:nvPr>
            <p:ph type="subTitle" idx="1"/>
          </p:nvPr>
        </p:nvSpPr>
        <p:spPr>
          <a:xfrm>
            <a:off x="732567" y="4067745"/>
            <a:ext cx="10530318" cy="1949813"/>
          </a:xfrm>
        </p:spPr>
        <p:txBody>
          <a:bodyPr anchor="t">
            <a:normAutofit/>
          </a:bodyPr>
          <a:lstStyle/>
          <a:p>
            <a:pPr algn="l"/>
            <a:endParaRPr lang="nb-NO" sz="2200" noProof="0" dirty="0">
              <a:solidFill>
                <a:schemeClr val="tx2"/>
              </a:solidFill>
            </a:endParaRPr>
          </a:p>
        </p:txBody>
      </p:sp>
      <p:cxnSp>
        <p:nvCxnSpPr>
          <p:cNvPr id="18" name="Straight Connector 17">
            <a:extLst>
              <a:ext uri="{FF2B5EF4-FFF2-40B4-BE49-F238E27FC236}">
                <a16:creationId xmlns:a16="http://schemas.microsoft.com/office/drawing/2014/main" id="{3C86DB23-FEFE-4C3A-88FA-8E855AB1EE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BB22FAF-4B4F-40B1-97FF-67CD036C89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18488D89-E3BB-4E60-BF44-5F0BE92E3F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23" name="Straight Connector 22">
              <a:extLst>
                <a:ext uri="{FF2B5EF4-FFF2-40B4-BE49-F238E27FC236}">
                  <a16:creationId xmlns:a16="http://schemas.microsoft.com/office/drawing/2014/main" id="{98FA7B87-C151-46CF-9E07-DD4FD97175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9EB480-500C-4A3E-BED3-513B88DB01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67945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FD85A-B2D0-5B22-9291-D77C3B38E9A3}"/>
              </a:ext>
            </a:extLst>
          </p:cNvPr>
          <p:cNvSpPr>
            <a:spLocks noGrp="1"/>
          </p:cNvSpPr>
          <p:nvPr>
            <p:ph type="title"/>
          </p:nvPr>
        </p:nvSpPr>
        <p:spPr/>
        <p:txBody>
          <a:bodyPr/>
          <a:lstStyle/>
          <a:p>
            <a:r>
              <a:rPr lang="nb-NO" b="1" dirty="0">
                <a:latin typeface="+mn-lt"/>
              </a:rPr>
              <a:t>Fritaksmetoden (selskapsaksjonærer)</a:t>
            </a:r>
          </a:p>
        </p:txBody>
      </p:sp>
      <p:sp>
        <p:nvSpPr>
          <p:cNvPr id="3" name="Content Placeholder 2">
            <a:extLst>
              <a:ext uri="{FF2B5EF4-FFF2-40B4-BE49-F238E27FC236}">
                <a16:creationId xmlns:a16="http://schemas.microsoft.com/office/drawing/2014/main" id="{588BA6F6-13E4-EA45-C67A-74DD9977C33B}"/>
              </a:ext>
            </a:extLst>
          </p:cNvPr>
          <p:cNvSpPr>
            <a:spLocks noGrp="1"/>
          </p:cNvSpPr>
          <p:nvPr>
            <p:ph idx="1"/>
          </p:nvPr>
        </p:nvSpPr>
        <p:spPr/>
        <p:txBody>
          <a:bodyPr>
            <a:normAutofit/>
          </a:bodyPr>
          <a:lstStyle/>
          <a:p>
            <a:r>
              <a:rPr lang="nb-NO" sz="3200" dirty="0"/>
              <a:t>Aksjeinntekter, aksjeutbytte og aksjegevinster er i </a:t>
            </a:r>
            <a:r>
              <a:rPr lang="nb-NO" sz="3200" i="1" u="sng" dirty="0"/>
              <a:t>hovedsak</a:t>
            </a:r>
            <a:r>
              <a:rPr lang="nb-NO" sz="3200" dirty="0"/>
              <a:t> </a:t>
            </a:r>
            <a:r>
              <a:rPr lang="nb-NO" sz="3200" b="1" i="1" dirty="0"/>
              <a:t>skattefri  for aksjeselskaper (AS, ANS mm)</a:t>
            </a:r>
            <a:r>
              <a:rPr lang="nb-NO" sz="3200" dirty="0"/>
              <a:t> for å unngå kjedebeskatning av selskaper.</a:t>
            </a:r>
          </a:p>
          <a:p>
            <a:endParaRPr lang="nb-NO" sz="3200" dirty="0"/>
          </a:p>
          <a:p>
            <a:r>
              <a:rPr lang="nb-NO" sz="3200" dirty="0"/>
              <a:t>Et holdingselskap, som eier aksjer i datterselskaper, kan motta utbytte og aksjegevinster (</a:t>
            </a:r>
            <a:r>
              <a:rPr lang="nb-NO" sz="3200" dirty="0" err="1"/>
              <a:t>feks</a:t>
            </a:r>
            <a:r>
              <a:rPr lang="nb-NO" sz="3200" dirty="0"/>
              <a:t>. gevinster på salg av aksjer) tilnærmet skattefritt i holdingselskapet </a:t>
            </a:r>
          </a:p>
        </p:txBody>
      </p:sp>
      <p:sp>
        <p:nvSpPr>
          <p:cNvPr id="4" name="Slide Number Placeholder 3">
            <a:extLst>
              <a:ext uri="{FF2B5EF4-FFF2-40B4-BE49-F238E27FC236}">
                <a16:creationId xmlns:a16="http://schemas.microsoft.com/office/drawing/2014/main" id="{ABD14608-8C0F-62A1-7856-B122C27B01B6}"/>
              </a:ext>
            </a:extLst>
          </p:cNvPr>
          <p:cNvSpPr>
            <a:spLocks noGrp="1"/>
          </p:cNvSpPr>
          <p:nvPr>
            <p:ph type="sldNum" sz="quarter" idx="12"/>
          </p:nvPr>
        </p:nvSpPr>
        <p:spPr/>
        <p:txBody>
          <a:bodyPr/>
          <a:lstStyle/>
          <a:p>
            <a:fld id="{092CA8B5-DBB4-47BA-9127-F945AE107A35}" type="slidenum">
              <a:rPr lang="nb-NO" smtClean="0"/>
              <a:t>22</a:t>
            </a:fld>
            <a:endParaRPr lang="nb-NO"/>
          </a:p>
        </p:txBody>
      </p:sp>
    </p:spTree>
    <p:extLst>
      <p:ext uri="{BB962C8B-B14F-4D97-AF65-F5344CB8AC3E}">
        <p14:creationId xmlns:p14="http://schemas.microsoft.com/office/powerpoint/2010/main" val="2659358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0AF30B-FAAF-6CE5-9CC4-A3B5BFB84582}"/>
              </a:ext>
            </a:extLst>
          </p:cNvPr>
          <p:cNvSpPr>
            <a:spLocks noGrp="1"/>
          </p:cNvSpPr>
          <p:nvPr>
            <p:ph type="sldNum" sz="quarter" idx="12"/>
          </p:nvPr>
        </p:nvSpPr>
        <p:spPr/>
        <p:txBody>
          <a:bodyPr/>
          <a:lstStyle/>
          <a:p>
            <a:fld id="{092CA8B5-DBB4-47BA-9127-F945AE107A35}" type="slidenum">
              <a:rPr lang="nb-NO" smtClean="0"/>
              <a:t>23</a:t>
            </a:fld>
            <a:endParaRPr lang="nb-NO"/>
          </a:p>
        </p:txBody>
      </p:sp>
      <p:sp>
        <p:nvSpPr>
          <p:cNvPr id="3" name="Rectangle: Rounded Corners 2">
            <a:extLst>
              <a:ext uri="{FF2B5EF4-FFF2-40B4-BE49-F238E27FC236}">
                <a16:creationId xmlns:a16="http://schemas.microsoft.com/office/drawing/2014/main" id="{CB7A0BAE-956C-EC75-538A-6DB064E37156}"/>
              </a:ext>
            </a:extLst>
          </p:cNvPr>
          <p:cNvSpPr/>
          <p:nvPr/>
        </p:nvSpPr>
        <p:spPr>
          <a:xfrm>
            <a:off x="408189" y="693491"/>
            <a:ext cx="3610019" cy="19209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sz="4000" b="1" dirty="0">
                <a:solidFill>
                  <a:srgbClr val="FFFF00"/>
                </a:solidFill>
              </a:rPr>
              <a:t>Mor-selskap</a:t>
            </a:r>
          </a:p>
          <a:p>
            <a:pPr algn="ctr"/>
            <a:r>
              <a:rPr lang="nb-NO" sz="2000" b="1" dirty="0">
                <a:solidFill>
                  <a:srgbClr val="FFFF00"/>
                </a:solidFill>
              </a:rPr>
              <a:t>Aksjegevinster fritatt for skatt</a:t>
            </a:r>
            <a:endParaRPr lang="nb-NO" sz="1050" b="1" dirty="0">
              <a:solidFill>
                <a:srgbClr val="FFFF00"/>
              </a:solidFill>
            </a:endParaRPr>
          </a:p>
        </p:txBody>
      </p:sp>
      <p:pic>
        <p:nvPicPr>
          <p:cNvPr id="4" name="Picture 3" descr="Flat vector illustration of a generic fictional person, not based on any real individual, with soft rounded facial features, friendly neutral expression, simple modern clothing, clean silhouette, and minimal detail. Use a restrained palette that matches the slide style: medium blue, warm yellow accents, and neutral off-white/gray tones. Compose as a professional half-body portrait facing slightly toward the center, with crisp shapes, no photo realism, no skin-detail rendering, no texture, no dramatic shadows, and no text. Background should be a subtle light neutral environment with gentle abstract shapes, visually rich but understated, consistent with a minimalist presentation graphic style.">
            <a:extLst>
              <a:ext uri="{FF2B5EF4-FFF2-40B4-BE49-F238E27FC236}">
                <a16:creationId xmlns:a16="http://schemas.microsoft.com/office/drawing/2014/main" id="{E807CBF8-D218-4B13-9566-E81EBC6F7C23}"/>
              </a:ext>
            </a:extLst>
          </p:cNvPr>
          <p:cNvPicPr>
            <a:picLocks noChangeAspect="1"/>
          </p:cNvPicPr>
          <p:nvPr/>
        </p:nvPicPr>
        <p:blipFill>
          <a:blip r:embed="rId2"/>
          <a:stretch>
            <a:fillRect/>
          </a:stretch>
        </p:blipFill>
        <p:spPr>
          <a:xfrm>
            <a:off x="6858000" y="1397000"/>
            <a:ext cx="3048000" cy="4572000"/>
          </a:xfrm>
          <a:prstGeom prst="rect">
            <a:avLst/>
          </a:prstGeom>
        </p:spPr>
      </p:pic>
      <p:sp>
        <p:nvSpPr>
          <p:cNvPr id="5" name="Rectangle: Rounded Corners 4">
            <a:extLst>
              <a:ext uri="{FF2B5EF4-FFF2-40B4-BE49-F238E27FC236}">
                <a16:creationId xmlns:a16="http://schemas.microsoft.com/office/drawing/2014/main" id="{94A83E11-9BBF-74CD-A038-66B9B91910F6}"/>
              </a:ext>
            </a:extLst>
          </p:cNvPr>
          <p:cNvSpPr/>
          <p:nvPr/>
        </p:nvSpPr>
        <p:spPr>
          <a:xfrm>
            <a:off x="334851" y="4435430"/>
            <a:ext cx="3610019" cy="19209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sz="4000" b="1" dirty="0">
                <a:solidFill>
                  <a:srgbClr val="FFFF00"/>
                </a:solidFill>
              </a:rPr>
              <a:t>Datter-selskap</a:t>
            </a:r>
            <a:endParaRPr lang="nb-NO" b="1" dirty="0">
              <a:solidFill>
                <a:srgbClr val="FFFF00"/>
              </a:solidFill>
            </a:endParaRPr>
          </a:p>
        </p:txBody>
      </p:sp>
      <p:sp>
        <p:nvSpPr>
          <p:cNvPr id="6" name="TextBox 5">
            <a:extLst>
              <a:ext uri="{FF2B5EF4-FFF2-40B4-BE49-F238E27FC236}">
                <a16:creationId xmlns:a16="http://schemas.microsoft.com/office/drawing/2014/main" id="{D8C7F892-5C71-BF6F-9430-2D18CB616DB9}"/>
              </a:ext>
            </a:extLst>
          </p:cNvPr>
          <p:cNvSpPr txBox="1"/>
          <p:nvPr/>
        </p:nvSpPr>
        <p:spPr>
          <a:xfrm>
            <a:off x="7049025" y="5461000"/>
            <a:ext cx="2933175" cy="523220"/>
          </a:xfrm>
          <a:prstGeom prst="rect">
            <a:avLst/>
          </a:prstGeom>
          <a:noFill/>
        </p:spPr>
        <p:txBody>
          <a:bodyPr wrap="none" rtlCol="0">
            <a:spAutoFit/>
          </a:bodyPr>
          <a:lstStyle/>
          <a:p>
            <a:r>
              <a:rPr lang="nb-NO" sz="2800" dirty="0"/>
              <a:t>Personlig aksjonær</a:t>
            </a:r>
          </a:p>
        </p:txBody>
      </p:sp>
      <p:sp>
        <p:nvSpPr>
          <p:cNvPr id="7" name="Arrow: Up 6">
            <a:extLst>
              <a:ext uri="{FF2B5EF4-FFF2-40B4-BE49-F238E27FC236}">
                <a16:creationId xmlns:a16="http://schemas.microsoft.com/office/drawing/2014/main" id="{218D6063-DB2E-08AD-CCB4-0D0C0AE79C66}"/>
              </a:ext>
            </a:extLst>
          </p:cNvPr>
          <p:cNvSpPr/>
          <p:nvPr/>
        </p:nvSpPr>
        <p:spPr>
          <a:xfrm>
            <a:off x="1184856" y="2707783"/>
            <a:ext cx="444321" cy="14424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xtBox 7">
            <a:extLst>
              <a:ext uri="{FF2B5EF4-FFF2-40B4-BE49-F238E27FC236}">
                <a16:creationId xmlns:a16="http://schemas.microsoft.com/office/drawing/2014/main" id="{033B80A1-C9B6-7B0F-8F4B-438F8FF60992}"/>
              </a:ext>
            </a:extLst>
          </p:cNvPr>
          <p:cNvSpPr txBox="1"/>
          <p:nvPr/>
        </p:nvSpPr>
        <p:spPr>
          <a:xfrm>
            <a:off x="1629176" y="3105833"/>
            <a:ext cx="4399995" cy="830997"/>
          </a:xfrm>
          <a:prstGeom prst="rect">
            <a:avLst/>
          </a:prstGeom>
          <a:noFill/>
        </p:spPr>
        <p:txBody>
          <a:bodyPr wrap="square" rtlCol="0">
            <a:spAutoFit/>
          </a:bodyPr>
          <a:lstStyle/>
          <a:p>
            <a:r>
              <a:rPr lang="nb-NO" sz="2400" dirty="0"/>
              <a:t>Utbytte fra datter til mor</a:t>
            </a:r>
          </a:p>
          <a:p>
            <a:r>
              <a:rPr lang="nb-NO" sz="2400" dirty="0"/>
              <a:t> er skattefritt (Fritaksmetoden)</a:t>
            </a:r>
          </a:p>
        </p:txBody>
      </p:sp>
      <p:sp>
        <p:nvSpPr>
          <p:cNvPr id="10" name="Arrow: Right 9">
            <a:extLst>
              <a:ext uri="{FF2B5EF4-FFF2-40B4-BE49-F238E27FC236}">
                <a16:creationId xmlns:a16="http://schemas.microsoft.com/office/drawing/2014/main" id="{D1ABC712-6A46-F60E-CA72-091CEB183B4F}"/>
              </a:ext>
            </a:extLst>
          </p:cNvPr>
          <p:cNvSpPr/>
          <p:nvPr/>
        </p:nvSpPr>
        <p:spPr>
          <a:xfrm>
            <a:off x="4330521" y="1397000"/>
            <a:ext cx="2215166" cy="7002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TextBox 10">
            <a:extLst>
              <a:ext uri="{FF2B5EF4-FFF2-40B4-BE49-F238E27FC236}">
                <a16:creationId xmlns:a16="http://schemas.microsoft.com/office/drawing/2014/main" id="{CBD8927D-9953-EF7C-6048-4228AB5D5599}"/>
              </a:ext>
            </a:extLst>
          </p:cNvPr>
          <p:cNvSpPr txBox="1"/>
          <p:nvPr/>
        </p:nvSpPr>
        <p:spPr>
          <a:xfrm>
            <a:off x="4597520" y="388440"/>
            <a:ext cx="5528268" cy="830997"/>
          </a:xfrm>
          <a:prstGeom prst="rect">
            <a:avLst/>
          </a:prstGeom>
          <a:noFill/>
        </p:spPr>
        <p:txBody>
          <a:bodyPr wrap="square" rtlCol="0">
            <a:spAutoFit/>
          </a:bodyPr>
          <a:lstStyle/>
          <a:p>
            <a:r>
              <a:rPr lang="nb-NO" sz="2400" dirty="0"/>
              <a:t>Utbytte (eierinntekt) til personlig aksjonær skattlegges ved Aksjonærmodellen</a:t>
            </a:r>
          </a:p>
        </p:txBody>
      </p:sp>
    </p:spTree>
    <p:extLst>
      <p:ext uri="{BB962C8B-B14F-4D97-AF65-F5344CB8AC3E}">
        <p14:creationId xmlns:p14="http://schemas.microsoft.com/office/powerpoint/2010/main" val="719712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9DA7-ECEA-17C3-AE97-0757BE68AA19}"/>
              </a:ext>
            </a:extLst>
          </p:cNvPr>
          <p:cNvSpPr>
            <a:spLocks noGrp="1"/>
          </p:cNvSpPr>
          <p:nvPr>
            <p:ph type="title"/>
          </p:nvPr>
        </p:nvSpPr>
        <p:spPr>
          <a:xfrm>
            <a:off x="838200" y="365126"/>
            <a:ext cx="10515600" cy="588604"/>
          </a:xfrm>
        </p:spPr>
        <p:txBody>
          <a:bodyPr>
            <a:normAutofit fontScale="90000"/>
          </a:bodyPr>
          <a:lstStyle/>
          <a:p>
            <a:r>
              <a:rPr lang="nb-NO" noProof="0" dirty="0"/>
              <a:t>Selskapsorganisering </a:t>
            </a:r>
            <a:r>
              <a:rPr lang="nb-NO" noProof="0" dirty="0" err="1"/>
              <a:t>pga</a:t>
            </a:r>
            <a:r>
              <a:rPr lang="nb-NO" noProof="0" dirty="0"/>
              <a:t> fritaksmetoden</a:t>
            </a:r>
          </a:p>
        </p:txBody>
      </p:sp>
      <p:sp>
        <p:nvSpPr>
          <p:cNvPr id="3" name="Slide Number Placeholder 2">
            <a:extLst>
              <a:ext uri="{FF2B5EF4-FFF2-40B4-BE49-F238E27FC236}">
                <a16:creationId xmlns:a16="http://schemas.microsoft.com/office/drawing/2014/main" id="{775535E4-A94D-416F-FF43-C9925667E0A2}"/>
              </a:ext>
            </a:extLst>
          </p:cNvPr>
          <p:cNvSpPr>
            <a:spLocks noGrp="1"/>
          </p:cNvSpPr>
          <p:nvPr>
            <p:ph type="sldNum" sz="quarter" idx="12"/>
          </p:nvPr>
        </p:nvSpPr>
        <p:spPr/>
        <p:txBody>
          <a:bodyPr/>
          <a:lstStyle/>
          <a:p>
            <a:fld id="{092CA8B5-DBB4-47BA-9127-F945AE107A35}" type="slidenum">
              <a:rPr lang="nb-NO" noProof="0" smtClean="0"/>
              <a:t>24</a:t>
            </a:fld>
            <a:endParaRPr lang="nb-NO" noProof="0" dirty="0"/>
          </a:p>
        </p:txBody>
      </p:sp>
      <p:sp>
        <p:nvSpPr>
          <p:cNvPr id="4" name="Rectangle 3">
            <a:extLst>
              <a:ext uri="{FF2B5EF4-FFF2-40B4-BE49-F238E27FC236}">
                <a16:creationId xmlns:a16="http://schemas.microsoft.com/office/drawing/2014/main" id="{1CA2A7EA-EF3F-D77C-6F8C-0DF7F29B8280}"/>
              </a:ext>
            </a:extLst>
          </p:cNvPr>
          <p:cNvSpPr/>
          <p:nvPr/>
        </p:nvSpPr>
        <p:spPr>
          <a:xfrm>
            <a:off x="3581400" y="1386348"/>
            <a:ext cx="4186084"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sz="3200" noProof="0" dirty="0"/>
              <a:t>Holdingselskap</a:t>
            </a:r>
            <a:endParaRPr lang="nb-NO" noProof="0" dirty="0"/>
          </a:p>
        </p:txBody>
      </p:sp>
      <p:sp>
        <p:nvSpPr>
          <p:cNvPr id="5" name="TextBox 4">
            <a:extLst>
              <a:ext uri="{FF2B5EF4-FFF2-40B4-BE49-F238E27FC236}">
                <a16:creationId xmlns:a16="http://schemas.microsoft.com/office/drawing/2014/main" id="{BD313D59-2B75-12B1-70D4-ECF8E5A00824}"/>
              </a:ext>
            </a:extLst>
          </p:cNvPr>
          <p:cNvSpPr txBox="1"/>
          <p:nvPr/>
        </p:nvSpPr>
        <p:spPr>
          <a:xfrm>
            <a:off x="698090" y="4906298"/>
            <a:ext cx="1484671" cy="461665"/>
          </a:xfrm>
          <a:prstGeom prst="rect">
            <a:avLst/>
          </a:prstGeom>
          <a:solidFill>
            <a:schemeClr val="accent1"/>
          </a:solidFill>
        </p:spPr>
        <p:txBody>
          <a:bodyPr wrap="square" rtlCol="0">
            <a:spAutoFit/>
          </a:bodyPr>
          <a:lstStyle/>
          <a:p>
            <a:r>
              <a:rPr lang="nb-NO" sz="2400" noProof="0" dirty="0"/>
              <a:t>Selskap A</a:t>
            </a:r>
            <a:endParaRPr lang="nb-NO" noProof="0" dirty="0"/>
          </a:p>
        </p:txBody>
      </p:sp>
      <p:sp>
        <p:nvSpPr>
          <p:cNvPr id="6" name="TextBox 5">
            <a:extLst>
              <a:ext uri="{FF2B5EF4-FFF2-40B4-BE49-F238E27FC236}">
                <a16:creationId xmlns:a16="http://schemas.microsoft.com/office/drawing/2014/main" id="{321273D4-0257-8FBD-0751-B2391556202F}"/>
              </a:ext>
            </a:extLst>
          </p:cNvPr>
          <p:cNvSpPr txBox="1"/>
          <p:nvPr/>
        </p:nvSpPr>
        <p:spPr>
          <a:xfrm>
            <a:off x="2689125" y="4921050"/>
            <a:ext cx="1484671" cy="461665"/>
          </a:xfrm>
          <a:prstGeom prst="rect">
            <a:avLst/>
          </a:prstGeom>
          <a:solidFill>
            <a:schemeClr val="accent1"/>
          </a:solidFill>
        </p:spPr>
        <p:txBody>
          <a:bodyPr wrap="square" rtlCol="0">
            <a:spAutoFit/>
          </a:bodyPr>
          <a:lstStyle/>
          <a:p>
            <a:r>
              <a:rPr lang="nb-NO" sz="2400" noProof="0" dirty="0"/>
              <a:t>Selskap B</a:t>
            </a:r>
            <a:endParaRPr lang="nb-NO" noProof="0" dirty="0"/>
          </a:p>
        </p:txBody>
      </p:sp>
      <p:sp>
        <p:nvSpPr>
          <p:cNvPr id="7" name="TextBox 6">
            <a:extLst>
              <a:ext uri="{FF2B5EF4-FFF2-40B4-BE49-F238E27FC236}">
                <a16:creationId xmlns:a16="http://schemas.microsoft.com/office/drawing/2014/main" id="{23677C81-7E1E-012A-EA4F-2EFF0824ED8C}"/>
              </a:ext>
            </a:extLst>
          </p:cNvPr>
          <p:cNvSpPr txBox="1"/>
          <p:nvPr/>
        </p:nvSpPr>
        <p:spPr>
          <a:xfrm>
            <a:off x="4621165" y="4935802"/>
            <a:ext cx="1484671" cy="461665"/>
          </a:xfrm>
          <a:prstGeom prst="rect">
            <a:avLst/>
          </a:prstGeom>
          <a:solidFill>
            <a:schemeClr val="accent1"/>
          </a:solidFill>
        </p:spPr>
        <p:txBody>
          <a:bodyPr wrap="square" rtlCol="0">
            <a:spAutoFit/>
          </a:bodyPr>
          <a:lstStyle/>
          <a:p>
            <a:r>
              <a:rPr lang="nb-NO" sz="2400" noProof="0" dirty="0"/>
              <a:t>Selskap C</a:t>
            </a:r>
            <a:endParaRPr lang="nb-NO" noProof="0" dirty="0"/>
          </a:p>
        </p:txBody>
      </p:sp>
      <p:sp>
        <p:nvSpPr>
          <p:cNvPr id="8" name="TextBox 7">
            <a:extLst>
              <a:ext uri="{FF2B5EF4-FFF2-40B4-BE49-F238E27FC236}">
                <a16:creationId xmlns:a16="http://schemas.microsoft.com/office/drawing/2014/main" id="{770D73B0-0583-4090-7A13-8E53DADA9549}"/>
              </a:ext>
            </a:extLst>
          </p:cNvPr>
          <p:cNvSpPr txBox="1"/>
          <p:nvPr/>
        </p:nvSpPr>
        <p:spPr>
          <a:xfrm>
            <a:off x="9055512" y="4945639"/>
            <a:ext cx="1484671" cy="461665"/>
          </a:xfrm>
          <a:prstGeom prst="rect">
            <a:avLst/>
          </a:prstGeom>
          <a:solidFill>
            <a:schemeClr val="accent1"/>
          </a:solidFill>
        </p:spPr>
        <p:txBody>
          <a:bodyPr wrap="square" rtlCol="0">
            <a:spAutoFit/>
          </a:bodyPr>
          <a:lstStyle/>
          <a:p>
            <a:r>
              <a:rPr lang="nb-NO" sz="2400" noProof="0" dirty="0"/>
              <a:t>Selskap E</a:t>
            </a:r>
            <a:endParaRPr lang="nb-NO" noProof="0" dirty="0"/>
          </a:p>
        </p:txBody>
      </p:sp>
      <p:sp>
        <p:nvSpPr>
          <p:cNvPr id="9" name="TextBox 8">
            <a:extLst>
              <a:ext uri="{FF2B5EF4-FFF2-40B4-BE49-F238E27FC236}">
                <a16:creationId xmlns:a16="http://schemas.microsoft.com/office/drawing/2014/main" id="{43C22EE7-027A-787D-A780-815A07B5F960}"/>
              </a:ext>
            </a:extLst>
          </p:cNvPr>
          <p:cNvSpPr txBox="1"/>
          <p:nvPr/>
        </p:nvSpPr>
        <p:spPr>
          <a:xfrm>
            <a:off x="6838338" y="4935820"/>
            <a:ext cx="1484671" cy="461665"/>
          </a:xfrm>
          <a:prstGeom prst="rect">
            <a:avLst/>
          </a:prstGeom>
          <a:solidFill>
            <a:schemeClr val="accent1"/>
          </a:solidFill>
        </p:spPr>
        <p:txBody>
          <a:bodyPr wrap="square" rtlCol="0">
            <a:spAutoFit/>
          </a:bodyPr>
          <a:lstStyle/>
          <a:p>
            <a:r>
              <a:rPr lang="nb-NO" sz="2400" noProof="0" dirty="0"/>
              <a:t>Selskap D</a:t>
            </a:r>
            <a:endParaRPr lang="nb-NO" noProof="0" dirty="0"/>
          </a:p>
        </p:txBody>
      </p:sp>
      <p:cxnSp>
        <p:nvCxnSpPr>
          <p:cNvPr id="11" name="Straight Arrow Connector 10">
            <a:extLst>
              <a:ext uri="{FF2B5EF4-FFF2-40B4-BE49-F238E27FC236}">
                <a16:creationId xmlns:a16="http://schemas.microsoft.com/office/drawing/2014/main" id="{33572891-0A01-859A-1E4F-437CE049F750}"/>
              </a:ext>
            </a:extLst>
          </p:cNvPr>
          <p:cNvCxnSpPr>
            <a:stCxn id="4" idx="2"/>
          </p:cNvCxnSpPr>
          <p:nvPr/>
        </p:nvCxnSpPr>
        <p:spPr>
          <a:xfrm flipH="1">
            <a:off x="1440425" y="2684206"/>
            <a:ext cx="4234017" cy="2084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7D7D256-00A4-FD1D-68D4-252A927F8B15}"/>
              </a:ext>
            </a:extLst>
          </p:cNvPr>
          <p:cNvCxnSpPr>
            <a:cxnSpLocks/>
            <a:stCxn id="4" idx="2"/>
          </p:cNvCxnSpPr>
          <p:nvPr/>
        </p:nvCxnSpPr>
        <p:spPr>
          <a:xfrm flipH="1">
            <a:off x="3557433" y="2684206"/>
            <a:ext cx="2117009" cy="2153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2B43376-B157-92D4-BECD-191F457D76F7}"/>
              </a:ext>
            </a:extLst>
          </p:cNvPr>
          <p:cNvCxnSpPr>
            <a:cxnSpLocks/>
          </p:cNvCxnSpPr>
          <p:nvPr/>
        </p:nvCxnSpPr>
        <p:spPr>
          <a:xfrm flipH="1">
            <a:off x="5384394" y="2782537"/>
            <a:ext cx="290048" cy="2123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E4A8314-B43D-E660-187E-780245670AEF}"/>
              </a:ext>
            </a:extLst>
          </p:cNvPr>
          <p:cNvCxnSpPr>
            <a:cxnSpLocks/>
            <a:stCxn id="4" idx="2"/>
            <a:endCxn id="9" idx="0"/>
          </p:cNvCxnSpPr>
          <p:nvPr/>
        </p:nvCxnSpPr>
        <p:spPr>
          <a:xfrm>
            <a:off x="5674442" y="2684206"/>
            <a:ext cx="1906232" cy="2251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D3E9E24-1436-6847-A9A4-654F994B9F3B}"/>
              </a:ext>
            </a:extLst>
          </p:cNvPr>
          <p:cNvCxnSpPr>
            <a:cxnSpLocks/>
            <a:endCxn id="8" idx="0"/>
          </p:cNvCxnSpPr>
          <p:nvPr/>
        </p:nvCxnSpPr>
        <p:spPr>
          <a:xfrm>
            <a:off x="5767847" y="2635023"/>
            <a:ext cx="4030001" cy="23106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6A18BDC-95B9-E702-7844-9E65A9ED29AF}"/>
              </a:ext>
            </a:extLst>
          </p:cNvPr>
          <p:cNvSpPr txBox="1"/>
          <p:nvPr/>
        </p:nvSpPr>
        <p:spPr>
          <a:xfrm>
            <a:off x="78658" y="5597166"/>
            <a:ext cx="12024852" cy="1200329"/>
          </a:xfrm>
          <a:prstGeom prst="rect">
            <a:avLst/>
          </a:prstGeom>
          <a:noFill/>
        </p:spPr>
        <p:txBody>
          <a:bodyPr wrap="square" rtlCol="0">
            <a:spAutoFit/>
          </a:bodyPr>
          <a:lstStyle/>
          <a:p>
            <a:r>
              <a:rPr lang="nb-NO" sz="2400" noProof="0" dirty="0"/>
              <a:t>Ved å eie andeler i andre selskaper eller alle aksjene kan holdingselskapet motta utbytter skattefritt. Disse kan reinvesteres av holdingselskapet skattefritt. Man kan selge aksjene i for eksempel selskap B uten at det påløper gevinstskatt i holdingselskapet. </a:t>
            </a:r>
          </a:p>
        </p:txBody>
      </p:sp>
      <p:sp>
        <p:nvSpPr>
          <p:cNvPr id="26" name="TextBox 25">
            <a:extLst>
              <a:ext uri="{FF2B5EF4-FFF2-40B4-BE49-F238E27FC236}">
                <a16:creationId xmlns:a16="http://schemas.microsoft.com/office/drawing/2014/main" id="{50FE322C-CD7E-EE8A-9120-A33E61011A85}"/>
              </a:ext>
            </a:extLst>
          </p:cNvPr>
          <p:cNvSpPr txBox="1"/>
          <p:nvPr/>
        </p:nvSpPr>
        <p:spPr>
          <a:xfrm>
            <a:off x="8323009" y="1386348"/>
            <a:ext cx="3780501" cy="1200329"/>
          </a:xfrm>
          <a:prstGeom prst="rect">
            <a:avLst/>
          </a:prstGeom>
          <a:noFill/>
        </p:spPr>
        <p:txBody>
          <a:bodyPr wrap="square" rtlCol="0">
            <a:spAutoFit/>
          </a:bodyPr>
          <a:lstStyle/>
          <a:p>
            <a:r>
              <a:rPr lang="nb-NO" sz="2400" noProof="0" dirty="0"/>
              <a:t>Holdingselskapet har </a:t>
            </a:r>
          </a:p>
          <a:p>
            <a:r>
              <a:rPr lang="nb-NO" sz="2400" noProof="0" dirty="0"/>
              <a:t>eierandeler i en rekke selskaper</a:t>
            </a:r>
          </a:p>
        </p:txBody>
      </p:sp>
    </p:spTree>
    <p:extLst>
      <p:ext uri="{BB962C8B-B14F-4D97-AF65-F5344CB8AC3E}">
        <p14:creationId xmlns:p14="http://schemas.microsoft.com/office/powerpoint/2010/main" val="692872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15C2D0F-F128-4EA4-8331-64CADF0F6B54}"/>
              </a:ext>
            </a:extLst>
          </p:cNvPr>
          <p:cNvSpPr>
            <a:spLocks noGrp="1"/>
          </p:cNvSpPr>
          <p:nvPr>
            <p:ph type="title"/>
          </p:nvPr>
        </p:nvSpPr>
        <p:spPr>
          <a:xfrm>
            <a:off x="838200" y="191397"/>
            <a:ext cx="10515600" cy="489640"/>
          </a:xfrm>
        </p:spPr>
        <p:txBody>
          <a:bodyPr>
            <a:normAutofit fontScale="90000"/>
          </a:bodyPr>
          <a:lstStyle/>
          <a:p>
            <a:r>
              <a:rPr lang="nb-NO" sz="3200" b="1" noProof="0" dirty="0">
                <a:solidFill>
                  <a:srgbClr val="FF0000"/>
                </a:solidFill>
              </a:rPr>
              <a:t>Mer utfyllende om Fritaksmetoden</a:t>
            </a:r>
          </a:p>
        </p:txBody>
      </p:sp>
      <p:sp>
        <p:nvSpPr>
          <p:cNvPr id="3" name="Plassholder for innhold 2">
            <a:extLst>
              <a:ext uri="{FF2B5EF4-FFF2-40B4-BE49-F238E27FC236}">
                <a16:creationId xmlns:a16="http://schemas.microsoft.com/office/drawing/2014/main" id="{01602003-3545-4A89-A3F9-A4C99934F043}"/>
              </a:ext>
            </a:extLst>
          </p:cNvPr>
          <p:cNvSpPr>
            <a:spLocks noGrp="1"/>
          </p:cNvSpPr>
          <p:nvPr>
            <p:ph idx="1"/>
          </p:nvPr>
        </p:nvSpPr>
        <p:spPr>
          <a:xfrm>
            <a:off x="600635" y="801171"/>
            <a:ext cx="11109563" cy="5792369"/>
          </a:xfrm>
        </p:spPr>
        <p:txBody>
          <a:bodyPr>
            <a:normAutofit/>
          </a:bodyPr>
          <a:lstStyle/>
          <a:p>
            <a:r>
              <a:rPr lang="nb-NO" sz="2600" i="1" noProof="0" dirty="0"/>
              <a:t>Selskaper som eier 90% eller mer </a:t>
            </a:r>
            <a:r>
              <a:rPr lang="nb-NO" sz="2600" noProof="0" dirty="0"/>
              <a:t>av datterselskap fritas for skatt på utbytte</a:t>
            </a:r>
          </a:p>
          <a:p>
            <a:endParaRPr lang="nb-NO" sz="2600" noProof="0" dirty="0"/>
          </a:p>
          <a:p>
            <a:r>
              <a:rPr lang="nb-NO" sz="2600" noProof="0" dirty="0"/>
              <a:t>Dersom holdingselskapet eier mindre enn 90 % av aksjene i datterselskapet, betaler holdingselskapet </a:t>
            </a:r>
            <a:r>
              <a:rPr lang="nb-NO" sz="2600" i="1" noProof="0" dirty="0"/>
              <a:t>skatt på </a:t>
            </a:r>
            <a:r>
              <a:rPr lang="nb-NO" sz="2600" i="1" noProof="0" dirty="0">
                <a:solidFill>
                  <a:srgbClr val="FF0000"/>
                </a:solidFill>
              </a:rPr>
              <a:t>22% på 3% </a:t>
            </a:r>
            <a:r>
              <a:rPr lang="nb-NO" sz="2600" i="1" noProof="0" dirty="0"/>
              <a:t>av mottatt utbytte fra utdelende selskap </a:t>
            </a:r>
          </a:p>
          <a:p>
            <a:endParaRPr lang="nb-NO" sz="2600" i="1" noProof="0" dirty="0"/>
          </a:p>
          <a:p>
            <a:pPr>
              <a:buFont typeface="Calibri" panose="020F0502020204030204" pitchFamily="34" charset="0"/>
              <a:buChar char="→"/>
            </a:pPr>
            <a:r>
              <a:rPr lang="nb-NO" sz="2600" i="1" noProof="0" dirty="0"/>
              <a:t> Eksempel: Et selskap med eierandel &lt; 90% mottar kr 100 i utbytte </a:t>
            </a:r>
          </a:p>
          <a:p>
            <a:pPr>
              <a:buFont typeface="Calibri" panose="020F0502020204030204" pitchFamily="34" charset="0"/>
              <a:buChar char="→"/>
            </a:pPr>
            <a:endParaRPr lang="nb-NO" sz="2600" i="1" noProof="0" dirty="0"/>
          </a:p>
          <a:p>
            <a:pPr>
              <a:buFont typeface="Calibri" panose="020F0502020204030204" pitchFamily="34" charset="0"/>
              <a:buChar char="→"/>
            </a:pPr>
            <a:r>
              <a:rPr lang="nb-NO" sz="2600" i="1" noProof="0" dirty="0"/>
              <a:t>3% av utbyttet </a:t>
            </a:r>
            <a:r>
              <a:rPr lang="nb-NO" sz="2600" i="1" noProof="0" dirty="0" err="1"/>
              <a:t>dvs</a:t>
            </a:r>
            <a:r>
              <a:rPr lang="nb-NO" sz="2600" i="1" noProof="0" dirty="0"/>
              <a:t> 3 kr skal skattlegges med sats 22%. Skatten blir 3*22% = 0,66 øre eller 0,66% av utbyttet på kr 100!</a:t>
            </a:r>
          </a:p>
          <a:p>
            <a:pPr>
              <a:buFont typeface="Calibri" panose="020F0502020204030204" pitchFamily="34" charset="0"/>
              <a:buChar char="→"/>
            </a:pPr>
            <a:endParaRPr lang="nb-NO" sz="2600" i="1" noProof="0" dirty="0"/>
          </a:p>
          <a:p>
            <a:pPr>
              <a:buFont typeface="Calibri" panose="020F0502020204030204" pitchFamily="34" charset="0"/>
              <a:buChar char="→"/>
            </a:pPr>
            <a:r>
              <a:rPr lang="nb-NO" sz="2600" i="1" noProof="0" dirty="0"/>
              <a:t>I praksis kan vi glemme 3% regelen fordi den betyr så lite skattemessig</a:t>
            </a:r>
            <a:endParaRPr lang="nb-NO" sz="2600" noProof="0" dirty="0"/>
          </a:p>
          <a:p>
            <a:pPr marL="457200" lvl="1" indent="0">
              <a:buNone/>
            </a:pPr>
            <a:endParaRPr lang="nb-NO" sz="1900" noProof="0" dirty="0"/>
          </a:p>
        </p:txBody>
      </p:sp>
      <p:sp>
        <p:nvSpPr>
          <p:cNvPr id="4" name="Plassholder for lysbildenummer 3">
            <a:extLst>
              <a:ext uri="{FF2B5EF4-FFF2-40B4-BE49-F238E27FC236}">
                <a16:creationId xmlns:a16="http://schemas.microsoft.com/office/drawing/2014/main" id="{31DE84BF-DDE8-4E31-8CEF-058D5A41A5B1}"/>
              </a:ext>
            </a:extLst>
          </p:cNvPr>
          <p:cNvSpPr>
            <a:spLocks noGrp="1"/>
          </p:cNvSpPr>
          <p:nvPr>
            <p:ph type="sldNum" sz="quarter" idx="12"/>
          </p:nvPr>
        </p:nvSpPr>
        <p:spPr/>
        <p:txBody>
          <a:bodyPr/>
          <a:lstStyle/>
          <a:p>
            <a:fld id="{092CA8B5-DBB4-47BA-9127-F945AE107A35}" type="slidenum">
              <a:rPr lang="nb-NO" noProof="0" smtClean="0"/>
              <a:t>25</a:t>
            </a:fld>
            <a:endParaRPr lang="nb-NO" noProof="0" dirty="0"/>
          </a:p>
        </p:txBody>
      </p:sp>
    </p:spTree>
    <p:custDataLst>
      <p:tags r:id="rId1"/>
    </p:custDataLst>
    <p:extLst>
      <p:ext uri="{BB962C8B-B14F-4D97-AF65-F5344CB8AC3E}">
        <p14:creationId xmlns:p14="http://schemas.microsoft.com/office/powerpoint/2010/main" val="4131684337"/>
      </p:ext>
    </p:extLst>
  </p:cSld>
  <p:clrMapOvr>
    <a:masterClrMapping/>
  </p:clrMapOvr>
  <mc:AlternateContent xmlns:mc="http://schemas.openxmlformats.org/markup-compatibility/2006" xmlns:p14="http://schemas.microsoft.com/office/powerpoint/2010/main">
    <mc:Choice Requires="p14">
      <p:transition spd="slow" p14:dur="2000" advTm="90170"/>
    </mc:Choice>
    <mc:Fallback xmlns="">
      <p:transition spd="slow" advTm="9017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E4C6E-9BF1-B1A1-E1B2-443DB7209FAF}"/>
              </a:ext>
            </a:extLst>
          </p:cNvPr>
          <p:cNvSpPr>
            <a:spLocks noGrp="1"/>
          </p:cNvSpPr>
          <p:nvPr>
            <p:ph type="title"/>
          </p:nvPr>
        </p:nvSpPr>
        <p:spPr>
          <a:xfrm>
            <a:off x="496957" y="365126"/>
            <a:ext cx="10856843" cy="589032"/>
          </a:xfrm>
        </p:spPr>
        <p:txBody>
          <a:bodyPr>
            <a:normAutofit/>
          </a:bodyPr>
          <a:lstStyle/>
          <a:p>
            <a:r>
              <a:rPr lang="nb-NO" sz="3200" b="1" noProof="0" dirty="0">
                <a:latin typeface="+mn-lt"/>
              </a:rPr>
              <a:t>Fritaksmetoden</a:t>
            </a:r>
          </a:p>
        </p:txBody>
      </p:sp>
      <p:sp>
        <p:nvSpPr>
          <p:cNvPr id="3" name="Content Placeholder 2">
            <a:extLst>
              <a:ext uri="{FF2B5EF4-FFF2-40B4-BE49-F238E27FC236}">
                <a16:creationId xmlns:a16="http://schemas.microsoft.com/office/drawing/2014/main" id="{568762C3-8350-D5C9-C576-AEB013D28E6F}"/>
              </a:ext>
            </a:extLst>
          </p:cNvPr>
          <p:cNvSpPr>
            <a:spLocks noGrp="1"/>
          </p:cNvSpPr>
          <p:nvPr>
            <p:ph idx="1"/>
          </p:nvPr>
        </p:nvSpPr>
        <p:spPr>
          <a:xfrm>
            <a:off x="496957" y="954158"/>
            <a:ext cx="11310729" cy="5538716"/>
          </a:xfrm>
        </p:spPr>
        <p:txBody>
          <a:bodyPr>
            <a:normAutofit fontScale="85000" lnSpcReduction="10000"/>
          </a:bodyPr>
          <a:lstStyle/>
          <a:p>
            <a:pPr lvl="0"/>
            <a:r>
              <a:rPr lang="nb-NO" dirty="0"/>
              <a:t>F</a:t>
            </a:r>
            <a:r>
              <a:rPr lang="nb-NO" noProof="0" dirty="0" err="1"/>
              <a:t>ritaksmetoden</a:t>
            </a:r>
            <a:r>
              <a:rPr lang="nb-NO" noProof="0" dirty="0"/>
              <a:t> gjorde aksjegevinster og utbytter skattefrie dersom mottageren var et selskap, har landets rikeste samlet opp store overskudd i sine holdingselskaper.</a:t>
            </a:r>
          </a:p>
          <a:p>
            <a:pPr lvl="0"/>
            <a:r>
              <a:rPr lang="nb-NO" noProof="0" dirty="0"/>
              <a:t>De aller rikeste har årlig rundt 80 milliarder kroner i skattefrie utbytter og aksjegevinster i sine holdingselskaper, ifølge DNs gjennomgåelse i 2019.</a:t>
            </a:r>
          </a:p>
          <a:p>
            <a:pPr lvl="0"/>
            <a:r>
              <a:rPr lang="nb-NO" noProof="0" dirty="0"/>
              <a:t>Overskuddet beskattes først når det tas ut av selskapene som utbytte. Ved å beholde mesteparten av pengene i selskapene, så slipper man denne skatteregningen. Har man stor nok formue, er det begrenset behov for å ta ut penger til privat hånd.</a:t>
            </a:r>
          </a:p>
          <a:p>
            <a:pPr lvl="0"/>
            <a:r>
              <a:rPr lang="nb-NO" noProof="0" dirty="0"/>
              <a:t>Derfor kan de aller rikeste kanskje utsette skatten i all evighet. Dette var noe Skauge-utvalget, som utredet skattereformen, advarte mot.</a:t>
            </a:r>
          </a:p>
          <a:p>
            <a:pPr lvl="0"/>
            <a:r>
              <a:rPr lang="nb-NO" noProof="0" dirty="0"/>
              <a:t>I selskapene til de 650 rikeste personene er det opptjent overskudd på over 400 milliarder kroner. Dersom dette skulle tas ut som utbytte, ville skatten blitt på cirka 125 milliarder kroner, ifølge DNs tall.</a:t>
            </a:r>
          </a:p>
          <a:p>
            <a:pPr lvl="0"/>
            <a:r>
              <a:rPr lang="nb-NO" noProof="0" dirty="0"/>
              <a:t>De siste årene har </a:t>
            </a:r>
            <a:r>
              <a:rPr lang="nb-NO" noProof="0" dirty="0" err="1"/>
              <a:t>formuesulikheten</a:t>
            </a:r>
            <a:r>
              <a:rPr lang="nb-NO" noProof="0" dirty="0"/>
              <a:t> i samfunnet økt kraftig. </a:t>
            </a:r>
            <a:r>
              <a:rPr lang="nb-NO" noProof="0" dirty="0" err="1"/>
              <a:t>Gini</a:t>
            </a:r>
            <a:r>
              <a:rPr lang="nb-NO" noProof="0" dirty="0"/>
              <a:t>-indeksen for formue har hoppet fra rundt 60 til 72, noe som indikerer høy ulikhet. En forklaring er de store overskuddene som akkumuleres seg i disse holdingselskapene.</a:t>
            </a:r>
          </a:p>
          <a:p>
            <a:endParaRPr lang="nb-NO" noProof="0" dirty="0"/>
          </a:p>
        </p:txBody>
      </p:sp>
      <p:sp>
        <p:nvSpPr>
          <p:cNvPr id="4" name="Slide Number Placeholder 3">
            <a:extLst>
              <a:ext uri="{FF2B5EF4-FFF2-40B4-BE49-F238E27FC236}">
                <a16:creationId xmlns:a16="http://schemas.microsoft.com/office/drawing/2014/main" id="{57AA1C80-54F3-8911-AD9C-61BFB294D4E1}"/>
              </a:ext>
            </a:extLst>
          </p:cNvPr>
          <p:cNvSpPr>
            <a:spLocks noGrp="1"/>
          </p:cNvSpPr>
          <p:nvPr>
            <p:ph type="sldNum" sz="quarter" idx="12"/>
          </p:nvPr>
        </p:nvSpPr>
        <p:spPr/>
        <p:txBody>
          <a:bodyPr/>
          <a:lstStyle/>
          <a:p>
            <a:fld id="{092CA8B5-DBB4-47BA-9127-F945AE107A35}" type="slidenum">
              <a:rPr lang="nb-NO" noProof="0" smtClean="0"/>
              <a:t>26</a:t>
            </a:fld>
            <a:endParaRPr lang="nb-NO" noProof="0" dirty="0"/>
          </a:p>
        </p:txBody>
      </p:sp>
      <p:sp>
        <p:nvSpPr>
          <p:cNvPr id="5" name="TextBox 4">
            <a:extLst>
              <a:ext uri="{FF2B5EF4-FFF2-40B4-BE49-F238E27FC236}">
                <a16:creationId xmlns:a16="http://schemas.microsoft.com/office/drawing/2014/main" id="{B9D4C8C7-7153-85A7-93CA-0FF020392910}"/>
              </a:ext>
            </a:extLst>
          </p:cNvPr>
          <p:cNvSpPr txBox="1"/>
          <p:nvPr/>
        </p:nvSpPr>
        <p:spPr>
          <a:xfrm>
            <a:off x="715618" y="6398309"/>
            <a:ext cx="9012147" cy="646331"/>
          </a:xfrm>
          <a:prstGeom prst="rect">
            <a:avLst/>
          </a:prstGeom>
          <a:noFill/>
        </p:spPr>
        <p:txBody>
          <a:bodyPr wrap="none" rtlCol="0">
            <a:spAutoFit/>
          </a:bodyPr>
          <a:lstStyle/>
          <a:p>
            <a:r>
              <a:rPr lang="en-US" dirty="0"/>
              <a:t>DN 16. September: </a:t>
            </a:r>
            <a:r>
              <a:rPr lang="en-US" dirty="0" err="1"/>
              <a:t>Slik</a:t>
            </a:r>
            <a:r>
              <a:rPr lang="en-US" dirty="0"/>
              <a:t> </a:t>
            </a:r>
            <a:r>
              <a:rPr lang="en-US" dirty="0" err="1"/>
              <a:t>tok</a:t>
            </a:r>
            <a:r>
              <a:rPr lang="en-US" dirty="0"/>
              <a:t> de </a:t>
            </a:r>
            <a:r>
              <a:rPr lang="en-US" dirty="0" err="1"/>
              <a:t>rike</a:t>
            </a:r>
            <a:r>
              <a:rPr lang="en-US" dirty="0"/>
              <a:t> </a:t>
            </a:r>
            <a:r>
              <a:rPr lang="en-US" dirty="0" err="1"/>
              <a:t>milliarder</a:t>
            </a:r>
            <a:r>
              <a:rPr lang="en-US" dirty="0"/>
              <a:t> </a:t>
            </a:r>
            <a:r>
              <a:rPr lang="en-US" dirty="0" err="1"/>
              <a:t>ut</a:t>
            </a:r>
            <a:r>
              <a:rPr lang="en-US" dirty="0"/>
              <a:t> </a:t>
            </a:r>
            <a:r>
              <a:rPr lang="en-US" dirty="0" err="1"/>
              <a:t>fra</a:t>
            </a:r>
            <a:r>
              <a:rPr lang="en-US" dirty="0"/>
              <a:t> </a:t>
            </a:r>
            <a:r>
              <a:rPr lang="en-US" dirty="0" err="1"/>
              <a:t>selskapene</a:t>
            </a:r>
            <a:r>
              <a:rPr lang="en-US" dirty="0"/>
              <a:t> sine – </a:t>
            </a:r>
            <a:r>
              <a:rPr lang="en-US" dirty="0" err="1"/>
              <a:t>uten</a:t>
            </a:r>
            <a:r>
              <a:rPr lang="en-US" dirty="0"/>
              <a:t> </a:t>
            </a:r>
            <a:r>
              <a:rPr lang="en-US" dirty="0" err="1"/>
              <a:t>å</a:t>
            </a:r>
            <a:r>
              <a:rPr lang="en-US" dirty="0"/>
              <a:t> </a:t>
            </a:r>
            <a:r>
              <a:rPr lang="en-US" dirty="0" err="1"/>
              <a:t>betale</a:t>
            </a:r>
            <a:r>
              <a:rPr lang="en-US" dirty="0"/>
              <a:t> </a:t>
            </a:r>
            <a:r>
              <a:rPr lang="en-US" dirty="0" err="1"/>
              <a:t>utbytteskatt</a:t>
            </a:r>
            <a:endParaRPr lang="en-US" dirty="0"/>
          </a:p>
          <a:p>
            <a:endParaRPr lang="en-US" dirty="0"/>
          </a:p>
        </p:txBody>
      </p:sp>
    </p:spTree>
    <p:extLst>
      <p:ext uri="{BB962C8B-B14F-4D97-AF65-F5344CB8AC3E}">
        <p14:creationId xmlns:p14="http://schemas.microsoft.com/office/powerpoint/2010/main" val="127416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AF773F-A83B-ED4E-2FB5-D9B176E12A21}"/>
              </a:ext>
            </a:extLst>
          </p:cNvPr>
          <p:cNvPicPr>
            <a:picLocks noChangeAspect="1"/>
          </p:cNvPicPr>
          <p:nvPr/>
        </p:nvPicPr>
        <p:blipFill>
          <a:blip r:embed="rId2"/>
          <a:stretch>
            <a:fillRect/>
          </a:stretch>
        </p:blipFill>
        <p:spPr>
          <a:xfrm>
            <a:off x="1304866" y="0"/>
            <a:ext cx="9582267" cy="6858000"/>
          </a:xfrm>
          <a:prstGeom prst="rect">
            <a:avLst/>
          </a:prstGeom>
        </p:spPr>
      </p:pic>
      <p:pic>
        <p:nvPicPr>
          <p:cNvPr id="4" name="Picture 3">
            <a:extLst>
              <a:ext uri="{FF2B5EF4-FFF2-40B4-BE49-F238E27FC236}">
                <a16:creationId xmlns:a16="http://schemas.microsoft.com/office/drawing/2014/main" id="{06B352A5-B9AC-E0CF-F2E4-CF0830308D2E}"/>
              </a:ext>
            </a:extLst>
          </p:cNvPr>
          <p:cNvPicPr>
            <a:picLocks noChangeAspect="1"/>
          </p:cNvPicPr>
          <p:nvPr/>
        </p:nvPicPr>
        <p:blipFill>
          <a:blip r:embed="rId3"/>
          <a:stretch>
            <a:fillRect/>
          </a:stretch>
        </p:blipFill>
        <p:spPr>
          <a:xfrm>
            <a:off x="4028785" y="474210"/>
            <a:ext cx="4134427" cy="600159"/>
          </a:xfrm>
          <a:prstGeom prst="rect">
            <a:avLst/>
          </a:prstGeom>
        </p:spPr>
      </p:pic>
    </p:spTree>
    <p:extLst>
      <p:ext uri="{BB962C8B-B14F-4D97-AF65-F5344CB8AC3E}">
        <p14:creationId xmlns:p14="http://schemas.microsoft.com/office/powerpoint/2010/main" val="2019156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44085F-3262-D1A9-9A46-655449F1C8EF}"/>
              </a:ext>
            </a:extLst>
          </p:cNvPr>
          <p:cNvSpPr>
            <a:spLocks noGrp="1"/>
          </p:cNvSpPr>
          <p:nvPr>
            <p:ph type="sldNum" sz="quarter" idx="12"/>
          </p:nvPr>
        </p:nvSpPr>
        <p:spPr/>
        <p:txBody>
          <a:bodyPr/>
          <a:lstStyle/>
          <a:p>
            <a:fld id="{092CA8B5-DBB4-47BA-9127-F945AE107A35}" type="slidenum">
              <a:rPr lang="nb-NO" noProof="0" smtClean="0"/>
              <a:t>28</a:t>
            </a:fld>
            <a:endParaRPr lang="nb-NO" noProof="0" dirty="0"/>
          </a:p>
        </p:txBody>
      </p:sp>
      <p:sp>
        <p:nvSpPr>
          <p:cNvPr id="6" name="TextBox 5">
            <a:extLst>
              <a:ext uri="{FF2B5EF4-FFF2-40B4-BE49-F238E27FC236}">
                <a16:creationId xmlns:a16="http://schemas.microsoft.com/office/drawing/2014/main" id="{2E2E15C3-7376-E4C0-9DAD-FB604F61C2EA}"/>
              </a:ext>
            </a:extLst>
          </p:cNvPr>
          <p:cNvSpPr txBox="1"/>
          <p:nvPr/>
        </p:nvSpPr>
        <p:spPr>
          <a:xfrm>
            <a:off x="292220" y="136525"/>
            <a:ext cx="11867536" cy="7294305"/>
          </a:xfrm>
          <a:prstGeom prst="rect">
            <a:avLst/>
          </a:prstGeom>
          <a:noFill/>
        </p:spPr>
        <p:txBody>
          <a:bodyPr wrap="square">
            <a:spAutoFit/>
          </a:bodyPr>
          <a:lstStyle/>
          <a:p>
            <a:pPr algn="l"/>
            <a:r>
              <a:rPr lang="nb-NO" sz="3600" b="1" i="0" cap="all" noProof="0" dirty="0">
                <a:solidFill>
                  <a:srgbClr val="000000"/>
                </a:solidFill>
                <a:effectLst/>
                <a:latin typeface="Crimson Text"/>
              </a:rPr>
              <a:t>MILLIARDKUPPET (Dagens Næringsliv 13.12 2019)</a:t>
            </a:r>
          </a:p>
          <a:p>
            <a:pPr algn="l"/>
            <a:endParaRPr lang="nb-NO" sz="3600" b="0" i="0" noProof="0" dirty="0">
              <a:solidFill>
                <a:srgbClr val="000000"/>
              </a:solidFill>
              <a:effectLst/>
              <a:latin typeface="Crimson Text"/>
            </a:endParaRPr>
          </a:p>
          <a:p>
            <a:pPr algn="l"/>
            <a:r>
              <a:rPr lang="nb-NO" sz="3600" b="0" i="0" noProof="0" dirty="0">
                <a:solidFill>
                  <a:srgbClr val="000000"/>
                </a:solidFill>
                <a:effectLst/>
                <a:latin typeface="Crimson Text"/>
              </a:rPr>
              <a:t>Bergens-milliardæren Trond Mohn melder om at han har solgt pumpeprodusenten </a:t>
            </a:r>
            <a:r>
              <a:rPr lang="nb-NO" sz="3600" b="0" i="0" noProof="0" dirty="0" err="1">
                <a:solidFill>
                  <a:srgbClr val="000000"/>
                </a:solidFill>
                <a:effectLst/>
                <a:latin typeface="Crimson Text"/>
              </a:rPr>
              <a:t>Framo</a:t>
            </a:r>
            <a:r>
              <a:rPr lang="nb-NO" sz="3600" b="0" i="0" noProof="0" dirty="0">
                <a:solidFill>
                  <a:srgbClr val="000000"/>
                </a:solidFill>
                <a:effectLst/>
                <a:latin typeface="Crimson Text"/>
              </a:rPr>
              <a:t> til svenske Alfa </a:t>
            </a:r>
            <a:r>
              <a:rPr lang="nb-NO" sz="3600" b="0" i="0" noProof="0" dirty="0" err="1">
                <a:solidFill>
                  <a:srgbClr val="000000"/>
                </a:solidFill>
                <a:effectLst/>
                <a:latin typeface="Crimson Text"/>
              </a:rPr>
              <a:t>Laval</a:t>
            </a:r>
            <a:r>
              <a:rPr lang="nb-NO" sz="3600" b="0" i="0" noProof="0" dirty="0">
                <a:solidFill>
                  <a:srgbClr val="000000"/>
                </a:solidFill>
                <a:effectLst/>
                <a:latin typeface="Crimson Text"/>
              </a:rPr>
              <a:t>. </a:t>
            </a:r>
            <a:r>
              <a:rPr lang="nb-NO" sz="3600" noProof="0" dirty="0">
                <a:solidFill>
                  <a:srgbClr val="000000"/>
                </a:solidFill>
                <a:latin typeface="Crimson Text"/>
              </a:rPr>
              <a:t>N</a:t>
            </a:r>
            <a:r>
              <a:rPr lang="nb-NO" sz="3600" b="0" i="0" noProof="0" dirty="0">
                <a:solidFill>
                  <a:srgbClr val="000000"/>
                </a:solidFill>
                <a:effectLst/>
                <a:latin typeface="Crimson Text"/>
              </a:rPr>
              <a:t>år Mohn nå velger å selge til Sverige, kan han og søsteren Marit putte </a:t>
            </a:r>
            <a:r>
              <a:rPr lang="nb-NO" sz="3600" b="0" i="0" noProof="0" dirty="0">
                <a:solidFill>
                  <a:srgbClr val="FF0000"/>
                </a:solidFill>
                <a:effectLst/>
                <a:latin typeface="Crimson Text"/>
              </a:rPr>
              <a:t>13 milliarder </a:t>
            </a:r>
            <a:r>
              <a:rPr lang="nb-NO" sz="3600" b="0" i="0" noProof="0" dirty="0">
                <a:solidFill>
                  <a:srgbClr val="000000"/>
                </a:solidFill>
                <a:effectLst/>
                <a:latin typeface="Crimson Text"/>
              </a:rPr>
              <a:t>kroner i gevinst på bok i sitt private holdingselskap </a:t>
            </a:r>
            <a:r>
              <a:rPr lang="nb-NO" sz="3600" b="0" i="0" noProof="0" dirty="0" err="1">
                <a:solidFill>
                  <a:srgbClr val="000000"/>
                </a:solidFill>
                <a:effectLst/>
                <a:latin typeface="Crimson Text"/>
              </a:rPr>
              <a:t>Wimoh</a:t>
            </a:r>
            <a:r>
              <a:rPr lang="nb-NO" sz="3600" b="0" i="0" noProof="0" dirty="0">
                <a:solidFill>
                  <a:srgbClr val="000000"/>
                </a:solidFill>
                <a:effectLst/>
                <a:latin typeface="Crimson Text"/>
              </a:rPr>
              <a:t> uten å betale skatt.</a:t>
            </a:r>
          </a:p>
          <a:p>
            <a:endParaRPr lang="nb-NO" sz="3600" b="0" i="0" noProof="0" dirty="0">
              <a:solidFill>
                <a:srgbClr val="000000"/>
              </a:solidFill>
              <a:effectLst/>
              <a:latin typeface="Crimson Text"/>
            </a:endParaRPr>
          </a:p>
          <a:p>
            <a:r>
              <a:rPr lang="nb-NO" sz="3600" b="0" i="0" noProof="0" dirty="0">
                <a:solidFill>
                  <a:srgbClr val="0070C0"/>
                </a:solidFill>
                <a:effectLst/>
                <a:latin typeface="Crimson Text"/>
              </a:rPr>
              <a:t>Mohns holdingselskap </a:t>
            </a:r>
            <a:r>
              <a:rPr lang="nb-NO" sz="3600" b="0" i="0" noProof="0" dirty="0" err="1">
                <a:solidFill>
                  <a:srgbClr val="0070C0"/>
                </a:solidFill>
                <a:effectLst/>
                <a:latin typeface="Crimson Text"/>
              </a:rPr>
              <a:t>Wimoh</a:t>
            </a:r>
            <a:r>
              <a:rPr lang="nb-NO" sz="3600" b="0" i="0" noProof="0" dirty="0">
                <a:solidFill>
                  <a:srgbClr val="0070C0"/>
                </a:solidFill>
                <a:effectLst/>
                <a:latin typeface="Crimson Text"/>
              </a:rPr>
              <a:t> eide datterselskapet </a:t>
            </a:r>
            <a:r>
              <a:rPr lang="nb-NO" sz="3600" b="0" i="0" noProof="0" dirty="0" err="1">
                <a:solidFill>
                  <a:srgbClr val="0070C0"/>
                </a:solidFill>
                <a:effectLst/>
                <a:latin typeface="Crimson Text"/>
              </a:rPr>
              <a:t>Framo</a:t>
            </a:r>
            <a:r>
              <a:rPr lang="nb-NO" sz="3600" b="0" i="0" noProof="0" dirty="0">
                <a:solidFill>
                  <a:srgbClr val="0070C0"/>
                </a:solidFill>
                <a:effectLst/>
                <a:latin typeface="Crimson Text"/>
              </a:rPr>
              <a:t>. I</a:t>
            </a:r>
            <a:r>
              <a:rPr lang="nb-NO" sz="3600" noProof="0" dirty="0">
                <a:solidFill>
                  <a:srgbClr val="0070C0"/>
                </a:solidFill>
                <a:latin typeface="Crimson Text"/>
              </a:rPr>
              <a:t>nntektene fra aksjesalget av </a:t>
            </a:r>
            <a:r>
              <a:rPr lang="nb-NO" sz="3600" noProof="0" dirty="0" err="1">
                <a:solidFill>
                  <a:srgbClr val="0070C0"/>
                </a:solidFill>
                <a:latin typeface="Crimson Text"/>
              </a:rPr>
              <a:t>Framo</a:t>
            </a:r>
            <a:r>
              <a:rPr lang="nb-NO" sz="3600" noProof="0" dirty="0">
                <a:solidFill>
                  <a:srgbClr val="0070C0"/>
                </a:solidFill>
                <a:latin typeface="Crimson Text"/>
              </a:rPr>
              <a:t> var skattefrie i </a:t>
            </a:r>
            <a:r>
              <a:rPr lang="nb-NO" sz="3600" noProof="0" dirty="0" err="1">
                <a:solidFill>
                  <a:srgbClr val="0070C0"/>
                </a:solidFill>
                <a:latin typeface="Crimson Text"/>
              </a:rPr>
              <a:t>Wimoh</a:t>
            </a:r>
            <a:r>
              <a:rPr lang="nb-NO" sz="3600" noProof="0" dirty="0">
                <a:solidFill>
                  <a:srgbClr val="0070C0"/>
                </a:solidFill>
                <a:latin typeface="Crimson Text"/>
              </a:rPr>
              <a:t>. </a:t>
            </a:r>
          </a:p>
          <a:p>
            <a:r>
              <a:rPr lang="nb-NO" sz="3600" b="0" i="0" noProof="0" dirty="0">
                <a:solidFill>
                  <a:srgbClr val="0070C0"/>
                </a:solidFill>
                <a:effectLst/>
                <a:latin typeface="Crimson Text"/>
              </a:rPr>
              <a:t>Før 2006 ville en slik overføring utløst skatt</a:t>
            </a:r>
            <a:r>
              <a:rPr lang="nb-NO" sz="2400" b="0" i="0" noProof="0" dirty="0">
                <a:solidFill>
                  <a:srgbClr val="0070C0"/>
                </a:solidFill>
                <a:effectLst/>
                <a:latin typeface="Crimson Text"/>
              </a:rPr>
              <a:t>. </a:t>
            </a:r>
          </a:p>
          <a:p>
            <a:endParaRPr lang="nb-NO" sz="2400" noProof="0" dirty="0">
              <a:solidFill>
                <a:srgbClr val="000000"/>
              </a:solidFill>
              <a:latin typeface="Crimson Text"/>
            </a:endParaRPr>
          </a:p>
          <a:p>
            <a:endParaRPr lang="nb-NO" sz="2400" b="0" i="0" noProof="0" dirty="0">
              <a:solidFill>
                <a:srgbClr val="000000"/>
              </a:solidFill>
              <a:effectLst/>
              <a:latin typeface="Crimson Text"/>
            </a:endParaRPr>
          </a:p>
          <a:p>
            <a:pPr algn="l"/>
            <a:endParaRPr lang="nb-NO" sz="2400" b="0" i="0" noProof="0" dirty="0">
              <a:solidFill>
                <a:srgbClr val="000000"/>
              </a:solidFill>
              <a:effectLst/>
              <a:latin typeface="Crimson Text"/>
            </a:endParaRPr>
          </a:p>
        </p:txBody>
      </p:sp>
    </p:spTree>
    <p:extLst>
      <p:ext uri="{BB962C8B-B14F-4D97-AF65-F5344CB8AC3E}">
        <p14:creationId xmlns:p14="http://schemas.microsoft.com/office/powerpoint/2010/main" val="3184985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58048B4-3F65-4EB9-ABA8-099353BE8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noProof="0" dirty="0"/>
          </a:p>
        </p:txBody>
      </p:sp>
      <p:sp>
        <p:nvSpPr>
          <p:cNvPr id="12" name="Rectangle 11">
            <a:extLst>
              <a:ext uri="{FF2B5EF4-FFF2-40B4-BE49-F238E27FC236}">
                <a16:creationId xmlns:a16="http://schemas.microsoft.com/office/drawing/2014/main" id="{1AE2FDE4-8ECB-4D0B-B871-D4EE5260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noProof="0" dirty="0"/>
          </a:p>
        </p:txBody>
      </p:sp>
      <p:pic>
        <p:nvPicPr>
          <p:cNvPr id="5" name="Picture 4" descr="A person standing in front of a white cube&#10;&#10;Description automatically generated">
            <a:extLst>
              <a:ext uri="{FF2B5EF4-FFF2-40B4-BE49-F238E27FC236}">
                <a16:creationId xmlns:a16="http://schemas.microsoft.com/office/drawing/2014/main" id="{29BE773C-5CF1-1F9F-E3E3-326BF7C799F4}"/>
              </a:ext>
            </a:extLst>
          </p:cNvPr>
          <p:cNvPicPr>
            <a:picLocks noChangeAspect="1"/>
          </p:cNvPicPr>
          <p:nvPr/>
        </p:nvPicPr>
        <p:blipFill rotWithShape="1">
          <a:blip r:embed="rId2">
            <a:duotone>
              <a:prstClr val="black"/>
              <a:schemeClr val="bg1">
                <a:tint val="45000"/>
                <a:satMod val="400000"/>
              </a:schemeClr>
            </a:duotone>
            <a:alphaModFix amt="10000"/>
          </a:blip>
          <a:srcRect t="8907"/>
          <a:stretch/>
        </p:blipFill>
        <p:spPr>
          <a:xfrm>
            <a:off x="20" y="1"/>
            <a:ext cx="12191980" cy="6857999"/>
          </a:xfrm>
          <a:prstGeom prst="rect">
            <a:avLst/>
          </a:prstGeom>
        </p:spPr>
      </p:pic>
      <p:sp>
        <p:nvSpPr>
          <p:cNvPr id="2" name="Title 1">
            <a:extLst>
              <a:ext uri="{FF2B5EF4-FFF2-40B4-BE49-F238E27FC236}">
                <a16:creationId xmlns:a16="http://schemas.microsoft.com/office/drawing/2014/main" id="{F4C13FDD-3085-4BF0-9261-ED28A5FDDC1C}"/>
              </a:ext>
            </a:extLst>
          </p:cNvPr>
          <p:cNvSpPr>
            <a:spLocks noGrp="1"/>
          </p:cNvSpPr>
          <p:nvPr>
            <p:ph type="ctrTitle"/>
          </p:nvPr>
        </p:nvSpPr>
        <p:spPr>
          <a:xfrm>
            <a:off x="732568" y="1169982"/>
            <a:ext cx="10530318" cy="2736390"/>
          </a:xfrm>
        </p:spPr>
        <p:txBody>
          <a:bodyPr anchor="b">
            <a:normAutofit/>
          </a:bodyPr>
          <a:lstStyle/>
          <a:p>
            <a:pPr algn="l"/>
            <a:r>
              <a:rPr lang="nb-NO" sz="8000" noProof="0" dirty="0">
                <a:solidFill>
                  <a:schemeClr val="tx2"/>
                </a:solidFill>
              </a:rPr>
              <a:t>4. Aksjonærmodellen</a:t>
            </a:r>
          </a:p>
        </p:txBody>
      </p:sp>
      <p:sp>
        <p:nvSpPr>
          <p:cNvPr id="3" name="Subtitle 2">
            <a:extLst>
              <a:ext uri="{FF2B5EF4-FFF2-40B4-BE49-F238E27FC236}">
                <a16:creationId xmlns:a16="http://schemas.microsoft.com/office/drawing/2014/main" id="{88DF5ECE-DFCE-4B5E-984B-BCCA08A1046B}"/>
              </a:ext>
            </a:extLst>
          </p:cNvPr>
          <p:cNvSpPr>
            <a:spLocks noGrp="1"/>
          </p:cNvSpPr>
          <p:nvPr>
            <p:ph type="subTitle" idx="1"/>
          </p:nvPr>
        </p:nvSpPr>
        <p:spPr>
          <a:xfrm>
            <a:off x="732567" y="4067745"/>
            <a:ext cx="10530318" cy="1949813"/>
          </a:xfrm>
        </p:spPr>
        <p:txBody>
          <a:bodyPr anchor="t">
            <a:normAutofit/>
          </a:bodyPr>
          <a:lstStyle/>
          <a:p>
            <a:pPr algn="l"/>
            <a:r>
              <a:rPr lang="nb-NO" sz="2200" noProof="0" dirty="0">
                <a:solidFill>
                  <a:schemeClr val="tx2"/>
                </a:solidFill>
              </a:rPr>
              <a:t>SKATTLEGGING AV EIERINNTEKT (UTBYTTE) TIL PERSONLIG AKSJONÆR</a:t>
            </a:r>
          </a:p>
          <a:p>
            <a:pPr algn="l"/>
            <a:endParaRPr lang="nb-NO" sz="2200" noProof="0" dirty="0">
              <a:solidFill>
                <a:schemeClr val="tx2"/>
              </a:solidFill>
            </a:endParaRPr>
          </a:p>
        </p:txBody>
      </p:sp>
      <p:cxnSp>
        <p:nvCxnSpPr>
          <p:cNvPr id="7" name="Straight Connector 6">
            <a:extLst>
              <a:ext uri="{FF2B5EF4-FFF2-40B4-BE49-F238E27FC236}">
                <a16:creationId xmlns:a16="http://schemas.microsoft.com/office/drawing/2014/main" id="{3C86DB23-FEFE-4C3A-88FA-8E855AB1EE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BB22FAF-4B4F-40B1-97FF-67CD036C89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18488D89-E3BB-4E60-BF44-5F0BE92E3F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19" name="Straight Connector 18">
              <a:extLst>
                <a:ext uri="{FF2B5EF4-FFF2-40B4-BE49-F238E27FC236}">
                  <a16:creationId xmlns:a16="http://schemas.microsoft.com/office/drawing/2014/main" id="{98FA7B87-C151-46CF-9E07-DD4FD97175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99EB480-500C-4A3E-BED3-513B88DB01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7273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AE335-BE7E-9EE5-6667-9214580A43F2}"/>
              </a:ext>
            </a:extLst>
          </p:cNvPr>
          <p:cNvSpPr>
            <a:spLocks noGrp="1"/>
          </p:cNvSpPr>
          <p:nvPr>
            <p:ph type="title"/>
          </p:nvPr>
        </p:nvSpPr>
        <p:spPr>
          <a:xfrm>
            <a:off x="838200" y="172384"/>
            <a:ext cx="10515600" cy="777875"/>
          </a:xfrm>
        </p:spPr>
        <p:txBody>
          <a:bodyPr>
            <a:normAutofit/>
          </a:bodyPr>
          <a:lstStyle/>
          <a:p>
            <a:r>
              <a:rPr lang="nb-NO" sz="3600" noProof="0" dirty="0"/>
              <a:t>AKLSJONÆRMODELLEN</a:t>
            </a:r>
          </a:p>
        </p:txBody>
      </p:sp>
      <p:sp>
        <p:nvSpPr>
          <p:cNvPr id="3" name="Content Placeholder 2">
            <a:extLst>
              <a:ext uri="{FF2B5EF4-FFF2-40B4-BE49-F238E27FC236}">
                <a16:creationId xmlns:a16="http://schemas.microsoft.com/office/drawing/2014/main" id="{94F52942-EB0C-9DC3-C7BB-49E5B0F852E4}"/>
              </a:ext>
            </a:extLst>
          </p:cNvPr>
          <p:cNvSpPr>
            <a:spLocks noGrp="1"/>
          </p:cNvSpPr>
          <p:nvPr>
            <p:ph idx="1"/>
          </p:nvPr>
        </p:nvSpPr>
        <p:spPr>
          <a:xfrm>
            <a:off x="573741" y="1084729"/>
            <a:ext cx="10780059" cy="5092234"/>
          </a:xfrm>
        </p:spPr>
        <p:txBody>
          <a:bodyPr>
            <a:normAutofit lnSpcReduction="10000"/>
          </a:bodyPr>
          <a:lstStyle/>
          <a:p>
            <a:r>
              <a:rPr lang="nb-NO" noProof="0" dirty="0"/>
              <a:t>Gjelder skattlegging av personlig aksjonær (personer)</a:t>
            </a:r>
          </a:p>
          <a:p>
            <a:pPr lvl="1"/>
            <a:r>
              <a:rPr lang="nb-NO" sz="2800" dirty="0"/>
              <a:t>Tap på aksjesalg er fradragsberettiget og gevinst skattepliktig</a:t>
            </a:r>
            <a:endParaRPr lang="nb-NO" sz="2800" noProof="0" dirty="0"/>
          </a:p>
          <a:p>
            <a:endParaRPr lang="nb-NO" dirty="0"/>
          </a:p>
          <a:p>
            <a:r>
              <a:rPr lang="nb-NO" noProof="0" dirty="0"/>
              <a:t>Utbytte til personlig aksjonær skattlegges etter fratrekk for et </a:t>
            </a:r>
            <a:r>
              <a:rPr lang="nb-NO" noProof="0" dirty="0">
                <a:solidFill>
                  <a:srgbClr val="FF0000"/>
                </a:solidFill>
              </a:rPr>
              <a:t>skjermingsfradrag</a:t>
            </a:r>
            <a:r>
              <a:rPr lang="nb-NO" noProof="0" dirty="0"/>
              <a:t> (aksjens kostpris multiplisert med en </a:t>
            </a:r>
            <a:r>
              <a:rPr lang="nb-NO" noProof="0" dirty="0" err="1"/>
              <a:t>skjermingsrente</a:t>
            </a:r>
            <a:r>
              <a:rPr lang="nb-NO" noProof="0" dirty="0"/>
              <a:t> som skal reflektere normalavkastningen på egenkapital.)</a:t>
            </a:r>
          </a:p>
          <a:p>
            <a:endParaRPr lang="nb-NO" noProof="0" dirty="0"/>
          </a:p>
          <a:p>
            <a:r>
              <a:rPr lang="nb-NO" noProof="0" dirty="0"/>
              <a:t>Utbytte fra selskap til personlig aksjonær kalles </a:t>
            </a:r>
            <a:r>
              <a:rPr lang="nb-NO" i="1" noProof="0" dirty="0">
                <a:solidFill>
                  <a:srgbClr val="FF0000"/>
                </a:solidFill>
              </a:rPr>
              <a:t>eierinntekt</a:t>
            </a:r>
            <a:r>
              <a:rPr lang="nb-NO" noProof="0" dirty="0"/>
              <a:t> i det norske skattesystemet</a:t>
            </a:r>
          </a:p>
          <a:p>
            <a:endParaRPr lang="nb-NO" dirty="0">
              <a:solidFill>
                <a:srgbClr val="FF0000"/>
              </a:solidFill>
            </a:endParaRPr>
          </a:p>
          <a:p>
            <a:r>
              <a:rPr lang="nb-NO" noProof="0" dirty="0">
                <a:solidFill>
                  <a:srgbClr val="FF0000"/>
                </a:solidFill>
              </a:rPr>
              <a:t>Nominell sats er 22% men den skal oppjusteres med en faktor på 1,72 slik at virkelig nominell sats er 1,72* 22% = 37,84%</a:t>
            </a:r>
          </a:p>
        </p:txBody>
      </p:sp>
    </p:spTree>
    <p:extLst>
      <p:ext uri="{BB962C8B-B14F-4D97-AF65-F5344CB8AC3E}">
        <p14:creationId xmlns:p14="http://schemas.microsoft.com/office/powerpoint/2010/main" val="2744514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 name="Content Placeholder 2">
                <a:extLst>
                  <a:ext uri="{FF2B5EF4-FFF2-40B4-BE49-F238E27FC236}">
                    <a16:creationId xmlns:a16="http://schemas.microsoft.com/office/drawing/2014/main" id="{7C105F1B-111C-7553-018D-3AE1BD6687CB}"/>
                  </a:ext>
                </a:extLst>
              </p:cNvPr>
              <p:cNvGraphicFramePr>
                <a:graphicFrameLocks noGrp="1"/>
              </p:cNvGraphicFramePr>
              <p:nvPr>
                <p:ph idx="1"/>
                <p:extLst>
                  <p:ext uri="{D42A27DB-BD31-4B8C-83A1-F6EECF244321}">
                    <p14:modId xmlns:p14="http://schemas.microsoft.com/office/powerpoint/2010/main" val="925810821"/>
                  </p:ext>
                </p:extLst>
              </p:nvPr>
            </p:nvGraphicFramePr>
            <p:xfrm>
              <a:off x="448596" y="475129"/>
              <a:ext cx="11418939" cy="61139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6" name="Content Placeholder 2">
                <a:extLst>
                  <a:ext uri="{FF2B5EF4-FFF2-40B4-BE49-F238E27FC236}">
                    <a16:creationId xmlns:a16="http://schemas.microsoft.com/office/drawing/2014/main" id="{7C105F1B-111C-7553-018D-3AE1BD6687CB}"/>
                  </a:ext>
                </a:extLst>
              </p:cNvPr>
              <p:cNvGraphicFramePr>
                <a:graphicFrameLocks noGrp="1"/>
              </p:cNvGraphicFramePr>
              <p:nvPr>
                <p:ph idx="1"/>
                <p:extLst>
                  <p:ext uri="{D42A27DB-BD31-4B8C-83A1-F6EECF244321}">
                    <p14:modId xmlns:p14="http://schemas.microsoft.com/office/powerpoint/2010/main" val="925810821"/>
                  </p:ext>
                </p:extLst>
              </p:nvPr>
            </p:nvGraphicFramePr>
            <p:xfrm>
              <a:off x="448596" y="475129"/>
              <a:ext cx="11418939" cy="61139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
        <p:nvSpPr>
          <p:cNvPr id="4" name="Slide Number Placeholder 3">
            <a:extLst>
              <a:ext uri="{FF2B5EF4-FFF2-40B4-BE49-F238E27FC236}">
                <a16:creationId xmlns:a16="http://schemas.microsoft.com/office/drawing/2014/main" id="{BC3DB84C-4279-45BD-B05D-3CE5B76D6C7D}"/>
              </a:ext>
            </a:extLst>
          </p:cNvPr>
          <p:cNvSpPr>
            <a:spLocks noGrp="1"/>
          </p:cNvSpPr>
          <p:nvPr>
            <p:ph type="sldNum" sz="quarter" idx="12"/>
          </p:nvPr>
        </p:nvSpPr>
        <p:spPr/>
        <p:txBody>
          <a:bodyPr/>
          <a:lstStyle/>
          <a:p>
            <a:fld id="{092CA8B5-DBB4-47BA-9127-F945AE107A35}" type="slidenum">
              <a:rPr lang="nb-NO" noProof="0" smtClean="0"/>
              <a:t>31</a:t>
            </a:fld>
            <a:endParaRPr lang="nb-NO" noProof="0" dirty="0"/>
          </a:p>
        </p:txBody>
      </p:sp>
    </p:spTree>
    <p:extLst>
      <p:ext uri="{BB962C8B-B14F-4D97-AF65-F5344CB8AC3E}">
        <p14:creationId xmlns:p14="http://schemas.microsoft.com/office/powerpoint/2010/main" val="3248934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7993C-C58B-420E-53AC-BB526BAA3AA7}"/>
              </a:ext>
            </a:extLst>
          </p:cNvPr>
          <p:cNvSpPr>
            <a:spLocks noGrp="1"/>
          </p:cNvSpPr>
          <p:nvPr>
            <p:ph type="title"/>
          </p:nvPr>
        </p:nvSpPr>
        <p:spPr/>
        <p:txBody>
          <a:bodyPr/>
          <a:lstStyle/>
          <a:p>
            <a:r>
              <a:rPr lang="nb-NO" noProof="0" dirty="0"/>
              <a:t>Skjermingsrenten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1EA3E7D-B413-5319-A93E-990E88749A3F}"/>
                  </a:ext>
                </a:extLst>
              </p:cNvPr>
              <p:cNvSpPr>
                <a:spLocks noGrp="1"/>
              </p:cNvSpPr>
              <p:nvPr>
                <p:ph idx="1"/>
              </p:nvPr>
            </p:nvSpPr>
            <p:spPr>
              <a:xfrm>
                <a:off x="361950" y="1573161"/>
                <a:ext cx="11672888" cy="4603802"/>
              </a:xfrm>
            </p:spPr>
            <p:txBody>
              <a:bodyPr>
                <a:normAutofit fontScale="92500" lnSpcReduction="10000"/>
              </a:bodyPr>
              <a:lstStyle/>
              <a:p>
                <a:pPr marL="0" indent="0">
                  <a:buNone/>
                </a:pPr>
                <a:endParaRPr lang="nb-NO" sz="2800" noProof="0" dirty="0"/>
              </a:p>
              <a:p>
                <a:r>
                  <a:rPr lang="nb-NO" sz="3500" dirty="0"/>
                  <a:t>I 2025 var s</a:t>
                </a:r>
                <a:r>
                  <a:rPr lang="nb-NO" sz="3500" noProof="0" dirty="0" err="1"/>
                  <a:t>tatskasseveksler</a:t>
                </a:r>
                <a:r>
                  <a:rPr lang="nb-NO" sz="3500" noProof="0" dirty="0"/>
                  <a:t> med 3 måneders løpetid  </a:t>
                </a:r>
                <a:r>
                  <a:rPr lang="nb-NO" sz="3500" dirty="0"/>
                  <a:t>4,1</a:t>
                </a:r>
                <a:r>
                  <a:rPr lang="nb-NO" sz="3500" noProof="0" dirty="0"/>
                  <a:t>%</a:t>
                </a:r>
              </a:p>
              <a:p>
                <a:endParaRPr lang="nb-NO" sz="3500" dirty="0"/>
              </a:p>
              <a:p>
                <a:r>
                  <a:rPr lang="nb-NO" sz="3500" noProof="0" dirty="0"/>
                  <a:t> Skjermingsrenten (R) blir : </a:t>
                </a:r>
              </a:p>
              <a:p>
                <a:endParaRPr lang="nb-NO" sz="3500" noProof="0" dirty="0"/>
              </a:p>
              <a:p>
                <a:pPr marL="0" indent="0">
                  <a:buNone/>
                </a:pPr>
                <a14:m>
                  <m:oMathPara xmlns:m="http://schemas.openxmlformats.org/officeDocument/2006/math">
                    <m:oMath>
                      <m:r>
                        <m:rPr>
                          <m:sty m:val="p"/>
                        </m:rPr>
                        <a:rPr lang="nb-NO" sz="3500" i="1" noProof="0" smtClean="0">
                          <a:latin typeface="Cambria Math" panose="02040503050406030204" pitchFamily="18" charset="0"/>
                        </a:rPr>
                        <m:t>R</m:t>
                      </m:r>
                      <m:r>
                        <a:rPr lang="nb-NO" sz="3500" b="0" i="1" noProof="0" smtClean="0">
                          <a:latin typeface="Cambria Math" panose="02040503050406030204" pitchFamily="18" charset="0"/>
                        </a:rPr>
                        <m:t>=(</m:t>
                      </m:r>
                      <m:r>
                        <a:rPr lang="en-US" sz="3500" b="0" i="1" noProof="0" smtClean="0">
                          <a:latin typeface="Cambria Math" panose="02040503050406030204" pitchFamily="18" charset="0"/>
                        </a:rPr>
                        <m:t>4,</m:t>
                      </m:r>
                      <m:r>
                        <a:rPr lang="nb-NO" sz="3500" b="0" i="1" noProof="0" smtClean="0">
                          <a:latin typeface="Cambria Math" panose="02040503050406030204" pitchFamily="18" charset="0"/>
                        </a:rPr>
                        <m:t>1%+0,5%) ∗</m:t>
                      </m:r>
                      <m:d>
                        <m:dPr>
                          <m:ctrlPr>
                            <a:rPr lang="nb-NO" sz="3500" b="0" i="1" noProof="0" smtClean="0">
                              <a:latin typeface="Cambria Math" panose="02040503050406030204" pitchFamily="18" charset="0"/>
                            </a:rPr>
                          </m:ctrlPr>
                        </m:dPr>
                        <m:e>
                          <m:r>
                            <a:rPr lang="nb-NO" sz="3500" b="0" i="1" noProof="0" smtClean="0">
                              <a:latin typeface="Cambria Math" panose="02040503050406030204" pitchFamily="18" charset="0"/>
                            </a:rPr>
                            <m:t>100%−22%</m:t>
                          </m:r>
                        </m:e>
                      </m:d>
                      <m:r>
                        <a:rPr lang="nb-NO" sz="3500" b="0" i="1" noProof="0" smtClean="0">
                          <a:latin typeface="Cambria Math" panose="02040503050406030204" pitchFamily="18" charset="0"/>
                          <a:ea typeface="Cambria Math" panose="02040503050406030204" pitchFamily="18" charset="0"/>
                        </a:rPr>
                        <m:t>≅</m:t>
                      </m:r>
                      <m:r>
                        <a:rPr lang="en-US" sz="3500" b="0" i="1" noProof="0" smtClean="0">
                          <a:latin typeface="Cambria Math" panose="02040503050406030204" pitchFamily="18" charset="0"/>
                          <a:ea typeface="Cambria Math" panose="02040503050406030204" pitchFamily="18" charset="0"/>
                        </a:rPr>
                        <m:t>3,</m:t>
                      </m:r>
                      <m:r>
                        <a:rPr lang="nb-NO" sz="3500" b="0" i="1" noProof="0" smtClean="0">
                          <a:latin typeface="Cambria Math" panose="02040503050406030204" pitchFamily="18" charset="0"/>
                          <a:ea typeface="Cambria Math" panose="02040503050406030204" pitchFamily="18" charset="0"/>
                        </a:rPr>
                        <m:t>6%</m:t>
                      </m:r>
                    </m:oMath>
                  </m:oMathPara>
                </a14:m>
                <a:endParaRPr lang="nb-NO" sz="3500" noProof="0" dirty="0"/>
              </a:p>
              <a:p>
                <a:pPr marL="0" indent="0">
                  <a:buNone/>
                </a:pPr>
                <a:endParaRPr lang="nb-NO" sz="3500" noProof="0" dirty="0"/>
              </a:p>
              <a:p>
                <a:r>
                  <a:rPr lang="nb-NO" sz="3500" dirty="0"/>
                  <a:t>En aksje kjøpt for kr 100 av en personlig skattyter kan motta kr 3,6 (100*3,6%) skattefritt av et eventuelt utbytte.</a:t>
                </a:r>
              </a:p>
              <a:p>
                <a:pPr marL="0" indent="0">
                  <a:buNone/>
                </a:pPr>
                <a:endParaRPr lang="nb-NO" sz="3500" noProof="0" dirty="0"/>
              </a:p>
              <a:p>
                <a:endParaRPr lang="nb-NO" noProof="0" dirty="0"/>
              </a:p>
            </p:txBody>
          </p:sp>
        </mc:Choice>
        <mc:Fallback>
          <p:sp>
            <p:nvSpPr>
              <p:cNvPr id="3" name="Content Placeholder 2">
                <a:extLst>
                  <a:ext uri="{FF2B5EF4-FFF2-40B4-BE49-F238E27FC236}">
                    <a16:creationId xmlns:a16="http://schemas.microsoft.com/office/drawing/2014/main" id="{91EA3E7D-B413-5319-A93E-990E88749A3F}"/>
                  </a:ext>
                </a:extLst>
              </p:cNvPr>
              <p:cNvSpPr>
                <a:spLocks noGrp="1" noRot="1" noChangeAspect="1" noMove="1" noResize="1" noEditPoints="1" noAdjustHandles="1" noChangeArrowheads="1" noChangeShapeType="1" noTextEdit="1"/>
              </p:cNvSpPr>
              <p:nvPr>
                <p:ph idx="1"/>
              </p:nvPr>
            </p:nvSpPr>
            <p:spPr>
              <a:xfrm>
                <a:off x="361950" y="1573161"/>
                <a:ext cx="11672888" cy="4603802"/>
              </a:xfrm>
              <a:blipFill>
                <a:blip r:embed="rId2"/>
                <a:stretch>
                  <a:fillRect l="-119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B2A54EC-4F71-3197-AD15-E45A2059432B}"/>
              </a:ext>
            </a:extLst>
          </p:cNvPr>
          <p:cNvSpPr>
            <a:spLocks noGrp="1"/>
          </p:cNvSpPr>
          <p:nvPr>
            <p:ph type="sldNum" sz="quarter" idx="12"/>
          </p:nvPr>
        </p:nvSpPr>
        <p:spPr/>
        <p:txBody>
          <a:bodyPr/>
          <a:lstStyle/>
          <a:p>
            <a:fld id="{092CA8B5-DBB4-47BA-9127-F945AE107A35}" type="slidenum">
              <a:rPr lang="nb-NO" noProof="0" smtClean="0"/>
              <a:t>32</a:t>
            </a:fld>
            <a:endParaRPr lang="nb-NO" noProof="0" dirty="0"/>
          </a:p>
        </p:txBody>
      </p:sp>
    </p:spTree>
    <p:extLst>
      <p:ext uri="{BB962C8B-B14F-4D97-AF65-F5344CB8AC3E}">
        <p14:creationId xmlns:p14="http://schemas.microsoft.com/office/powerpoint/2010/main" val="17902018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450C16-43A4-E4CD-C60B-A436EB26544C}"/>
              </a:ext>
            </a:extLst>
          </p:cNvPr>
          <p:cNvSpPr>
            <a:spLocks noGrp="1"/>
          </p:cNvSpPr>
          <p:nvPr>
            <p:ph idx="1"/>
          </p:nvPr>
        </p:nvSpPr>
        <p:spPr>
          <a:xfrm>
            <a:off x="183995" y="306659"/>
            <a:ext cx="11732701" cy="6323867"/>
          </a:xfrm>
        </p:spPr>
        <p:txBody>
          <a:bodyPr>
            <a:normAutofit/>
          </a:bodyPr>
          <a:lstStyle/>
          <a:p>
            <a:pPr marL="0" indent="0">
              <a:buNone/>
            </a:pPr>
            <a:r>
              <a:rPr lang="nb-NO" sz="3200" b="1" noProof="0" dirty="0"/>
              <a:t>Hva hvis mottatt utbytte er </a:t>
            </a:r>
            <a:r>
              <a:rPr lang="nb-NO" sz="3200" b="1" i="1" noProof="0" dirty="0"/>
              <a:t>mindre</a:t>
            </a:r>
            <a:r>
              <a:rPr lang="nb-NO" sz="3200" b="1" noProof="0" dirty="0"/>
              <a:t> enn skjermingsfradraget</a:t>
            </a:r>
          </a:p>
          <a:p>
            <a:pPr marL="0" indent="0">
              <a:buNone/>
            </a:pPr>
            <a:endParaRPr lang="nb-NO" sz="3200" b="1" dirty="0"/>
          </a:p>
          <a:p>
            <a:r>
              <a:rPr lang="nb-NO" sz="3200" noProof="0" dirty="0"/>
              <a:t>Du kan fremføre ubenyttet skjermingsfradraget til neste år og slå det sammen med neste års skjermingsfradrag. </a:t>
            </a:r>
          </a:p>
          <a:p>
            <a:endParaRPr lang="nb-NO" sz="3200" noProof="0" dirty="0"/>
          </a:p>
          <a:p>
            <a:r>
              <a:rPr lang="nb-NO" sz="3200" noProof="0" dirty="0"/>
              <a:t>Hvis utbyttet er mindre enn de sammenslåtte skjermingsfradragene neste år kan differansen fremføres mot fremtidige utbytter</a:t>
            </a:r>
          </a:p>
          <a:p>
            <a:endParaRPr lang="nb-NO" sz="3200" dirty="0"/>
          </a:p>
          <a:p>
            <a:r>
              <a:rPr lang="nb-NO" sz="3200" dirty="0"/>
              <a:t>U</a:t>
            </a:r>
            <a:r>
              <a:rPr lang="nb-NO" sz="3200" noProof="0" dirty="0"/>
              <a:t>benyttede skjermingsfradraget øker skjermingsgrunnlaget </a:t>
            </a:r>
            <a:r>
              <a:rPr lang="nb-NO" sz="3200" noProof="0" dirty="0" err="1"/>
              <a:t>dvs</a:t>
            </a:r>
            <a:r>
              <a:rPr lang="nb-NO" sz="3200" noProof="0" dirty="0"/>
              <a:t> aksjens kostpris påfølgende år. Når ubenyttet skjermingsfradrag er brukt opp reduserer de aksjens kostpris slik at den komme tilbake til prisen vi kjøpte aksjen for</a:t>
            </a:r>
          </a:p>
          <a:p>
            <a:endParaRPr lang="nb-NO" sz="3200" dirty="0"/>
          </a:p>
          <a:p>
            <a:pPr marL="0" indent="0">
              <a:buNone/>
            </a:pPr>
            <a:endParaRPr lang="nb-NO" sz="3200" noProof="0" dirty="0"/>
          </a:p>
          <a:p>
            <a:pPr marL="0" indent="0">
              <a:buNone/>
            </a:pPr>
            <a:endParaRPr lang="nb-NO" noProof="0" dirty="0"/>
          </a:p>
        </p:txBody>
      </p:sp>
    </p:spTree>
    <p:extLst>
      <p:ext uri="{BB962C8B-B14F-4D97-AF65-F5344CB8AC3E}">
        <p14:creationId xmlns:p14="http://schemas.microsoft.com/office/powerpoint/2010/main" val="23600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746" y="92328"/>
            <a:ext cx="10491105" cy="1413086"/>
          </a:xfrm>
        </p:spPr>
        <p:txBody>
          <a:bodyPr>
            <a:noAutofit/>
          </a:bodyPr>
          <a:lstStyle/>
          <a:p>
            <a:r>
              <a:rPr lang="nb-NO" sz="2800" noProof="0" dirty="0">
                <a:latin typeface="+mn-lt"/>
              </a:rPr>
              <a:t>EKSEMPEL: Olsen eier 1 aksje i AS Industri, kjøpt årsskiftet 2014 for kr 1000 (aksjens kostpris). Aksjen ble solgt i 2019 før utbytte til kr 1100 så Olsen går glipp av utbytte og skjerming i 2019</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196310582"/>
              </p:ext>
            </p:extLst>
          </p:nvPr>
        </p:nvGraphicFramePr>
        <p:xfrm>
          <a:off x="267629" y="1806092"/>
          <a:ext cx="11874968" cy="4820272"/>
        </p:xfrm>
        <a:graphic>
          <a:graphicData uri="http://schemas.openxmlformats.org/drawingml/2006/table">
            <a:tbl>
              <a:tblPr firstRow="1" bandRow="1">
                <a:tableStyleId>{5C22544A-7EE6-4342-B048-85BDC9FD1C3A}</a:tableStyleId>
              </a:tblPr>
              <a:tblGrid>
                <a:gridCol w="808463">
                  <a:extLst>
                    <a:ext uri="{9D8B030D-6E8A-4147-A177-3AD203B41FA5}">
                      <a16:colId xmlns:a16="http://schemas.microsoft.com/office/drawing/2014/main" val="20000"/>
                    </a:ext>
                  </a:extLst>
                </a:gridCol>
                <a:gridCol w="1338146">
                  <a:extLst>
                    <a:ext uri="{9D8B030D-6E8A-4147-A177-3AD203B41FA5}">
                      <a16:colId xmlns:a16="http://schemas.microsoft.com/office/drawing/2014/main" val="20001"/>
                    </a:ext>
                  </a:extLst>
                </a:gridCol>
                <a:gridCol w="959583">
                  <a:extLst>
                    <a:ext uri="{9D8B030D-6E8A-4147-A177-3AD203B41FA5}">
                      <a16:colId xmlns:a16="http://schemas.microsoft.com/office/drawing/2014/main" val="20002"/>
                    </a:ext>
                  </a:extLst>
                </a:gridCol>
                <a:gridCol w="1515988">
                  <a:extLst>
                    <a:ext uri="{9D8B030D-6E8A-4147-A177-3AD203B41FA5}">
                      <a16:colId xmlns:a16="http://schemas.microsoft.com/office/drawing/2014/main" val="20003"/>
                    </a:ext>
                  </a:extLst>
                </a:gridCol>
                <a:gridCol w="2386480">
                  <a:extLst>
                    <a:ext uri="{9D8B030D-6E8A-4147-A177-3AD203B41FA5}">
                      <a16:colId xmlns:a16="http://schemas.microsoft.com/office/drawing/2014/main" val="20004"/>
                    </a:ext>
                  </a:extLst>
                </a:gridCol>
                <a:gridCol w="2577830">
                  <a:extLst>
                    <a:ext uri="{9D8B030D-6E8A-4147-A177-3AD203B41FA5}">
                      <a16:colId xmlns:a16="http://schemas.microsoft.com/office/drawing/2014/main" val="20005"/>
                    </a:ext>
                  </a:extLst>
                </a:gridCol>
                <a:gridCol w="2288478">
                  <a:extLst>
                    <a:ext uri="{9D8B030D-6E8A-4147-A177-3AD203B41FA5}">
                      <a16:colId xmlns:a16="http://schemas.microsoft.com/office/drawing/2014/main" val="20006"/>
                    </a:ext>
                  </a:extLst>
                </a:gridCol>
              </a:tblGrid>
              <a:tr h="858235">
                <a:tc>
                  <a:txBody>
                    <a:bodyPr/>
                    <a:lstStyle/>
                    <a:p>
                      <a:r>
                        <a:rPr lang="nb-NO" sz="2000" noProof="0" dirty="0"/>
                        <a:t>år</a:t>
                      </a:r>
                    </a:p>
                  </a:txBody>
                  <a:tcPr marL="82935" marR="82935" marT="41468" marB="41468"/>
                </a:tc>
                <a:tc>
                  <a:txBody>
                    <a:bodyPr/>
                    <a:lstStyle/>
                    <a:p>
                      <a:r>
                        <a:rPr lang="nb-NO" sz="2000" noProof="0" dirty="0"/>
                        <a:t>Skjermings</a:t>
                      </a:r>
                    </a:p>
                    <a:p>
                      <a:r>
                        <a:rPr lang="nb-NO" sz="2000" noProof="0" dirty="0"/>
                        <a:t>Rente</a:t>
                      </a:r>
                    </a:p>
                  </a:txBody>
                  <a:tcPr marL="82935" marR="82935" marT="41468" marB="41468"/>
                </a:tc>
                <a:tc>
                  <a:txBody>
                    <a:bodyPr/>
                    <a:lstStyle/>
                    <a:p>
                      <a:r>
                        <a:rPr lang="nb-NO" sz="2000" noProof="0" dirty="0"/>
                        <a:t>Aksje utbytte</a:t>
                      </a:r>
                    </a:p>
                  </a:txBody>
                  <a:tcPr marL="82935" marR="82935" marT="41468" marB="41468"/>
                </a:tc>
                <a:tc>
                  <a:txBody>
                    <a:bodyPr/>
                    <a:lstStyle/>
                    <a:p>
                      <a:r>
                        <a:rPr lang="nb-NO" sz="2000" noProof="0" dirty="0"/>
                        <a:t>Skjermings</a:t>
                      </a:r>
                    </a:p>
                    <a:p>
                      <a:r>
                        <a:rPr lang="nb-NO" sz="2000" noProof="0" dirty="0"/>
                        <a:t>Grunnlag</a:t>
                      </a:r>
                    </a:p>
                  </a:txBody>
                  <a:tcPr marL="82935" marR="82935" marT="41468" marB="41468"/>
                </a:tc>
                <a:tc>
                  <a:txBody>
                    <a:bodyPr/>
                    <a:lstStyle/>
                    <a:p>
                      <a:r>
                        <a:rPr lang="nb-NO" sz="2000" noProof="0" dirty="0"/>
                        <a:t>Skjermings</a:t>
                      </a:r>
                    </a:p>
                    <a:p>
                      <a:r>
                        <a:rPr lang="nb-NO" sz="2000" noProof="0" dirty="0"/>
                        <a:t>fradrag</a:t>
                      </a:r>
                    </a:p>
                  </a:txBody>
                  <a:tcPr marL="82935" marR="82935" marT="41468" marB="41468"/>
                </a:tc>
                <a:tc>
                  <a:txBody>
                    <a:bodyPr/>
                    <a:lstStyle/>
                    <a:p>
                      <a:r>
                        <a:rPr lang="nb-NO" sz="2000" noProof="0" dirty="0"/>
                        <a:t>Skattepliktig</a:t>
                      </a:r>
                    </a:p>
                    <a:p>
                      <a:r>
                        <a:rPr lang="nb-NO" sz="2000" noProof="0" dirty="0"/>
                        <a:t>utbytte</a:t>
                      </a:r>
                    </a:p>
                  </a:txBody>
                  <a:tcPr marL="82935" marR="82935" marT="41468" marB="41468"/>
                </a:tc>
                <a:tc>
                  <a:txBody>
                    <a:bodyPr/>
                    <a:lstStyle/>
                    <a:p>
                      <a:r>
                        <a:rPr lang="nb-NO" sz="2000" noProof="0" dirty="0" err="1"/>
                        <a:t>Akku.ubenyttet.skj</a:t>
                      </a:r>
                      <a:r>
                        <a:rPr lang="nb-NO" sz="2000" noProof="0" dirty="0"/>
                        <a:t>. fradrag 31.12</a:t>
                      </a:r>
                    </a:p>
                  </a:txBody>
                  <a:tcPr marL="82935" marR="82935" marT="41468" marB="41468"/>
                </a:tc>
                <a:extLst>
                  <a:ext uri="{0D108BD9-81ED-4DB2-BD59-A6C34878D82A}">
                    <a16:rowId xmlns:a16="http://schemas.microsoft.com/office/drawing/2014/main" val="10000"/>
                  </a:ext>
                </a:extLst>
              </a:tr>
              <a:tr h="497231">
                <a:tc>
                  <a:txBody>
                    <a:bodyPr/>
                    <a:lstStyle/>
                    <a:p>
                      <a:r>
                        <a:rPr lang="nb-NO" sz="2400" noProof="0" dirty="0"/>
                        <a:t>2014</a:t>
                      </a:r>
                    </a:p>
                  </a:txBody>
                  <a:tcPr marL="82935" marR="82935" marT="41468" marB="41468"/>
                </a:tc>
                <a:tc>
                  <a:txBody>
                    <a:bodyPr/>
                    <a:lstStyle/>
                    <a:p>
                      <a:r>
                        <a:rPr lang="nb-NO" sz="2400" noProof="0" dirty="0"/>
                        <a:t>2%</a:t>
                      </a:r>
                    </a:p>
                  </a:txBody>
                  <a:tcPr marL="82935" marR="82935" marT="41468" marB="41468"/>
                </a:tc>
                <a:tc>
                  <a:txBody>
                    <a:bodyPr/>
                    <a:lstStyle/>
                    <a:p>
                      <a:r>
                        <a:rPr lang="nb-NO" sz="2400" noProof="0" dirty="0"/>
                        <a:t>25</a:t>
                      </a:r>
                    </a:p>
                  </a:txBody>
                  <a:tcPr marL="82935" marR="82935" marT="41468" marB="41468"/>
                </a:tc>
                <a:tc>
                  <a:txBody>
                    <a:bodyPr/>
                    <a:lstStyle/>
                    <a:p>
                      <a:r>
                        <a:rPr lang="nb-NO" sz="2400" noProof="0" dirty="0"/>
                        <a:t>1000</a:t>
                      </a:r>
                    </a:p>
                  </a:txBody>
                  <a:tcPr marL="82935" marR="82935" marT="41468" marB="41468"/>
                </a:tc>
                <a:tc>
                  <a:txBody>
                    <a:bodyPr/>
                    <a:lstStyle/>
                    <a:p>
                      <a:r>
                        <a:rPr lang="nb-NO" sz="2400" noProof="0" dirty="0">
                          <a:solidFill>
                            <a:srgbClr val="FF0000"/>
                          </a:solidFill>
                        </a:rPr>
                        <a:t>20</a:t>
                      </a:r>
                      <a:r>
                        <a:rPr lang="nb-NO" sz="2400" noProof="0" dirty="0"/>
                        <a:t> (=1000*2%)</a:t>
                      </a:r>
                    </a:p>
                  </a:txBody>
                  <a:tcPr marL="82935" marR="82935" marT="41468" marB="41468"/>
                </a:tc>
                <a:tc>
                  <a:txBody>
                    <a:bodyPr/>
                    <a:lstStyle/>
                    <a:p>
                      <a:r>
                        <a:rPr lang="nb-NO" sz="2400" noProof="0" dirty="0"/>
                        <a:t>5 (= 25 - 20)</a:t>
                      </a:r>
                    </a:p>
                  </a:txBody>
                  <a:tcPr marL="82935" marR="82935" marT="41468" marB="41468"/>
                </a:tc>
                <a:tc>
                  <a:txBody>
                    <a:bodyPr/>
                    <a:lstStyle/>
                    <a:p>
                      <a:r>
                        <a:rPr lang="nb-NO" sz="2400" noProof="0" dirty="0">
                          <a:solidFill>
                            <a:srgbClr val="FF0000"/>
                          </a:solidFill>
                        </a:rPr>
                        <a:t>0</a:t>
                      </a:r>
                    </a:p>
                  </a:txBody>
                  <a:tcPr marL="82935" marR="82935" marT="41468" marB="41468"/>
                </a:tc>
                <a:extLst>
                  <a:ext uri="{0D108BD9-81ED-4DB2-BD59-A6C34878D82A}">
                    <a16:rowId xmlns:a16="http://schemas.microsoft.com/office/drawing/2014/main" val="10001"/>
                  </a:ext>
                </a:extLst>
              </a:tr>
              <a:tr h="497231">
                <a:tc>
                  <a:txBody>
                    <a:bodyPr/>
                    <a:lstStyle/>
                    <a:p>
                      <a:r>
                        <a:rPr lang="nb-NO" sz="2400" noProof="0" dirty="0"/>
                        <a:t>2015</a:t>
                      </a:r>
                    </a:p>
                  </a:txBody>
                  <a:tcPr marL="82935" marR="82935" marT="41468" marB="41468"/>
                </a:tc>
                <a:tc>
                  <a:txBody>
                    <a:bodyPr/>
                    <a:lstStyle/>
                    <a:p>
                      <a:r>
                        <a:rPr lang="nb-NO" sz="2400" noProof="0" dirty="0"/>
                        <a:t>3%</a:t>
                      </a:r>
                    </a:p>
                  </a:txBody>
                  <a:tcPr marL="82935" marR="82935" marT="41468" marB="41468"/>
                </a:tc>
                <a:tc>
                  <a:txBody>
                    <a:bodyPr/>
                    <a:lstStyle/>
                    <a:p>
                      <a:r>
                        <a:rPr lang="nb-NO" sz="2400" noProof="0" dirty="0"/>
                        <a:t>0</a:t>
                      </a:r>
                    </a:p>
                  </a:txBody>
                  <a:tcPr marL="82935" marR="82935" marT="41468" marB="41468"/>
                </a:tc>
                <a:tc>
                  <a:txBody>
                    <a:bodyPr/>
                    <a:lstStyle/>
                    <a:p>
                      <a:r>
                        <a:rPr lang="nb-NO" sz="2400" noProof="0" dirty="0"/>
                        <a:t>1000</a:t>
                      </a:r>
                    </a:p>
                  </a:txBody>
                  <a:tcPr marL="82935" marR="82935" marT="41468" marB="41468"/>
                </a:tc>
                <a:tc>
                  <a:txBody>
                    <a:bodyPr/>
                    <a:lstStyle/>
                    <a:p>
                      <a:r>
                        <a:rPr lang="nb-NO" sz="2400" noProof="0" dirty="0">
                          <a:solidFill>
                            <a:srgbClr val="FF0000"/>
                          </a:solidFill>
                        </a:rPr>
                        <a:t>30</a:t>
                      </a:r>
                      <a:r>
                        <a:rPr lang="nb-NO" sz="2400" noProof="0" dirty="0"/>
                        <a:t> (=1000*3%)</a:t>
                      </a:r>
                    </a:p>
                  </a:txBody>
                  <a:tcPr marL="82935" marR="82935" marT="41468" marB="41468"/>
                </a:tc>
                <a:tc>
                  <a:txBody>
                    <a:bodyPr/>
                    <a:lstStyle/>
                    <a:p>
                      <a:r>
                        <a:rPr lang="nb-NO" sz="2400" noProof="0" dirty="0"/>
                        <a:t>0</a:t>
                      </a:r>
                    </a:p>
                  </a:txBody>
                  <a:tcPr marL="82935" marR="82935" marT="41468" marB="41468"/>
                </a:tc>
                <a:tc>
                  <a:txBody>
                    <a:bodyPr/>
                    <a:lstStyle/>
                    <a:p>
                      <a:r>
                        <a:rPr lang="nb-NO" sz="2400" noProof="0" dirty="0">
                          <a:solidFill>
                            <a:srgbClr val="FF0000"/>
                          </a:solidFill>
                        </a:rPr>
                        <a:t>30</a:t>
                      </a:r>
                    </a:p>
                  </a:txBody>
                  <a:tcPr marL="82935" marR="82935" marT="41468" marB="41468"/>
                </a:tc>
                <a:extLst>
                  <a:ext uri="{0D108BD9-81ED-4DB2-BD59-A6C34878D82A}">
                    <a16:rowId xmlns:a16="http://schemas.microsoft.com/office/drawing/2014/main" val="10002"/>
                  </a:ext>
                </a:extLst>
              </a:tr>
              <a:tr h="497231">
                <a:tc>
                  <a:txBody>
                    <a:bodyPr/>
                    <a:lstStyle/>
                    <a:p>
                      <a:r>
                        <a:rPr lang="nb-NO" sz="2400" noProof="0" dirty="0"/>
                        <a:t>2016</a:t>
                      </a:r>
                    </a:p>
                  </a:txBody>
                  <a:tcPr marL="82935" marR="82935" marT="41468" marB="41468"/>
                </a:tc>
                <a:tc>
                  <a:txBody>
                    <a:bodyPr/>
                    <a:lstStyle/>
                    <a:p>
                      <a:r>
                        <a:rPr lang="nb-NO" sz="2400" noProof="0" dirty="0"/>
                        <a:t>2%</a:t>
                      </a:r>
                    </a:p>
                  </a:txBody>
                  <a:tcPr marL="82935" marR="82935" marT="41468" marB="41468"/>
                </a:tc>
                <a:tc>
                  <a:txBody>
                    <a:bodyPr/>
                    <a:lstStyle/>
                    <a:p>
                      <a:r>
                        <a:rPr lang="nb-NO" sz="2400" noProof="0" dirty="0"/>
                        <a:t>10</a:t>
                      </a:r>
                    </a:p>
                  </a:txBody>
                  <a:tcPr marL="82935" marR="82935" marT="41468" marB="41468"/>
                </a:tc>
                <a:tc>
                  <a:txBody>
                    <a:bodyPr/>
                    <a:lstStyle/>
                    <a:p>
                      <a:r>
                        <a:rPr lang="nb-NO" sz="2400" noProof="0" dirty="0"/>
                        <a:t>1030</a:t>
                      </a:r>
                    </a:p>
                  </a:txBody>
                  <a:tcPr marL="82935" marR="82935" marT="41468" marB="41468"/>
                </a:tc>
                <a:tc>
                  <a:txBody>
                    <a:bodyPr/>
                    <a:lstStyle/>
                    <a:p>
                      <a:r>
                        <a:rPr lang="nb-NO" sz="2400" noProof="0" dirty="0">
                          <a:solidFill>
                            <a:srgbClr val="FF0000"/>
                          </a:solidFill>
                        </a:rPr>
                        <a:t>20,6</a:t>
                      </a:r>
                      <a:r>
                        <a:rPr lang="nb-NO" sz="2400" noProof="0" dirty="0"/>
                        <a:t> (=1030*2%))</a:t>
                      </a:r>
                    </a:p>
                  </a:txBody>
                  <a:tcPr marL="82935" marR="82935" marT="41468" marB="41468"/>
                </a:tc>
                <a:tc>
                  <a:txBody>
                    <a:bodyPr/>
                    <a:lstStyle/>
                    <a:p>
                      <a:r>
                        <a:rPr lang="nb-NO" sz="2400" noProof="0" dirty="0"/>
                        <a:t>0 </a:t>
                      </a:r>
                    </a:p>
                    <a:p>
                      <a:r>
                        <a:rPr lang="nb-NO" sz="2400" noProof="0" dirty="0"/>
                        <a:t>(10 </a:t>
                      </a:r>
                      <a:r>
                        <a:rPr lang="nb-NO" sz="2400" noProof="0" dirty="0">
                          <a:solidFill>
                            <a:srgbClr val="FF0000"/>
                          </a:solidFill>
                        </a:rPr>
                        <a:t>– 30 –20,6 </a:t>
                      </a:r>
                      <a:r>
                        <a:rPr lang="nb-NO" sz="2400" noProof="0" dirty="0"/>
                        <a:t>&lt;0)</a:t>
                      </a:r>
                    </a:p>
                  </a:txBody>
                  <a:tcPr marL="82935" marR="82935" marT="41468" marB="41468"/>
                </a:tc>
                <a:tc>
                  <a:txBody>
                    <a:bodyPr/>
                    <a:lstStyle/>
                    <a:p>
                      <a:r>
                        <a:rPr lang="nb-NO" sz="2400" noProof="0" dirty="0">
                          <a:solidFill>
                            <a:srgbClr val="FF0000"/>
                          </a:solidFill>
                        </a:rPr>
                        <a:t>40,6</a:t>
                      </a:r>
                      <a:r>
                        <a:rPr lang="nb-NO" sz="2400" noProof="0" dirty="0"/>
                        <a:t> </a:t>
                      </a:r>
                    </a:p>
                    <a:p>
                      <a:r>
                        <a:rPr lang="nb-NO" sz="2400" noProof="0" dirty="0"/>
                        <a:t>(=</a:t>
                      </a:r>
                      <a:r>
                        <a:rPr lang="nb-NO" sz="2400" noProof="0" dirty="0">
                          <a:solidFill>
                            <a:srgbClr val="FF0000"/>
                          </a:solidFill>
                        </a:rPr>
                        <a:t>30 + 20,6 </a:t>
                      </a:r>
                      <a:r>
                        <a:rPr lang="nb-NO" sz="2400" noProof="0" dirty="0"/>
                        <a:t>- 10)</a:t>
                      </a:r>
                    </a:p>
                  </a:txBody>
                  <a:tcPr marL="82935" marR="82935" marT="41468" marB="41468"/>
                </a:tc>
                <a:extLst>
                  <a:ext uri="{0D108BD9-81ED-4DB2-BD59-A6C34878D82A}">
                    <a16:rowId xmlns:a16="http://schemas.microsoft.com/office/drawing/2014/main" val="10003"/>
                  </a:ext>
                </a:extLst>
              </a:tr>
              <a:tr h="532190">
                <a:tc>
                  <a:txBody>
                    <a:bodyPr/>
                    <a:lstStyle/>
                    <a:p>
                      <a:r>
                        <a:rPr lang="nb-NO" sz="2400" noProof="0" dirty="0"/>
                        <a:t>2017</a:t>
                      </a:r>
                    </a:p>
                  </a:txBody>
                  <a:tcPr marL="82935" marR="82935" marT="41468" marB="41468"/>
                </a:tc>
                <a:tc>
                  <a:txBody>
                    <a:bodyPr/>
                    <a:lstStyle/>
                    <a:p>
                      <a:r>
                        <a:rPr lang="nb-NO" sz="2400" noProof="0" dirty="0"/>
                        <a:t>4%</a:t>
                      </a:r>
                    </a:p>
                  </a:txBody>
                  <a:tcPr marL="82935" marR="82935" marT="41468" marB="41468"/>
                </a:tc>
                <a:tc>
                  <a:txBody>
                    <a:bodyPr/>
                    <a:lstStyle/>
                    <a:p>
                      <a:r>
                        <a:rPr lang="nb-NO" sz="2400" noProof="0" dirty="0"/>
                        <a:t>90</a:t>
                      </a:r>
                    </a:p>
                  </a:txBody>
                  <a:tcPr marL="82935" marR="82935" marT="41468" marB="41468"/>
                </a:tc>
                <a:tc>
                  <a:txBody>
                    <a:bodyPr/>
                    <a:lstStyle/>
                    <a:p>
                      <a:r>
                        <a:rPr lang="nb-NO" sz="2400" noProof="0" dirty="0"/>
                        <a:t>1040,6</a:t>
                      </a:r>
                    </a:p>
                  </a:txBody>
                  <a:tcPr marL="82935" marR="82935" marT="41468" marB="41468"/>
                </a:tc>
                <a:tc>
                  <a:txBody>
                    <a:bodyPr/>
                    <a:lstStyle/>
                    <a:p>
                      <a:r>
                        <a:rPr lang="nb-NO" sz="2400" noProof="0" dirty="0">
                          <a:solidFill>
                            <a:srgbClr val="FF0000"/>
                          </a:solidFill>
                        </a:rPr>
                        <a:t>41,6</a:t>
                      </a:r>
                      <a:r>
                        <a:rPr lang="nb-NO" sz="2400" noProof="0" dirty="0"/>
                        <a:t> (=1040,6*4%)</a:t>
                      </a:r>
                    </a:p>
                  </a:txBody>
                  <a:tcPr marL="82935" marR="82935" marT="41468" marB="41468"/>
                </a:tc>
                <a:tc>
                  <a:txBody>
                    <a:bodyPr/>
                    <a:lstStyle/>
                    <a:p>
                      <a:r>
                        <a:rPr lang="nb-NO" sz="2400" noProof="0" dirty="0"/>
                        <a:t>7,8</a:t>
                      </a:r>
                    </a:p>
                    <a:p>
                      <a:r>
                        <a:rPr lang="nb-NO" sz="2400" noProof="0" dirty="0"/>
                        <a:t> (= 90 - </a:t>
                      </a:r>
                      <a:r>
                        <a:rPr lang="nb-NO" sz="2400" noProof="0" dirty="0">
                          <a:solidFill>
                            <a:srgbClr val="FF0000"/>
                          </a:solidFill>
                        </a:rPr>
                        <a:t>40,6 – 41,6</a:t>
                      </a:r>
                      <a:r>
                        <a:rPr lang="nb-NO" sz="2400" noProof="0" dirty="0"/>
                        <a:t>)</a:t>
                      </a:r>
                    </a:p>
                  </a:txBody>
                  <a:tcPr marL="82935" marR="82935" marT="41468" marB="41468"/>
                </a:tc>
                <a:tc>
                  <a:txBody>
                    <a:bodyPr/>
                    <a:lstStyle/>
                    <a:p>
                      <a:r>
                        <a:rPr lang="nb-NO" sz="2400" noProof="0" dirty="0">
                          <a:solidFill>
                            <a:srgbClr val="FF0000"/>
                          </a:solidFill>
                        </a:rPr>
                        <a:t>0 </a:t>
                      </a:r>
                    </a:p>
                  </a:txBody>
                  <a:tcPr marL="82935" marR="82935" marT="41468" marB="41468"/>
                </a:tc>
                <a:extLst>
                  <a:ext uri="{0D108BD9-81ED-4DB2-BD59-A6C34878D82A}">
                    <a16:rowId xmlns:a16="http://schemas.microsoft.com/office/drawing/2014/main" val="10004"/>
                  </a:ext>
                </a:extLst>
              </a:tr>
              <a:tr h="841432">
                <a:tc>
                  <a:txBody>
                    <a:bodyPr/>
                    <a:lstStyle/>
                    <a:p>
                      <a:r>
                        <a:rPr lang="nb-NO" sz="2400" noProof="0" dirty="0"/>
                        <a:t>2018</a:t>
                      </a:r>
                    </a:p>
                  </a:txBody>
                  <a:tcPr marL="82935" marR="82935" marT="41468" marB="41468"/>
                </a:tc>
                <a:tc>
                  <a:txBody>
                    <a:bodyPr/>
                    <a:lstStyle/>
                    <a:p>
                      <a:r>
                        <a:rPr lang="nb-NO" sz="2400" noProof="0" dirty="0"/>
                        <a:t>3%</a:t>
                      </a:r>
                    </a:p>
                  </a:txBody>
                  <a:tcPr marL="82935" marR="82935" marT="41468" marB="41468"/>
                </a:tc>
                <a:tc>
                  <a:txBody>
                    <a:bodyPr/>
                    <a:lstStyle/>
                    <a:p>
                      <a:r>
                        <a:rPr lang="nb-NO" sz="2400" noProof="0" dirty="0"/>
                        <a:t>0</a:t>
                      </a:r>
                    </a:p>
                  </a:txBody>
                  <a:tcPr marL="82935" marR="82935" marT="41468" marB="41468"/>
                </a:tc>
                <a:tc>
                  <a:txBody>
                    <a:bodyPr/>
                    <a:lstStyle/>
                    <a:p>
                      <a:r>
                        <a:rPr lang="nb-NO" sz="2400" noProof="0" dirty="0"/>
                        <a:t>1000</a:t>
                      </a:r>
                    </a:p>
                  </a:txBody>
                  <a:tcPr marL="82935" marR="82935" marT="41468" marB="4146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b-NO" sz="2400" noProof="0" dirty="0">
                          <a:solidFill>
                            <a:srgbClr val="FF0000"/>
                          </a:solidFill>
                        </a:rPr>
                        <a:t>30</a:t>
                      </a:r>
                      <a:r>
                        <a:rPr lang="nb-NO" sz="2400" noProof="0" dirty="0"/>
                        <a:t> (=1000*3%)</a:t>
                      </a:r>
                    </a:p>
                    <a:p>
                      <a:endParaRPr lang="nb-NO" sz="2400" noProof="0" dirty="0"/>
                    </a:p>
                  </a:txBody>
                  <a:tcPr marL="82935" marR="82935" marT="41468" marB="41468"/>
                </a:tc>
                <a:tc>
                  <a:txBody>
                    <a:bodyPr/>
                    <a:lstStyle/>
                    <a:p>
                      <a:r>
                        <a:rPr lang="nb-NO" sz="2400" noProof="0" dirty="0"/>
                        <a:t>0</a:t>
                      </a:r>
                    </a:p>
                  </a:txBody>
                  <a:tcPr marL="82935" marR="82935" marT="41468" marB="41468"/>
                </a:tc>
                <a:tc>
                  <a:txBody>
                    <a:bodyPr/>
                    <a:lstStyle/>
                    <a:p>
                      <a:r>
                        <a:rPr lang="nb-NO" sz="2400" noProof="0" dirty="0">
                          <a:solidFill>
                            <a:srgbClr val="FF0000"/>
                          </a:solidFill>
                        </a:rPr>
                        <a:t>30</a:t>
                      </a:r>
                    </a:p>
                  </a:txBody>
                  <a:tcPr marL="82935" marR="82935" marT="41468" marB="41468"/>
                </a:tc>
                <a:extLst>
                  <a:ext uri="{0D108BD9-81ED-4DB2-BD59-A6C34878D82A}">
                    <a16:rowId xmlns:a16="http://schemas.microsoft.com/office/drawing/2014/main" val="10005"/>
                  </a:ext>
                </a:extLst>
              </a:tr>
              <a:tr h="497231">
                <a:tc>
                  <a:txBody>
                    <a:bodyPr/>
                    <a:lstStyle/>
                    <a:p>
                      <a:r>
                        <a:rPr lang="nb-NO" sz="2400" noProof="0" dirty="0"/>
                        <a:t>2019</a:t>
                      </a:r>
                    </a:p>
                  </a:txBody>
                  <a:tcPr marL="82935" marR="82935" marT="41468" marB="41468"/>
                </a:tc>
                <a:tc>
                  <a:txBody>
                    <a:bodyPr/>
                    <a:lstStyle/>
                    <a:p>
                      <a:r>
                        <a:rPr lang="nb-NO" sz="2400" noProof="0" dirty="0"/>
                        <a:t>4%</a:t>
                      </a:r>
                    </a:p>
                  </a:txBody>
                  <a:tcPr marL="82935" marR="82935" marT="41468" marB="41468"/>
                </a:tc>
                <a:tc>
                  <a:txBody>
                    <a:bodyPr/>
                    <a:lstStyle/>
                    <a:p>
                      <a:r>
                        <a:rPr lang="nb-NO" sz="2400" noProof="0" dirty="0"/>
                        <a:t>10</a:t>
                      </a:r>
                    </a:p>
                  </a:txBody>
                  <a:tcPr marL="82935" marR="82935" marT="41468" marB="41468"/>
                </a:tc>
                <a:tc>
                  <a:txBody>
                    <a:bodyPr/>
                    <a:lstStyle/>
                    <a:p>
                      <a:endParaRPr lang="nb-NO" sz="2400" noProof="0" dirty="0"/>
                    </a:p>
                  </a:txBody>
                  <a:tcPr marL="82935" marR="82935" marT="41468" marB="41468"/>
                </a:tc>
                <a:tc>
                  <a:txBody>
                    <a:bodyPr/>
                    <a:lstStyle/>
                    <a:p>
                      <a:endParaRPr lang="nb-NO" sz="2400" noProof="0" dirty="0"/>
                    </a:p>
                  </a:txBody>
                  <a:tcPr marL="82935" marR="82935" marT="41468" marB="41468"/>
                </a:tc>
                <a:tc>
                  <a:txBody>
                    <a:bodyPr/>
                    <a:lstStyle/>
                    <a:p>
                      <a:endParaRPr lang="nb-NO" sz="2400" noProof="0" dirty="0"/>
                    </a:p>
                  </a:txBody>
                  <a:tcPr marL="82935" marR="82935" marT="41468" marB="41468"/>
                </a:tc>
                <a:tc>
                  <a:txBody>
                    <a:bodyPr/>
                    <a:lstStyle/>
                    <a:p>
                      <a:endParaRPr lang="nb-NO" sz="2400" noProof="0" dirty="0"/>
                    </a:p>
                  </a:txBody>
                  <a:tcPr marL="82935" marR="82935" marT="41468" marB="41468"/>
                </a:tc>
                <a:extLst>
                  <a:ext uri="{0D108BD9-81ED-4DB2-BD59-A6C34878D82A}">
                    <a16:rowId xmlns:a16="http://schemas.microsoft.com/office/drawing/2014/main" val="10006"/>
                  </a:ext>
                </a:extLst>
              </a:tr>
            </a:tbl>
          </a:graphicData>
        </a:graphic>
      </p:graphicFrame>
      <p:sp>
        <p:nvSpPr>
          <p:cNvPr id="4" name="Slide Number Placeholder 3"/>
          <p:cNvSpPr>
            <a:spLocks noGrp="1"/>
          </p:cNvSpPr>
          <p:nvPr>
            <p:ph type="sldNum" sz="quarter" idx="12"/>
          </p:nvPr>
        </p:nvSpPr>
        <p:spPr/>
        <p:txBody>
          <a:bodyPr/>
          <a:lstStyle/>
          <a:p>
            <a:fld id="{3FA4DDC8-1D0B-4B83-8CF0-4F24D54506BB}" type="slidenum">
              <a:rPr lang="nb-NO" noProof="0" smtClean="0"/>
              <a:pPr/>
              <a:t>34</a:t>
            </a:fld>
            <a:endParaRPr lang="nb-NO" noProof="0" dirty="0"/>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3" name="Håndskrift 2">
                <a:extLst>
                  <a:ext uri="{FF2B5EF4-FFF2-40B4-BE49-F238E27FC236}">
                    <a16:creationId xmlns:a16="http://schemas.microsoft.com/office/drawing/2014/main" id="{5A1DEA00-706A-4EEC-836E-45910F76C461}"/>
                  </a:ext>
                </a:extLst>
              </p14:cNvPr>
              <p14:cNvContentPartPr/>
              <p14:nvPr>
                <p:extLst>
                  <p:ext uri="{42D2F446-02D8-4167-A562-619A0277C38B}">
                    <p15:isNarration xmlns:p15="http://schemas.microsoft.com/office/powerpoint/2012/main" val="1"/>
                  </p:ext>
                </p:extLst>
              </p14:nvPr>
            </p14:nvContentPartPr>
            <p14:xfrm>
              <a:off x="2569320" y="6839280"/>
              <a:ext cx="360" cy="360"/>
            </p14:xfrm>
          </p:contentPart>
        </mc:Choice>
        <mc:Fallback xmlns="">
          <p:pic>
            <p:nvPicPr>
              <p:cNvPr id="3" name="Håndskrift 2">
                <a:extLst>
                  <a:ext uri="{FF2B5EF4-FFF2-40B4-BE49-F238E27FC236}">
                    <a16:creationId xmlns:a16="http://schemas.microsoft.com/office/drawing/2014/main" id="{5A1DEA00-706A-4EEC-836E-45910F76C461}"/>
                  </a:ext>
                </a:extLst>
              </p:cNvPr>
              <p:cNvPicPr>
                <a:picLocks noGrp="1" noRot="1" noChangeAspect="1" noMove="1" noResize="1" noEditPoints="1" noAdjustHandles="1" noChangeArrowheads="1" noChangeShapeType="1"/>
              </p:cNvPicPr>
              <p:nvPr/>
            </p:nvPicPr>
            <p:blipFill>
              <a:blip r:embed="rId4"/>
              <a:stretch>
                <a:fillRect/>
              </a:stretch>
            </p:blipFill>
            <p:spPr>
              <a:xfrm>
                <a:off x="2553480" y="6775920"/>
                <a:ext cx="31680" cy="127080"/>
              </a:xfrm>
              <a:prstGeom prst="rect">
                <a:avLst/>
              </a:prstGeom>
            </p:spPr>
          </p:pic>
        </mc:Fallback>
      </mc:AlternateContent>
    </p:spTree>
    <p:extLst>
      <p:ext uri="{BB962C8B-B14F-4D97-AF65-F5344CB8AC3E}">
        <p14:creationId xmlns:p14="http://schemas.microsoft.com/office/powerpoint/2010/main" val="419900870"/>
      </p:ext>
    </p:extLst>
  </p:cSld>
  <p:clrMapOvr>
    <a:masterClrMapping/>
  </p:clrMapOvr>
  <mc:AlternateContent xmlns:mc="http://schemas.openxmlformats.org/markup-compatibility/2006" xmlns:p14="http://schemas.microsoft.com/office/powerpoint/2010/main">
    <mc:Choice Requires="p14">
      <p:transition spd="slow" p14:dur="2000" advTm="311835"/>
    </mc:Choice>
    <mc:Fallback xmlns="">
      <p:transition spd="slow" advTm="311835"/>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7DC0E-78F9-F21C-321B-1C992C9DEA1F}"/>
              </a:ext>
            </a:extLst>
          </p:cNvPr>
          <p:cNvSpPr>
            <a:spLocks noGrp="1"/>
          </p:cNvSpPr>
          <p:nvPr>
            <p:ph type="title"/>
          </p:nvPr>
        </p:nvSpPr>
        <p:spPr>
          <a:xfrm>
            <a:off x="557247" y="136525"/>
            <a:ext cx="11179495" cy="858032"/>
          </a:xfrm>
        </p:spPr>
        <p:txBody>
          <a:bodyPr>
            <a:noAutofit/>
          </a:bodyPr>
          <a:lstStyle/>
          <a:p>
            <a:r>
              <a:rPr lang="nb-NO" sz="3100" b="1" noProof="0" dirty="0"/>
              <a:t>Beregning av aksjegevinst i eksemplet</a:t>
            </a:r>
            <a:r>
              <a:rPr lang="nb-NO" sz="3100" noProof="0" dirty="0"/>
              <a:t>. Olsen kjøpte aksjen for 1000 og selger for 1100 og hadde ubenyttet skjermingsfradrag (30)</a:t>
            </a:r>
          </a:p>
        </p:txBody>
      </p:sp>
      <p:graphicFrame>
        <p:nvGraphicFramePr>
          <p:cNvPr id="6" name="Table 6">
            <a:extLst>
              <a:ext uri="{FF2B5EF4-FFF2-40B4-BE49-F238E27FC236}">
                <a16:creationId xmlns:a16="http://schemas.microsoft.com/office/drawing/2014/main" id="{5D52244B-79FD-7BE4-9977-1EE034CAA593}"/>
              </a:ext>
            </a:extLst>
          </p:cNvPr>
          <p:cNvGraphicFramePr>
            <a:graphicFrameLocks noGrp="1"/>
          </p:cNvGraphicFramePr>
          <p:nvPr>
            <p:ph idx="1"/>
          </p:nvPr>
        </p:nvGraphicFramePr>
        <p:xfrm>
          <a:off x="635577" y="1175757"/>
          <a:ext cx="10920845" cy="4506486"/>
        </p:xfrm>
        <a:graphic>
          <a:graphicData uri="http://schemas.openxmlformats.org/drawingml/2006/table">
            <a:tbl>
              <a:tblPr firstRow="1" bandRow="1">
                <a:tableStyleId>{5C22544A-7EE6-4342-B048-85BDC9FD1C3A}</a:tableStyleId>
              </a:tblPr>
              <a:tblGrid>
                <a:gridCol w="7782325">
                  <a:extLst>
                    <a:ext uri="{9D8B030D-6E8A-4147-A177-3AD203B41FA5}">
                      <a16:colId xmlns:a16="http://schemas.microsoft.com/office/drawing/2014/main" val="2705718759"/>
                    </a:ext>
                  </a:extLst>
                </a:gridCol>
                <a:gridCol w="3138520">
                  <a:extLst>
                    <a:ext uri="{9D8B030D-6E8A-4147-A177-3AD203B41FA5}">
                      <a16:colId xmlns:a16="http://schemas.microsoft.com/office/drawing/2014/main" val="3083841938"/>
                    </a:ext>
                  </a:extLst>
                </a:gridCol>
              </a:tblGrid>
              <a:tr h="556547">
                <a:tc>
                  <a:txBody>
                    <a:bodyPr/>
                    <a:lstStyle/>
                    <a:p>
                      <a:r>
                        <a:rPr lang="nb-NO" sz="2800" noProof="0" dirty="0"/>
                        <a:t>Post</a:t>
                      </a:r>
                    </a:p>
                  </a:txBody>
                  <a:tcPr/>
                </a:tc>
                <a:tc>
                  <a:txBody>
                    <a:bodyPr/>
                    <a:lstStyle/>
                    <a:p>
                      <a:r>
                        <a:rPr lang="nb-NO" sz="2800" noProof="0" dirty="0"/>
                        <a:t>2022</a:t>
                      </a:r>
                    </a:p>
                  </a:txBody>
                  <a:tcPr/>
                </a:tc>
                <a:extLst>
                  <a:ext uri="{0D108BD9-81ED-4DB2-BD59-A6C34878D82A}">
                    <a16:rowId xmlns:a16="http://schemas.microsoft.com/office/drawing/2014/main" val="3152754673"/>
                  </a:ext>
                </a:extLst>
              </a:tr>
              <a:tr h="564277">
                <a:tc>
                  <a:txBody>
                    <a:bodyPr/>
                    <a:lstStyle/>
                    <a:p>
                      <a:r>
                        <a:rPr lang="nb-NO" sz="2800" noProof="0" dirty="0"/>
                        <a:t>Aksjens skjermingsgrunnlag (kostpris)</a:t>
                      </a:r>
                    </a:p>
                  </a:txBody>
                  <a:tcPr/>
                </a:tc>
                <a:tc>
                  <a:txBody>
                    <a:bodyPr/>
                    <a:lstStyle/>
                    <a:p>
                      <a:r>
                        <a:rPr lang="nb-NO" sz="2800" noProof="0" dirty="0"/>
                        <a:t>1000</a:t>
                      </a:r>
                    </a:p>
                  </a:txBody>
                  <a:tcPr/>
                </a:tc>
                <a:extLst>
                  <a:ext uri="{0D108BD9-81ED-4DB2-BD59-A6C34878D82A}">
                    <a16:rowId xmlns:a16="http://schemas.microsoft.com/office/drawing/2014/main" val="3921872386"/>
                  </a:ext>
                </a:extLst>
              </a:tr>
              <a:tr h="564277">
                <a:tc>
                  <a:txBody>
                    <a:bodyPr/>
                    <a:lstStyle/>
                    <a:p>
                      <a:r>
                        <a:rPr lang="nb-NO" sz="2800" noProof="0" dirty="0"/>
                        <a:t>Ubenyttet skjerming</a:t>
                      </a:r>
                    </a:p>
                  </a:txBody>
                  <a:tcPr/>
                </a:tc>
                <a:tc>
                  <a:txBody>
                    <a:bodyPr/>
                    <a:lstStyle/>
                    <a:p>
                      <a:r>
                        <a:rPr lang="nb-NO" sz="2800" noProof="0" dirty="0"/>
                        <a:t>30 (fra 2018) </a:t>
                      </a:r>
                    </a:p>
                  </a:txBody>
                  <a:tcPr/>
                </a:tc>
                <a:extLst>
                  <a:ext uri="{0D108BD9-81ED-4DB2-BD59-A6C34878D82A}">
                    <a16:rowId xmlns:a16="http://schemas.microsoft.com/office/drawing/2014/main" val="707136246"/>
                  </a:ext>
                </a:extLst>
              </a:tr>
              <a:tr h="564277">
                <a:tc>
                  <a:txBody>
                    <a:bodyPr/>
                    <a:lstStyle/>
                    <a:p>
                      <a:r>
                        <a:rPr lang="nb-NO" sz="2800" noProof="0" dirty="0"/>
                        <a:t>Salgspris salg av aksje </a:t>
                      </a:r>
                    </a:p>
                  </a:txBody>
                  <a:tcPr/>
                </a:tc>
                <a:tc>
                  <a:txBody>
                    <a:bodyPr/>
                    <a:lstStyle/>
                    <a:p>
                      <a:r>
                        <a:rPr lang="nb-NO" sz="2800" noProof="0" dirty="0"/>
                        <a:t>1100</a:t>
                      </a:r>
                    </a:p>
                  </a:txBody>
                  <a:tcPr/>
                </a:tc>
                <a:extLst>
                  <a:ext uri="{0D108BD9-81ED-4DB2-BD59-A6C34878D82A}">
                    <a16:rowId xmlns:a16="http://schemas.microsoft.com/office/drawing/2014/main" val="319398216"/>
                  </a:ext>
                </a:extLst>
              </a:tr>
              <a:tr h="564277">
                <a:tc>
                  <a:txBody>
                    <a:bodyPr/>
                    <a:lstStyle/>
                    <a:p>
                      <a:r>
                        <a:rPr lang="nb-NO" sz="2800" noProof="0" dirty="0">
                          <a:solidFill>
                            <a:srgbClr val="FF0000"/>
                          </a:solidFill>
                        </a:rPr>
                        <a:t>Aksjens gevinst (1100 – 1000 – 30)</a:t>
                      </a:r>
                    </a:p>
                  </a:txBody>
                  <a:tcPr/>
                </a:tc>
                <a:tc>
                  <a:txBody>
                    <a:bodyPr/>
                    <a:lstStyle/>
                    <a:p>
                      <a:r>
                        <a:rPr lang="nb-NO" sz="2800" noProof="0" dirty="0">
                          <a:solidFill>
                            <a:srgbClr val="FF0000"/>
                          </a:solidFill>
                        </a:rPr>
                        <a:t>70</a:t>
                      </a:r>
                    </a:p>
                  </a:txBody>
                  <a:tcPr/>
                </a:tc>
                <a:extLst>
                  <a:ext uri="{0D108BD9-81ED-4DB2-BD59-A6C34878D82A}">
                    <a16:rowId xmlns:a16="http://schemas.microsoft.com/office/drawing/2014/main" val="1972752502"/>
                  </a:ext>
                </a:extLst>
              </a:tr>
              <a:tr h="564277">
                <a:tc>
                  <a:txBody>
                    <a:bodyPr/>
                    <a:lstStyle/>
                    <a:p>
                      <a:r>
                        <a:rPr lang="nb-NO" sz="2800" noProof="0" dirty="0"/>
                        <a:t>Aksjens oppjusterte gevinst (70*1,72)</a:t>
                      </a:r>
                    </a:p>
                  </a:txBody>
                  <a:tcPr/>
                </a:tc>
                <a:tc>
                  <a:txBody>
                    <a:bodyPr/>
                    <a:lstStyle/>
                    <a:p>
                      <a:r>
                        <a:rPr lang="nb-NO" sz="2800" noProof="0" dirty="0"/>
                        <a:t>120,4</a:t>
                      </a:r>
                    </a:p>
                  </a:txBody>
                  <a:tcPr/>
                </a:tc>
                <a:extLst>
                  <a:ext uri="{0D108BD9-81ED-4DB2-BD59-A6C34878D82A}">
                    <a16:rowId xmlns:a16="http://schemas.microsoft.com/office/drawing/2014/main" val="1616274657"/>
                  </a:ext>
                </a:extLst>
              </a:tr>
              <a:tr h="564277">
                <a:tc>
                  <a:txBody>
                    <a:bodyPr/>
                    <a:lstStyle/>
                    <a:p>
                      <a:r>
                        <a:rPr lang="nb-NO" sz="2800" noProof="0" dirty="0"/>
                        <a:t>Skatt på aksjegevinsten (120,4*22%)</a:t>
                      </a:r>
                    </a:p>
                  </a:txBody>
                  <a:tcPr/>
                </a:tc>
                <a:tc>
                  <a:txBody>
                    <a:bodyPr/>
                    <a:lstStyle/>
                    <a:p>
                      <a:r>
                        <a:rPr lang="nb-NO" sz="2800" noProof="0" dirty="0">
                          <a:solidFill>
                            <a:srgbClr val="FF0000"/>
                          </a:solidFill>
                        </a:rPr>
                        <a:t>26,49</a:t>
                      </a:r>
                    </a:p>
                  </a:txBody>
                  <a:tcPr/>
                </a:tc>
                <a:extLst>
                  <a:ext uri="{0D108BD9-81ED-4DB2-BD59-A6C34878D82A}">
                    <a16:rowId xmlns:a16="http://schemas.microsoft.com/office/drawing/2014/main" val="1612633337"/>
                  </a:ext>
                </a:extLst>
              </a:tr>
              <a:tr h="564277">
                <a:tc>
                  <a:txBody>
                    <a:bodyPr/>
                    <a:lstStyle/>
                    <a:p>
                      <a:r>
                        <a:rPr lang="nb-NO" sz="2800" noProof="0" dirty="0"/>
                        <a:t>Gevinst etter skatt (70-</a:t>
                      </a:r>
                      <a:r>
                        <a:rPr lang="nb-NO" sz="2800" noProof="0" dirty="0">
                          <a:solidFill>
                            <a:srgbClr val="FF0000"/>
                          </a:solidFill>
                        </a:rPr>
                        <a:t>26,49</a:t>
                      </a:r>
                      <a:r>
                        <a:rPr lang="nb-NO" sz="2800" noProof="0" dirty="0"/>
                        <a:t>)</a:t>
                      </a:r>
                    </a:p>
                  </a:txBody>
                  <a:tcPr/>
                </a:tc>
                <a:tc>
                  <a:txBody>
                    <a:bodyPr/>
                    <a:lstStyle/>
                    <a:p>
                      <a:r>
                        <a:rPr lang="nb-NO" sz="2800" noProof="0" dirty="0"/>
                        <a:t>43,51</a:t>
                      </a:r>
                    </a:p>
                  </a:txBody>
                  <a:tcPr/>
                </a:tc>
                <a:extLst>
                  <a:ext uri="{0D108BD9-81ED-4DB2-BD59-A6C34878D82A}">
                    <a16:rowId xmlns:a16="http://schemas.microsoft.com/office/drawing/2014/main" val="1568445551"/>
                  </a:ext>
                </a:extLst>
              </a:tr>
            </a:tbl>
          </a:graphicData>
        </a:graphic>
      </p:graphicFrame>
      <p:sp>
        <p:nvSpPr>
          <p:cNvPr id="4" name="Slide Number Placeholder 3">
            <a:extLst>
              <a:ext uri="{FF2B5EF4-FFF2-40B4-BE49-F238E27FC236}">
                <a16:creationId xmlns:a16="http://schemas.microsoft.com/office/drawing/2014/main" id="{44BFA76C-907B-844E-002D-46075AD06698}"/>
              </a:ext>
            </a:extLst>
          </p:cNvPr>
          <p:cNvSpPr>
            <a:spLocks noGrp="1"/>
          </p:cNvSpPr>
          <p:nvPr>
            <p:ph type="sldNum" sz="quarter" idx="12"/>
          </p:nvPr>
        </p:nvSpPr>
        <p:spPr/>
        <p:txBody>
          <a:bodyPr/>
          <a:lstStyle/>
          <a:p>
            <a:fld id="{092CA8B5-DBB4-47BA-9127-F945AE107A35}" type="slidenum">
              <a:rPr lang="nb-NO" noProof="0" smtClean="0"/>
              <a:t>35</a:t>
            </a:fld>
            <a:endParaRPr lang="nb-NO" noProof="0" dirty="0"/>
          </a:p>
        </p:txBody>
      </p:sp>
      <p:sp>
        <p:nvSpPr>
          <p:cNvPr id="3" name="TextBox 2">
            <a:extLst>
              <a:ext uri="{FF2B5EF4-FFF2-40B4-BE49-F238E27FC236}">
                <a16:creationId xmlns:a16="http://schemas.microsoft.com/office/drawing/2014/main" id="{1214647F-084F-4C73-9969-82A00A06C986}"/>
              </a:ext>
            </a:extLst>
          </p:cNvPr>
          <p:cNvSpPr txBox="1"/>
          <p:nvPr/>
        </p:nvSpPr>
        <p:spPr>
          <a:xfrm>
            <a:off x="484816" y="5682243"/>
            <a:ext cx="11557554" cy="954107"/>
          </a:xfrm>
          <a:prstGeom prst="rect">
            <a:avLst/>
          </a:prstGeom>
          <a:noFill/>
        </p:spPr>
        <p:txBody>
          <a:bodyPr wrap="square" rtlCol="0">
            <a:spAutoFit/>
          </a:bodyPr>
          <a:lstStyle/>
          <a:p>
            <a:r>
              <a:rPr lang="nb-NO" sz="2800" b="1" noProof="0" dirty="0">
                <a:solidFill>
                  <a:srgbClr val="FF0000"/>
                </a:solidFill>
              </a:rPr>
              <a:t>Vi kunne også funnet skatt på utbytte ved å multiplisert gevinsten på kr 70 </a:t>
            </a:r>
          </a:p>
          <a:p>
            <a:r>
              <a:rPr lang="nb-NO" sz="2800" b="1" noProof="0" dirty="0">
                <a:solidFill>
                  <a:srgbClr val="FF0000"/>
                </a:solidFill>
              </a:rPr>
              <a:t>med satsen 37,84% som også gir kr 26,49 i skatt </a:t>
            </a:r>
          </a:p>
        </p:txBody>
      </p:sp>
    </p:spTree>
    <p:extLst>
      <p:ext uri="{BB962C8B-B14F-4D97-AF65-F5344CB8AC3E}">
        <p14:creationId xmlns:p14="http://schemas.microsoft.com/office/powerpoint/2010/main" val="2025293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92CA8B5-DBB4-47BA-9127-F945AE107A35}" type="slidenum">
              <a:rPr lang="nb-NO" noProof="0" smtClean="0"/>
              <a:t>36</a:t>
            </a:fld>
            <a:endParaRPr lang="nb-NO" noProof="0" dirty="0"/>
          </a:p>
        </p:txBody>
      </p:sp>
      <p:pic>
        <p:nvPicPr>
          <p:cNvPr id="3" name="Picture 2"/>
          <p:cNvPicPr>
            <a:picLocks noChangeAspect="1"/>
          </p:cNvPicPr>
          <p:nvPr/>
        </p:nvPicPr>
        <p:blipFill>
          <a:blip r:embed="rId2"/>
          <a:stretch>
            <a:fillRect/>
          </a:stretch>
        </p:blipFill>
        <p:spPr>
          <a:xfrm>
            <a:off x="202846" y="1035369"/>
            <a:ext cx="11878527" cy="5838740"/>
          </a:xfrm>
          <a:prstGeom prst="rect">
            <a:avLst/>
          </a:prstGeom>
        </p:spPr>
      </p:pic>
      <p:sp>
        <p:nvSpPr>
          <p:cNvPr id="4" name="TekstSylinder 3">
            <a:extLst>
              <a:ext uri="{FF2B5EF4-FFF2-40B4-BE49-F238E27FC236}">
                <a16:creationId xmlns:a16="http://schemas.microsoft.com/office/drawing/2014/main" id="{FF030F6D-0A88-4D16-92D6-BEF9C448F841}"/>
              </a:ext>
            </a:extLst>
          </p:cNvPr>
          <p:cNvSpPr txBox="1"/>
          <p:nvPr/>
        </p:nvSpPr>
        <p:spPr>
          <a:xfrm>
            <a:off x="576032" y="273918"/>
            <a:ext cx="7649540" cy="523220"/>
          </a:xfrm>
          <a:prstGeom prst="rect">
            <a:avLst/>
          </a:prstGeom>
          <a:noFill/>
        </p:spPr>
        <p:txBody>
          <a:bodyPr wrap="square" rtlCol="0">
            <a:spAutoFit/>
          </a:bodyPr>
          <a:lstStyle/>
          <a:p>
            <a:r>
              <a:rPr lang="nb-NO" sz="2800" noProof="0" dirty="0"/>
              <a:t>AKSJESPAREKONTO OG SKJERMINGSFRADRAG</a:t>
            </a:r>
          </a:p>
        </p:txBody>
      </p:sp>
    </p:spTree>
    <p:extLst>
      <p:ext uri="{BB962C8B-B14F-4D97-AF65-F5344CB8AC3E}">
        <p14:creationId xmlns:p14="http://schemas.microsoft.com/office/powerpoint/2010/main" val="701160945"/>
      </p:ext>
    </p:extLst>
  </p:cSld>
  <p:clrMapOvr>
    <a:masterClrMapping/>
  </p:clrMapOvr>
  <mc:AlternateContent xmlns:mc="http://schemas.openxmlformats.org/markup-compatibility/2006" xmlns:p14="http://schemas.microsoft.com/office/powerpoint/2010/main">
    <mc:Choice Requires="p14">
      <p:transition spd="slow" p14:dur="2000" advTm="155732"/>
    </mc:Choice>
    <mc:Fallback xmlns="">
      <p:transition spd="slow" advTm="155732"/>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203D7-DDBB-66B6-A77C-CA4A79668C2C}"/>
              </a:ext>
            </a:extLst>
          </p:cNvPr>
          <p:cNvSpPr>
            <a:spLocks noGrp="1"/>
          </p:cNvSpPr>
          <p:nvPr>
            <p:ph type="title"/>
          </p:nvPr>
        </p:nvSpPr>
        <p:spPr/>
        <p:txBody>
          <a:bodyPr/>
          <a:lstStyle/>
          <a:p>
            <a:r>
              <a:rPr lang="nb-NO" noProof="0" dirty="0"/>
              <a:t>Formuesskatt og utbytte</a:t>
            </a:r>
          </a:p>
        </p:txBody>
      </p:sp>
      <p:sp>
        <p:nvSpPr>
          <p:cNvPr id="3" name="Content Placeholder 2">
            <a:extLst>
              <a:ext uri="{FF2B5EF4-FFF2-40B4-BE49-F238E27FC236}">
                <a16:creationId xmlns:a16="http://schemas.microsoft.com/office/drawing/2014/main" id="{E2DA56D3-8D69-F3F0-3546-75FF75F46E20}"/>
              </a:ext>
            </a:extLst>
          </p:cNvPr>
          <p:cNvSpPr>
            <a:spLocks noGrp="1"/>
          </p:cNvSpPr>
          <p:nvPr>
            <p:ph idx="1"/>
          </p:nvPr>
        </p:nvSpPr>
        <p:spPr/>
        <p:txBody>
          <a:bodyPr>
            <a:normAutofit/>
          </a:bodyPr>
          <a:lstStyle/>
          <a:p>
            <a:r>
              <a:rPr lang="nb-NO" noProof="0" dirty="0"/>
              <a:t>I det offentlige ordskiftet hevdes det at man ikke har råd til å sitte på norske aksjer fordi formuesskatten er så høy og at man må bruke utbytte til å betale formuesskatten</a:t>
            </a:r>
          </a:p>
          <a:p>
            <a:endParaRPr lang="nb-NO" noProof="0" dirty="0"/>
          </a:p>
          <a:p>
            <a:r>
              <a:rPr lang="nb-NO" noProof="0" dirty="0"/>
              <a:t>Andre hevder at formuesskatten er så høy at de må bruke lønnsinntekt eller sparemidler til å betale formuesskatten</a:t>
            </a:r>
          </a:p>
          <a:p>
            <a:endParaRPr lang="nb-NO" noProof="0" dirty="0"/>
          </a:p>
          <a:p>
            <a:r>
              <a:rPr lang="nb-NO" noProof="0" dirty="0"/>
              <a:t>La oss se på et eksempel og skattebelastningen</a:t>
            </a:r>
          </a:p>
        </p:txBody>
      </p:sp>
      <p:sp>
        <p:nvSpPr>
          <p:cNvPr id="4" name="Slide Number Placeholder 3">
            <a:extLst>
              <a:ext uri="{FF2B5EF4-FFF2-40B4-BE49-F238E27FC236}">
                <a16:creationId xmlns:a16="http://schemas.microsoft.com/office/drawing/2014/main" id="{0603F5BB-6FBB-23D8-52DF-D8BD8202E52B}"/>
              </a:ext>
            </a:extLst>
          </p:cNvPr>
          <p:cNvSpPr>
            <a:spLocks noGrp="1"/>
          </p:cNvSpPr>
          <p:nvPr>
            <p:ph type="sldNum" sz="quarter" idx="12"/>
          </p:nvPr>
        </p:nvSpPr>
        <p:spPr/>
        <p:txBody>
          <a:bodyPr/>
          <a:lstStyle/>
          <a:p>
            <a:fld id="{092CA8B5-DBB4-47BA-9127-F945AE107A35}" type="slidenum">
              <a:rPr lang="nb-NO" noProof="0" smtClean="0"/>
              <a:t>37</a:t>
            </a:fld>
            <a:endParaRPr lang="nb-NO" noProof="0" dirty="0"/>
          </a:p>
        </p:txBody>
      </p:sp>
    </p:spTree>
    <p:extLst>
      <p:ext uri="{BB962C8B-B14F-4D97-AF65-F5344CB8AC3E}">
        <p14:creationId xmlns:p14="http://schemas.microsoft.com/office/powerpoint/2010/main" val="2142212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4C4C5-9C7A-170C-5682-893CF8460FB2}"/>
              </a:ext>
            </a:extLst>
          </p:cNvPr>
          <p:cNvSpPr>
            <a:spLocks noGrp="1"/>
          </p:cNvSpPr>
          <p:nvPr>
            <p:ph type="title"/>
          </p:nvPr>
        </p:nvSpPr>
        <p:spPr>
          <a:xfrm>
            <a:off x="838200" y="180975"/>
            <a:ext cx="10515600" cy="803095"/>
          </a:xfrm>
        </p:spPr>
        <p:txBody>
          <a:bodyPr>
            <a:normAutofit fontScale="90000"/>
          </a:bodyPr>
          <a:lstStyle/>
          <a:p>
            <a:r>
              <a:rPr lang="nb-NO" sz="3200" dirty="0"/>
              <a:t>Et eksempel: Norsk investor kjøper børsnoterte aksjer for 10 millioner. </a:t>
            </a:r>
            <a:endParaRPr lang="nb-NO" sz="3200" noProof="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77431C-0140-FE48-A62C-753C5C8B4F8F}"/>
                  </a:ext>
                </a:extLst>
              </p:cNvPr>
              <p:cNvSpPr>
                <a:spLocks noGrp="1"/>
              </p:cNvSpPr>
              <p:nvPr>
                <p:ph idx="1"/>
              </p:nvPr>
            </p:nvSpPr>
            <p:spPr>
              <a:xfrm>
                <a:off x="304800" y="1140823"/>
                <a:ext cx="11495314" cy="5036140"/>
              </a:xfrm>
            </p:spPr>
            <p:txBody>
              <a:bodyPr>
                <a:noAutofit/>
              </a:bodyPr>
              <a:lstStyle/>
              <a:p>
                <a:r>
                  <a:rPr lang="nb-NO" sz="2400" noProof="0" dirty="0"/>
                  <a:t>Skjermingsrente 3,6%, eierskatt 37,84% og formuesskatt 1%.</a:t>
                </a:r>
              </a:p>
              <a:p>
                <a:r>
                  <a:rPr lang="nb-NO" sz="2400" noProof="0" dirty="0"/>
                  <a:t>Selskapet betaler dividende på 6% av investeringsbeløpet </a:t>
                </a:r>
                <a:r>
                  <a:rPr lang="nb-NO" sz="2400" noProof="0" dirty="0" err="1"/>
                  <a:t>dvs</a:t>
                </a:r>
                <a:r>
                  <a:rPr lang="nb-NO" sz="2400" noProof="0" dirty="0"/>
                  <a:t> kr 600 000</a:t>
                </a:r>
              </a:p>
              <a:p>
                <a:pPr lvl="1"/>
                <a:r>
                  <a:rPr lang="nb-NO" dirty="0"/>
                  <a:t>De 10 største selskapene på Oslo børs betalte omtrent 6% i utbytte</a:t>
                </a:r>
                <a:endParaRPr lang="nb-NO" noProof="0" dirty="0"/>
              </a:p>
              <a:p>
                <a:endParaRPr lang="nb-NO" noProof="0" dirty="0"/>
              </a:p>
              <a:p>
                <a:r>
                  <a:rPr lang="nb-NO" sz="2400" noProof="0" dirty="0"/>
                  <a:t>Formuesskattegrunnlag : (10 mill.*(100%-20%)- 1,7 </a:t>
                </a:r>
                <a:r>
                  <a:rPr lang="nb-NO" sz="2400" noProof="0" dirty="0" err="1"/>
                  <a:t>mill</a:t>
                </a:r>
                <a:r>
                  <a:rPr lang="nb-NO" sz="2400" dirty="0"/>
                  <a:t>. </a:t>
                </a:r>
                <a:r>
                  <a:rPr lang="nb-NO" sz="2400" noProof="0" dirty="0"/>
                  <a:t>(bunnfradrag)) = 6,3 mill. </a:t>
                </a:r>
              </a:p>
              <a:p>
                <a:r>
                  <a:rPr lang="nb-NO" sz="2400" dirty="0"/>
                  <a:t>Formuesskatt 6,3 </a:t>
                </a:r>
                <a:r>
                  <a:rPr lang="nb-NO" sz="2400" dirty="0" err="1"/>
                  <a:t>mill</a:t>
                </a:r>
                <a:r>
                  <a:rPr lang="nb-NO" sz="2400" dirty="0"/>
                  <a:t> * 1% = </a:t>
                </a:r>
                <a:r>
                  <a:rPr lang="nb-NO" sz="2400" dirty="0">
                    <a:solidFill>
                      <a:srgbClr val="FF0000"/>
                    </a:solidFill>
                  </a:rPr>
                  <a:t>63 000 </a:t>
                </a:r>
                <a:r>
                  <a:rPr lang="nb-NO" sz="2400" dirty="0"/>
                  <a:t>kr</a:t>
                </a:r>
                <a:endParaRPr lang="nb-NO" sz="2400" noProof="0" dirty="0"/>
              </a:p>
              <a:p>
                <a:r>
                  <a:rPr lang="nb-NO" sz="2400" noProof="0" dirty="0"/>
                  <a:t>Skjermingsgrunnlag: 10 mill.*3,6% = 360,000 </a:t>
                </a:r>
              </a:p>
              <a:p>
                <a:r>
                  <a:rPr lang="nb-NO" sz="2400" noProof="0" dirty="0"/>
                  <a:t>Skatt på utbytte ut over skjerming: (600’-360’)*37,84%</a:t>
                </a:r>
                <a14:m>
                  <m:oMath xmlns:m="http://schemas.openxmlformats.org/officeDocument/2006/math">
                    <m:r>
                      <a:rPr lang="nb-NO" sz="2400" b="0" i="1" noProof="0" smtClean="0">
                        <a:latin typeface="Cambria Math" panose="02040503050406030204" pitchFamily="18" charset="0"/>
                      </a:rPr>
                      <m:t>=</m:t>
                    </m:r>
                  </m:oMath>
                </a14:m>
                <a:r>
                  <a:rPr lang="nb-NO" sz="2400" dirty="0"/>
                  <a:t> </a:t>
                </a:r>
                <a:r>
                  <a:rPr lang="nb-NO" sz="2400" dirty="0">
                    <a:solidFill>
                      <a:srgbClr val="FF0000"/>
                    </a:solidFill>
                  </a:rPr>
                  <a:t>90 816</a:t>
                </a:r>
                <a:endParaRPr lang="nb-NO" sz="2400" noProof="0" dirty="0">
                  <a:solidFill>
                    <a:srgbClr val="FF0000"/>
                  </a:solidFill>
                </a:endParaRPr>
              </a:p>
              <a:p>
                <a:endParaRPr lang="nb-NO" sz="2400" b="1" noProof="0" dirty="0"/>
              </a:p>
              <a:p>
                <a:r>
                  <a:rPr lang="nb-NO" sz="2400" noProof="0" dirty="0"/>
                  <a:t>Investor sitter igjen med: 600 000  – </a:t>
                </a:r>
                <a:r>
                  <a:rPr lang="nb-NO" sz="2400" noProof="0" dirty="0">
                    <a:solidFill>
                      <a:srgbClr val="FF0000"/>
                    </a:solidFill>
                  </a:rPr>
                  <a:t>63 000 </a:t>
                </a:r>
                <a:r>
                  <a:rPr lang="nb-NO" sz="2400" noProof="0" dirty="0"/>
                  <a:t>– </a:t>
                </a:r>
                <a:r>
                  <a:rPr lang="nb-NO" sz="2400" noProof="0" dirty="0">
                    <a:solidFill>
                      <a:srgbClr val="FF0000"/>
                    </a:solidFill>
                  </a:rPr>
                  <a:t>90 816 </a:t>
                </a:r>
                <a:r>
                  <a:rPr lang="nb-NO" sz="2400" noProof="0" dirty="0"/>
                  <a:t>= </a:t>
                </a:r>
                <a:r>
                  <a:rPr lang="en-US" sz="2400" dirty="0"/>
                  <a:t>446 184 </a:t>
                </a:r>
                <a:endParaRPr lang="nb-NO" sz="2400" noProof="0" dirty="0"/>
              </a:p>
              <a:p>
                <a:r>
                  <a:rPr lang="nb-NO" sz="2400" noProof="0" dirty="0"/>
                  <a:t>Effektiv skattesats er </a:t>
                </a:r>
                <a:r>
                  <a:rPr lang="nb-NO" sz="2400" dirty="0"/>
                  <a:t>25,5%</a:t>
                </a:r>
                <a:r>
                  <a:rPr lang="nb-NO" sz="2400" noProof="0" dirty="0"/>
                  <a:t> (=(</a:t>
                </a:r>
                <a:r>
                  <a:rPr lang="nb-NO" sz="2400" dirty="0"/>
                  <a:t>63 000 + 90186</a:t>
                </a:r>
                <a:r>
                  <a:rPr lang="nb-NO" sz="2400" noProof="0" dirty="0"/>
                  <a:t>)/600 000))</a:t>
                </a:r>
              </a:p>
              <a:p>
                <a:endParaRPr lang="nb-NO" sz="2400" b="1" noProof="0" dirty="0"/>
              </a:p>
              <a:p>
                <a:pPr marL="0" indent="0">
                  <a:buNone/>
                </a:pPr>
                <a:r>
                  <a:rPr lang="nb-NO" sz="2400" noProof="0" dirty="0"/>
                  <a:t> </a:t>
                </a:r>
              </a:p>
              <a:p>
                <a:endParaRPr lang="nb-NO" sz="2400" noProof="0" dirty="0"/>
              </a:p>
              <a:p>
                <a:endParaRPr lang="nb-NO" sz="2400" noProof="0" dirty="0"/>
              </a:p>
            </p:txBody>
          </p:sp>
        </mc:Choice>
        <mc:Fallback>
          <p:sp>
            <p:nvSpPr>
              <p:cNvPr id="3" name="Content Placeholder 2">
                <a:extLst>
                  <a:ext uri="{FF2B5EF4-FFF2-40B4-BE49-F238E27FC236}">
                    <a16:creationId xmlns:a16="http://schemas.microsoft.com/office/drawing/2014/main" id="{1D77431C-0140-FE48-A62C-753C5C8B4F8F}"/>
                  </a:ext>
                </a:extLst>
              </p:cNvPr>
              <p:cNvSpPr>
                <a:spLocks noGrp="1" noRot="1" noChangeAspect="1" noMove="1" noResize="1" noEditPoints="1" noAdjustHandles="1" noChangeArrowheads="1" noChangeShapeType="1" noTextEdit="1"/>
              </p:cNvSpPr>
              <p:nvPr>
                <p:ph idx="1"/>
              </p:nvPr>
            </p:nvSpPr>
            <p:spPr>
              <a:xfrm>
                <a:off x="304800" y="1140823"/>
                <a:ext cx="11495314" cy="5036140"/>
              </a:xfrm>
              <a:blipFill>
                <a:blip r:embed="rId2"/>
                <a:stretch>
                  <a:fillRect l="-773" t="-1508" b="-1508"/>
                </a:stretch>
              </a:blipFill>
            </p:spPr>
            <p:txBody>
              <a:bodyPr/>
              <a:lstStyle/>
              <a:p>
                <a:r>
                  <a:rPr lang="en-US">
                    <a:noFill/>
                  </a:rPr>
                  <a:t> </a:t>
                </a:r>
              </a:p>
            </p:txBody>
          </p:sp>
        </mc:Fallback>
      </mc:AlternateContent>
    </p:spTree>
    <p:extLst>
      <p:ext uri="{BB962C8B-B14F-4D97-AF65-F5344CB8AC3E}">
        <p14:creationId xmlns:p14="http://schemas.microsoft.com/office/powerpoint/2010/main" val="35264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anim calcmode="lin" valueType="num">
                                      <p:cBhvr additive="base">
                                        <p:cTn id="5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90D3F-CF3C-96C3-01B0-B9F9465EE4D5}"/>
              </a:ext>
            </a:extLst>
          </p:cNvPr>
          <p:cNvSpPr>
            <a:spLocks noGrp="1"/>
          </p:cNvSpPr>
          <p:nvPr>
            <p:ph type="title"/>
          </p:nvPr>
        </p:nvSpPr>
        <p:spPr>
          <a:xfrm>
            <a:off x="838200" y="365126"/>
            <a:ext cx="10515600" cy="602284"/>
          </a:xfrm>
        </p:spPr>
        <p:txBody>
          <a:bodyPr>
            <a:normAutofit/>
          </a:bodyPr>
          <a:lstStyle/>
          <a:p>
            <a:r>
              <a:rPr lang="nb-NO" sz="3600" noProof="0" dirty="0"/>
              <a:t>Til sammenlikning</a:t>
            </a:r>
          </a:p>
        </p:txBody>
      </p:sp>
      <p:sp>
        <p:nvSpPr>
          <p:cNvPr id="3" name="Content Placeholder 2">
            <a:extLst>
              <a:ext uri="{FF2B5EF4-FFF2-40B4-BE49-F238E27FC236}">
                <a16:creationId xmlns:a16="http://schemas.microsoft.com/office/drawing/2014/main" id="{262CC61F-20D6-9BAD-CE5D-DA1A8300AD9D}"/>
              </a:ext>
            </a:extLst>
          </p:cNvPr>
          <p:cNvSpPr>
            <a:spLocks noGrp="1"/>
          </p:cNvSpPr>
          <p:nvPr>
            <p:ph idx="1"/>
          </p:nvPr>
        </p:nvSpPr>
        <p:spPr>
          <a:xfrm>
            <a:off x="838200" y="1179443"/>
            <a:ext cx="10515600" cy="4997520"/>
          </a:xfrm>
        </p:spPr>
        <p:txBody>
          <a:bodyPr>
            <a:normAutofit fontScale="92500" lnSpcReduction="10000"/>
          </a:bodyPr>
          <a:lstStyle/>
          <a:p>
            <a:r>
              <a:rPr lang="nb-NO" noProof="0" dirty="0"/>
              <a:t>Personinntekt: Skattyter uten gjeld og noen fradrag har for ulike inntektsnivåer effektive skattesatser (betalt skatt/brutto inntekt) slik:</a:t>
            </a:r>
            <a:endParaRPr lang="nb-NO" sz="3200" noProof="0" dirty="0"/>
          </a:p>
          <a:p>
            <a:pPr lvl="1"/>
            <a:r>
              <a:rPr lang="nb-NO" sz="2800" noProof="0" dirty="0"/>
              <a:t>400 000 kr → ca. 19,3 %</a:t>
            </a:r>
          </a:p>
          <a:p>
            <a:pPr lvl="1"/>
            <a:r>
              <a:rPr lang="nb-NO" sz="2800" noProof="0" dirty="0"/>
              <a:t>500 000 kr → ca. 22,1 %</a:t>
            </a:r>
          </a:p>
          <a:p>
            <a:pPr lvl="1"/>
            <a:r>
              <a:rPr lang="nb-NO" sz="2800" noProof="0" dirty="0"/>
              <a:t>600 000 kr → ca. 24,0 %</a:t>
            </a:r>
          </a:p>
          <a:p>
            <a:pPr lvl="1"/>
            <a:r>
              <a:rPr lang="nb-NO" sz="2800" noProof="0" dirty="0"/>
              <a:t>700 000 kr → ca. 25,4 %</a:t>
            </a:r>
          </a:p>
          <a:p>
            <a:endParaRPr lang="nb-NO" noProof="0" dirty="0"/>
          </a:p>
          <a:p>
            <a:r>
              <a:rPr lang="nb-NO" noProof="0" dirty="0"/>
              <a:t>Skattebelastningen til investoren som mottar 600 000 i utbytte etter en aksjeinvestering på 10 millioner er på linje med en person med lønn på 700.000</a:t>
            </a:r>
          </a:p>
          <a:p>
            <a:endParaRPr lang="nb-NO" dirty="0"/>
          </a:p>
          <a:p>
            <a:r>
              <a:rPr lang="nb-NO" noProof="0" dirty="0"/>
              <a:t>Hva vi mener om det er politikk og ikke fag.</a:t>
            </a:r>
          </a:p>
        </p:txBody>
      </p:sp>
    </p:spTree>
    <p:extLst>
      <p:ext uri="{BB962C8B-B14F-4D97-AF65-F5344CB8AC3E}">
        <p14:creationId xmlns:p14="http://schemas.microsoft.com/office/powerpoint/2010/main" val="168958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1" nodeType="clickEffect">
                                  <p:stCondLst>
                                    <p:cond delay="0"/>
                                  </p:stCondLst>
                                  <p:childTnLst>
                                    <p:set>
                                      <p:cBhvr>
                                        <p:cTn id="40" dur="1" fill="hold">
                                          <p:stCondLst>
                                            <p:cond delay="0"/>
                                          </p:stCondLst>
                                        </p:cTn>
                                        <p:tgtEl>
                                          <p:spTgt spid="3">
                                            <p:txEl>
                                              <p:pRg st="0" end="0"/>
                                            </p:txEl>
                                          </p:spTgt>
                                        </p:tgtEl>
                                        <p:attrNameLst>
                                          <p:attrName>style.visibility</p:attrName>
                                        </p:attrNameLst>
                                      </p:cBhvr>
                                      <p:to>
                                        <p:strVal val="visible"/>
                                      </p:to>
                                    </p:set>
                                    <p:anim calcmode="lin" valueType="num">
                                      <p:cBhvr additive="base">
                                        <p:cTn id="4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1" nodeType="withEffect">
                                  <p:stCondLst>
                                    <p:cond delay="0"/>
                                  </p:stCondLst>
                                  <p:childTnLst>
                                    <p:set>
                                      <p:cBhvr>
                                        <p:cTn id="44" dur="1" fill="hold">
                                          <p:stCondLst>
                                            <p:cond delay="0"/>
                                          </p:stCondLst>
                                        </p:cTn>
                                        <p:tgtEl>
                                          <p:spTgt spid="3">
                                            <p:txEl>
                                              <p:pRg st="1" end="1"/>
                                            </p:txEl>
                                          </p:spTgt>
                                        </p:tgtEl>
                                        <p:attrNameLst>
                                          <p:attrName>style.visibility</p:attrName>
                                        </p:attrNameLst>
                                      </p:cBhvr>
                                      <p:to>
                                        <p:strVal val="visible"/>
                                      </p:to>
                                    </p:set>
                                    <p:anim calcmode="lin" valueType="num">
                                      <p:cBhvr additive="base">
                                        <p:cTn id="4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 end="1"/>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1" nodeType="withEffect">
                                  <p:stCondLst>
                                    <p:cond delay="0"/>
                                  </p:stCondLst>
                                  <p:childTnLst>
                                    <p:set>
                                      <p:cBhvr>
                                        <p:cTn id="48" dur="1" fill="hold">
                                          <p:stCondLst>
                                            <p:cond delay="0"/>
                                          </p:stCondLst>
                                        </p:cTn>
                                        <p:tgtEl>
                                          <p:spTgt spid="3">
                                            <p:txEl>
                                              <p:pRg st="2" end="2"/>
                                            </p:txEl>
                                          </p:spTgt>
                                        </p:tgtEl>
                                        <p:attrNameLst>
                                          <p:attrName>style.visibility</p:attrName>
                                        </p:attrNameLst>
                                      </p:cBhvr>
                                      <p:to>
                                        <p:strVal val="visible"/>
                                      </p:to>
                                    </p:set>
                                    <p:anim calcmode="lin" valueType="num">
                                      <p:cBhvr additive="base">
                                        <p:cTn id="4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1" nodeType="withEffect">
                                  <p:stCondLst>
                                    <p:cond delay="0"/>
                                  </p:stCondLst>
                                  <p:childTnLst>
                                    <p:set>
                                      <p:cBhvr>
                                        <p:cTn id="52" dur="1" fill="hold">
                                          <p:stCondLst>
                                            <p:cond delay="0"/>
                                          </p:stCondLst>
                                        </p:cTn>
                                        <p:tgtEl>
                                          <p:spTgt spid="3">
                                            <p:txEl>
                                              <p:pRg st="3" end="3"/>
                                            </p:txEl>
                                          </p:spTgt>
                                        </p:tgtEl>
                                        <p:attrNameLst>
                                          <p:attrName>style.visibility</p:attrName>
                                        </p:attrNameLst>
                                      </p:cBhvr>
                                      <p:to>
                                        <p:strVal val="visible"/>
                                      </p:to>
                                    </p:set>
                                    <p:anim calcmode="lin" valueType="num">
                                      <p:cBhvr additive="base">
                                        <p:cTn id="5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1" nodeType="with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 calcmode="lin" valueType="num">
                                      <p:cBhvr additive="base">
                                        <p:cTn id="5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1" nodeType="click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 calcmode="lin" valueType="num">
                                      <p:cBhvr additive="base">
                                        <p:cTn id="6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1"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anim calcmode="lin" valueType="num">
                                      <p:cBhvr additive="base">
                                        <p:cTn id="6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D0C3D-D30F-BCD9-45E7-83F906AD0000}"/>
              </a:ext>
            </a:extLst>
          </p:cNvPr>
          <p:cNvSpPr>
            <a:spLocks noGrp="1"/>
          </p:cNvSpPr>
          <p:nvPr>
            <p:ph type="title"/>
          </p:nvPr>
        </p:nvSpPr>
        <p:spPr/>
        <p:txBody>
          <a:bodyPr/>
          <a:lstStyle/>
          <a:p>
            <a:r>
              <a:rPr lang="nb-NO" noProof="0" dirty="0"/>
              <a:t>Skjermingsfradraget </a:t>
            </a:r>
          </a:p>
        </p:txBody>
      </p:sp>
      <p:sp>
        <p:nvSpPr>
          <p:cNvPr id="3" name="Content Placeholder 2">
            <a:extLst>
              <a:ext uri="{FF2B5EF4-FFF2-40B4-BE49-F238E27FC236}">
                <a16:creationId xmlns:a16="http://schemas.microsoft.com/office/drawing/2014/main" id="{1A13BA3C-2207-58AD-CC7A-A0D4E3779504}"/>
              </a:ext>
            </a:extLst>
          </p:cNvPr>
          <p:cNvSpPr>
            <a:spLocks noGrp="1"/>
          </p:cNvSpPr>
          <p:nvPr>
            <p:ph idx="1"/>
          </p:nvPr>
        </p:nvSpPr>
        <p:spPr>
          <a:xfrm>
            <a:off x="838199" y="1563757"/>
            <a:ext cx="10969487" cy="4929117"/>
          </a:xfrm>
        </p:spPr>
        <p:txBody>
          <a:bodyPr>
            <a:normAutofit fontScale="92500" lnSpcReduction="10000"/>
          </a:bodyPr>
          <a:lstStyle/>
          <a:p>
            <a:r>
              <a:rPr lang="nb-NO" noProof="0" dirty="0"/>
              <a:t>Poenget skjermingsfradraget er at eierskatten kun skal falle på den den risikable delen av avkastningen til en investering. </a:t>
            </a:r>
          </a:p>
          <a:p>
            <a:endParaRPr lang="nb-NO" noProof="0" dirty="0"/>
          </a:p>
          <a:p>
            <a:r>
              <a:rPr lang="nb-NO" noProof="0" dirty="0"/>
              <a:t>Skjermingsfradraget bidrar til at egenkapitalinvesteringer ikke beskattes hardere enn en risikofri kapitalplassering.</a:t>
            </a:r>
          </a:p>
          <a:p>
            <a:endParaRPr lang="nb-NO" noProof="0" dirty="0"/>
          </a:p>
          <a:p>
            <a:r>
              <a:rPr lang="nb-NO" noProof="0" dirty="0"/>
              <a:t>Husk. Bruk av egenkapital har en risikofri alternativkostnad (</a:t>
            </a:r>
            <a:r>
              <a:rPr lang="nb-NO" noProof="0" dirty="0" err="1"/>
              <a:t>feks</a:t>
            </a:r>
            <a:r>
              <a:rPr lang="nb-NO" noProof="0" dirty="0"/>
              <a:t> plassering av kapitalen på særvilkår i bank eller eller I  statsobligasjoner. Imidlertid får vi ikke trekke fra denne alternativkostnaden mot selskapets inntekter slik vi kan med gjeld. </a:t>
            </a:r>
          </a:p>
          <a:p>
            <a:endParaRPr lang="nb-NO" noProof="0" dirty="0"/>
          </a:p>
          <a:p>
            <a:r>
              <a:rPr lang="nb-NO" noProof="0" dirty="0"/>
              <a:t>Skjermingsfradraget er ment å rette opp denne skjevheten</a:t>
            </a:r>
          </a:p>
          <a:p>
            <a:pPr marL="0" indent="0">
              <a:buNone/>
            </a:pPr>
            <a:endParaRPr lang="nb-NO" noProof="0" dirty="0"/>
          </a:p>
        </p:txBody>
      </p:sp>
    </p:spTree>
    <p:extLst>
      <p:ext uri="{BB962C8B-B14F-4D97-AF65-F5344CB8AC3E}">
        <p14:creationId xmlns:p14="http://schemas.microsoft.com/office/powerpoint/2010/main" val="8205778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037E2-40A6-637F-D6EC-FE78B410B98B}"/>
              </a:ext>
            </a:extLst>
          </p:cNvPr>
          <p:cNvSpPr>
            <a:spLocks noGrp="1"/>
          </p:cNvSpPr>
          <p:nvPr>
            <p:ph type="title"/>
          </p:nvPr>
        </p:nvSpPr>
        <p:spPr>
          <a:xfrm>
            <a:off x="540773" y="365126"/>
            <a:ext cx="11316929" cy="750912"/>
          </a:xfrm>
        </p:spPr>
        <p:txBody>
          <a:bodyPr>
            <a:normAutofit fontScale="90000"/>
          </a:bodyPr>
          <a:lstStyle/>
          <a:p>
            <a:r>
              <a:rPr lang="nb-NO" sz="2800" noProof="0" dirty="0">
                <a:latin typeface="Amasis MT Pro Black" panose="02040A04050005020304" pitchFamily="18" charset="0"/>
              </a:rPr>
              <a:t>Pengene hoper seg opp i selskapene. Aksjonærene tar ikke utbytte.</a:t>
            </a:r>
          </a:p>
        </p:txBody>
      </p:sp>
      <p:sp>
        <p:nvSpPr>
          <p:cNvPr id="4" name="Content Placeholder 3">
            <a:extLst>
              <a:ext uri="{FF2B5EF4-FFF2-40B4-BE49-F238E27FC236}">
                <a16:creationId xmlns:a16="http://schemas.microsoft.com/office/drawing/2014/main" id="{F5291D20-FB34-22F0-C437-FE6B9DCADC26}"/>
              </a:ext>
            </a:extLst>
          </p:cNvPr>
          <p:cNvSpPr>
            <a:spLocks noGrp="1"/>
          </p:cNvSpPr>
          <p:nvPr>
            <p:ph sz="half" idx="2"/>
          </p:nvPr>
        </p:nvSpPr>
        <p:spPr>
          <a:xfrm>
            <a:off x="6172200" y="1416537"/>
            <a:ext cx="5410200" cy="4760426"/>
          </a:xfrm>
        </p:spPr>
        <p:txBody>
          <a:bodyPr>
            <a:normAutofit lnSpcReduction="10000"/>
          </a:bodyPr>
          <a:lstStyle/>
          <a:p>
            <a:r>
              <a:rPr lang="nb-NO" sz="2400" noProof="0" dirty="0"/>
              <a:t>Overskudd i selskapene som ikke utbetales </a:t>
            </a:r>
            <a:r>
              <a:rPr lang="nb-NO" sz="2400" dirty="0"/>
              <a:t>som utbytte, kalles </a:t>
            </a:r>
            <a:r>
              <a:rPr lang="nb-NO" sz="2400" noProof="0" dirty="0"/>
              <a:t>latent eierinntekt.</a:t>
            </a:r>
          </a:p>
          <a:p>
            <a:endParaRPr lang="nb-NO" sz="2400" noProof="0" dirty="0"/>
          </a:p>
          <a:p>
            <a:r>
              <a:rPr lang="nb-NO" sz="2400" noProof="0" dirty="0"/>
              <a:t>Latent eierinntekt utgjorde 40 prosent av verdien til Oljefondet i 2016.</a:t>
            </a:r>
          </a:p>
          <a:p>
            <a:endParaRPr lang="nb-NO" sz="2400" dirty="0"/>
          </a:p>
          <a:p>
            <a:r>
              <a:rPr lang="nb-NO" sz="2400" noProof="0" dirty="0"/>
              <a:t>De latente eierinntektene i selskapene gjorde det attraktivt å flytte til Sveits </a:t>
            </a:r>
            <a:r>
              <a:rPr lang="nb-NO" sz="2400" noProof="0" dirty="0" err="1"/>
              <a:t>pga</a:t>
            </a:r>
            <a:r>
              <a:rPr lang="nb-NO" sz="2400" noProof="0" dirty="0"/>
              <a:t> 5 årsregelen. Da kunne man realisere disse gevinstene tilnærmet skattefritt. Viktigere enn å spare formuesskatt.</a:t>
            </a:r>
          </a:p>
          <a:p>
            <a:pPr marL="0" indent="0">
              <a:buNone/>
            </a:pPr>
            <a:endParaRPr lang="nb-NO" sz="3200" noProof="0" dirty="0"/>
          </a:p>
          <a:p>
            <a:endParaRPr lang="nb-NO" sz="2400" noProof="0" dirty="0"/>
          </a:p>
          <a:p>
            <a:endParaRPr lang="nb-NO" sz="2400" noProof="0" dirty="0"/>
          </a:p>
        </p:txBody>
      </p:sp>
      <p:sp>
        <p:nvSpPr>
          <p:cNvPr id="5" name="Slide Number Placeholder 4">
            <a:extLst>
              <a:ext uri="{FF2B5EF4-FFF2-40B4-BE49-F238E27FC236}">
                <a16:creationId xmlns:a16="http://schemas.microsoft.com/office/drawing/2014/main" id="{844DA302-5D8D-36B1-FB9A-56300287DFE8}"/>
              </a:ext>
            </a:extLst>
          </p:cNvPr>
          <p:cNvSpPr>
            <a:spLocks noGrp="1"/>
          </p:cNvSpPr>
          <p:nvPr>
            <p:ph type="sldNum" sz="quarter" idx="12"/>
          </p:nvPr>
        </p:nvSpPr>
        <p:spPr/>
        <p:txBody>
          <a:bodyPr/>
          <a:lstStyle/>
          <a:p>
            <a:fld id="{092CA8B5-DBB4-47BA-9127-F945AE107A35}" type="slidenum">
              <a:rPr lang="nb-NO" noProof="0" smtClean="0"/>
              <a:t>41</a:t>
            </a:fld>
            <a:endParaRPr lang="nb-NO" noProof="0" dirty="0"/>
          </a:p>
        </p:txBody>
      </p:sp>
      <p:pic>
        <p:nvPicPr>
          <p:cNvPr id="6" name="Content Placeholder 5">
            <a:extLst>
              <a:ext uri="{FF2B5EF4-FFF2-40B4-BE49-F238E27FC236}">
                <a16:creationId xmlns:a16="http://schemas.microsoft.com/office/drawing/2014/main" id="{F8247098-B374-6BBB-A74E-BE210384DE61}"/>
              </a:ext>
            </a:extLst>
          </p:cNvPr>
          <p:cNvPicPr>
            <a:picLocks noGrp="1" noChangeAspect="1"/>
          </p:cNvPicPr>
          <p:nvPr>
            <p:ph sz="half" idx="1"/>
          </p:nvPr>
        </p:nvPicPr>
        <p:blipFill>
          <a:blip r:embed="rId2"/>
          <a:stretch>
            <a:fillRect/>
          </a:stretch>
        </p:blipFill>
        <p:spPr>
          <a:xfrm>
            <a:off x="108531" y="1237150"/>
            <a:ext cx="6164287" cy="4370387"/>
          </a:xfrm>
          <a:prstGeom prst="rect">
            <a:avLst/>
          </a:prstGeom>
        </p:spPr>
      </p:pic>
    </p:spTree>
    <p:extLst>
      <p:ext uri="{BB962C8B-B14F-4D97-AF65-F5344CB8AC3E}">
        <p14:creationId xmlns:p14="http://schemas.microsoft.com/office/powerpoint/2010/main" val="304062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9A25E-5E8B-0DCE-4E55-16A0CDB86CF7}"/>
              </a:ext>
            </a:extLst>
          </p:cNvPr>
          <p:cNvSpPr>
            <a:spLocks noGrp="1"/>
          </p:cNvSpPr>
          <p:nvPr>
            <p:ph type="title"/>
          </p:nvPr>
        </p:nvSpPr>
        <p:spPr>
          <a:xfrm>
            <a:off x="838199" y="365125"/>
            <a:ext cx="10850217" cy="1325563"/>
          </a:xfrm>
        </p:spPr>
        <p:txBody>
          <a:bodyPr>
            <a:normAutofit/>
          </a:bodyPr>
          <a:lstStyle/>
          <a:p>
            <a:r>
              <a:rPr lang="nb-NO" sz="3600" b="1" dirty="0"/>
              <a:t>5 års regelen (opphørt fra og med 29. november 2022). </a:t>
            </a:r>
          </a:p>
        </p:txBody>
      </p:sp>
      <p:sp>
        <p:nvSpPr>
          <p:cNvPr id="3" name="Content Placeholder 2">
            <a:extLst>
              <a:ext uri="{FF2B5EF4-FFF2-40B4-BE49-F238E27FC236}">
                <a16:creationId xmlns:a16="http://schemas.microsoft.com/office/drawing/2014/main" id="{78CE3B17-5DC5-3692-DCB1-72776C24CB1C}"/>
              </a:ext>
            </a:extLst>
          </p:cNvPr>
          <p:cNvSpPr>
            <a:spLocks noGrp="1"/>
          </p:cNvSpPr>
          <p:nvPr>
            <p:ph idx="1"/>
          </p:nvPr>
        </p:nvSpPr>
        <p:spPr/>
        <p:txBody>
          <a:bodyPr>
            <a:normAutofit/>
          </a:bodyPr>
          <a:lstStyle/>
          <a:p>
            <a:r>
              <a:rPr lang="nb-NO" sz="3200" dirty="0"/>
              <a:t>Nordmenn, som bosatte seg ute i mer enn 5 år, kunne selge latente eierskattegevinster uten å betale norsk skatt</a:t>
            </a:r>
          </a:p>
          <a:p>
            <a:endParaRPr lang="nb-NO" sz="3200" dirty="0"/>
          </a:p>
          <a:p>
            <a:r>
              <a:rPr lang="nb-NO" sz="3200" dirty="0"/>
              <a:t>Gav sterke insitamenter til å flytte ut hvis du var veldig rik</a:t>
            </a:r>
          </a:p>
          <a:p>
            <a:endParaRPr lang="nb-NO" sz="3200" dirty="0"/>
          </a:p>
          <a:p>
            <a:r>
              <a:rPr lang="nb-NO" sz="3200" dirty="0"/>
              <a:t>Verdien av å kunne selge aksjer og ta ut utbytte tilnærmet skattefritt i lavskatteland mer verdifull enn å spare formuesskatt </a:t>
            </a:r>
          </a:p>
        </p:txBody>
      </p:sp>
      <p:sp>
        <p:nvSpPr>
          <p:cNvPr id="4" name="Slide Number Placeholder 3">
            <a:extLst>
              <a:ext uri="{FF2B5EF4-FFF2-40B4-BE49-F238E27FC236}">
                <a16:creationId xmlns:a16="http://schemas.microsoft.com/office/drawing/2014/main" id="{4117B734-EBC0-65B9-140C-55B99B66E1B3}"/>
              </a:ext>
            </a:extLst>
          </p:cNvPr>
          <p:cNvSpPr>
            <a:spLocks noGrp="1"/>
          </p:cNvSpPr>
          <p:nvPr>
            <p:ph type="sldNum" sz="quarter" idx="12"/>
          </p:nvPr>
        </p:nvSpPr>
        <p:spPr/>
        <p:txBody>
          <a:bodyPr/>
          <a:lstStyle/>
          <a:p>
            <a:fld id="{092CA8B5-DBB4-47BA-9127-F945AE107A35}" type="slidenum">
              <a:rPr lang="nb-NO" smtClean="0"/>
              <a:t>42</a:t>
            </a:fld>
            <a:endParaRPr lang="nb-NO"/>
          </a:p>
        </p:txBody>
      </p:sp>
    </p:spTree>
    <p:extLst>
      <p:ext uri="{BB962C8B-B14F-4D97-AF65-F5344CB8AC3E}">
        <p14:creationId xmlns:p14="http://schemas.microsoft.com/office/powerpoint/2010/main" val="4066130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FB173-6FF5-1CD1-4D75-71E39B7BB018}"/>
              </a:ext>
            </a:extLst>
          </p:cNvPr>
          <p:cNvSpPr>
            <a:spLocks noGrp="1"/>
          </p:cNvSpPr>
          <p:nvPr>
            <p:ph type="title"/>
          </p:nvPr>
        </p:nvSpPr>
        <p:spPr>
          <a:xfrm>
            <a:off x="838200" y="136525"/>
            <a:ext cx="10515600" cy="1070385"/>
          </a:xfrm>
        </p:spPr>
        <p:txBody>
          <a:bodyPr>
            <a:normAutofit/>
          </a:bodyPr>
          <a:lstStyle/>
          <a:p>
            <a:r>
              <a:rPr lang="nb-NO" sz="3200" b="1" noProof="0" dirty="0"/>
              <a:t>EXIT skatten – skattlegging av aksjegevinster ved utflytting</a:t>
            </a:r>
          </a:p>
        </p:txBody>
      </p:sp>
      <p:sp>
        <p:nvSpPr>
          <p:cNvPr id="3" name="Content Placeholder 2">
            <a:extLst>
              <a:ext uri="{FF2B5EF4-FFF2-40B4-BE49-F238E27FC236}">
                <a16:creationId xmlns:a16="http://schemas.microsoft.com/office/drawing/2014/main" id="{679DEB48-04D6-B533-5CB9-69828D3331E9}"/>
              </a:ext>
            </a:extLst>
          </p:cNvPr>
          <p:cNvSpPr>
            <a:spLocks noGrp="1"/>
          </p:cNvSpPr>
          <p:nvPr>
            <p:ph idx="1"/>
          </p:nvPr>
        </p:nvSpPr>
        <p:spPr>
          <a:xfrm>
            <a:off x="838199" y="1206910"/>
            <a:ext cx="10860741" cy="5651091"/>
          </a:xfrm>
        </p:spPr>
        <p:txBody>
          <a:bodyPr>
            <a:normAutofit/>
          </a:bodyPr>
          <a:lstStyle/>
          <a:p>
            <a:r>
              <a:rPr lang="nb-NO" sz="3200" dirty="0"/>
              <a:t>Exit-skatten må sees i sammenhengen med oppbyggingen av latente eierinntekter (tilbakeholdt overskudd).</a:t>
            </a:r>
          </a:p>
          <a:p>
            <a:endParaRPr lang="nb-NO" dirty="0"/>
          </a:p>
          <a:p>
            <a:r>
              <a:rPr lang="nb-NO" sz="3200" noProof="0" dirty="0"/>
              <a:t>Personer som flytter fra Norge får fastsatt en exit-skatt på latent skattegjeld (overskuddene i selskapene/aksjene) som skal betales i sin helhet ved utflytting, i avdrag over 12 år rentefritt eller i sin helhet etter 12 år. </a:t>
            </a:r>
          </a:p>
          <a:p>
            <a:endParaRPr lang="nb-NO" sz="3200" noProof="0" dirty="0"/>
          </a:p>
          <a:p>
            <a:r>
              <a:rPr lang="nb-NO" sz="3200" noProof="0" dirty="0"/>
              <a:t>Skattesatsen er satt lik den effektive skattesatsen på utbytter som i dag er på 37,84 prosent.</a:t>
            </a:r>
          </a:p>
          <a:p>
            <a:pPr marL="0" indent="0">
              <a:buNone/>
            </a:pPr>
            <a:endParaRPr lang="nb-NO" sz="3200" noProof="0" dirty="0"/>
          </a:p>
        </p:txBody>
      </p:sp>
      <p:sp>
        <p:nvSpPr>
          <p:cNvPr id="4" name="Slide Number Placeholder 3">
            <a:extLst>
              <a:ext uri="{FF2B5EF4-FFF2-40B4-BE49-F238E27FC236}">
                <a16:creationId xmlns:a16="http://schemas.microsoft.com/office/drawing/2014/main" id="{CBD487B9-357C-1ACA-021F-0FE54ABC92D1}"/>
              </a:ext>
            </a:extLst>
          </p:cNvPr>
          <p:cNvSpPr>
            <a:spLocks noGrp="1"/>
          </p:cNvSpPr>
          <p:nvPr>
            <p:ph type="sldNum" sz="quarter" idx="12"/>
          </p:nvPr>
        </p:nvSpPr>
        <p:spPr/>
        <p:txBody>
          <a:bodyPr/>
          <a:lstStyle/>
          <a:p>
            <a:fld id="{092CA8B5-DBB4-47BA-9127-F945AE107A35}" type="slidenum">
              <a:rPr lang="nb-NO" noProof="0" smtClean="0"/>
              <a:t>43</a:t>
            </a:fld>
            <a:endParaRPr lang="nb-NO" noProof="0" dirty="0"/>
          </a:p>
        </p:txBody>
      </p:sp>
    </p:spTree>
    <p:extLst>
      <p:ext uri="{BB962C8B-B14F-4D97-AF65-F5344CB8AC3E}">
        <p14:creationId xmlns:p14="http://schemas.microsoft.com/office/powerpoint/2010/main" val="16390269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C61FE-9C95-E649-B04F-7C7D94658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DED31-2CD0-E82F-7BD8-C78C81B05180}"/>
              </a:ext>
            </a:extLst>
          </p:cNvPr>
          <p:cNvSpPr>
            <a:spLocks noGrp="1"/>
          </p:cNvSpPr>
          <p:nvPr>
            <p:ph type="title"/>
          </p:nvPr>
        </p:nvSpPr>
        <p:spPr>
          <a:xfrm>
            <a:off x="367553" y="179294"/>
            <a:ext cx="10921181" cy="831663"/>
          </a:xfrm>
        </p:spPr>
        <p:txBody>
          <a:bodyPr>
            <a:normAutofit fontScale="90000"/>
          </a:bodyPr>
          <a:lstStyle/>
          <a:p>
            <a:r>
              <a:rPr lang="nb-NO" sz="3600" b="1" dirty="0">
                <a:latin typeface="+mn-lt"/>
              </a:rPr>
              <a:t>K</a:t>
            </a:r>
            <a:r>
              <a:rPr lang="nb-NO" sz="3600" b="1" noProof="0" dirty="0" err="1">
                <a:latin typeface="+mn-lt"/>
              </a:rPr>
              <a:t>apitalen</a:t>
            </a:r>
            <a:r>
              <a:rPr lang="nb-NO" sz="3600" b="1" noProof="0" dirty="0">
                <a:latin typeface="+mn-lt"/>
              </a:rPr>
              <a:t> seg opp i selskapene</a:t>
            </a:r>
            <a:r>
              <a:rPr lang="nb-NO" sz="3600" b="1" dirty="0">
                <a:latin typeface="+mn-lt"/>
              </a:rPr>
              <a:t>: Det tas mindre utbytte etter skattereformen i 2006</a:t>
            </a:r>
            <a:endParaRPr lang="nb-NO" sz="3600" b="1" noProof="0" dirty="0">
              <a:latin typeface="+mn-lt"/>
            </a:endParaRPr>
          </a:p>
        </p:txBody>
      </p:sp>
      <p:sp>
        <p:nvSpPr>
          <p:cNvPr id="3" name="Content Placeholder 2">
            <a:extLst>
              <a:ext uri="{FF2B5EF4-FFF2-40B4-BE49-F238E27FC236}">
                <a16:creationId xmlns:a16="http://schemas.microsoft.com/office/drawing/2014/main" id="{6CFC5D64-4998-DD90-56E9-EF9009E1143D}"/>
              </a:ext>
            </a:extLst>
          </p:cNvPr>
          <p:cNvSpPr>
            <a:spLocks noGrp="1"/>
          </p:cNvSpPr>
          <p:nvPr>
            <p:ph idx="1"/>
          </p:nvPr>
        </p:nvSpPr>
        <p:spPr>
          <a:xfrm>
            <a:off x="367553" y="1210236"/>
            <a:ext cx="11434481" cy="5468470"/>
          </a:xfrm>
        </p:spPr>
        <p:txBody>
          <a:bodyPr>
            <a:normAutofit/>
          </a:bodyPr>
          <a:lstStyle/>
          <a:p>
            <a:r>
              <a:rPr lang="nb-NO" sz="3200" noProof="0" dirty="0"/>
              <a:t>Finansdepartementet: </a:t>
            </a:r>
            <a:r>
              <a:rPr lang="nb-NO" sz="3200" dirty="0"/>
              <a:t>S</a:t>
            </a:r>
            <a:r>
              <a:rPr lang="nb-NO" sz="3200" noProof="0" dirty="0" err="1"/>
              <a:t>kattesystemet</a:t>
            </a:r>
            <a:r>
              <a:rPr lang="nb-NO" sz="3200" noProof="0" dirty="0"/>
              <a:t> påvirker ikke når det er lønnsomt å ta utbytte</a:t>
            </a:r>
          </a:p>
          <a:p>
            <a:pPr marL="0" indent="0">
              <a:buNone/>
            </a:pPr>
            <a:endParaRPr lang="nb-NO" sz="3200" noProof="0" dirty="0"/>
          </a:p>
          <a:p>
            <a:r>
              <a:rPr lang="nb-NO" sz="3200" noProof="0" dirty="0" err="1"/>
              <a:t>Bjerksund</a:t>
            </a:r>
            <a:r>
              <a:rPr lang="nb-NO" sz="3200" noProof="0" dirty="0"/>
              <a:t> og Schjelderup (2021, 2022): Den norske aksjonærbeskatningen gjør det </a:t>
            </a:r>
            <a:r>
              <a:rPr lang="nb-NO" sz="3200" noProof="0" dirty="0" err="1"/>
              <a:t>lønnsmt</a:t>
            </a:r>
            <a:r>
              <a:rPr lang="nb-NO" sz="3200" noProof="0" dirty="0"/>
              <a:t> å spare i selskaper snarere </a:t>
            </a:r>
            <a:r>
              <a:rPr lang="nb-NO" sz="3200" noProof="0" dirty="0" err="1"/>
              <a:t>nn</a:t>
            </a:r>
            <a:r>
              <a:rPr lang="nb-NO" sz="3200" noProof="0" dirty="0"/>
              <a:t> på personlig hånd. Et nest beste alternativ nesten på linje med å spare gjennom selskap er ASK konto</a:t>
            </a:r>
            <a:endParaRPr lang="nb-NO" noProof="0" dirty="0"/>
          </a:p>
        </p:txBody>
      </p:sp>
      <p:sp>
        <p:nvSpPr>
          <p:cNvPr id="4" name="Slide Number Placeholder 3">
            <a:extLst>
              <a:ext uri="{FF2B5EF4-FFF2-40B4-BE49-F238E27FC236}">
                <a16:creationId xmlns:a16="http://schemas.microsoft.com/office/drawing/2014/main" id="{49A20FCA-0973-204E-9FF7-41C4D30A4EB0}"/>
              </a:ext>
            </a:extLst>
          </p:cNvPr>
          <p:cNvSpPr>
            <a:spLocks noGrp="1"/>
          </p:cNvSpPr>
          <p:nvPr>
            <p:ph type="sldNum" sz="quarter" idx="12"/>
          </p:nvPr>
        </p:nvSpPr>
        <p:spPr/>
        <p:txBody>
          <a:bodyPr/>
          <a:lstStyle/>
          <a:p>
            <a:fld id="{092CA8B5-DBB4-47BA-9127-F945AE107A35}" type="slidenum">
              <a:rPr lang="nb-NO" noProof="0" smtClean="0"/>
              <a:t>44</a:t>
            </a:fld>
            <a:endParaRPr lang="nb-NO" noProof="0" dirty="0"/>
          </a:p>
        </p:txBody>
      </p:sp>
    </p:spTree>
    <p:extLst>
      <p:ext uri="{BB962C8B-B14F-4D97-AF65-F5344CB8AC3E}">
        <p14:creationId xmlns:p14="http://schemas.microsoft.com/office/powerpoint/2010/main" val="515856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1"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additive="base">
                                        <p:cTn id="2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1"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additive="base">
                                        <p:cTn id="2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8FA7D-6F18-F72B-6E41-5F9991C0E409}"/>
              </a:ext>
            </a:extLst>
          </p:cNvPr>
          <p:cNvSpPr>
            <a:spLocks noGrp="1"/>
          </p:cNvSpPr>
          <p:nvPr>
            <p:ph type="title"/>
          </p:nvPr>
        </p:nvSpPr>
        <p:spPr/>
        <p:txBody>
          <a:bodyPr/>
          <a:lstStyle/>
          <a:p>
            <a:r>
              <a:rPr lang="en-US" dirty="0" err="1"/>
              <a:t>Referanser</a:t>
            </a:r>
            <a:endParaRPr lang="en-US" dirty="0"/>
          </a:p>
        </p:txBody>
      </p:sp>
      <p:sp>
        <p:nvSpPr>
          <p:cNvPr id="3" name="Content Placeholder 2">
            <a:extLst>
              <a:ext uri="{FF2B5EF4-FFF2-40B4-BE49-F238E27FC236}">
                <a16:creationId xmlns:a16="http://schemas.microsoft.com/office/drawing/2014/main" id="{3168B8C6-EC28-B989-EAE0-3E6A4E17AABD}"/>
              </a:ext>
            </a:extLst>
          </p:cNvPr>
          <p:cNvSpPr>
            <a:spLocks noGrp="1"/>
          </p:cNvSpPr>
          <p:nvPr>
            <p:ph idx="1"/>
          </p:nvPr>
        </p:nvSpPr>
        <p:spPr/>
        <p:txBody>
          <a:bodyPr/>
          <a:lstStyle/>
          <a:p>
            <a:pPr lvl="0"/>
            <a:r>
              <a:rPr lang="nb-NO" dirty="0"/>
              <a:t>Petter </a:t>
            </a:r>
            <a:r>
              <a:rPr lang="nb-NO" dirty="0" err="1"/>
              <a:t>Bjerksund</a:t>
            </a:r>
            <a:r>
              <a:rPr lang="nb-NO" dirty="0"/>
              <a:t> og Guttorm Schjelderup , 2021. Aksjonærmodellen og fritaksmetoden: Et to-hodet troll. </a:t>
            </a:r>
            <a:r>
              <a:rPr lang="nb-NO" b="1" dirty="0"/>
              <a:t>Samfunnsøkonomen</a:t>
            </a:r>
            <a:r>
              <a:rPr lang="nb-NO" dirty="0"/>
              <a:t> nr. 4, s 43-52, 2021 </a:t>
            </a:r>
          </a:p>
          <a:p>
            <a:pPr lvl="0"/>
            <a:endParaRPr lang="en-US" dirty="0"/>
          </a:p>
          <a:p>
            <a:pPr lvl="0"/>
            <a:r>
              <a:rPr lang="nb-NO" dirty="0"/>
              <a:t>Petter </a:t>
            </a:r>
            <a:r>
              <a:rPr lang="nb-NO" dirty="0" err="1"/>
              <a:t>Bjerksund</a:t>
            </a:r>
            <a:r>
              <a:rPr lang="nb-NO" dirty="0"/>
              <a:t> og Guttorm Schjelderup, 2021. Er den norske aksjonærbeskatningen nøytral? </a:t>
            </a:r>
            <a:r>
              <a:rPr lang="nb-NO" b="1" dirty="0"/>
              <a:t>Samfunnsøkonomen </a:t>
            </a:r>
            <a:r>
              <a:rPr lang="nb-NO" dirty="0"/>
              <a:t>nr. 4, s 53-63.</a:t>
            </a:r>
            <a:endParaRPr lang="en-US" dirty="0"/>
          </a:p>
          <a:p>
            <a:endParaRPr lang="en-US" dirty="0"/>
          </a:p>
        </p:txBody>
      </p:sp>
    </p:spTree>
    <p:extLst>
      <p:ext uri="{BB962C8B-B14F-4D97-AF65-F5344CB8AC3E}">
        <p14:creationId xmlns:p14="http://schemas.microsoft.com/office/powerpoint/2010/main" val="4146115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04E5EF-F05F-582E-FC98-25EA2BB40A9F}"/>
              </a:ext>
            </a:extLst>
          </p:cNvPr>
          <p:cNvSpPr>
            <a:spLocks noGrp="1"/>
          </p:cNvSpPr>
          <p:nvPr>
            <p:ph type="sldNum" sz="quarter" idx="12"/>
          </p:nvPr>
        </p:nvSpPr>
        <p:spPr/>
        <p:txBody>
          <a:bodyPr/>
          <a:lstStyle/>
          <a:p>
            <a:fld id="{092CA8B5-DBB4-47BA-9127-F945AE107A35}" type="slidenum">
              <a:rPr lang="nb-NO" noProof="0" smtClean="0"/>
              <a:t>46</a:t>
            </a:fld>
            <a:endParaRPr lang="nb-NO" noProof="0" dirty="0"/>
          </a:p>
        </p:txBody>
      </p:sp>
      <p:pic>
        <p:nvPicPr>
          <p:cNvPr id="6" name="Picture 5">
            <a:extLst>
              <a:ext uri="{FF2B5EF4-FFF2-40B4-BE49-F238E27FC236}">
                <a16:creationId xmlns:a16="http://schemas.microsoft.com/office/drawing/2014/main" id="{5057B354-41F7-853B-82AF-8E1CFD05DCCC}"/>
              </a:ext>
            </a:extLst>
          </p:cNvPr>
          <p:cNvPicPr>
            <a:picLocks noChangeAspect="1"/>
          </p:cNvPicPr>
          <p:nvPr/>
        </p:nvPicPr>
        <p:blipFill>
          <a:blip r:embed="rId2"/>
          <a:stretch>
            <a:fillRect/>
          </a:stretch>
        </p:blipFill>
        <p:spPr>
          <a:xfrm>
            <a:off x="18401" y="501805"/>
            <a:ext cx="12418787" cy="5928492"/>
          </a:xfrm>
          <a:prstGeom prst="rect">
            <a:avLst/>
          </a:prstGeom>
        </p:spPr>
      </p:pic>
    </p:spTree>
    <p:extLst>
      <p:ext uri="{BB962C8B-B14F-4D97-AF65-F5344CB8AC3E}">
        <p14:creationId xmlns:p14="http://schemas.microsoft.com/office/powerpoint/2010/main" val="1749476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4104D0-B188-6C33-15CD-3C4B219459EB}"/>
              </a:ext>
            </a:extLst>
          </p:cNvPr>
          <p:cNvSpPr>
            <a:spLocks noGrp="1"/>
          </p:cNvSpPr>
          <p:nvPr>
            <p:ph type="sldNum" sz="quarter" idx="12"/>
          </p:nvPr>
        </p:nvSpPr>
        <p:spPr/>
        <p:txBody>
          <a:bodyPr/>
          <a:lstStyle/>
          <a:p>
            <a:fld id="{092CA8B5-DBB4-47BA-9127-F945AE107A35}" type="slidenum">
              <a:rPr lang="nb-NO" noProof="0" smtClean="0"/>
              <a:t>47</a:t>
            </a:fld>
            <a:endParaRPr lang="nb-NO" noProof="0" dirty="0"/>
          </a:p>
        </p:txBody>
      </p:sp>
      <p:sp>
        <p:nvSpPr>
          <p:cNvPr id="3" name="TextBox 2">
            <a:extLst>
              <a:ext uri="{FF2B5EF4-FFF2-40B4-BE49-F238E27FC236}">
                <a16:creationId xmlns:a16="http://schemas.microsoft.com/office/drawing/2014/main" id="{1A2E6D8B-4D2A-FA73-4CD2-A19267C320AB}"/>
              </a:ext>
            </a:extLst>
          </p:cNvPr>
          <p:cNvSpPr txBox="1"/>
          <p:nvPr/>
        </p:nvSpPr>
        <p:spPr>
          <a:xfrm>
            <a:off x="484093" y="470647"/>
            <a:ext cx="11192436" cy="5632311"/>
          </a:xfrm>
          <a:prstGeom prst="rect">
            <a:avLst/>
          </a:prstGeom>
          <a:noFill/>
        </p:spPr>
        <p:txBody>
          <a:bodyPr wrap="square" rtlCol="0">
            <a:spAutoFit/>
          </a:bodyPr>
          <a:lstStyle/>
          <a:p>
            <a:pPr marL="457200" indent="-457200">
              <a:buFont typeface="Arial" panose="020B0604020202020204" pitchFamily="34" charset="0"/>
              <a:buChar char="•"/>
            </a:pPr>
            <a:r>
              <a:rPr lang="nb-NO" sz="3000" dirty="0">
                <a:solidFill>
                  <a:srgbClr val="FF0000"/>
                </a:solidFill>
              </a:rPr>
              <a:t>First Securities </a:t>
            </a:r>
            <a:r>
              <a:rPr lang="nb-NO" sz="3000" dirty="0"/>
              <a:t>ble bedt av finansdepartement om å vurdere den norske aksjonærbeskatningen (fritaksmetoden og aksjonærmodellen) i forkant av innføringen i 2006</a:t>
            </a:r>
          </a:p>
          <a:p>
            <a:pPr marL="914400" lvl="1" indent="-457200">
              <a:buFont typeface="Arial" panose="020B0604020202020204" pitchFamily="34" charset="0"/>
              <a:buChar char="•"/>
            </a:pPr>
            <a:r>
              <a:rPr lang="nb-NO" sz="3000" dirty="0"/>
              <a:t>De advarte mot innføring. </a:t>
            </a:r>
          </a:p>
          <a:p>
            <a:pPr marL="914400" lvl="1" indent="-457200">
              <a:buFont typeface="Arial" panose="020B0604020202020204" pitchFamily="34" charset="0"/>
              <a:buChar char="•"/>
            </a:pPr>
            <a:r>
              <a:rPr lang="nb-NO" sz="3000" dirty="0"/>
              <a:t>De mente at svakheten var at skattyter selv kunne bestemme når beskatning ble utløst noe som gav opphav til en skattekreditt.</a:t>
            </a:r>
          </a:p>
          <a:p>
            <a:endParaRPr lang="nb-NO" sz="3000" dirty="0"/>
          </a:p>
          <a:p>
            <a:pPr marL="457200" indent="-457200">
              <a:buFont typeface="Arial" panose="020B0604020202020204" pitchFamily="34" charset="0"/>
              <a:buChar char="•"/>
            </a:pPr>
            <a:r>
              <a:rPr lang="nb-NO" sz="3000" dirty="0"/>
              <a:t>I det gamle systemet ble utbytte mellom selskaper skattlagt og personlig aksjonær fikk fratrekk for utbytteskatt betalt av selskapet når utbytte ble mottatt på personlig hånd. </a:t>
            </a:r>
          </a:p>
          <a:p>
            <a:pPr marL="914400" lvl="1" indent="-457200">
              <a:buFont typeface="Arial" panose="020B0604020202020204" pitchFamily="34" charset="0"/>
              <a:buChar char="•"/>
            </a:pPr>
            <a:r>
              <a:rPr lang="nb-NO" sz="3000" dirty="0"/>
              <a:t>Dette medførte i større grad skattlegging av utbytte når det var opptjent.</a:t>
            </a:r>
          </a:p>
        </p:txBody>
      </p:sp>
    </p:spTree>
    <p:extLst>
      <p:ext uri="{BB962C8B-B14F-4D97-AF65-F5344CB8AC3E}">
        <p14:creationId xmlns:p14="http://schemas.microsoft.com/office/powerpoint/2010/main" val="1441123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1000"/>
                                        <p:tgtEl>
                                          <p:spTgt spid="3">
                                            <p:txEl>
                                              <p:pRg st="5" end="5"/>
                                            </p:txEl>
                                          </p:spTgt>
                                        </p:tgtEl>
                                      </p:cBhvr>
                                    </p:animEffect>
                                    <p:anim calcmode="lin" valueType="num">
                                      <p:cBhvr>
                                        <p:cTn id="1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EFACF8A-7442-548D-A1F3-C270DA980A51}"/>
              </a:ext>
            </a:extLst>
          </p:cNvPr>
          <p:cNvSpPr>
            <a:spLocks noGrp="1"/>
          </p:cNvSpPr>
          <p:nvPr>
            <p:ph type="ctrTitle"/>
          </p:nvPr>
        </p:nvSpPr>
        <p:spPr>
          <a:xfrm>
            <a:off x="1524003" y="1999615"/>
            <a:ext cx="9144000" cy="2764028"/>
          </a:xfrm>
        </p:spPr>
        <p:txBody>
          <a:bodyPr anchor="ctr">
            <a:normAutofit/>
          </a:bodyPr>
          <a:lstStyle/>
          <a:p>
            <a:r>
              <a:rPr lang="nb-NO" dirty="0"/>
              <a:t>5. Inntektsskiftningsligningen</a:t>
            </a:r>
          </a:p>
        </p:txBody>
      </p:sp>
      <p:sp>
        <p:nvSpPr>
          <p:cNvPr id="3" name="Subtitle 2">
            <a:extLst>
              <a:ext uri="{FF2B5EF4-FFF2-40B4-BE49-F238E27FC236}">
                <a16:creationId xmlns:a16="http://schemas.microsoft.com/office/drawing/2014/main" id="{7FDFA38D-01BC-F629-C845-CE988AEC4DD4}"/>
              </a:ext>
            </a:extLst>
          </p:cNvPr>
          <p:cNvSpPr>
            <a:spLocks noGrp="1"/>
          </p:cNvSpPr>
          <p:nvPr>
            <p:ph type="subTitle" idx="1"/>
          </p:nvPr>
        </p:nvSpPr>
        <p:spPr>
          <a:xfrm>
            <a:off x="1966912" y="5645150"/>
            <a:ext cx="8258176" cy="631825"/>
          </a:xfrm>
        </p:spPr>
        <p:txBody>
          <a:bodyPr anchor="ctr">
            <a:normAutofit/>
          </a:bodyPr>
          <a:lstStyle/>
          <a:p>
            <a:r>
              <a:rPr lang="nb-NO" sz="3600" dirty="0"/>
              <a:t>Alle skattene forholder seg til hverandre</a:t>
            </a:r>
          </a:p>
        </p:txBody>
      </p:sp>
      <p:sp>
        <p:nvSpPr>
          <p:cNvPr id="15" name="Rectangle 14">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AF86804-632D-8638-E5FD-1DA7FB726AF2}"/>
              </a:ext>
            </a:extLst>
          </p:cNvPr>
          <p:cNvSpPr>
            <a:spLocks noGrp="1"/>
          </p:cNvSpPr>
          <p:nvPr>
            <p:ph type="sldNum" sz="quarter" idx="12"/>
          </p:nvPr>
        </p:nvSpPr>
        <p:spPr>
          <a:xfrm>
            <a:off x="10489019" y="6356350"/>
            <a:ext cx="1268818" cy="365125"/>
          </a:xfrm>
        </p:spPr>
        <p:txBody>
          <a:bodyPr>
            <a:normAutofit/>
          </a:bodyPr>
          <a:lstStyle/>
          <a:p>
            <a:pPr>
              <a:spcAft>
                <a:spcPts val="600"/>
              </a:spcAft>
            </a:pPr>
            <a:fld id="{092CA8B5-DBB4-47BA-9127-F945AE107A35}" type="slidenum">
              <a:rPr lang="nb-NO">
                <a:solidFill>
                  <a:schemeClr val="tx1">
                    <a:lumMod val="50000"/>
                    <a:lumOff val="50000"/>
                  </a:schemeClr>
                </a:solidFill>
              </a:rPr>
              <a:pPr>
                <a:spcAft>
                  <a:spcPts val="600"/>
                </a:spcAft>
              </a:pPr>
              <a:t>48</a:t>
            </a:fld>
            <a:endParaRPr lang="nb-NO">
              <a:solidFill>
                <a:schemeClr val="tx1">
                  <a:lumMod val="50000"/>
                  <a:lumOff val="50000"/>
                </a:schemeClr>
              </a:solidFill>
            </a:endParaRPr>
          </a:p>
        </p:txBody>
      </p:sp>
    </p:spTree>
    <p:extLst>
      <p:ext uri="{BB962C8B-B14F-4D97-AF65-F5344CB8AC3E}">
        <p14:creationId xmlns:p14="http://schemas.microsoft.com/office/powerpoint/2010/main" val="188653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A6CE89-4144-AB5B-9B2E-E53CE476E02F}"/>
              </a:ext>
            </a:extLst>
          </p:cNvPr>
          <p:cNvSpPr>
            <a:spLocks noGrp="1"/>
          </p:cNvSpPr>
          <p:nvPr>
            <p:ph idx="1"/>
          </p:nvPr>
        </p:nvSpPr>
        <p:spPr>
          <a:xfrm>
            <a:off x="309093" y="136526"/>
            <a:ext cx="11764851" cy="6040438"/>
          </a:xfrm>
        </p:spPr>
        <p:txBody>
          <a:bodyPr>
            <a:normAutofit fontScale="92500" lnSpcReduction="20000"/>
          </a:bodyPr>
          <a:lstStyle/>
          <a:p>
            <a:pPr marL="0" indent="0">
              <a:buNone/>
            </a:pPr>
            <a:r>
              <a:rPr lang="nb-NO" sz="3200" b="1" noProof="0" dirty="0"/>
              <a:t>Inntektsskiftningsligningen</a:t>
            </a:r>
            <a:r>
              <a:rPr lang="nb-NO" sz="3200" noProof="0" dirty="0"/>
              <a:t> setter nominelle skattesatser på lønn og kapital likt slik at man er indifferent mellom lønn og kapitalinntekt. </a:t>
            </a:r>
          </a:p>
          <a:p>
            <a:endParaRPr lang="nb-NO" sz="3200" noProof="0" dirty="0"/>
          </a:p>
          <a:p>
            <a:pPr marL="0" indent="0" algn="ctr">
              <a:buNone/>
            </a:pPr>
            <a:r>
              <a:rPr lang="nb-NO" sz="3200" b="1" noProof="0" dirty="0">
                <a:solidFill>
                  <a:srgbClr val="FF0000"/>
                </a:solidFill>
              </a:rPr>
              <a:t>Høyeste marginalskatt på lønn + arbeidsgiveravgiften</a:t>
            </a:r>
          </a:p>
          <a:p>
            <a:pPr marL="0" indent="0" algn="ctr">
              <a:buNone/>
            </a:pPr>
            <a:r>
              <a:rPr lang="nb-NO" sz="3200" b="1" noProof="0" dirty="0">
                <a:solidFill>
                  <a:srgbClr val="FF0000"/>
                </a:solidFill>
              </a:rPr>
              <a:t> = </a:t>
            </a:r>
          </a:p>
          <a:p>
            <a:pPr marL="0" indent="0" algn="ctr">
              <a:buNone/>
            </a:pPr>
            <a:r>
              <a:rPr lang="nb-NO" sz="3200" b="1" noProof="0" dirty="0">
                <a:solidFill>
                  <a:srgbClr val="FF0000"/>
                </a:solidFill>
              </a:rPr>
              <a:t>Nominell selskapsskatt + pluss nominell eierskatt*oppjusteringsfaktor</a:t>
            </a:r>
          </a:p>
          <a:p>
            <a:endParaRPr lang="nb-NO" sz="3200" noProof="0" dirty="0"/>
          </a:p>
          <a:p>
            <a:r>
              <a:rPr lang="nb-NO" sz="3200" noProof="0" dirty="0"/>
              <a:t> </a:t>
            </a:r>
            <a:r>
              <a:rPr lang="nb-NO" sz="3200" dirty="0"/>
              <a:t>H</a:t>
            </a:r>
            <a:r>
              <a:rPr lang="nb-NO" sz="3200" noProof="0" dirty="0" err="1"/>
              <a:t>øyeste</a:t>
            </a:r>
            <a:r>
              <a:rPr lang="nb-NO" sz="3200" noProof="0" dirty="0"/>
              <a:t> marginalskattesats på lønnsinntekt i Norge er 47,4 % for 2026 (trinnskatt trinn 5 på 17,8 % + trygdeavgift 7,6 % + alminnelig inntektsskatt 22 %, ekskl. arbeidsgiveravgift). </a:t>
            </a:r>
          </a:p>
          <a:p>
            <a:endParaRPr lang="nb-NO" sz="3200" noProof="0" dirty="0"/>
          </a:p>
          <a:p>
            <a:r>
              <a:rPr lang="nb-NO" sz="3200" noProof="0" dirty="0"/>
              <a:t>Inntektsskiftningsligningen har fått navnet sitt fordi man ønsker et skattesystem hvor det ikke er lønnsomt å omdanne en type inntekt (</a:t>
            </a:r>
            <a:r>
              <a:rPr lang="nb-NO" sz="3200" noProof="0" dirty="0" err="1"/>
              <a:t>feks</a:t>
            </a:r>
            <a:r>
              <a:rPr lang="nb-NO" sz="3200" noProof="0" dirty="0"/>
              <a:t> lønnsinntekt) til en annen type inntekt (kapitalinntekt) </a:t>
            </a:r>
            <a:r>
              <a:rPr lang="nb-NO" sz="3200" noProof="0" dirty="0" err="1"/>
              <a:t>feks</a:t>
            </a:r>
            <a:r>
              <a:rPr lang="nb-NO" sz="3200" noProof="0" dirty="0"/>
              <a:t> ved ikke å ta ut lønn men kun utbytte som eier av bedrift. </a:t>
            </a:r>
            <a:endParaRPr lang="nb-NO" noProof="0" dirty="0"/>
          </a:p>
        </p:txBody>
      </p:sp>
      <p:sp>
        <p:nvSpPr>
          <p:cNvPr id="4" name="Slide Number Placeholder 3">
            <a:extLst>
              <a:ext uri="{FF2B5EF4-FFF2-40B4-BE49-F238E27FC236}">
                <a16:creationId xmlns:a16="http://schemas.microsoft.com/office/drawing/2014/main" id="{8F111D31-F84E-EB59-D4F8-EDE15ADE6918}"/>
              </a:ext>
            </a:extLst>
          </p:cNvPr>
          <p:cNvSpPr>
            <a:spLocks noGrp="1"/>
          </p:cNvSpPr>
          <p:nvPr>
            <p:ph type="sldNum" sz="quarter" idx="12"/>
          </p:nvPr>
        </p:nvSpPr>
        <p:spPr/>
        <p:txBody>
          <a:bodyPr/>
          <a:lstStyle/>
          <a:p>
            <a:fld id="{092CA8B5-DBB4-47BA-9127-F945AE107A35}" type="slidenum">
              <a:rPr lang="nb-NO" noProof="0" smtClean="0"/>
              <a:t>49</a:t>
            </a:fld>
            <a:endParaRPr lang="nb-NO" noProof="0" dirty="0"/>
          </a:p>
        </p:txBody>
      </p:sp>
    </p:spTree>
    <p:extLst>
      <p:ext uri="{BB962C8B-B14F-4D97-AF65-F5344CB8AC3E}">
        <p14:creationId xmlns:p14="http://schemas.microsoft.com/office/powerpoint/2010/main" val="123570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DDAFA-7605-FA6D-8B43-7C5AE2A12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2B13B-FFBD-CCB3-20E9-51CC519FF92D}"/>
              </a:ext>
            </a:extLst>
          </p:cNvPr>
          <p:cNvSpPr>
            <a:spLocks noGrp="1"/>
          </p:cNvSpPr>
          <p:nvPr>
            <p:ph type="title"/>
          </p:nvPr>
        </p:nvSpPr>
        <p:spPr>
          <a:xfrm>
            <a:off x="838200" y="365126"/>
            <a:ext cx="10515600" cy="699330"/>
          </a:xfrm>
        </p:spPr>
        <p:txBody>
          <a:bodyPr>
            <a:normAutofit/>
          </a:bodyPr>
          <a:lstStyle/>
          <a:p>
            <a:r>
              <a:rPr lang="nb-NO" sz="3600" b="1" noProof="0" dirty="0"/>
              <a:t>INNTEKTS-SKIFTNIGSLIGNINGEN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D84895-48DF-6CE4-39D6-F8429EEBD09F}"/>
                  </a:ext>
                </a:extLst>
              </p:cNvPr>
              <p:cNvSpPr>
                <a:spLocks noGrp="1"/>
              </p:cNvSpPr>
              <p:nvPr>
                <p:ph idx="1"/>
              </p:nvPr>
            </p:nvSpPr>
            <p:spPr>
              <a:xfrm>
                <a:off x="394310" y="1064456"/>
                <a:ext cx="11288697" cy="5505019"/>
              </a:xfrm>
            </p:spPr>
            <p:txBody>
              <a:bodyPr>
                <a:normAutofit/>
              </a:bodyPr>
              <a:lstStyle/>
              <a:p>
                <a:r>
                  <a:rPr lang="nb-NO" noProof="0" dirty="0"/>
                  <a:t>Skattesystemet er utformet slik at det på marginen skal være like lønnsomt med 1 kr i lønn som 1 kr i kapitalinntekt </a:t>
                </a:r>
                <a:r>
                  <a:rPr lang="nb-NO" noProof="0" dirty="0" err="1"/>
                  <a:t>dvs</a:t>
                </a:r>
                <a:r>
                  <a:rPr lang="nb-NO" noProof="0" dirty="0"/>
                  <a:t>:</a:t>
                </a:r>
              </a:p>
              <a:p>
                <a:pPr marL="0" indent="0">
                  <a:buNone/>
                </a:pPr>
                <a:endParaRPr lang="nb-NO" noProof="0" dirty="0"/>
              </a:p>
              <a:p>
                <a:pPr marL="0" indent="0">
                  <a:buNone/>
                </a:pPr>
                <a14:m>
                  <m:oMathPara xmlns:m="http://schemas.openxmlformats.org/officeDocument/2006/math">
                    <m:oMath>
                      <m:r>
                        <a:rPr lang="nb-NO" b="0" i="1" noProof="0" smtClean="0">
                          <a:latin typeface="Cambria Math" panose="02040503050406030204" pitchFamily="18" charset="0"/>
                        </a:rPr>
                        <m:t>47,4%+12,4%=</m:t>
                      </m:r>
                      <m:r>
                        <a:rPr lang="nb-NO" b="0" i="1" noProof="0" smtClean="0">
                          <a:solidFill>
                            <a:srgbClr val="FF0000"/>
                          </a:solidFill>
                          <a:latin typeface="Cambria Math" panose="02040503050406030204" pitchFamily="18" charset="0"/>
                        </a:rPr>
                        <m:t>22%+</m:t>
                      </m:r>
                      <m:r>
                        <a:rPr lang="nb-NO" b="0" i="1" noProof="0" smtClean="0">
                          <a:solidFill>
                            <a:srgbClr val="7030A0"/>
                          </a:solidFill>
                          <a:latin typeface="Cambria Math" panose="02040503050406030204" pitchFamily="18" charset="0"/>
                        </a:rPr>
                        <m:t>22%∗</m:t>
                      </m:r>
                      <m:r>
                        <a:rPr lang="nb-NO" b="0" i="1" noProof="0" smtClean="0">
                          <a:solidFill>
                            <a:srgbClr val="7030A0"/>
                          </a:solidFill>
                          <a:latin typeface="Cambria Math" panose="02040503050406030204" pitchFamily="18" charset="0"/>
                        </a:rPr>
                        <m:t>𝑦</m:t>
                      </m:r>
                    </m:oMath>
                  </m:oMathPara>
                </a14:m>
                <a:endParaRPr lang="nb-NO" noProof="0" dirty="0">
                  <a:solidFill>
                    <a:srgbClr val="FF0000"/>
                  </a:solidFill>
                </a:endParaRPr>
              </a:p>
              <a:p>
                <a:pPr marL="0" indent="0">
                  <a:buNone/>
                </a:pPr>
                <a:endParaRPr lang="nb-NO" noProof="0" dirty="0"/>
              </a:p>
              <a:p>
                <a:pPr marL="0" indent="0">
                  <a:buNone/>
                </a:pPr>
                <a:endParaRPr lang="nb-NO" noProof="0" dirty="0"/>
              </a:p>
              <a:p>
                <a:pPr marL="0" indent="0">
                  <a:buNone/>
                </a:pPr>
                <a:endParaRPr lang="nb-NO" noProof="0" dirty="0"/>
              </a:p>
              <a:p>
                <a:pPr marL="0" indent="0">
                  <a:buNone/>
                </a:pPr>
                <a:endParaRPr lang="nb-NO" noProof="0" dirty="0"/>
              </a:p>
              <a:p>
                <a:pPr marL="0" indent="0">
                  <a:buNone/>
                </a:pPr>
                <a:r>
                  <a:rPr lang="nb-NO" noProof="0" dirty="0"/>
                  <a:t>hvor </a:t>
                </a:r>
                <a14:m>
                  <m:oMath xmlns:m="http://schemas.openxmlformats.org/officeDocument/2006/math">
                    <m:r>
                      <a:rPr lang="nb-NO" b="0" i="1" noProof="0" smtClean="0">
                        <a:solidFill>
                          <a:srgbClr val="7030A0"/>
                        </a:solidFill>
                        <a:latin typeface="Cambria Math" panose="02040503050406030204" pitchFamily="18" charset="0"/>
                      </a:rPr>
                      <m:t>𝑦</m:t>
                    </m:r>
                  </m:oMath>
                </a14:m>
                <a:r>
                  <a:rPr lang="nb-NO" noProof="0" dirty="0"/>
                  <a:t> er oppjusteringsfaktoren. Løser vi ligningen får vi: </a:t>
                </a:r>
              </a:p>
              <a:p>
                <a:pPr marL="0" indent="0" algn="ctr">
                  <a:buNone/>
                </a:pPr>
                <a:endParaRPr lang="nb-NO" noProof="0" dirty="0"/>
              </a:p>
              <a:p>
                <a:pPr marL="0" indent="0" algn="ctr">
                  <a:buNone/>
                </a:pPr>
                <a:r>
                  <a:rPr lang="nb-NO" noProof="0" dirty="0">
                    <a:solidFill>
                      <a:schemeClr val="tx1"/>
                    </a:solidFill>
                  </a:rPr>
                  <a:t> </a:t>
                </a:r>
                <a14:m>
                  <m:oMath xmlns:m="http://schemas.openxmlformats.org/officeDocument/2006/math">
                    <m:r>
                      <a:rPr lang="nb-NO" i="1" noProof="0" smtClean="0">
                        <a:solidFill>
                          <a:schemeClr val="tx1"/>
                        </a:solidFill>
                        <a:latin typeface="Cambria Math" panose="02040503050406030204" pitchFamily="18" charset="0"/>
                      </a:rPr>
                      <m:t>𝑦</m:t>
                    </m:r>
                    <m:r>
                      <a:rPr lang="nb-NO" i="1" noProof="0" smtClean="0">
                        <a:solidFill>
                          <a:schemeClr val="tx1"/>
                        </a:solidFill>
                        <a:latin typeface="Cambria Math" panose="02040503050406030204" pitchFamily="18" charset="0"/>
                        <a:ea typeface="Cambria Math" panose="02040503050406030204" pitchFamily="18" charset="0"/>
                      </a:rPr>
                      <m:t>≈</m:t>
                    </m:r>
                    <m:r>
                      <a:rPr lang="nb-NO" b="0" i="1" noProof="0" smtClean="0">
                        <a:solidFill>
                          <a:schemeClr val="tx1"/>
                        </a:solidFill>
                        <a:latin typeface="Cambria Math" panose="02040503050406030204" pitchFamily="18" charset="0"/>
                      </a:rPr>
                      <m:t>1,72 </m:t>
                    </m:r>
                    <m:r>
                      <a:rPr lang="en-US" b="0" i="1" noProof="0" smtClean="0">
                        <a:solidFill>
                          <a:schemeClr val="tx1"/>
                        </a:solidFill>
                        <a:latin typeface="Cambria Math" panose="02040503050406030204" pitchFamily="18" charset="0"/>
                      </a:rPr>
                      <m:t>𝑠𝑙𝑖𝑘</m:t>
                    </m:r>
                    <m:r>
                      <a:rPr lang="en-US" b="0" i="1" noProof="0" smtClean="0">
                        <a:solidFill>
                          <a:schemeClr val="tx1"/>
                        </a:solidFill>
                        <a:latin typeface="Cambria Math" panose="02040503050406030204" pitchFamily="18" charset="0"/>
                      </a:rPr>
                      <m:t> </m:t>
                    </m:r>
                    <m:r>
                      <a:rPr lang="en-US" b="0" i="1" noProof="0" smtClean="0">
                        <a:solidFill>
                          <a:schemeClr val="tx1"/>
                        </a:solidFill>
                        <a:latin typeface="Cambria Math" panose="02040503050406030204" pitchFamily="18" charset="0"/>
                      </a:rPr>
                      <m:t>𝑎𝑡</m:t>
                    </m:r>
                    <m:r>
                      <a:rPr lang="en-US" b="0" i="1" noProof="0" smtClean="0">
                        <a:solidFill>
                          <a:schemeClr val="tx1"/>
                        </a:solidFill>
                        <a:latin typeface="Cambria Math" panose="02040503050406030204" pitchFamily="18" charset="0"/>
                      </a:rPr>
                      <m:t> 22%∙1,72=37,84%</m:t>
                    </m:r>
                  </m:oMath>
                </a14:m>
                <a:r>
                  <a:rPr lang="nb-NO" noProof="0" dirty="0">
                    <a:solidFill>
                      <a:schemeClr val="tx1"/>
                    </a:solidFill>
                  </a:rPr>
                  <a:t> effektiv eierskatt </a:t>
                </a:r>
              </a:p>
              <a:p>
                <a:pPr marL="0" indent="0">
                  <a:buNone/>
                </a:pPr>
                <a:endParaRPr lang="nb-NO" noProof="0" dirty="0"/>
              </a:p>
              <a:p>
                <a:pPr marL="0" indent="0">
                  <a:buNone/>
                </a:pPr>
                <a:endParaRPr lang="nb-NO" noProof="0" dirty="0"/>
              </a:p>
            </p:txBody>
          </p:sp>
        </mc:Choice>
        <mc:Fallback xmlns="">
          <p:sp>
            <p:nvSpPr>
              <p:cNvPr id="3" name="Content Placeholder 2">
                <a:extLst>
                  <a:ext uri="{FF2B5EF4-FFF2-40B4-BE49-F238E27FC236}">
                    <a16:creationId xmlns:a16="http://schemas.microsoft.com/office/drawing/2014/main" id="{D4D84895-48DF-6CE4-39D6-F8429EEBD09F}"/>
                  </a:ext>
                </a:extLst>
              </p:cNvPr>
              <p:cNvSpPr>
                <a:spLocks noGrp="1" noRot="1" noChangeAspect="1" noMove="1" noResize="1" noEditPoints="1" noAdjustHandles="1" noChangeArrowheads="1" noChangeShapeType="1" noTextEdit="1"/>
              </p:cNvSpPr>
              <p:nvPr>
                <p:ph idx="1"/>
              </p:nvPr>
            </p:nvSpPr>
            <p:spPr>
              <a:xfrm>
                <a:off x="394310" y="1064456"/>
                <a:ext cx="11288697" cy="5505019"/>
              </a:xfrm>
              <a:blipFill>
                <a:blip r:embed="rId2"/>
                <a:stretch>
                  <a:fillRect l="-1124" t="-2074" r="-787"/>
                </a:stretch>
              </a:blipFill>
            </p:spPr>
            <p:txBody>
              <a:bodyPr/>
              <a:lstStyle/>
              <a:p>
                <a:r>
                  <a:rPr lang="en-US">
                    <a:noFill/>
                  </a:rPr>
                  <a:t> </a:t>
                </a:r>
              </a:p>
            </p:txBody>
          </p:sp>
        </mc:Fallback>
      </mc:AlternateContent>
      <p:sp>
        <p:nvSpPr>
          <p:cNvPr id="4" name="Right Brace 3">
            <a:extLst>
              <a:ext uri="{FF2B5EF4-FFF2-40B4-BE49-F238E27FC236}">
                <a16:creationId xmlns:a16="http://schemas.microsoft.com/office/drawing/2014/main" id="{0CF317C5-6264-A60A-25B8-936943AD6ADD}"/>
              </a:ext>
            </a:extLst>
          </p:cNvPr>
          <p:cNvSpPr/>
          <p:nvPr/>
        </p:nvSpPr>
        <p:spPr>
          <a:xfrm rot="5400000">
            <a:off x="4504763" y="1156448"/>
            <a:ext cx="242047" cy="3765176"/>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b-NO"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ight Brace 4">
            <a:extLst>
              <a:ext uri="{FF2B5EF4-FFF2-40B4-BE49-F238E27FC236}">
                <a16:creationId xmlns:a16="http://schemas.microsoft.com/office/drawing/2014/main" id="{8283D76A-AC5C-19F3-1655-A8C83E0FD6C9}"/>
              </a:ext>
            </a:extLst>
          </p:cNvPr>
          <p:cNvSpPr/>
          <p:nvPr/>
        </p:nvSpPr>
        <p:spPr>
          <a:xfrm rot="5400000">
            <a:off x="7016875" y="2668506"/>
            <a:ext cx="280557" cy="692361"/>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b-NO"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0BB7E7EC-B343-ED22-54FC-C759509B9ECD}"/>
              </a:ext>
            </a:extLst>
          </p:cNvPr>
          <p:cNvSpPr txBox="1"/>
          <p:nvPr/>
        </p:nvSpPr>
        <p:spPr>
          <a:xfrm>
            <a:off x="2600312" y="3260190"/>
            <a:ext cx="4019305"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000" b="0" i="0" u="none" strike="noStrike" kern="1200" cap="none" spc="0" normalizeH="0" baseline="0" noProof="0" dirty="0">
                <a:ln>
                  <a:noFill/>
                </a:ln>
                <a:solidFill>
                  <a:prstClr val="black"/>
                </a:solidFill>
                <a:effectLst/>
                <a:uLnTx/>
                <a:uFillTx/>
                <a:latin typeface="Calibri" panose="020F0502020204030204"/>
                <a:ea typeface="+mn-ea"/>
                <a:cs typeface="+mn-cs"/>
              </a:rPr>
              <a:t>Høyeste marginalskatt på lønn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000" b="0" i="0" u="none" strike="noStrike" kern="1200" cap="none" spc="0" normalizeH="0" baseline="0" noProof="0" dirty="0">
                <a:ln>
                  <a:noFill/>
                </a:ln>
                <a:solidFill>
                  <a:prstClr val="black"/>
                </a:solidFill>
                <a:effectLst/>
                <a:uLnTx/>
                <a:uFillTx/>
                <a:latin typeface="Calibri" panose="020F0502020204030204"/>
                <a:ea typeface="+mn-ea"/>
                <a:cs typeface="+mn-cs"/>
              </a:rPr>
              <a:t> + arbeidsgiveravgift</a:t>
            </a:r>
          </a:p>
          <a:p>
            <a:pPr marL="0" marR="0" lvl="0" indent="0" algn="l" defTabSz="914400" rtl="0" eaLnBrk="1" fontAlgn="auto" latinLnBrk="0" hangingPunct="1">
              <a:lnSpc>
                <a:spcPct val="100000"/>
              </a:lnSpc>
              <a:spcBef>
                <a:spcPts val="0"/>
              </a:spcBef>
              <a:spcAft>
                <a:spcPts val="0"/>
              </a:spcAft>
              <a:buClrTx/>
              <a:buSzTx/>
              <a:buFontTx/>
              <a:buNone/>
              <a:tabLst/>
              <a:defRPr/>
            </a:pPr>
            <a:r>
              <a:rPr lang="nb-NO" sz="2000" dirty="0">
                <a:solidFill>
                  <a:prstClr val="black"/>
                </a:solidFill>
                <a:latin typeface="Calibri" panose="020F0502020204030204"/>
              </a:rPr>
              <a:t>o</a:t>
            </a:r>
            <a:r>
              <a:rPr kumimoji="0" lang="nb-NO" sz="2000" b="0" i="0" u="none" strike="noStrike" kern="1200" cap="none" spc="0" normalizeH="0" baseline="0" noProof="0" dirty="0" err="1">
                <a:ln>
                  <a:noFill/>
                </a:ln>
                <a:solidFill>
                  <a:prstClr val="black"/>
                </a:solidFill>
                <a:effectLst/>
                <a:uLnTx/>
                <a:uFillTx/>
                <a:latin typeface="Calibri" panose="020F0502020204030204"/>
                <a:ea typeface="+mn-ea"/>
                <a:cs typeface="+mn-cs"/>
              </a:rPr>
              <a:t>verveltet</a:t>
            </a:r>
            <a:r>
              <a:rPr kumimoji="0" lang="nb-NO" sz="2000" b="0" i="0" u="none" strike="noStrike" kern="1200" cap="none" spc="0" normalizeH="0" baseline="0" noProof="0" dirty="0">
                <a:ln>
                  <a:noFill/>
                </a:ln>
                <a:solidFill>
                  <a:prstClr val="black"/>
                </a:solidFill>
                <a:effectLst/>
                <a:uLnTx/>
                <a:uFillTx/>
                <a:latin typeface="Calibri" panose="020F0502020204030204"/>
                <a:ea typeface="+mn-ea"/>
                <a:cs typeface="+mn-cs"/>
              </a:rPr>
              <a:t> på arbeidstaker blir 12,4%</a:t>
            </a:r>
          </a:p>
          <a:p>
            <a:pPr lvl="0">
              <a:defRPr/>
            </a:pPr>
            <a:r>
              <a:rPr lang="nb-NO" sz="2000" dirty="0">
                <a:solidFill>
                  <a:prstClr val="black"/>
                </a:solidFill>
                <a:latin typeface="Calibri" panose="020F0502020204030204"/>
              </a:rPr>
              <a:t>og ikke </a:t>
            </a:r>
            <a:r>
              <a:rPr lang="nb-NO" sz="2000" dirty="0">
                <a:solidFill>
                  <a:prstClr val="black"/>
                </a:solidFill>
              </a:rPr>
              <a:t>14,1%</a:t>
            </a:r>
            <a:endParaRPr kumimoji="0" lang="nb-NO"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68F596F3-EC80-5E25-4EFE-FDED45C58AFA}"/>
              </a:ext>
            </a:extLst>
          </p:cNvPr>
          <p:cNvSpPr txBox="1"/>
          <p:nvPr/>
        </p:nvSpPr>
        <p:spPr>
          <a:xfrm>
            <a:off x="6590123" y="3260190"/>
            <a:ext cx="1062342"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000" b="0" i="0" u="none" strike="noStrike" kern="1200" cap="none" spc="0" normalizeH="0" baseline="0" noProof="0" dirty="0">
                <a:ln>
                  <a:noFill/>
                </a:ln>
                <a:solidFill>
                  <a:srgbClr val="FF0000"/>
                </a:solidFill>
                <a:effectLst/>
                <a:uLnTx/>
                <a:uFillTx/>
                <a:latin typeface="Calibri" panose="020F0502020204030204"/>
                <a:ea typeface="+mn-ea"/>
                <a:cs typeface="+mn-cs"/>
              </a:rPr>
              <a:t>skatt på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000" b="0" i="0" u="none" strike="noStrike" kern="1200" cap="none" spc="0" normalizeH="0" baseline="0" noProof="0" dirty="0">
                <a:ln>
                  <a:noFill/>
                </a:ln>
                <a:solidFill>
                  <a:srgbClr val="FF0000"/>
                </a:solidFill>
                <a:effectLst/>
                <a:uLnTx/>
                <a:uFillTx/>
                <a:latin typeface="Calibri" panose="020F0502020204030204"/>
                <a:ea typeface="+mn-ea"/>
                <a:cs typeface="+mn-cs"/>
              </a:rPr>
              <a:t>selskap</a:t>
            </a:r>
          </a:p>
        </p:txBody>
      </p:sp>
      <p:sp>
        <p:nvSpPr>
          <p:cNvPr id="8" name="Right Brace 7">
            <a:extLst>
              <a:ext uri="{FF2B5EF4-FFF2-40B4-BE49-F238E27FC236}">
                <a16:creationId xmlns:a16="http://schemas.microsoft.com/office/drawing/2014/main" id="{D349B6CA-DD75-9567-F6E7-8C85814FFBE2}"/>
              </a:ext>
            </a:extLst>
          </p:cNvPr>
          <p:cNvSpPr/>
          <p:nvPr/>
        </p:nvSpPr>
        <p:spPr>
          <a:xfrm rot="5400000">
            <a:off x="8322693" y="2442136"/>
            <a:ext cx="280557" cy="1145102"/>
          </a:xfrm>
          <a:prstGeom prst="rightBrace">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b-NO"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6561CA-DCCF-D97E-41C2-4DBCDFD10DDC}"/>
              </a:ext>
            </a:extLst>
          </p:cNvPr>
          <p:cNvSpPr txBox="1"/>
          <p:nvPr/>
        </p:nvSpPr>
        <p:spPr>
          <a:xfrm>
            <a:off x="7890421" y="3212020"/>
            <a:ext cx="2532103"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1800" b="0" i="0" u="none" strike="noStrike" kern="1200" cap="none" spc="0" normalizeH="0" baseline="0" noProof="0" dirty="0">
                <a:ln>
                  <a:noFill/>
                </a:ln>
                <a:solidFill>
                  <a:srgbClr val="7030A0"/>
                </a:solidFill>
                <a:effectLst/>
                <a:uLnTx/>
                <a:uFillTx/>
                <a:latin typeface="Calibri" panose="020F0502020204030204"/>
                <a:ea typeface="+mn-ea"/>
                <a:cs typeface="+mn-cs"/>
              </a:rPr>
              <a:t>Skatt på </a:t>
            </a:r>
          </a:p>
          <a:p>
            <a:pPr marL="0" marR="0" lvl="0" indent="0" algn="l" defTabSz="914400" rtl="0" eaLnBrk="1" fontAlgn="auto" latinLnBrk="0" hangingPunct="1">
              <a:lnSpc>
                <a:spcPct val="100000"/>
              </a:lnSpc>
              <a:spcBef>
                <a:spcPts val="0"/>
              </a:spcBef>
              <a:spcAft>
                <a:spcPts val="0"/>
              </a:spcAft>
              <a:buClrTx/>
              <a:buSzTx/>
              <a:buFontTx/>
              <a:buNone/>
              <a:tabLst/>
              <a:defRPr/>
            </a:pPr>
            <a:r>
              <a:rPr lang="nb-NO" dirty="0">
                <a:solidFill>
                  <a:srgbClr val="7030A0"/>
                </a:solidFill>
                <a:latin typeface="Calibri" panose="020F0502020204030204"/>
              </a:rPr>
              <a:t>u</a:t>
            </a:r>
            <a:r>
              <a:rPr kumimoji="0" lang="nb-NO" sz="1800" b="0" i="0" u="none" strike="noStrike" kern="1200" cap="none" spc="0" normalizeH="0" baseline="0" noProof="0" dirty="0" err="1">
                <a:ln>
                  <a:noFill/>
                </a:ln>
                <a:solidFill>
                  <a:srgbClr val="7030A0"/>
                </a:solidFill>
                <a:effectLst/>
                <a:uLnTx/>
                <a:uFillTx/>
                <a:latin typeface="Calibri" panose="020F0502020204030204"/>
                <a:ea typeface="+mn-ea"/>
                <a:cs typeface="+mn-cs"/>
              </a:rPr>
              <a:t>tbytte</a:t>
            </a:r>
            <a:r>
              <a:rPr kumimoji="0" lang="nb-NO" sz="1800" b="0" i="0" u="none" strike="noStrike" kern="1200" cap="none" spc="0" normalizeH="0" baseline="0" noProof="0" dirty="0">
                <a:ln>
                  <a:noFill/>
                </a:ln>
                <a:solidFill>
                  <a:srgbClr val="7030A0"/>
                </a:solidFill>
                <a:effectLst/>
                <a:uLnTx/>
                <a:uFillTx/>
                <a:latin typeface="Calibri" panose="020F0502020204030204"/>
                <a:ea typeface="+mn-ea"/>
                <a:cs typeface="+mn-cs"/>
              </a:rPr>
              <a:t> multiplisert med </a:t>
            </a:r>
          </a:p>
          <a:p>
            <a:pPr marL="0" marR="0" lvl="0" indent="0" algn="l" defTabSz="914400" rtl="0" eaLnBrk="1" fontAlgn="auto" latinLnBrk="0" hangingPunct="1">
              <a:lnSpc>
                <a:spcPct val="100000"/>
              </a:lnSpc>
              <a:spcBef>
                <a:spcPts val="0"/>
              </a:spcBef>
              <a:spcAft>
                <a:spcPts val="0"/>
              </a:spcAft>
              <a:buClrTx/>
              <a:buSzTx/>
              <a:buFontTx/>
              <a:buNone/>
              <a:tabLst/>
              <a:defRPr/>
            </a:pPr>
            <a:r>
              <a:rPr lang="nb-NO" dirty="0">
                <a:solidFill>
                  <a:srgbClr val="7030A0"/>
                </a:solidFill>
                <a:latin typeface="Calibri" panose="020F0502020204030204"/>
              </a:rPr>
              <a:t>o</a:t>
            </a:r>
            <a:r>
              <a:rPr kumimoji="0" lang="nb-NO" sz="1800" b="0" i="0" u="none" strike="noStrike" kern="1200" cap="none" spc="0" normalizeH="0" baseline="0" noProof="0" dirty="0" err="1">
                <a:ln>
                  <a:noFill/>
                </a:ln>
                <a:solidFill>
                  <a:srgbClr val="7030A0"/>
                </a:solidFill>
                <a:effectLst/>
                <a:uLnTx/>
                <a:uFillTx/>
                <a:latin typeface="Calibri" panose="020F0502020204030204"/>
                <a:ea typeface="+mn-ea"/>
                <a:cs typeface="+mn-cs"/>
              </a:rPr>
              <a:t>ppjusteringsfaktoren</a:t>
            </a:r>
            <a:r>
              <a:rPr kumimoji="0" lang="nb-NO" sz="1800" b="0" i="0" u="none" strike="noStrike" kern="1200" cap="none" spc="0" normalizeH="0" baseline="0" noProof="0" dirty="0">
                <a:ln>
                  <a:noFill/>
                </a:ln>
                <a:solidFill>
                  <a:srgbClr val="7030A0"/>
                </a:solidFill>
                <a:effectLst/>
                <a:uLnTx/>
                <a:uFillTx/>
                <a:latin typeface="Calibri" panose="020F0502020204030204"/>
                <a:ea typeface="+mn-ea"/>
                <a:cs typeface="+mn-cs"/>
              </a:rPr>
              <a:t> y</a:t>
            </a:r>
          </a:p>
        </p:txBody>
      </p:sp>
    </p:spTree>
    <p:extLst>
      <p:ext uri="{BB962C8B-B14F-4D97-AF65-F5344CB8AC3E}">
        <p14:creationId xmlns:p14="http://schemas.microsoft.com/office/powerpoint/2010/main" val="38290840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DE294B-3C24-F47F-D06C-5F33DBC0500E}"/>
                  </a:ext>
                </a:extLst>
              </p:cNvPr>
              <p:cNvSpPr>
                <a:spLocks noGrp="1"/>
              </p:cNvSpPr>
              <p:nvPr>
                <p:ph idx="1"/>
              </p:nvPr>
            </p:nvSpPr>
            <p:spPr>
              <a:xfrm>
                <a:off x="838200" y="540522"/>
                <a:ext cx="10515600" cy="4351338"/>
              </a:xfrm>
            </p:spPr>
            <p:txBody>
              <a:bodyPr>
                <a:normAutofit/>
              </a:bodyPr>
              <a:lstStyle/>
              <a:p>
                <a:pPr marL="0" indent="0">
                  <a:buNone/>
                </a:pPr>
                <a14:m>
                  <m:oMathPara xmlns:m="http://schemas.openxmlformats.org/officeDocument/2006/math">
                    <m:oMath>
                      <m:r>
                        <a:rPr lang="nb-NO" i="1" smtClean="0">
                          <a:latin typeface="Cambria Math" panose="02040503050406030204" pitchFamily="18" charset="0"/>
                        </a:rPr>
                        <m:t>47,4%+12,4%=</m:t>
                      </m:r>
                      <m:r>
                        <a:rPr lang="nb-NO" i="1" smtClean="0">
                          <a:solidFill>
                            <a:srgbClr val="FF0000"/>
                          </a:solidFill>
                          <a:latin typeface="Cambria Math" panose="02040503050406030204" pitchFamily="18" charset="0"/>
                        </a:rPr>
                        <m:t>22%+22%∗</m:t>
                      </m:r>
                      <m:r>
                        <a:rPr lang="nb-NO" b="0" i="1" smtClean="0">
                          <a:solidFill>
                            <a:srgbClr val="FF0000"/>
                          </a:solidFill>
                          <a:latin typeface="Cambria Math" panose="02040503050406030204" pitchFamily="18" charset="0"/>
                        </a:rPr>
                        <m:t>1,72</m:t>
                      </m:r>
                    </m:oMath>
                  </m:oMathPara>
                </a14:m>
                <a:endParaRPr lang="nb-NO" b="0" dirty="0">
                  <a:solidFill>
                    <a:srgbClr val="FF0000"/>
                  </a:solidFill>
                </a:endParaRPr>
              </a:p>
              <a:p>
                <a:pPr marL="0" indent="0">
                  <a:buNone/>
                </a:pPr>
                <a:endParaRPr lang="nb-NO" dirty="0">
                  <a:solidFill>
                    <a:srgbClr val="FF0000"/>
                  </a:solidFill>
                </a:endParaRPr>
              </a:p>
              <a:p>
                <a:pPr marL="0" indent="0">
                  <a:buNone/>
                </a:pPr>
                <a14:m>
                  <m:oMathPara xmlns:m="http://schemas.openxmlformats.org/officeDocument/2006/math">
                    <m:oMath>
                      <m:r>
                        <a:rPr lang="nb-NO" i="1" smtClean="0">
                          <a:solidFill>
                            <a:srgbClr val="FF0000"/>
                          </a:solidFill>
                          <a:latin typeface="Cambria Math" panose="02040503050406030204" pitchFamily="18" charset="0"/>
                          <a:ea typeface="Cambria Math" panose="02040503050406030204" pitchFamily="18" charset="0"/>
                        </a:rPr>
                        <m:t>⟺</m:t>
                      </m:r>
                    </m:oMath>
                  </m:oMathPara>
                </a14:m>
                <a:endParaRPr lang="nb-NO" dirty="0">
                  <a:solidFill>
                    <a:srgbClr val="FF0000"/>
                  </a:solidFill>
                </a:endParaRPr>
              </a:p>
              <a:p>
                <a:pPr marL="0" indent="0">
                  <a:buNone/>
                </a:pPr>
                <a:endParaRPr lang="nb-NO" dirty="0">
                  <a:solidFill>
                    <a:srgbClr val="FF0000"/>
                  </a:solidFill>
                </a:endParaRPr>
              </a:p>
              <a:p>
                <a:pPr marL="0" indent="0">
                  <a:buNone/>
                </a:pPr>
                <a14:m>
                  <m:oMathPara xmlns:m="http://schemas.openxmlformats.org/officeDocument/2006/math">
                    <m:oMath>
                      <m:r>
                        <a:rPr lang="nb-NO" i="1" dirty="0" smtClean="0">
                          <a:solidFill>
                            <a:schemeClr val="tx1"/>
                          </a:solidFill>
                          <a:latin typeface="Cambria Math" panose="02040503050406030204" pitchFamily="18" charset="0"/>
                        </a:rPr>
                        <m:t>59,8</m:t>
                      </m:r>
                      <m:r>
                        <a:rPr lang="nb-NO" b="0" i="1" dirty="0" smtClean="0">
                          <a:solidFill>
                            <a:schemeClr val="tx1"/>
                          </a:solidFill>
                          <a:latin typeface="Cambria Math" panose="02040503050406030204" pitchFamily="18" charset="0"/>
                        </a:rPr>
                        <m:t>%</m:t>
                      </m:r>
                      <m:r>
                        <a:rPr lang="nb-NO" i="1" dirty="0" smtClean="0">
                          <a:solidFill>
                            <a:schemeClr val="tx1"/>
                          </a:solidFill>
                          <a:latin typeface="Cambria Math" panose="02040503050406030204" pitchFamily="18" charset="0"/>
                        </a:rPr>
                        <m:t> </m:t>
                      </m:r>
                      <m:r>
                        <a:rPr lang="nb-NO" i="1" dirty="0" smtClean="0">
                          <a:solidFill>
                            <a:srgbClr val="FF0000"/>
                          </a:solidFill>
                          <a:latin typeface="Cambria Math" panose="02040503050406030204" pitchFamily="18" charset="0"/>
                        </a:rPr>
                        <m:t>= 59,8</m:t>
                      </m:r>
                      <m:r>
                        <a:rPr lang="nb-NO" b="0" i="1" dirty="0" smtClean="0">
                          <a:solidFill>
                            <a:srgbClr val="FF0000"/>
                          </a:solidFill>
                          <a:latin typeface="Cambria Math" panose="02040503050406030204" pitchFamily="18" charset="0"/>
                        </a:rPr>
                        <m:t>%</m:t>
                      </m:r>
                    </m:oMath>
                  </m:oMathPara>
                </a14:m>
                <a:endParaRPr lang="nb-NO" dirty="0">
                  <a:solidFill>
                    <a:srgbClr val="FF0000"/>
                  </a:solidFill>
                </a:endParaRPr>
              </a:p>
              <a:p>
                <a:pPr marL="0" indent="0">
                  <a:buNone/>
                </a:pPr>
                <a:endParaRPr lang="en-US" dirty="0"/>
              </a:p>
              <a:p>
                <a:pPr marL="0" indent="0">
                  <a:buNone/>
                </a:pPr>
                <a:r>
                  <a:rPr lang="nb-NO" dirty="0"/>
                  <a:t>Effektiv marginalskatt lønn: alminnelig skattesats (22%) + trygdeavgift (7,8%) + trinnskatt (trinn 5; 17,6%) = </a:t>
                </a:r>
                <a:r>
                  <a:rPr lang="nb-NO" dirty="0">
                    <a:solidFill>
                      <a:srgbClr val="FF0000"/>
                    </a:solidFill>
                  </a:rPr>
                  <a:t>47,5%</a:t>
                </a:r>
                <a:endParaRPr lang="nb-NO"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BDE294B-3C24-F47F-D06C-5F33DBC0500E}"/>
                  </a:ext>
                </a:extLst>
              </p:cNvPr>
              <p:cNvSpPr>
                <a:spLocks noGrp="1" noRot="1" noChangeAspect="1" noMove="1" noResize="1" noEditPoints="1" noAdjustHandles="1" noChangeArrowheads="1" noChangeShapeType="1" noTextEdit="1"/>
              </p:cNvSpPr>
              <p:nvPr>
                <p:ph idx="1"/>
              </p:nvPr>
            </p:nvSpPr>
            <p:spPr>
              <a:xfrm>
                <a:off x="838200" y="540522"/>
                <a:ext cx="10515600" cy="4351338"/>
              </a:xfrm>
              <a:blipFill>
                <a:blip r:embed="rId2"/>
                <a:stretch>
                  <a:fillRect l="-120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138EB84-959A-E961-354D-D154075249FD}"/>
              </a:ext>
            </a:extLst>
          </p:cNvPr>
          <p:cNvSpPr>
            <a:spLocks noGrp="1"/>
          </p:cNvSpPr>
          <p:nvPr>
            <p:ph type="sldNum" sz="quarter" idx="12"/>
          </p:nvPr>
        </p:nvSpPr>
        <p:spPr/>
        <p:txBody>
          <a:bodyPr/>
          <a:lstStyle/>
          <a:p>
            <a:fld id="{092CA8B5-DBB4-47BA-9127-F945AE107A35}" type="slidenum">
              <a:rPr lang="nb-NO" smtClean="0"/>
              <a:t>51</a:t>
            </a:fld>
            <a:endParaRPr lang="nb-NO"/>
          </a:p>
        </p:txBody>
      </p:sp>
    </p:spTree>
    <p:extLst>
      <p:ext uri="{BB962C8B-B14F-4D97-AF65-F5344CB8AC3E}">
        <p14:creationId xmlns:p14="http://schemas.microsoft.com/office/powerpoint/2010/main" val="14574241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EFBBC-B24A-F969-D93E-259FD9C524C8}"/>
              </a:ext>
            </a:extLst>
          </p:cNvPr>
          <p:cNvSpPr>
            <a:spLocks noGrp="1"/>
          </p:cNvSpPr>
          <p:nvPr>
            <p:ph type="title"/>
          </p:nvPr>
        </p:nvSpPr>
        <p:spPr>
          <a:xfrm>
            <a:off x="838200" y="18256"/>
            <a:ext cx="10515600" cy="1267620"/>
          </a:xfrm>
        </p:spPr>
        <p:txBody>
          <a:bodyPr>
            <a:normAutofit/>
          </a:bodyPr>
          <a:lstStyle/>
          <a:p>
            <a:r>
              <a:rPr lang="en-US" sz="3600" dirty="0"/>
              <a:t>Er </a:t>
            </a:r>
            <a:r>
              <a:rPr lang="en-US" sz="3600" dirty="0" err="1"/>
              <a:t>inntektsskiftningsligningen</a:t>
            </a:r>
            <a:r>
              <a:rPr lang="en-US" sz="3600" dirty="0"/>
              <a:t> </a:t>
            </a:r>
            <a:r>
              <a:rPr lang="en-US" sz="3600" dirty="0" err="1"/>
              <a:t>riktig</a:t>
            </a:r>
            <a:r>
              <a:rPr lang="en-US" sz="3600" dirty="0"/>
              <a:t>? </a:t>
            </a:r>
          </a:p>
        </p:txBody>
      </p:sp>
      <p:sp>
        <p:nvSpPr>
          <p:cNvPr id="3" name="Content Placeholder 2">
            <a:extLst>
              <a:ext uri="{FF2B5EF4-FFF2-40B4-BE49-F238E27FC236}">
                <a16:creationId xmlns:a16="http://schemas.microsoft.com/office/drawing/2014/main" id="{2E871C83-B908-C23E-0253-262130D8484F}"/>
              </a:ext>
            </a:extLst>
          </p:cNvPr>
          <p:cNvSpPr>
            <a:spLocks noGrp="1"/>
          </p:cNvSpPr>
          <p:nvPr>
            <p:ph idx="1"/>
          </p:nvPr>
        </p:nvSpPr>
        <p:spPr>
          <a:xfrm>
            <a:off x="838200" y="1285876"/>
            <a:ext cx="10515600" cy="4891087"/>
          </a:xfrm>
        </p:spPr>
        <p:txBody>
          <a:bodyPr>
            <a:normAutofit lnSpcReduction="10000"/>
          </a:bodyPr>
          <a:lstStyle/>
          <a:p>
            <a:r>
              <a:rPr lang="nb-NO" sz="3000" dirty="0"/>
              <a:t>Inntektsskiftnings ligningen forutsetter at arbeidsgiveravgiften er en skatt på lønn som bæres av lønnsmottaker.</a:t>
            </a:r>
          </a:p>
          <a:p>
            <a:endParaRPr lang="nb-NO" sz="3000" dirty="0"/>
          </a:p>
          <a:p>
            <a:r>
              <a:rPr lang="nb-NO" sz="3000" dirty="0"/>
              <a:t>Bedriften setter av 100 kr til å dekke lønn og arbeidsgiveravgift; da utgjør arbeidsgiveravgiften 12,4% av lønnen</a:t>
            </a:r>
          </a:p>
          <a:p>
            <a:endParaRPr lang="nb-NO" sz="3000" dirty="0"/>
          </a:p>
          <a:p>
            <a:pPr marL="0" indent="0">
              <a:buNone/>
            </a:pPr>
            <a:r>
              <a:rPr lang="nb-NO" sz="3000" dirty="0"/>
              <a:t>100 kr = kr 87,6 kr (lønnsutbetaling) + kr 12,4 (arbeidsgiveravgift)</a:t>
            </a:r>
          </a:p>
          <a:p>
            <a:endParaRPr lang="nb-NO" sz="3400" dirty="0"/>
          </a:p>
          <a:p>
            <a:r>
              <a:rPr lang="nb-NO" sz="3100" dirty="0"/>
              <a:t>Arbeidsgiveravgiften er da 14,1% (=12,4/87,6) av lønnsutbetalingen</a:t>
            </a:r>
            <a:endParaRPr lang="en-US" sz="3100" dirty="0"/>
          </a:p>
        </p:txBody>
      </p:sp>
      <p:sp>
        <p:nvSpPr>
          <p:cNvPr id="4" name="Slide Number Placeholder 3">
            <a:extLst>
              <a:ext uri="{FF2B5EF4-FFF2-40B4-BE49-F238E27FC236}">
                <a16:creationId xmlns:a16="http://schemas.microsoft.com/office/drawing/2014/main" id="{9CF190E4-1780-CBEA-B677-758C198084A6}"/>
              </a:ext>
            </a:extLst>
          </p:cNvPr>
          <p:cNvSpPr>
            <a:spLocks noGrp="1"/>
          </p:cNvSpPr>
          <p:nvPr>
            <p:ph type="sldNum" sz="quarter" idx="12"/>
          </p:nvPr>
        </p:nvSpPr>
        <p:spPr/>
        <p:txBody>
          <a:bodyPr/>
          <a:lstStyle/>
          <a:p>
            <a:fld id="{092CA8B5-DBB4-47BA-9127-F945AE107A35}" type="slidenum">
              <a:rPr lang="nb-NO" smtClean="0"/>
              <a:t>52</a:t>
            </a:fld>
            <a:endParaRPr lang="nb-NO"/>
          </a:p>
        </p:txBody>
      </p:sp>
    </p:spTree>
    <p:extLst>
      <p:ext uri="{BB962C8B-B14F-4D97-AF65-F5344CB8AC3E}">
        <p14:creationId xmlns:p14="http://schemas.microsoft.com/office/powerpoint/2010/main" val="671142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D164E-D854-5FB7-D311-591CED4B40F9}"/>
              </a:ext>
            </a:extLst>
          </p:cNvPr>
          <p:cNvSpPr>
            <a:spLocks noGrp="1"/>
          </p:cNvSpPr>
          <p:nvPr>
            <p:ph type="title"/>
          </p:nvPr>
        </p:nvSpPr>
        <p:spPr>
          <a:xfrm>
            <a:off x="838200" y="365125"/>
            <a:ext cx="10885098" cy="1325563"/>
          </a:xfrm>
        </p:spPr>
        <p:txBody>
          <a:bodyPr>
            <a:normAutofit/>
          </a:bodyPr>
          <a:lstStyle/>
          <a:p>
            <a:r>
              <a:rPr lang="nb-NO" sz="2800" b="1" noProof="0" dirty="0">
                <a:latin typeface="Arial" panose="020B0604020202020204" pitchFamily="34" charset="0"/>
                <a:cs typeface="Arial" panose="020B0604020202020204" pitchFamily="34" charset="0"/>
              </a:rPr>
              <a:t>Antakelser om </a:t>
            </a:r>
            <a:r>
              <a:rPr lang="nb-NO" sz="2800" b="1" noProof="0" dirty="0" err="1">
                <a:latin typeface="Arial" panose="020B0604020202020204" pitchFamily="34" charset="0"/>
                <a:cs typeface="Arial" panose="020B0604020202020204" pitchFamily="34" charset="0"/>
              </a:rPr>
              <a:t>overveltning</a:t>
            </a:r>
            <a:r>
              <a:rPr lang="nb-NO" sz="2800" b="1" noProof="0" dirty="0">
                <a:latin typeface="Arial" panose="020B0604020202020204" pitchFamily="34" charset="0"/>
                <a:cs typeface="Arial" panose="020B0604020202020204" pitchFamily="34" charset="0"/>
              </a:rPr>
              <a:t> har konsekvenser for eierskatten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5CA4DC-5C1D-8F77-2D17-87419F4C7CC0}"/>
                  </a:ext>
                </a:extLst>
              </p:cNvPr>
              <p:cNvSpPr>
                <a:spLocks noGrp="1"/>
              </p:cNvSpPr>
              <p:nvPr>
                <p:ph idx="1"/>
              </p:nvPr>
            </p:nvSpPr>
            <p:spPr>
              <a:xfrm>
                <a:off x="569343" y="1825625"/>
                <a:ext cx="11335109" cy="4351338"/>
              </a:xfrm>
            </p:spPr>
            <p:txBody>
              <a:bodyPr>
                <a:normAutofit lnSpcReduction="10000"/>
              </a:bodyPr>
              <a:lstStyle/>
              <a:p>
                <a:r>
                  <a:rPr lang="nb-NO" sz="2600" noProof="0" dirty="0"/>
                  <a:t>Full overvelting: </a:t>
                </a:r>
                <a14:m>
                  <m:oMath xmlns:m="http://schemas.openxmlformats.org/officeDocument/2006/math">
                    <m:r>
                      <a:rPr lang="nb-NO" sz="2600" i="1" noProof="0" smtClean="0">
                        <a:latin typeface="Cambria Math" panose="02040503050406030204" pitchFamily="18" charset="0"/>
                      </a:rPr>
                      <m:t>𝑦</m:t>
                    </m:r>
                    <m:r>
                      <a:rPr lang="nb-NO" sz="2600" i="1" noProof="0" smtClean="0">
                        <a:latin typeface="Cambria Math" panose="02040503050406030204" pitchFamily="18" charset="0"/>
                      </a:rPr>
                      <m:t> = 1,72</m:t>
                    </m:r>
                  </m:oMath>
                </a14:m>
                <a:r>
                  <a:rPr lang="nb-NO" sz="2600" noProof="0" dirty="0"/>
                  <a:t> og eierskatten er </a:t>
                </a:r>
                <a14:m>
                  <m:oMath xmlns:m="http://schemas.openxmlformats.org/officeDocument/2006/math">
                    <m:r>
                      <a:rPr lang="nb-NO" sz="2600" i="1" noProof="0" smtClean="0">
                        <a:latin typeface="Cambria Math" panose="02040503050406030204" pitchFamily="18" charset="0"/>
                      </a:rPr>
                      <m:t>22%∗1,72= 37,84</m:t>
                    </m:r>
                  </m:oMath>
                </a14:m>
                <a:endParaRPr lang="nb-NO" sz="2600" noProof="0" dirty="0"/>
              </a:p>
              <a:p>
                <a:endParaRPr lang="nb-NO" sz="2600" noProof="0" dirty="0"/>
              </a:p>
              <a:p>
                <a:r>
                  <a:rPr lang="nb-NO" sz="2600" noProof="0" dirty="0"/>
                  <a:t>Arbeidsgiveravgiften deles 50/50 (vi forenkler og deler 12,4%)</a:t>
                </a:r>
                <a:endParaRPr lang="nb-NO" sz="2600" b="0" i="0" noProof="0" dirty="0">
                  <a:latin typeface="Cambria Math" panose="02040503050406030204" pitchFamily="18" charset="0"/>
                </a:endParaRPr>
              </a:p>
              <a:p>
                <a:pPr lvl="1"/>
                <a14:m>
                  <m:oMath xmlns:m="http://schemas.openxmlformats.org/officeDocument/2006/math">
                    <m:r>
                      <a:rPr lang="nb-NO" sz="2000" i="1" noProof="0">
                        <a:latin typeface="Cambria Math" panose="02040503050406030204" pitchFamily="18" charset="0"/>
                      </a:rPr>
                      <m:t>47,4%+</m:t>
                    </m:r>
                    <m:r>
                      <a:rPr lang="nb-NO" sz="2000" b="0" i="1" noProof="0" smtClean="0">
                        <a:latin typeface="Cambria Math" panose="02040503050406030204" pitchFamily="18" charset="0"/>
                      </a:rPr>
                      <m:t>6,</m:t>
                    </m:r>
                    <m:r>
                      <a:rPr lang="nb-NO" sz="2000" i="1" noProof="0">
                        <a:latin typeface="Cambria Math" panose="02040503050406030204" pitchFamily="18" charset="0"/>
                      </a:rPr>
                      <m:t>2%=</m:t>
                    </m:r>
                    <m:r>
                      <a:rPr lang="nb-NO" sz="2000" i="1" noProof="0">
                        <a:solidFill>
                          <a:srgbClr val="FF0000"/>
                        </a:solidFill>
                        <a:latin typeface="Cambria Math" panose="02040503050406030204" pitchFamily="18" charset="0"/>
                      </a:rPr>
                      <m:t>22%+</m:t>
                    </m:r>
                    <m:r>
                      <a:rPr lang="nb-NO" sz="2000" b="0" i="1" noProof="0" smtClean="0">
                        <a:solidFill>
                          <a:srgbClr val="FF0000"/>
                        </a:solidFill>
                        <a:latin typeface="Cambria Math" panose="02040503050406030204" pitchFamily="18" charset="0"/>
                      </a:rPr>
                      <m:t>6</m:t>
                    </m:r>
                    <m:r>
                      <a:rPr lang="nb-NO" sz="2000" i="1" noProof="0">
                        <a:solidFill>
                          <a:srgbClr val="FF0000"/>
                        </a:solidFill>
                        <a:latin typeface="Cambria Math" panose="02040503050406030204" pitchFamily="18" charset="0"/>
                      </a:rPr>
                      <m:t>,</m:t>
                    </m:r>
                    <m:r>
                      <a:rPr lang="nb-NO" sz="2000" b="0" i="1" noProof="0" smtClean="0">
                        <a:solidFill>
                          <a:srgbClr val="FF0000"/>
                        </a:solidFill>
                        <a:latin typeface="Cambria Math" panose="02040503050406030204" pitchFamily="18" charset="0"/>
                      </a:rPr>
                      <m:t>2</m:t>
                    </m:r>
                    <m:r>
                      <a:rPr lang="nb-NO" sz="2000" i="1" noProof="0">
                        <a:solidFill>
                          <a:srgbClr val="FF0000"/>
                        </a:solidFill>
                        <a:latin typeface="Cambria Math" panose="02040503050406030204" pitchFamily="18" charset="0"/>
                      </a:rPr>
                      <m:t>%+ </m:t>
                    </m:r>
                    <m:r>
                      <a:rPr lang="nb-NO" sz="2000" i="1" noProof="0">
                        <a:solidFill>
                          <a:srgbClr val="7030A0"/>
                        </a:solidFill>
                        <a:latin typeface="Cambria Math" panose="02040503050406030204" pitchFamily="18" charset="0"/>
                      </a:rPr>
                      <m:t>22%∗</m:t>
                    </m:r>
                    <m:r>
                      <a:rPr lang="nb-NO" sz="2000" i="1" noProof="0">
                        <a:solidFill>
                          <a:srgbClr val="7030A0"/>
                        </a:solidFill>
                        <a:latin typeface="Cambria Math" panose="02040503050406030204" pitchFamily="18" charset="0"/>
                      </a:rPr>
                      <m:t>𝑦</m:t>
                    </m:r>
                  </m:oMath>
                </a14:m>
                <a:endParaRPr lang="nb-NO" sz="2000" noProof="0" dirty="0">
                  <a:solidFill>
                    <a:srgbClr val="FF0000"/>
                  </a:solidFill>
                </a:endParaRPr>
              </a:p>
              <a:p>
                <a:pPr lvl="1"/>
                <a14:m>
                  <m:oMath xmlns:m="http://schemas.openxmlformats.org/officeDocument/2006/math">
                    <m:r>
                      <a:rPr lang="nb-NO" sz="2200" i="1" noProof="0">
                        <a:latin typeface="Cambria Math" panose="02040503050406030204" pitchFamily="18" charset="0"/>
                      </a:rPr>
                      <m:t>𝑦</m:t>
                    </m:r>
                    <m:r>
                      <a:rPr lang="nb-NO" sz="2200" i="1" noProof="0">
                        <a:latin typeface="Cambria Math" panose="02040503050406030204" pitchFamily="18" charset="0"/>
                        <a:ea typeface="Cambria Math" panose="02040503050406030204" pitchFamily="18" charset="0"/>
                      </a:rPr>
                      <m:t>≅</m:t>
                    </m:r>
                    <m:r>
                      <a:rPr lang="nb-NO" sz="2200" i="1" noProof="0">
                        <a:latin typeface="Cambria Math" panose="02040503050406030204" pitchFamily="18" charset="0"/>
                      </a:rPr>
                      <m:t> 0,8</m:t>
                    </m:r>
                  </m:oMath>
                </a14:m>
                <a:r>
                  <a:rPr lang="nb-NO" sz="2200" noProof="0" dirty="0"/>
                  <a:t> og effektiv eierskatt </a:t>
                </a:r>
                <a14:m>
                  <m:oMath xmlns:m="http://schemas.openxmlformats.org/officeDocument/2006/math">
                    <m:r>
                      <a:rPr lang="nb-NO" sz="2200" i="1" noProof="0">
                        <a:latin typeface="Cambria Math" panose="02040503050406030204" pitchFamily="18" charset="0"/>
                      </a:rPr>
                      <m:t>22%∗0,8 =17,6%</m:t>
                    </m:r>
                  </m:oMath>
                </a14:m>
                <a:endParaRPr lang="nb-NO" sz="2200" noProof="0" dirty="0"/>
              </a:p>
              <a:p>
                <a:endParaRPr lang="nb-NO" sz="2600" noProof="0" dirty="0"/>
              </a:p>
              <a:p>
                <a:r>
                  <a:rPr lang="nb-NO" sz="2600" noProof="0" dirty="0"/>
                  <a:t>Bedriften betaler arbeidsgiveravgiften </a:t>
                </a:r>
              </a:p>
              <a:p>
                <a:pPr lvl="1"/>
                <a14:m>
                  <m:oMath xmlns:m="http://schemas.openxmlformats.org/officeDocument/2006/math">
                    <m:r>
                      <a:rPr lang="nb-NO" sz="2000" i="1" noProof="0">
                        <a:latin typeface="Cambria Math" panose="02040503050406030204" pitchFamily="18" charset="0"/>
                      </a:rPr>
                      <m:t>47,4%=</m:t>
                    </m:r>
                    <m:r>
                      <a:rPr lang="nb-NO" sz="2000" i="1" noProof="0">
                        <a:solidFill>
                          <a:srgbClr val="FF0000"/>
                        </a:solidFill>
                        <a:latin typeface="Cambria Math" panose="02040503050406030204" pitchFamily="18" charset="0"/>
                      </a:rPr>
                      <m:t>22%+1</m:t>
                    </m:r>
                    <m:r>
                      <a:rPr lang="nb-NO" sz="2000" b="0" i="1" noProof="0" smtClean="0">
                        <a:solidFill>
                          <a:srgbClr val="FF0000"/>
                        </a:solidFill>
                        <a:latin typeface="Cambria Math" panose="02040503050406030204" pitchFamily="18" charset="0"/>
                      </a:rPr>
                      <m:t>2</m:t>
                    </m:r>
                    <m:r>
                      <a:rPr lang="nb-NO" sz="2000" i="1" noProof="0">
                        <a:solidFill>
                          <a:srgbClr val="FF0000"/>
                        </a:solidFill>
                        <a:latin typeface="Cambria Math" panose="02040503050406030204" pitchFamily="18" charset="0"/>
                      </a:rPr>
                      <m:t>,4%+ </m:t>
                    </m:r>
                    <m:r>
                      <a:rPr lang="nb-NO" sz="2000" i="1" noProof="0">
                        <a:solidFill>
                          <a:srgbClr val="7030A0"/>
                        </a:solidFill>
                        <a:latin typeface="Cambria Math" panose="02040503050406030204" pitchFamily="18" charset="0"/>
                      </a:rPr>
                      <m:t>22%∗</m:t>
                    </m:r>
                    <m:r>
                      <a:rPr lang="nb-NO" sz="2000" i="1" noProof="0">
                        <a:solidFill>
                          <a:srgbClr val="7030A0"/>
                        </a:solidFill>
                        <a:latin typeface="Cambria Math" panose="02040503050406030204" pitchFamily="18" charset="0"/>
                      </a:rPr>
                      <m:t>𝑦</m:t>
                    </m:r>
                  </m:oMath>
                </a14:m>
                <a:r>
                  <a:rPr lang="nb-NO" sz="2000" noProof="0" dirty="0">
                    <a:solidFill>
                      <a:srgbClr val="FF0000"/>
                    </a:solidFill>
                  </a:rPr>
                  <a:t> </a:t>
                </a:r>
              </a:p>
              <a:p>
                <a:pPr lvl="1"/>
                <a14:m>
                  <m:oMath xmlns:m="http://schemas.openxmlformats.org/officeDocument/2006/math">
                    <m:r>
                      <a:rPr lang="nb-NO" sz="2000" i="1" noProof="0">
                        <a:latin typeface="Cambria Math" panose="02040503050406030204" pitchFamily="18" charset="0"/>
                      </a:rPr>
                      <m:t>𝑦</m:t>
                    </m:r>
                    <m:r>
                      <a:rPr lang="nb-NO" sz="2000" i="1" noProof="0">
                        <a:latin typeface="Cambria Math" panose="02040503050406030204" pitchFamily="18" charset="0"/>
                        <a:ea typeface="Cambria Math" panose="02040503050406030204" pitchFamily="18" charset="0"/>
                      </a:rPr>
                      <m:t>≅</m:t>
                    </m:r>
                    <m:r>
                      <a:rPr lang="nb-NO" sz="2000" i="1" noProof="0">
                        <a:latin typeface="Cambria Math" panose="02040503050406030204" pitchFamily="18" charset="0"/>
                      </a:rPr>
                      <m:t> 0,</m:t>
                    </m:r>
                    <m:r>
                      <a:rPr lang="nb-NO" sz="2000" b="0" i="1" noProof="0" smtClean="0">
                        <a:latin typeface="Cambria Math" panose="02040503050406030204" pitchFamily="18" charset="0"/>
                      </a:rPr>
                      <m:t>6</m:t>
                    </m:r>
                  </m:oMath>
                </a14:m>
                <a:r>
                  <a:rPr lang="nb-NO" sz="2000" noProof="0" dirty="0"/>
                  <a:t> og effektiv eierskatt </a:t>
                </a:r>
                <a14:m>
                  <m:oMath xmlns:m="http://schemas.openxmlformats.org/officeDocument/2006/math">
                    <m:r>
                      <a:rPr lang="nb-NO" sz="2000" i="1" noProof="0">
                        <a:latin typeface="Cambria Math" panose="02040503050406030204" pitchFamily="18" charset="0"/>
                      </a:rPr>
                      <m:t>22%∗0,</m:t>
                    </m:r>
                    <m:r>
                      <a:rPr lang="nb-NO" sz="2000" b="0" i="1" noProof="0" smtClean="0">
                        <a:latin typeface="Cambria Math" panose="02040503050406030204" pitchFamily="18" charset="0"/>
                      </a:rPr>
                      <m:t>6</m:t>
                    </m:r>
                    <m:r>
                      <a:rPr lang="nb-NO" sz="2000" i="1" noProof="0">
                        <a:latin typeface="Cambria Math" panose="02040503050406030204" pitchFamily="18" charset="0"/>
                      </a:rPr>
                      <m:t> =1</m:t>
                    </m:r>
                    <m:r>
                      <a:rPr lang="nb-NO" sz="2000" b="0" i="1" noProof="0" smtClean="0">
                        <a:latin typeface="Cambria Math" panose="02040503050406030204" pitchFamily="18" charset="0"/>
                      </a:rPr>
                      <m:t>3,2</m:t>
                    </m:r>
                    <m:r>
                      <a:rPr lang="nb-NO" sz="2000" i="1" noProof="0">
                        <a:latin typeface="Cambria Math" panose="02040503050406030204" pitchFamily="18" charset="0"/>
                      </a:rPr>
                      <m:t>%</m:t>
                    </m:r>
                  </m:oMath>
                </a14:m>
                <a:endParaRPr lang="nb-NO" sz="2000" noProof="0" dirty="0"/>
              </a:p>
              <a:p>
                <a:endParaRPr lang="nb-NO" sz="2400" noProof="0" dirty="0">
                  <a:solidFill>
                    <a:srgbClr val="FF0000"/>
                  </a:solidFill>
                </a:endParaRPr>
              </a:p>
              <a:p>
                <a:r>
                  <a:rPr lang="nb-NO" sz="2400" noProof="0" dirty="0">
                    <a:solidFill>
                      <a:srgbClr val="FF0000"/>
                    </a:solidFill>
                  </a:rPr>
                  <a:t>Hva sier empirien; det er den som burde avgjøre. La oss se på den.</a:t>
                </a:r>
              </a:p>
              <a:p>
                <a:pPr lvl="1"/>
                <a:endParaRPr lang="nb-NO" sz="2200" noProof="0" dirty="0"/>
              </a:p>
            </p:txBody>
          </p:sp>
        </mc:Choice>
        <mc:Fallback xmlns="">
          <p:sp>
            <p:nvSpPr>
              <p:cNvPr id="3" name="Content Placeholder 2">
                <a:extLst>
                  <a:ext uri="{FF2B5EF4-FFF2-40B4-BE49-F238E27FC236}">
                    <a16:creationId xmlns:a16="http://schemas.microsoft.com/office/drawing/2014/main" id="{2B5CA4DC-5C1D-8F77-2D17-87419F4C7CC0}"/>
                  </a:ext>
                </a:extLst>
              </p:cNvPr>
              <p:cNvSpPr>
                <a:spLocks noGrp="1" noRot="1" noChangeAspect="1" noMove="1" noResize="1" noEditPoints="1" noAdjustHandles="1" noChangeArrowheads="1" noChangeShapeType="1" noTextEdit="1"/>
              </p:cNvSpPr>
              <p:nvPr>
                <p:ph idx="1"/>
              </p:nvPr>
            </p:nvSpPr>
            <p:spPr>
              <a:xfrm>
                <a:off x="569343" y="1825625"/>
                <a:ext cx="11335109" cy="4351338"/>
              </a:xfrm>
              <a:blipFill>
                <a:blip r:embed="rId2"/>
                <a:stretch>
                  <a:fillRect l="-806" t="-2801" b="-2381"/>
                </a:stretch>
              </a:blipFill>
            </p:spPr>
            <p:txBody>
              <a:bodyPr/>
              <a:lstStyle/>
              <a:p>
                <a:r>
                  <a:rPr lang="nb-NO">
                    <a:noFill/>
                  </a:rPr>
                  <a:t> </a:t>
                </a:r>
              </a:p>
            </p:txBody>
          </p:sp>
        </mc:Fallback>
      </mc:AlternateContent>
    </p:spTree>
    <p:extLst>
      <p:ext uri="{BB962C8B-B14F-4D97-AF65-F5344CB8AC3E}">
        <p14:creationId xmlns:p14="http://schemas.microsoft.com/office/powerpoint/2010/main" val="8696639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1091672" cy="594360"/>
          </a:xfrm>
          <a:prstGeom prst="rect">
            <a:avLst/>
          </a:prstGeom>
          <a:noFill/>
          <a:ln/>
        </p:spPr>
        <p:txBody>
          <a:bodyPr wrap="square" lIns="0" tIns="0" rIns="0" bIns="0" rtlCol="0" anchor="ctr"/>
          <a:lstStyle/>
          <a:p>
            <a:pPr marL="0" indent="0">
              <a:buNone/>
            </a:pPr>
            <a:r>
              <a:rPr lang="en-US" sz="3000" b="1" dirty="0">
                <a:solidFill>
                  <a:srgbClr val="23303F"/>
                </a:solidFill>
                <a:latin typeface="Calibri" pitchFamily="34" charset="0"/>
                <a:ea typeface="Calibri" pitchFamily="34" charset="-122"/>
                <a:cs typeface="Calibri" pitchFamily="34" charset="-120"/>
              </a:rPr>
              <a:t>Hvordan resultatet passer med litteraturen</a:t>
            </a:r>
            <a:endParaRPr lang="en-US" sz="3000" dirty="0"/>
          </a:p>
        </p:txBody>
      </p:sp>
      <p:sp>
        <p:nvSpPr>
          <p:cNvPr id="3" name="Text 1"/>
          <p:cNvSpPr/>
          <p:nvPr/>
        </p:nvSpPr>
        <p:spPr>
          <a:xfrm>
            <a:off x="548640" y="914400"/>
            <a:ext cx="11091672" cy="320040"/>
          </a:xfrm>
          <a:prstGeom prst="rect">
            <a:avLst/>
          </a:prstGeom>
          <a:noFill/>
          <a:ln/>
        </p:spPr>
        <p:txBody>
          <a:bodyPr wrap="square" lIns="0" tIns="0" rIns="0" bIns="0" rtlCol="0" anchor="ctr"/>
          <a:lstStyle/>
          <a:p>
            <a:pPr marL="0" indent="0">
              <a:buNone/>
            </a:pPr>
            <a:r>
              <a:rPr lang="en-US" sz="1400" i="1" dirty="0">
                <a:solidFill>
                  <a:srgbClr val="6B7785"/>
                </a:solidFill>
                <a:latin typeface="Calibri" pitchFamily="34" charset="0"/>
                <a:ea typeface="Calibri" pitchFamily="34" charset="-122"/>
                <a:cs typeface="Calibri" pitchFamily="34" charset="-120"/>
              </a:rPr>
              <a:t>Andel av arbeidsgiveravgiften som veltes over på arbeidstakerne, nordiske studier med regional/reformbasert variasjon</a:t>
            </a:r>
            <a:endParaRPr lang="en-US" sz="1400" dirty="0"/>
          </a:p>
        </p:txBody>
      </p:sp>
      <p:sp>
        <p:nvSpPr>
          <p:cNvPr id="4" name="Shape 2"/>
          <p:cNvSpPr/>
          <p:nvPr/>
        </p:nvSpPr>
        <p:spPr>
          <a:xfrm>
            <a:off x="548640" y="1417320"/>
            <a:ext cx="11091672" cy="347472"/>
          </a:xfrm>
          <a:prstGeom prst="rect">
            <a:avLst/>
          </a:prstGeom>
          <a:solidFill>
            <a:srgbClr val="F0F2F4"/>
          </a:solidFill>
          <a:ln/>
        </p:spPr>
        <p:txBody>
          <a:bodyPr/>
          <a:lstStyle/>
          <a:p>
            <a:endParaRPr lang="en-US"/>
          </a:p>
        </p:txBody>
      </p:sp>
      <p:sp>
        <p:nvSpPr>
          <p:cNvPr id="5" name="Text 3"/>
          <p:cNvSpPr/>
          <p:nvPr/>
        </p:nvSpPr>
        <p:spPr>
          <a:xfrm>
            <a:off x="685800" y="1417320"/>
            <a:ext cx="5486400" cy="347472"/>
          </a:xfrm>
          <a:prstGeom prst="rect">
            <a:avLst/>
          </a:prstGeom>
          <a:noFill/>
          <a:ln/>
        </p:spPr>
        <p:txBody>
          <a:bodyPr wrap="square" lIns="0" tIns="0" rIns="0" bIns="0" rtlCol="0" anchor="ctr"/>
          <a:lstStyle/>
          <a:p>
            <a:pPr marL="0" indent="0">
              <a:buNone/>
            </a:pPr>
            <a:r>
              <a:rPr lang="en-US" sz="1250" b="1" kern="0" spc="100" dirty="0">
                <a:solidFill>
                  <a:srgbClr val="1E3A5F"/>
                </a:solidFill>
                <a:latin typeface="Calibri" pitchFamily="34" charset="0"/>
                <a:ea typeface="Calibri" pitchFamily="34" charset="-122"/>
                <a:cs typeface="Calibri" pitchFamily="34" charset="-120"/>
              </a:rPr>
              <a:t>NORGE</a:t>
            </a:r>
            <a:endParaRPr lang="en-US" sz="1250" dirty="0"/>
          </a:p>
        </p:txBody>
      </p:sp>
      <p:sp>
        <p:nvSpPr>
          <p:cNvPr id="6" name="Text 4"/>
          <p:cNvSpPr/>
          <p:nvPr/>
        </p:nvSpPr>
        <p:spPr>
          <a:xfrm>
            <a:off x="548640" y="1764792"/>
            <a:ext cx="4297680" cy="420624"/>
          </a:xfrm>
          <a:prstGeom prst="rect">
            <a:avLst/>
          </a:prstGeom>
          <a:noFill/>
          <a:ln/>
        </p:spPr>
        <p:txBody>
          <a:bodyPr wrap="square" lIns="0" tIns="0" rIns="0" bIns="0" rtlCol="0" anchor="ctr"/>
          <a:lstStyle/>
          <a:p>
            <a:pPr marL="0" indent="0">
              <a:buNone/>
            </a:pPr>
            <a:r>
              <a:rPr lang="en-US" sz="1250" dirty="0">
                <a:solidFill>
                  <a:srgbClr val="23303F"/>
                </a:solidFill>
                <a:latin typeface="Calibri" pitchFamily="34" charset="0"/>
                <a:ea typeface="Calibri" pitchFamily="34" charset="-122"/>
                <a:cs typeface="Calibri" pitchFamily="34" charset="-120"/>
              </a:rPr>
              <a:t>Dale-Olsen (2018)</a:t>
            </a:r>
            <a:endParaRPr lang="en-US" sz="1250" dirty="0"/>
          </a:p>
        </p:txBody>
      </p:sp>
      <p:sp>
        <p:nvSpPr>
          <p:cNvPr id="7" name="Shape 5"/>
          <p:cNvSpPr/>
          <p:nvPr/>
        </p:nvSpPr>
        <p:spPr>
          <a:xfrm>
            <a:off x="4983480" y="1892808"/>
            <a:ext cx="4206240" cy="164592"/>
          </a:xfrm>
          <a:prstGeom prst="roundRect">
            <a:avLst>
              <a:gd name="adj" fmla="val 16667"/>
            </a:avLst>
          </a:prstGeom>
          <a:solidFill>
            <a:srgbClr val="E7EAEE"/>
          </a:solidFill>
          <a:ln/>
        </p:spPr>
        <p:txBody>
          <a:bodyPr/>
          <a:lstStyle/>
          <a:p>
            <a:endParaRPr lang="en-US"/>
          </a:p>
        </p:txBody>
      </p:sp>
      <p:sp>
        <p:nvSpPr>
          <p:cNvPr id="8" name="Shape 6"/>
          <p:cNvSpPr/>
          <p:nvPr/>
        </p:nvSpPr>
        <p:spPr>
          <a:xfrm>
            <a:off x="4983480" y="1892808"/>
            <a:ext cx="946404" cy="164592"/>
          </a:xfrm>
          <a:prstGeom prst="roundRect">
            <a:avLst>
              <a:gd name="adj" fmla="val 16667"/>
            </a:avLst>
          </a:prstGeom>
          <a:solidFill>
            <a:srgbClr val="1E3A5F"/>
          </a:solidFill>
          <a:ln/>
        </p:spPr>
        <p:txBody>
          <a:bodyPr/>
          <a:lstStyle/>
          <a:p>
            <a:endParaRPr lang="en-US"/>
          </a:p>
        </p:txBody>
      </p:sp>
      <p:sp>
        <p:nvSpPr>
          <p:cNvPr id="9" name="Text 7"/>
          <p:cNvSpPr/>
          <p:nvPr/>
        </p:nvSpPr>
        <p:spPr>
          <a:xfrm>
            <a:off x="9372600" y="1764792"/>
            <a:ext cx="2286000" cy="420624"/>
          </a:xfrm>
          <a:prstGeom prst="rect">
            <a:avLst/>
          </a:prstGeom>
          <a:noFill/>
          <a:ln/>
        </p:spPr>
        <p:txBody>
          <a:bodyPr wrap="square" lIns="0" tIns="0" rIns="0" bIns="0" rtlCol="0" anchor="ctr"/>
          <a:lstStyle/>
          <a:p>
            <a:pPr marL="0" indent="0" algn="r">
              <a:buNone/>
            </a:pPr>
            <a:r>
              <a:rPr lang="en-US" sz="1300" b="1" dirty="0">
                <a:solidFill>
                  <a:srgbClr val="23303F"/>
                </a:solidFill>
                <a:latin typeface="Calibri" pitchFamily="34" charset="0"/>
                <a:ea typeface="Calibri" pitchFamily="34" charset="-122"/>
                <a:cs typeface="Calibri" pitchFamily="34" charset="-120"/>
              </a:rPr>
              <a:t>15–30 %</a:t>
            </a:r>
            <a:endParaRPr lang="en-US" sz="1300" dirty="0"/>
          </a:p>
        </p:txBody>
      </p:sp>
      <p:sp>
        <p:nvSpPr>
          <p:cNvPr id="10" name="Text 8"/>
          <p:cNvSpPr/>
          <p:nvPr/>
        </p:nvSpPr>
        <p:spPr>
          <a:xfrm>
            <a:off x="548640" y="2185416"/>
            <a:ext cx="4297680" cy="420624"/>
          </a:xfrm>
          <a:prstGeom prst="rect">
            <a:avLst/>
          </a:prstGeom>
          <a:noFill/>
          <a:ln/>
        </p:spPr>
        <p:txBody>
          <a:bodyPr wrap="square" lIns="0" tIns="0" rIns="0" bIns="0" rtlCol="0" anchor="ctr"/>
          <a:lstStyle/>
          <a:p>
            <a:pPr marL="0" indent="0">
              <a:buNone/>
            </a:pPr>
            <a:r>
              <a:rPr lang="en-US" sz="1250" dirty="0">
                <a:solidFill>
                  <a:srgbClr val="23303F"/>
                </a:solidFill>
                <a:latin typeface="Calibri" pitchFamily="34" charset="0"/>
                <a:ea typeface="Calibri" pitchFamily="34" charset="-122"/>
                <a:cs typeface="Calibri" pitchFamily="34" charset="-120"/>
              </a:rPr>
              <a:t>Ku m.fl. (2020)</a:t>
            </a:r>
            <a:endParaRPr lang="en-US" sz="1250" dirty="0"/>
          </a:p>
        </p:txBody>
      </p:sp>
      <p:sp>
        <p:nvSpPr>
          <p:cNvPr id="11" name="Shape 9"/>
          <p:cNvSpPr/>
          <p:nvPr/>
        </p:nvSpPr>
        <p:spPr>
          <a:xfrm>
            <a:off x="4983480" y="2313432"/>
            <a:ext cx="4206240" cy="164592"/>
          </a:xfrm>
          <a:prstGeom prst="roundRect">
            <a:avLst>
              <a:gd name="adj" fmla="val 16667"/>
            </a:avLst>
          </a:prstGeom>
          <a:solidFill>
            <a:srgbClr val="E7EAEE"/>
          </a:solidFill>
          <a:ln/>
        </p:spPr>
        <p:txBody>
          <a:bodyPr/>
          <a:lstStyle/>
          <a:p>
            <a:endParaRPr lang="en-US"/>
          </a:p>
        </p:txBody>
      </p:sp>
      <p:sp>
        <p:nvSpPr>
          <p:cNvPr id="12" name="Shape 10"/>
          <p:cNvSpPr/>
          <p:nvPr/>
        </p:nvSpPr>
        <p:spPr>
          <a:xfrm>
            <a:off x="4983480" y="2313432"/>
            <a:ext cx="946404" cy="164592"/>
          </a:xfrm>
          <a:prstGeom prst="roundRect">
            <a:avLst>
              <a:gd name="adj" fmla="val 16667"/>
            </a:avLst>
          </a:prstGeom>
          <a:solidFill>
            <a:srgbClr val="1E3A5F"/>
          </a:solidFill>
          <a:ln/>
        </p:spPr>
        <p:txBody>
          <a:bodyPr/>
          <a:lstStyle/>
          <a:p>
            <a:endParaRPr lang="en-US"/>
          </a:p>
        </p:txBody>
      </p:sp>
      <p:sp>
        <p:nvSpPr>
          <p:cNvPr id="13" name="Text 11"/>
          <p:cNvSpPr/>
          <p:nvPr/>
        </p:nvSpPr>
        <p:spPr>
          <a:xfrm>
            <a:off x="9372600" y="2185416"/>
            <a:ext cx="2286000" cy="420624"/>
          </a:xfrm>
          <a:prstGeom prst="rect">
            <a:avLst/>
          </a:prstGeom>
          <a:noFill/>
          <a:ln/>
        </p:spPr>
        <p:txBody>
          <a:bodyPr wrap="square" lIns="0" tIns="0" rIns="0" bIns="0" rtlCol="0" anchor="ctr"/>
          <a:lstStyle/>
          <a:p>
            <a:pPr marL="0" indent="0" algn="r">
              <a:buNone/>
            </a:pPr>
            <a:r>
              <a:rPr lang="en-US" sz="1300" b="1" dirty="0">
                <a:solidFill>
                  <a:srgbClr val="23303F"/>
                </a:solidFill>
                <a:latin typeface="Calibri" pitchFamily="34" charset="0"/>
                <a:ea typeface="Calibri" pitchFamily="34" charset="-122"/>
                <a:cs typeface="Calibri" pitchFamily="34" charset="-120"/>
              </a:rPr>
              <a:t>15–30 %</a:t>
            </a:r>
            <a:endParaRPr lang="en-US" sz="1300" dirty="0"/>
          </a:p>
        </p:txBody>
      </p:sp>
      <p:sp>
        <p:nvSpPr>
          <p:cNvPr id="14" name="Text 12"/>
          <p:cNvSpPr/>
          <p:nvPr/>
        </p:nvSpPr>
        <p:spPr>
          <a:xfrm>
            <a:off x="548640" y="2606040"/>
            <a:ext cx="4297680" cy="420624"/>
          </a:xfrm>
          <a:prstGeom prst="rect">
            <a:avLst/>
          </a:prstGeom>
          <a:noFill/>
          <a:ln/>
        </p:spPr>
        <p:txBody>
          <a:bodyPr wrap="square" lIns="0" tIns="0" rIns="0" bIns="0" rtlCol="0" anchor="ctr"/>
          <a:lstStyle/>
          <a:p>
            <a:pPr marL="0" indent="0">
              <a:buNone/>
            </a:pPr>
            <a:r>
              <a:rPr lang="en-US" sz="1250" dirty="0">
                <a:solidFill>
                  <a:srgbClr val="23303F"/>
                </a:solidFill>
                <a:latin typeface="Calibri" pitchFamily="34" charset="0"/>
                <a:ea typeface="Calibri" pitchFamily="34" charset="-122"/>
                <a:cs typeface="Calibri" pitchFamily="34" charset="-120"/>
              </a:rPr>
              <a:t>Stokke (2021)</a:t>
            </a:r>
            <a:endParaRPr lang="en-US" sz="1250" dirty="0"/>
          </a:p>
        </p:txBody>
      </p:sp>
      <p:sp>
        <p:nvSpPr>
          <p:cNvPr id="15" name="Shape 13"/>
          <p:cNvSpPr/>
          <p:nvPr/>
        </p:nvSpPr>
        <p:spPr>
          <a:xfrm>
            <a:off x="4983480" y="2734056"/>
            <a:ext cx="4206240" cy="164592"/>
          </a:xfrm>
          <a:prstGeom prst="roundRect">
            <a:avLst>
              <a:gd name="adj" fmla="val 16667"/>
            </a:avLst>
          </a:prstGeom>
          <a:solidFill>
            <a:srgbClr val="E7EAEE"/>
          </a:solidFill>
          <a:ln/>
        </p:spPr>
        <p:txBody>
          <a:bodyPr/>
          <a:lstStyle/>
          <a:p>
            <a:endParaRPr lang="en-US"/>
          </a:p>
        </p:txBody>
      </p:sp>
      <p:sp>
        <p:nvSpPr>
          <p:cNvPr id="16" name="Shape 14"/>
          <p:cNvSpPr/>
          <p:nvPr/>
        </p:nvSpPr>
        <p:spPr>
          <a:xfrm>
            <a:off x="4983480" y="2734056"/>
            <a:ext cx="946404" cy="164592"/>
          </a:xfrm>
          <a:prstGeom prst="roundRect">
            <a:avLst>
              <a:gd name="adj" fmla="val 16667"/>
            </a:avLst>
          </a:prstGeom>
          <a:solidFill>
            <a:srgbClr val="1E3A5F"/>
          </a:solidFill>
          <a:ln/>
        </p:spPr>
        <p:txBody>
          <a:bodyPr/>
          <a:lstStyle/>
          <a:p>
            <a:endParaRPr lang="en-US"/>
          </a:p>
        </p:txBody>
      </p:sp>
      <p:sp>
        <p:nvSpPr>
          <p:cNvPr id="17" name="Text 15"/>
          <p:cNvSpPr/>
          <p:nvPr/>
        </p:nvSpPr>
        <p:spPr>
          <a:xfrm>
            <a:off x="9372600" y="2606040"/>
            <a:ext cx="2286000" cy="420624"/>
          </a:xfrm>
          <a:prstGeom prst="rect">
            <a:avLst/>
          </a:prstGeom>
          <a:noFill/>
          <a:ln/>
        </p:spPr>
        <p:txBody>
          <a:bodyPr wrap="square" lIns="0" tIns="0" rIns="0" bIns="0" rtlCol="0" anchor="ctr"/>
          <a:lstStyle/>
          <a:p>
            <a:pPr marL="0" indent="0" algn="r">
              <a:buNone/>
            </a:pPr>
            <a:r>
              <a:rPr lang="en-US" sz="1300" b="1" dirty="0">
                <a:solidFill>
                  <a:srgbClr val="23303F"/>
                </a:solidFill>
                <a:latin typeface="Calibri" pitchFamily="34" charset="0"/>
                <a:ea typeface="Calibri" pitchFamily="34" charset="-122"/>
                <a:cs typeface="Calibri" pitchFamily="34" charset="-120"/>
              </a:rPr>
              <a:t>15–30 %</a:t>
            </a:r>
            <a:endParaRPr lang="en-US" sz="1300" dirty="0"/>
          </a:p>
        </p:txBody>
      </p:sp>
      <p:sp>
        <p:nvSpPr>
          <p:cNvPr id="18" name="Text 16"/>
          <p:cNvSpPr/>
          <p:nvPr/>
        </p:nvSpPr>
        <p:spPr>
          <a:xfrm>
            <a:off x="548640" y="3026664"/>
            <a:ext cx="4297680" cy="420624"/>
          </a:xfrm>
          <a:prstGeom prst="rect">
            <a:avLst/>
          </a:prstGeom>
          <a:noFill/>
          <a:ln/>
        </p:spPr>
        <p:txBody>
          <a:bodyPr wrap="square" lIns="0" tIns="0" rIns="0" bIns="0" rtlCol="0" anchor="ctr"/>
          <a:lstStyle/>
          <a:p>
            <a:pPr marL="0" indent="0">
              <a:buNone/>
            </a:pPr>
            <a:r>
              <a:rPr lang="en-US" sz="1250" dirty="0">
                <a:solidFill>
                  <a:srgbClr val="23303F"/>
                </a:solidFill>
                <a:latin typeface="Calibri" pitchFamily="34" charset="0"/>
                <a:ea typeface="Calibri" pitchFamily="34" charset="-122"/>
                <a:cs typeface="Calibri" pitchFamily="34" charset="-120"/>
              </a:rPr>
              <a:t>Gavrilova m.fl. (2023) — kontraktslønn  </a:t>
            </a:r>
            <a:endParaRPr lang="en-US" sz="1250" dirty="0"/>
          </a:p>
        </p:txBody>
      </p:sp>
      <p:sp>
        <p:nvSpPr>
          <p:cNvPr id="19" name="Text 17"/>
          <p:cNvSpPr/>
          <p:nvPr/>
        </p:nvSpPr>
        <p:spPr>
          <a:xfrm>
            <a:off x="548640" y="3246120"/>
            <a:ext cx="4297680" cy="201168"/>
          </a:xfrm>
          <a:prstGeom prst="rect">
            <a:avLst/>
          </a:prstGeom>
          <a:noFill/>
          <a:ln/>
        </p:spPr>
        <p:txBody>
          <a:bodyPr wrap="square" lIns="0" tIns="0" rIns="0" bIns="0" rtlCol="0" anchor="ctr"/>
          <a:lstStyle/>
          <a:p>
            <a:pPr marL="0" indent="0">
              <a:buNone/>
            </a:pPr>
            <a:r>
              <a:rPr lang="en-US" sz="950" i="1" dirty="0">
                <a:solidFill>
                  <a:srgbClr val="6B7785"/>
                </a:solidFill>
                <a:latin typeface="Calibri" pitchFamily="34" charset="0"/>
                <a:ea typeface="Calibri" pitchFamily="34" charset="-122"/>
                <a:cs typeface="Calibri" pitchFamily="34" charset="-120"/>
              </a:rPr>
              <a:t>upresist</a:t>
            </a:r>
            <a:endParaRPr lang="en-US" sz="950" dirty="0"/>
          </a:p>
        </p:txBody>
      </p:sp>
      <p:sp>
        <p:nvSpPr>
          <p:cNvPr id="20" name="Shape 18"/>
          <p:cNvSpPr/>
          <p:nvPr/>
        </p:nvSpPr>
        <p:spPr>
          <a:xfrm>
            <a:off x="4983480" y="3154680"/>
            <a:ext cx="4206240" cy="164592"/>
          </a:xfrm>
          <a:prstGeom prst="roundRect">
            <a:avLst>
              <a:gd name="adj" fmla="val 16667"/>
            </a:avLst>
          </a:prstGeom>
          <a:solidFill>
            <a:srgbClr val="E7EAEE"/>
          </a:solidFill>
          <a:ln/>
        </p:spPr>
        <p:txBody>
          <a:bodyPr/>
          <a:lstStyle/>
          <a:p>
            <a:endParaRPr lang="en-US"/>
          </a:p>
        </p:txBody>
      </p:sp>
      <p:sp>
        <p:nvSpPr>
          <p:cNvPr id="21" name="Shape 19"/>
          <p:cNvSpPr/>
          <p:nvPr/>
        </p:nvSpPr>
        <p:spPr>
          <a:xfrm>
            <a:off x="4983480" y="3154680"/>
            <a:ext cx="1472184" cy="164592"/>
          </a:xfrm>
          <a:prstGeom prst="roundRect">
            <a:avLst>
              <a:gd name="adj" fmla="val 16667"/>
            </a:avLst>
          </a:prstGeom>
          <a:solidFill>
            <a:srgbClr val="1E3A5F"/>
          </a:solidFill>
          <a:ln/>
        </p:spPr>
        <p:txBody>
          <a:bodyPr/>
          <a:lstStyle/>
          <a:p>
            <a:endParaRPr lang="en-US"/>
          </a:p>
        </p:txBody>
      </p:sp>
      <p:sp>
        <p:nvSpPr>
          <p:cNvPr id="22" name="Text 20"/>
          <p:cNvSpPr/>
          <p:nvPr/>
        </p:nvSpPr>
        <p:spPr>
          <a:xfrm>
            <a:off x="9372600" y="3026664"/>
            <a:ext cx="2286000" cy="420624"/>
          </a:xfrm>
          <a:prstGeom prst="rect">
            <a:avLst/>
          </a:prstGeom>
          <a:noFill/>
          <a:ln/>
        </p:spPr>
        <p:txBody>
          <a:bodyPr wrap="square" lIns="0" tIns="0" rIns="0" bIns="0" rtlCol="0" anchor="ctr"/>
          <a:lstStyle/>
          <a:p>
            <a:pPr marL="0" indent="0" algn="r">
              <a:buNone/>
            </a:pPr>
            <a:r>
              <a:rPr lang="en-US" sz="1300" b="1" dirty="0">
                <a:solidFill>
                  <a:srgbClr val="23303F"/>
                </a:solidFill>
                <a:latin typeface="Calibri" pitchFamily="34" charset="0"/>
                <a:ea typeface="Calibri" pitchFamily="34" charset="-122"/>
                <a:cs typeface="Calibri" pitchFamily="34" charset="-120"/>
              </a:rPr>
              <a:t>20–50 %</a:t>
            </a:r>
            <a:endParaRPr lang="en-US" sz="1300" dirty="0"/>
          </a:p>
        </p:txBody>
      </p:sp>
      <p:sp>
        <p:nvSpPr>
          <p:cNvPr id="23" name="Text 21"/>
          <p:cNvSpPr/>
          <p:nvPr/>
        </p:nvSpPr>
        <p:spPr>
          <a:xfrm>
            <a:off x="548640" y="3447288"/>
            <a:ext cx="4297680" cy="420624"/>
          </a:xfrm>
          <a:prstGeom prst="rect">
            <a:avLst/>
          </a:prstGeom>
          <a:noFill/>
          <a:ln/>
        </p:spPr>
        <p:txBody>
          <a:bodyPr wrap="square" lIns="0" tIns="0" rIns="0" bIns="0" rtlCol="0" anchor="ctr"/>
          <a:lstStyle/>
          <a:p>
            <a:pPr marL="0" indent="0">
              <a:buNone/>
            </a:pPr>
            <a:r>
              <a:rPr lang="en-US" sz="1250" dirty="0">
                <a:solidFill>
                  <a:srgbClr val="23303F"/>
                </a:solidFill>
                <a:latin typeface="Calibri" pitchFamily="34" charset="0"/>
                <a:ea typeface="Calibri" pitchFamily="34" charset="-122"/>
                <a:cs typeface="Calibri" pitchFamily="34" charset="-120"/>
              </a:rPr>
              <a:t>Gavrilova m.fl. (2023) — full lønn  </a:t>
            </a:r>
            <a:endParaRPr lang="en-US" sz="1250" dirty="0"/>
          </a:p>
        </p:txBody>
      </p:sp>
      <p:sp>
        <p:nvSpPr>
          <p:cNvPr id="24" name="Text 22"/>
          <p:cNvSpPr/>
          <p:nvPr/>
        </p:nvSpPr>
        <p:spPr>
          <a:xfrm>
            <a:off x="548640" y="3666744"/>
            <a:ext cx="4297680" cy="201168"/>
          </a:xfrm>
          <a:prstGeom prst="rect">
            <a:avLst/>
          </a:prstGeom>
          <a:noFill/>
          <a:ln/>
        </p:spPr>
        <p:txBody>
          <a:bodyPr wrap="square" lIns="0" tIns="0" rIns="0" bIns="0" rtlCol="0" anchor="ctr"/>
          <a:lstStyle/>
          <a:p>
            <a:pPr marL="0" indent="0">
              <a:buNone/>
            </a:pPr>
            <a:r>
              <a:rPr lang="en-US" sz="950" i="1" dirty="0">
                <a:solidFill>
                  <a:srgbClr val="6B7785"/>
                </a:solidFill>
                <a:latin typeface="Calibri" pitchFamily="34" charset="0"/>
                <a:ea typeface="Calibri" pitchFamily="34" charset="-122"/>
                <a:cs typeface="Calibri" pitchFamily="34" charset="-120"/>
              </a:rPr>
              <a:t>bonus/overtid</a:t>
            </a:r>
            <a:endParaRPr lang="en-US" sz="950" dirty="0"/>
          </a:p>
        </p:txBody>
      </p:sp>
      <p:sp>
        <p:nvSpPr>
          <p:cNvPr id="25" name="Shape 23"/>
          <p:cNvSpPr/>
          <p:nvPr/>
        </p:nvSpPr>
        <p:spPr>
          <a:xfrm>
            <a:off x="4983480" y="3575304"/>
            <a:ext cx="4206240" cy="164592"/>
          </a:xfrm>
          <a:prstGeom prst="roundRect">
            <a:avLst>
              <a:gd name="adj" fmla="val 16667"/>
            </a:avLst>
          </a:prstGeom>
          <a:solidFill>
            <a:srgbClr val="E7EAEE"/>
          </a:solidFill>
          <a:ln/>
        </p:spPr>
        <p:txBody>
          <a:bodyPr/>
          <a:lstStyle/>
          <a:p>
            <a:endParaRPr lang="en-US"/>
          </a:p>
        </p:txBody>
      </p:sp>
      <p:sp>
        <p:nvSpPr>
          <p:cNvPr id="26" name="Shape 24"/>
          <p:cNvSpPr/>
          <p:nvPr/>
        </p:nvSpPr>
        <p:spPr>
          <a:xfrm>
            <a:off x="4983480" y="3575304"/>
            <a:ext cx="4037990" cy="164592"/>
          </a:xfrm>
          <a:prstGeom prst="roundRect">
            <a:avLst>
              <a:gd name="adj" fmla="val 16667"/>
            </a:avLst>
          </a:prstGeom>
          <a:solidFill>
            <a:srgbClr val="1E3A5F"/>
          </a:solidFill>
          <a:ln/>
        </p:spPr>
        <p:txBody>
          <a:bodyPr/>
          <a:lstStyle/>
          <a:p>
            <a:endParaRPr lang="en-US"/>
          </a:p>
        </p:txBody>
      </p:sp>
      <p:sp>
        <p:nvSpPr>
          <p:cNvPr id="27" name="Text 25"/>
          <p:cNvSpPr/>
          <p:nvPr/>
        </p:nvSpPr>
        <p:spPr>
          <a:xfrm>
            <a:off x="9372600" y="3447288"/>
            <a:ext cx="2286000" cy="420624"/>
          </a:xfrm>
          <a:prstGeom prst="rect">
            <a:avLst/>
          </a:prstGeom>
          <a:noFill/>
          <a:ln/>
        </p:spPr>
        <p:txBody>
          <a:bodyPr wrap="square" lIns="0" tIns="0" rIns="0" bIns="0" rtlCol="0" anchor="ctr"/>
          <a:lstStyle/>
          <a:p>
            <a:pPr marL="0" indent="0" algn="r">
              <a:buNone/>
            </a:pPr>
            <a:r>
              <a:rPr lang="en-US" sz="1300" b="1" dirty="0">
                <a:solidFill>
                  <a:srgbClr val="23303F"/>
                </a:solidFill>
                <a:latin typeface="Calibri" pitchFamily="34" charset="0"/>
                <a:ea typeface="Calibri" pitchFamily="34" charset="-122"/>
                <a:cs typeface="Calibri" pitchFamily="34" charset="-120"/>
              </a:rPr>
              <a:t>≈ full overvelting</a:t>
            </a:r>
            <a:endParaRPr lang="en-US" sz="1300" dirty="0"/>
          </a:p>
        </p:txBody>
      </p:sp>
      <p:sp>
        <p:nvSpPr>
          <p:cNvPr id="28" name="Shape 26"/>
          <p:cNvSpPr/>
          <p:nvPr/>
        </p:nvSpPr>
        <p:spPr>
          <a:xfrm>
            <a:off x="548640" y="3867912"/>
            <a:ext cx="11091672" cy="347472"/>
          </a:xfrm>
          <a:prstGeom prst="rect">
            <a:avLst/>
          </a:prstGeom>
          <a:solidFill>
            <a:srgbClr val="F0F2F4"/>
          </a:solidFill>
          <a:ln/>
        </p:spPr>
        <p:txBody>
          <a:bodyPr/>
          <a:lstStyle/>
          <a:p>
            <a:endParaRPr lang="en-US"/>
          </a:p>
        </p:txBody>
      </p:sp>
      <p:sp>
        <p:nvSpPr>
          <p:cNvPr id="29" name="Text 27"/>
          <p:cNvSpPr/>
          <p:nvPr/>
        </p:nvSpPr>
        <p:spPr>
          <a:xfrm>
            <a:off x="685800" y="3867912"/>
            <a:ext cx="5486400" cy="347472"/>
          </a:xfrm>
          <a:prstGeom prst="rect">
            <a:avLst/>
          </a:prstGeom>
          <a:noFill/>
          <a:ln/>
        </p:spPr>
        <p:txBody>
          <a:bodyPr wrap="square" lIns="0" tIns="0" rIns="0" bIns="0" rtlCol="0" anchor="ctr"/>
          <a:lstStyle/>
          <a:p>
            <a:pPr marL="0" indent="0">
              <a:buNone/>
            </a:pPr>
            <a:r>
              <a:rPr lang="en-US" sz="1250" b="1" kern="0" spc="100" dirty="0">
                <a:solidFill>
                  <a:srgbClr val="4C7A8C"/>
                </a:solidFill>
                <a:latin typeface="Calibri" pitchFamily="34" charset="0"/>
                <a:ea typeface="Calibri" pitchFamily="34" charset="-122"/>
                <a:cs typeface="Calibri" pitchFamily="34" charset="-120"/>
              </a:rPr>
              <a:t>SVERIGE</a:t>
            </a:r>
            <a:endParaRPr lang="en-US" sz="1250" dirty="0"/>
          </a:p>
        </p:txBody>
      </p:sp>
      <p:sp>
        <p:nvSpPr>
          <p:cNvPr id="30" name="Text 28"/>
          <p:cNvSpPr/>
          <p:nvPr/>
        </p:nvSpPr>
        <p:spPr>
          <a:xfrm>
            <a:off x="548640" y="4215384"/>
            <a:ext cx="4297680" cy="420624"/>
          </a:xfrm>
          <a:prstGeom prst="rect">
            <a:avLst/>
          </a:prstGeom>
          <a:noFill/>
          <a:ln/>
        </p:spPr>
        <p:txBody>
          <a:bodyPr wrap="square" lIns="0" tIns="0" rIns="0" bIns="0" rtlCol="0" anchor="ctr"/>
          <a:lstStyle/>
          <a:p>
            <a:pPr marL="0" indent="0">
              <a:buNone/>
            </a:pPr>
            <a:r>
              <a:rPr lang="en-US" sz="1250" dirty="0">
                <a:solidFill>
                  <a:srgbClr val="23303F"/>
                </a:solidFill>
                <a:latin typeface="Calibri" pitchFamily="34" charset="0"/>
                <a:ea typeface="Calibri" pitchFamily="34" charset="-122"/>
                <a:cs typeface="Calibri" pitchFamily="34" charset="-120"/>
              </a:rPr>
              <a:t>Bennmarker m.fl. (2009)</a:t>
            </a:r>
            <a:endParaRPr lang="en-US" sz="1250" dirty="0"/>
          </a:p>
        </p:txBody>
      </p:sp>
      <p:sp>
        <p:nvSpPr>
          <p:cNvPr id="31" name="Shape 29"/>
          <p:cNvSpPr/>
          <p:nvPr/>
        </p:nvSpPr>
        <p:spPr>
          <a:xfrm>
            <a:off x="4983480" y="4343400"/>
            <a:ext cx="4206240" cy="164592"/>
          </a:xfrm>
          <a:prstGeom prst="roundRect">
            <a:avLst>
              <a:gd name="adj" fmla="val 16667"/>
            </a:avLst>
          </a:prstGeom>
          <a:solidFill>
            <a:srgbClr val="E7EAEE"/>
          </a:solidFill>
          <a:ln/>
        </p:spPr>
        <p:txBody>
          <a:bodyPr/>
          <a:lstStyle/>
          <a:p>
            <a:endParaRPr lang="en-US"/>
          </a:p>
        </p:txBody>
      </p:sp>
      <p:sp>
        <p:nvSpPr>
          <p:cNvPr id="32" name="Shape 30"/>
          <p:cNvSpPr/>
          <p:nvPr/>
        </p:nvSpPr>
        <p:spPr>
          <a:xfrm>
            <a:off x="4983480" y="4343400"/>
            <a:ext cx="1051560" cy="164592"/>
          </a:xfrm>
          <a:prstGeom prst="roundRect">
            <a:avLst>
              <a:gd name="adj" fmla="val 16667"/>
            </a:avLst>
          </a:prstGeom>
          <a:solidFill>
            <a:srgbClr val="4C7A8C"/>
          </a:solidFill>
          <a:ln/>
        </p:spPr>
        <p:txBody>
          <a:bodyPr/>
          <a:lstStyle/>
          <a:p>
            <a:endParaRPr lang="en-US"/>
          </a:p>
        </p:txBody>
      </p:sp>
      <p:sp>
        <p:nvSpPr>
          <p:cNvPr id="33" name="Text 31"/>
          <p:cNvSpPr/>
          <p:nvPr/>
        </p:nvSpPr>
        <p:spPr>
          <a:xfrm>
            <a:off x="9372600" y="4215384"/>
            <a:ext cx="2286000" cy="420624"/>
          </a:xfrm>
          <a:prstGeom prst="rect">
            <a:avLst/>
          </a:prstGeom>
          <a:noFill/>
          <a:ln/>
        </p:spPr>
        <p:txBody>
          <a:bodyPr wrap="square" lIns="0" tIns="0" rIns="0" bIns="0" rtlCol="0" anchor="ctr"/>
          <a:lstStyle/>
          <a:p>
            <a:pPr marL="0" indent="0" algn="r">
              <a:buNone/>
            </a:pPr>
            <a:r>
              <a:rPr lang="en-US" sz="1300" b="1" dirty="0">
                <a:solidFill>
                  <a:srgbClr val="23303F"/>
                </a:solidFill>
                <a:latin typeface="Calibri" pitchFamily="34" charset="0"/>
                <a:ea typeface="Calibri" pitchFamily="34" charset="-122"/>
                <a:cs typeface="Calibri" pitchFamily="34" charset="-120"/>
              </a:rPr>
              <a:t>≈ 25 %</a:t>
            </a:r>
            <a:endParaRPr lang="en-US" sz="1300" dirty="0"/>
          </a:p>
        </p:txBody>
      </p:sp>
      <p:sp>
        <p:nvSpPr>
          <p:cNvPr id="34" name="Shape 32"/>
          <p:cNvSpPr/>
          <p:nvPr/>
        </p:nvSpPr>
        <p:spPr>
          <a:xfrm>
            <a:off x="548640" y="4636008"/>
            <a:ext cx="11091672" cy="347472"/>
          </a:xfrm>
          <a:prstGeom prst="rect">
            <a:avLst/>
          </a:prstGeom>
          <a:solidFill>
            <a:srgbClr val="F0F2F4"/>
          </a:solidFill>
          <a:ln/>
        </p:spPr>
        <p:txBody>
          <a:bodyPr/>
          <a:lstStyle/>
          <a:p>
            <a:endParaRPr lang="en-US"/>
          </a:p>
        </p:txBody>
      </p:sp>
      <p:sp>
        <p:nvSpPr>
          <p:cNvPr id="35" name="Text 33"/>
          <p:cNvSpPr/>
          <p:nvPr/>
        </p:nvSpPr>
        <p:spPr>
          <a:xfrm>
            <a:off x="685800" y="4636008"/>
            <a:ext cx="5486400" cy="347472"/>
          </a:xfrm>
          <a:prstGeom prst="rect">
            <a:avLst/>
          </a:prstGeom>
          <a:noFill/>
          <a:ln/>
        </p:spPr>
        <p:txBody>
          <a:bodyPr wrap="square" lIns="0" tIns="0" rIns="0" bIns="0" rtlCol="0" anchor="ctr"/>
          <a:lstStyle/>
          <a:p>
            <a:pPr marL="0" indent="0">
              <a:buNone/>
            </a:pPr>
            <a:r>
              <a:rPr lang="en-US" sz="1250" b="1" kern="0" spc="100" dirty="0">
                <a:solidFill>
                  <a:srgbClr val="8C5B7A"/>
                </a:solidFill>
                <a:latin typeface="Calibri" pitchFamily="34" charset="0"/>
                <a:ea typeface="Calibri" pitchFamily="34" charset="-122"/>
                <a:cs typeface="Calibri" pitchFamily="34" charset="-120"/>
              </a:rPr>
              <a:t>FINLAND</a:t>
            </a:r>
            <a:endParaRPr lang="en-US" sz="1250" dirty="0"/>
          </a:p>
        </p:txBody>
      </p:sp>
      <p:sp>
        <p:nvSpPr>
          <p:cNvPr id="36" name="Text 34"/>
          <p:cNvSpPr/>
          <p:nvPr/>
        </p:nvSpPr>
        <p:spPr>
          <a:xfrm>
            <a:off x="548640" y="4983480"/>
            <a:ext cx="4297680" cy="420624"/>
          </a:xfrm>
          <a:prstGeom prst="rect">
            <a:avLst/>
          </a:prstGeom>
          <a:noFill/>
          <a:ln/>
        </p:spPr>
        <p:txBody>
          <a:bodyPr wrap="square" lIns="0" tIns="0" rIns="0" bIns="0" rtlCol="0" anchor="ctr"/>
          <a:lstStyle/>
          <a:p>
            <a:pPr marL="0" indent="0">
              <a:buNone/>
            </a:pPr>
            <a:r>
              <a:rPr lang="en-US" sz="1250" dirty="0">
                <a:solidFill>
                  <a:srgbClr val="23303F"/>
                </a:solidFill>
                <a:latin typeface="Calibri" pitchFamily="34" charset="0"/>
                <a:ea typeface="Calibri" pitchFamily="34" charset="-122"/>
                <a:cs typeface="Calibri" pitchFamily="34" charset="-120"/>
              </a:rPr>
              <a:t>Korkeamäki &amp; Uusitalo (2009)  </a:t>
            </a:r>
            <a:endParaRPr lang="en-US" sz="1250" dirty="0"/>
          </a:p>
        </p:txBody>
      </p:sp>
      <p:sp>
        <p:nvSpPr>
          <p:cNvPr id="37" name="Text 35"/>
          <p:cNvSpPr/>
          <p:nvPr/>
        </p:nvSpPr>
        <p:spPr>
          <a:xfrm>
            <a:off x="548640" y="5202936"/>
            <a:ext cx="4297680" cy="201168"/>
          </a:xfrm>
          <a:prstGeom prst="rect">
            <a:avLst/>
          </a:prstGeom>
          <a:noFill/>
          <a:ln/>
        </p:spPr>
        <p:txBody>
          <a:bodyPr wrap="square" lIns="0" tIns="0" rIns="0" bIns="0" rtlCol="0" anchor="ctr"/>
          <a:lstStyle/>
          <a:p>
            <a:pPr marL="0" indent="0">
              <a:buNone/>
            </a:pPr>
            <a:r>
              <a:rPr lang="en-US" sz="950" i="1" dirty="0">
                <a:solidFill>
                  <a:srgbClr val="6B7785"/>
                </a:solidFill>
                <a:latin typeface="Calibri" pitchFamily="34" charset="0"/>
                <a:ea typeface="Calibri" pitchFamily="34" charset="-122"/>
                <a:cs typeface="Calibri" pitchFamily="34" charset="-120"/>
              </a:rPr>
              <a:t>finanskrisen</a:t>
            </a:r>
            <a:endParaRPr lang="en-US" sz="950" dirty="0"/>
          </a:p>
        </p:txBody>
      </p:sp>
      <p:sp>
        <p:nvSpPr>
          <p:cNvPr id="38" name="Shape 36"/>
          <p:cNvSpPr/>
          <p:nvPr/>
        </p:nvSpPr>
        <p:spPr>
          <a:xfrm>
            <a:off x="4983480" y="5111496"/>
            <a:ext cx="4206240" cy="164592"/>
          </a:xfrm>
          <a:prstGeom prst="roundRect">
            <a:avLst>
              <a:gd name="adj" fmla="val 16667"/>
            </a:avLst>
          </a:prstGeom>
          <a:solidFill>
            <a:srgbClr val="E7EAEE"/>
          </a:solidFill>
          <a:ln/>
        </p:spPr>
        <p:txBody>
          <a:bodyPr/>
          <a:lstStyle/>
          <a:p>
            <a:endParaRPr lang="en-US"/>
          </a:p>
        </p:txBody>
      </p:sp>
      <p:sp>
        <p:nvSpPr>
          <p:cNvPr id="39" name="Shape 37"/>
          <p:cNvSpPr/>
          <p:nvPr/>
        </p:nvSpPr>
        <p:spPr>
          <a:xfrm>
            <a:off x="4983480" y="5111496"/>
            <a:ext cx="2103120" cy="164592"/>
          </a:xfrm>
          <a:prstGeom prst="roundRect">
            <a:avLst>
              <a:gd name="adj" fmla="val 16667"/>
            </a:avLst>
          </a:prstGeom>
          <a:solidFill>
            <a:srgbClr val="8C5B7A"/>
          </a:solidFill>
          <a:ln/>
        </p:spPr>
        <p:txBody>
          <a:bodyPr/>
          <a:lstStyle/>
          <a:p>
            <a:endParaRPr lang="en-US"/>
          </a:p>
        </p:txBody>
      </p:sp>
      <p:sp>
        <p:nvSpPr>
          <p:cNvPr id="40" name="Text 38"/>
          <p:cNvSpPr/>
          <p:nvPr/>
        </p:nvSpPr>
        <p:spPr>
          <a:xfrm>
            <a:off x="9372600" y="4983480"/>
            <a:ext cx="2286000" cy="420624"/>
          </a:xfrm>
          <a:prstGeom prst="rect">
            <a:avLst/>
          </a:prstGeom>
          <a:noFill/>
          <a:ln/>
        </p:spPr>
        <p:txBody>
          <a:bodyPr wrap="square" lIns="0" tIns="0" rIns="0" bIns="0" rtlCol="0" anchor="ctr"/>
          <a:lstStyle/>
          <a:p>
            <a:pPr marL="0" indent="0" algn="r">
              <a:buNone/>
            </a:pPr>
            <a:r>
              <a:rPr lang="en-US" sz="1300" b="1" dirty="0">
                <a:solidFill>
                  <a:srgbClr val="23303F"/>
                </a:solidFill>
                <a:latin typeface="Calibri" pitchFamily="34" charset="0"/>
                <a:ea typeface="Calibri" pitchFamily="34" charset="-122"/>
                <a:cs typeface="Calibri" pitchFamily="34" charset="-120"/>
              </a:rPr>
              <a:t>≈ 50 %</a:t>
            </a:r>
            <a:endParaRPr lang="en-US" sz="1300" dirty="0"/>
          </a:p>
        </p:txBody>
      </p:sp>
      <p:sp>
        <p:nvSpPr>
          <p:cNvPr id="41" name="Text 39"/>
          <p:cNvSpPr/>
          <p:nvPr/>
        </p:nvSpPr>
        <p:spPr>
          <a:xfrm>
            <a:off x="548640" y="5404104"/>
            <a:ext cx="4297680" cy="420624"/>
          </a:xfrm>
          <a:prstGeom prst="rect">
            <a:avLst/>
          </a:prstGeom>
          <a:noFill/>
          <a:ln/>
        </p:spPr>
        <p:txBody>
          <a:bodyPr wrap="square" lIns="0" tIns="0" rIns="0" bIns="0" rtlCol="0" anchor="ctr"/>
          <a:lstStyle/>
          <a:p>
            <a:pPr marL="0" indent="0">
              <a:buNone/>
            </a:pPr>
            <a:r>
              <a:rPr lang="en-US" sz="1250" dirty="0">
                <a:solidFill>
                  <a:srgbClr val="23303F"/>
                </a:solidFill>
                <a:latin typeface="Calibri" pitchFamily="34" charset="0"/>
                <a:ea typeface="Calibri" pitchFamily="34" charset="-122"/>
                <a:cs typeface="Calibri" pitchFamily="34" charset="-120"/>
              </a:rPr>
              <a:t>Benzarti &amp; Harju (2021)  </a:t>
            </a:r>
            <a:endParaRPr lang="en-US" sz="1250" dirty="0"/>
          </a:p>
        </p:txBody>
      </p:sp>
      <p:sp>
        <p:nvSpPr>
          <p:cNvPr id="42" name="Text 40"/>
          <p:cNvSpPr/>
          <p:nvPr/>
        </p:nvSpPr>
        <p:spPr>
          <a:xfrm>
            <a:off x="548640" y="5623560"/>
            <a:ext cx="4297680" cy="201168"/>
          </a:xfrm>
          <a:prstGeom prst="rect">
            <a:avLst/>
          </a:prstGeom>
          <a:noFill/>
          <a:ln/>
        </p:spPr>
        <p:txBody>
          <a:bodyPr wrap="square" lIns="0" tIns="0" rIns="0" bIns="0" rtlCol="0" anchor="ctr"/>
          <a:lstStyle/>
          <a:p>
            <a:pPr marL="0" indent="0">
              <a:buNone/>
            </a:pPr>
            <a:r>
              <a:rPr lang="en-US" sz="950" i="1" dirty="0">
                <a:solidFill>
                  <a:srgbClr val="6B7785"/>
                </a:solidFill>
                <a:latin typeface="Calibri" pitchFamily="34" charset="0"/>
                <a:ea typeface="Calibri" pitchFamily="34" charset="-122"/>
                <a:cs typeface="Calibri" pitchFamily="34" charset="-120"/>
              </a:rPr>
              <a:t>bedriftsnivå-variasjon</a:t>
            </a:r>
            <a:endParaRPr lang="en-US" sz="950" dirty="0"/>
          </a:p>
        </p:txBody>
      </p:sp>
      <p:sp>
        <p:nvSpPr>
          <p:cNvPr id="43" name="Shape 41"/>
          <p:cNvSpPr/>
          <p:nvPr/>
        </p:nvSpPr>
        <p:spPr>
          <a:xfrm>
            <a:off x="4983480" y="5532120"/>
            <a:ext cx="4206240" cy="164592"/>
          </a:xfrm>
          <a:prstGeom prst="roundRect">
            <a:avLst>
              <a:gd name="adj" fmla="val 16667"/>
            </a:avLst>
          </a:prstGeom>
          <a:solidFill>
            <a:srgbClr val="E7EAEE"/>
          </a:solidFill>
          <a:ln/>
        </p:spPr>
        <p:txBody>
          <a:bodyPr/>
          <a:lstStyle/>
          <a:p>
            <a:endParaRPr lang="en-US"/>
          </a:p>
        </p:txBody>
      </p:sp>
      <p:sp>
        <p:nvSpPr>
          <p:cNvPr id="44" name="Shape 42"/>
          <p:cNvSpPr/>
          <p:nvPr/>
        </p:nvSpPr>
        <p:spPr>
          <a:xfrm>
            <a:off x="4983480" y="5532120"/>
            <a:ext cx="84125" cy="164592"/>
          </a:xfrm>
          <a:prstGeom prst="roundRect">
            <a:avLst>
              <a:gd name="adj" fmla="val 32609"/>
            </a:avLst>
          </a:prstGeom>
          <a:solidFill>
            <a:srgbClr val="8C5B7A"/>
          </a:solidFill>
          <a:ln/>
        </p:spPr>
        <p:txBody>
          <a:bodyPr/>
          <a:lstStyle/>
          <a:p>
            <a:endParaRPr lang="en-US"/>
          </a:p>
        </p:txBody>
      </p:sp>
      <p:sp>
        <p:nvSpPr>
          <p:cNvPr id="45" name="Text 43"/>
          <p:cNvSpPr/>
          <p:nvPr/>
        </p:nvSpPr>
        <p:spPr>
          <a:xfrm>
            <a:off x="9372600" y="5404104"/>
            <a:ext cx="2286000" cy="420624"/>
          </a:xfrm>
          <a:prstGeom prst="rect">
            <a:avLst/>
          </a:prstGeom>
          <a:noFill/>
          <a:ln/>
        </p:spPr>
        <p:txBody>
          <a:bodyPr wrap="square" lIns="0" tIns="0" rIns="0" bIns="0" rtlCol="0" anchor="ctr"/>
          <a:lstStyle/>
          <a:p>
            <a:pPr marL="0" indent="0" algn="r">
              <a:buNone/>
            </a:pPr>
            <a:r>
              <a:rPr lang="en-US" sz="1300" b="1" dirty="0">
                <a:solidFill>
                  <a:srgbClr val="23303F"/>
                </a:solidFill>
                <a:latin typeface="Calibri" pitchFamily="34" charset="0"/>
                <a:ea typeface="Calibri" pitchFamily="34" charset="-122"/>
                <a:cs typeface="Calibri" pitchFamily="34" charset="-120"/>
              </a:rPr>
              <a:t>Ingen overvelting</a:t>
            </a:r>
            <a:endParaRPr lang="en-US" sz="1300" dirty="0"/>
          </a:p>
        </p:txBody>
      </p:sp>
      <p:sp>
        <p:nvSpPr>
          <p:cNvPr id="46" name="Text 44"/>
          <p:cNvSpPr/>
          <p:nvPr/>
        </p:nvSpPr>
        <p:spPr>
          <a:xfrm>
            <a:off x="548640" y="5961888"/>
            <a:ext cx="11091672" cy="502920"/>
          </a:xfrm>
          <a:prstGeom prst="rect">
            <a:avLst/>
          </a:prstGeom>
          <a:noFill/>
          <a:ln/>
        </p:spPr>
        <p:txBody>
          <a:bodyPr wrap="square" lIns="0" tIns="0" rIns="0" bIns="0" rtlCol="0" anchor="ctr"/>
          <a:lstStyle/>
          <a:p>
            <a:pPr marL="0" indent="0">
              <a:lnSpc>
                <a:spcPct val="115000"/>
              </a:lnSpc>
              <a:buNone/>
            </a:pPr>
            <a:r>
              <a:rPr lang="en-US" sz="1000" i="1" dirty="0">
                <a:solidFill>
                  <a:srgbClr val="6B7785"/>
                </a:solidFill>
                <a:latin typeface="Calibri" pitchFamily="34" charset="0"/>
                <a:ea typeface="Calibri" pitchFamily="34" charset="-122"/>
                <a:cs typeface="Calibri" pitchFamily="34" charset="-120"/>
              </a:rPr>
              <a:t>Merk: stolpelengde er indikativ (midtpunkt i oppgitt intervall / punktestimat), ikke en presis felles skala på tvers av studier og metoder. Kilde for sammenligningen: Gavrilova, Langørgen og Zoutman (2023), s. 27.</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1091672" cy="594360"/>
          </a:xfrm>
          <a:prstGeom prst="rect">
            <a:avLst/>
          </a:prstGeom>
          <a:noFill/>
          <a:ln/>
        </p:spPr>
        <p:txBody>
          <a:bodyPr wrap="square" lIns="0" tIns="0" rIns="0" bIns="0" rtlCol="0" anchor="ctr"/>
          <a:lstStyle/>
          <a:p>
            <a:pPr marL="0" indent="0">
              <a:buNone/>
            </a:pPr>
            <a:r>
              <a:rPr lang="en-US" sz="3000" b="1" dirty="0">
                <a:solidFill>
                  <a:srgbClr val="23303F"/>
                </a:solidFill>
                <a:latin typeface="Calibri" pitchFamily="34" charset="0"/>
                <a:ea typeface="Calibri" pitchFamily="34" charset="-122"/>
                <a:cs typeface="Calibri" pitchFamily="34" charset="-120"/>
              </a:rPr>
              <a:t>Mer </a:t>
            </a:r>
            <a:r>
              <a:rPr lang="en-US" sz="3000" b="1" dirty="0" err="1">
                <a:solidFill>
                  <a:srgbClr val="23303F"/>
                </a:solidFill>
                <a:latin typeface="Calibri" pitchFamily="34" charset="0"/>
                <a:ea typeface="Calibri" pitchFamily="34" charset="-122"/>
                <a:cs typeface="Calibri" pitchFamily="34" charset="-120"/>
              </a:rPr>
              <a:t>spesifikt</a:t>
            </a:r>
            <a:r>
              <a:rPr lang="en-US" sz="3000" b="1" dirty="0">
                <a:solidFill>
                  <a:srgbClr val="23303F"/>
                </a:solidFill>
                <a:latin typeface="Calibri" pitchFamily="34" charset="0"/>
                <a:ea typeface="Calibri" pitchFamily="34" charset="-122"/>
                <a:cs typeface="Calibri" pitchFamily="34" charset="-120"/>
              </a:rPr>
              <a:t> om Gavrilova et al</a:t>
            </a:r>
            <a:endParaRPr lang="en-US" sz="3000" dirty="0"/>
          </a:p>
        </p:txBody>
      </p:sp>
      <p:sp>
        <p:nvSpPr>
          <p:cNvPr id="3" name="Text 1"/>
          <p:cNvSpPr/>
          <p:nvPr/>
        </p:nvSpPr>
        <p:spPr>
          <a:xfrm>
            <a:off x="548640" y="914400"/>
            <a:ext cx="11091672" cy="320040"/>
          </a:xfrm>
          <a:prstGeom prst="rect">
            <a:avLst/>
          </a:prstGeom>
          <a:noFill/>
          <a:ln/>
        </p:spPr>
        <p:txBody>
          <a:bodyPr wrap="square" lIns="0" tIns="0" rIns="0" bIns="0" rtlCol="0" anchor="ctr"/>
          <a:lstStyle/>
          <a:p>
            <a:pPr marL="0" indent="0">
              <a:buNone/>
            </a:pPr>
            <a:r>
              <a:rPr lang="en-US" sz="1500" i="1" dirty="0">
                <a:solidFill>
                  <a:srgbClr val="6B7785"/>
                </a:solidFill>
                <a:latin typeface="Calibri" pitchFamily="34" charset="0"/>
                <a:ea typeface="Calibri" pitchFamily="34" charset="-122"/>
                <a:cs typeface="Calibri" pitchFamily="34" charset="-120"/>
              </a:rPr>
              <a:t>Gavrilova, Langørgen &amp; Zoutman (2023) — norsk regionreform som naturlig eksperiment</a:t>
            </a:r>
            <a:endParaRPr lang="en-US" sz="1500" dirty="0"/>
          </a:p>
        </p:txBody>
      </p:sp>
      <p:sp>
        <p:nvSpPr>
          <p:cNvPr id="4" name="Text 2"/>
          <p:cNvSpPr/>
          <p:nvPr/>
        </p:nvSpPr>
        <p:spPr>
          <a:xfrm>
            <a:off x="548640" y="1371600"/>
            <a:ext cx="11091672" cy="548640"/>
          </a:xfrm>
          <a:prstGeom prst="rect">
            <a:avLst/>
          </a:prstGeom>
          <a:noFill/>
          <a:ln/>
        </p:spPr>
        <p:txBody>
          <a:bodyPr wrap="square" lIns="0" tIns="0" rIns="0" bIns="0" rtlCol="0" anchor="t"/>
          <a:lstStyle/>
          <a:p>
            <a:pPr marL="0" indent="0">
              <a:lnSpc>
                <a:spcPct val="120000"/>
              </a:lnSpc>
              <a:buNone/>
            </a:pPr>
            <a:r>
              <a:rPr lang="en-US" sz="1350" b="1" dirty="0">
                <a:solidFill>
                  <a:srgbClr val="23303F"/>
                </a:solidFill>
                <a:latin typeface="Calibri" pitchFamily="34" charset="0"/>
                <a:ea typeface="Calibri" pitchFamily="34" charset="-122"/>
                <a:cs typeface="Calibri" pitchFamily="34" charset="-120"/>
              </a:rPr>
              <a:t>Metode: </a:t>
            </a:r>
            <a:r>
              <a:rPr lang="en-US" sz="1350" dirty="0">
                <a:solidFill>
                  <a:srgbClr val="23303F"/>
                </a:solidFill>
                <a:latin typeface="Calibri" pitchFamily="34" charset="0"/>
                <a:ea typeface="Calibri" pitchFamily="34" charset="-122"/>
                <a:cs typeface="Calibri" pitchFamily="34" charset="-120"/>
              </a:rPr>
              <a:t>Sone 1a fikk arbeidsgiveravgiften hevet til samme nivå som Sone 1 i 2004 (fra 10,6 % til 14,1 %, permanent). Brukes som naturlig eksperiment (event-study/DiD og ny «dynamic causal forest»-metode) på lønnsregisterdata for 2002–2008.</a:t>
            </a:r>
            <a:endParaRPr lang="en-US" sz="1350" dirty="0"/>
          </a:p>
        </p:txBody>
      </p:sp>
      <p:sp>
        <p:nvSpPr>
          <p:cNvPr id="5" name="Shape 3"/>
          <p:cNvSpPr/>
          <p:nvPr/>
        </p:nvSpPr>
        <p:spPr>
          <a:xfrm>
            <a:off x="548640" y="2148840"/>
            <a:ext cx="5367528" cy="2788920"/>
          </a:xfrm>
          <a:prstGeom prst="roundRect">
            <a:avLst>
              <a:gd name="adj" fmla="val 2623"/>
            </a:avLst>
          </a:prstGeom>
          <a:solidFill>
            <a:srgbClr val="F4F6F8"/>
          </a:solidFill>
          <a:ln/>
          <a:effectLst>
            <a:outerShdw blurRad="76200" dist="25400" dir="5400000" algn="bl" rotWithShape="0">
              <a:srgbClr val="000000">
                <a:alpha val="15000"/>
              </a:srgbClr>
            </a:outerShdw>
          </a:effectLst>
        </p:spPr>
        <p:txBody>
          <a:bodyPr/>
          <a:lstStyle/>
          <a:p>
            <a:endParaRPr lang="en-US"/>
          </a:p>
        </p:txBody>
      </p:sp>
      <p:sp>
        <p:nvSpPr>
          <p:cNvPr id="6" name="Text 4"/>
          <p:cNvSpPr/>
          <p:nvPr/>
        </p:nvSpPr>
        <p:spPr>
          <a:xfrm>
            <a:off x="868680" y="2404872"/>
            <a:ext cx="4727448" cy="365760"/>
          </a:xfrm>
          <a:prstGeom prst="rect">
            <a:avLst/>
          </a:prstGeom>
          <a:noFill/>
          <a:ln/>
        </p:spPr>
        <p:txBody>
          <a:bodyPr wrap="square" lIns="0" tIns="0" rIns="0" bIns="0" rtlCol="0" anchor="ctr"/>
          <a:lstStyle/>
          <a:p>
            <a:pPr marL="0" indent="0">
              <a:buNone/>
            </a:pPr>
            <a:r>
              <a:rPr lang="en-US" sz="1500" b="1" kern="0" spc="100" dirty="0">
                <a:solidFill>
                  <a:srgbClr val="1E3A5F"/>
                </a:solidFill>
                <a:latin typeface="Calibri" pitchFamily="34" charset="0"/>
                <a:ea typeface="Calibri" pitchFamily="34" charset="-122"/>
                <a:cs typeface="Calibri" pitchFamily="34" charset="-120"/>
              </a:rPr>
              <a:t>KONTRAKTSLØNN (fast grunnlønn)</a:t>
            </a:r>
            <a:endParaRPr lang="en-US" sz="1500" dirty="0"/>
          </a:p>
        </p:txBody>
      </p:sp>
      <p:sp>
        <p:nvSpPr>
          <p:cNvPr id="7" name="Text 5"/>
          <p:cNvSpPr/>
          <p:nvPr/>
        </p:nvSpPr>
        <p:spPr>
          <a:xfrm>
            <a:off x="868680" y="2834640"/>
            <a:ext cx="4727448" cy="1051560"/>
          </a:xfrm>
          <a:prstGeom prst="rect">
            <a:avLst/>
          </a:prstGeom>
          <a:noFill/>
          <a:ln/>
        </p:spPr>
        <p:txBody>
          <a:bodyPr wrap="square" lIns="0" tIns="0" rIns="0" bIns="0" rtlCol="0" anchor="ctr"/>
          <a:lstStyle/>
          <a:p>
            <a:pPr marL="0" indent="0">
              <a:buNone/>
            </a:pPr>
            <a:r>
              <a:rPr lang="en-US" sz="4000" b="1" dirty="0">
                <a:solidFill>
                  <a:srgbClr val="6B7785"/>
                </a:solidFill>
                <a:latin typeface="Cambria" pitchFamily="34" charset="0"/>
                <a:ea typeface="Cambria" pitchFamily="34" charset="-122"/>
                <a:cs typeface="Cambria" pitchFamily="34" charset="-120"/>
              </a:rPr>
              <a:t>20–50 %</a:t>
            </a:r>
            <a:endParaRPr lang="en-US" sz="4000" dirty="0"/>
          </a:p>
        </p:txBody>
      </p:sp>
      <p:sp>
        <p:nvSpPr>
          <p:cNvPr id="8" name="Text 6"/>
          <p:cNvSpPr/>
          <p:nvPr/>
        </p:nvSpPr>
        <p:spPr>
          <a:xfrm>
            <a:off x="868680" y="3931920"/>
            <a:ext cx="4727448" cy="914400"/>
          </a:xfrm>
          <a:prstGeom prst="rect">
            <a:avLst/>
          </a:prstGeom>
          <a:noFill/>
          <a:ln/>
        </p:spPr>
        <p:txBody>
          <a:bodyPr wrap="square" lIns="0" tIns="0" rIns="0" bIns="0" rtlCol="0" anchor="ctr"/>
          <a:lstStyle/>
          <a:p>
            <a:pPr marL="0" indent="0">
              <a:lnSpc>
                <a:spcPct val="120000"/>
              </a:lnSpc>
              <a:buNone/>
            </a:pPr>
            <a:r>
              <a:rPr lang="en-US" sz="1300" dirty="0">
                <a:solidFill>
                  <a:srgbClr val="23303F"/>
                </a:solidFill>
                <a:latin typeface="Calibri" pitchFamily="34" charset="0"/>
                <a:ea typeface="Calibri" pitchFamily="34" charset="-122"/>
                <a:cs typeface="Calibri" pitchFamily="34" charset="-120"/>
              </a:rPr>
              <a:t>Upresist estimert — brede konfidensintervaller som ikke kan utelukke null overvelting på den faste lønnen.</a:t>
            </a:r>
            <a:endParaRPr lang="en-US" sz="1300" dirty="0"/>
          </a:p>
        </p:txBody>
      </p:sp>
      <p:sp>
        <p:nvSpPr>
          <p:cNvPr id="9" name="Shape 7"/>
          <p:cNvSpPr/>
          <p:nvPr/>
        </p:nvSpPr>
        <p:spPr>
          <a:xfrm>
            <a:off x="6272784" y="2148840"/>
            <a:ext cx="5367528" cy="2788920"/>
          </a:xfrm>
          <a:prstGeom prst="roundRect">
            <a:avLst>
              <a:gd name="adj" fmla="val 2623"/>
            </a:avLst>
          </a:prstGeom>
          <a:solidFill>
            <a:srgbClr val="F4F6F8"/>
          </a:solidFill>
          <a:ln/>
          <a:effectLst>
            <a:outerShdw blurRad="76200" dist="25400" dir="5400000" algn="bl" rotWithShape="0">
              <a:srgbClr val="000000">
                <a:alpha val="15000"/>
              </a:srgbClr>
            </a:outerShdw>
          </a:effectLst>
        </p:spPr>
        <p:txBody>
          <a:bodyPr/>
          <a:lstStyle/>
          <a:p>
            <a:endParaRPr lang="en-US"/>
          </a:p>
        </p:txBody>
      </p:sp>
      <p:sp>
        <p:nvSpPr>
          <p:cNvPr id="10" name="Text 8"/>
          <p:cNvSpPr/>
          <p:nvPr/>
        </p:nvSpPr>
        <p:spPr>
          <a:xfrm>
            <a:off x="6592824" y="2404872"/>
            <a:ext cx="4727448" cy="365760"/>
          </a:xfrm>
          <a:prstGeom prst="rect">
            <a:avLst/>
          </a:prstGeom>
          <a:noFill/>
          <a:ln/>
        </p:spPr>
        <p:txBody>
          <a:bodyPr wrap="square" lIns="0" tIns="0" rIns="0" bIns="0" rtlCol="0" anchor="ctr"/>
          <a:lstStyle/>
          <a:p>
            <a:pPr marL="0" indent="0">
              <a:buNone/>
            </a:pPr>
            <a:r>
              <a:rPr lang="en-US" sz="1500" b="1" kern="0" spc="100" dirty="0">
                <a:solidFill>
                  <a:srgbClr val="1E3A5F"/>
                </a:solidFill>
                <a:latin typeface="Calibri" pitchFamily="34" charset="0"/>
                <a:ea typeface="Calibri" pitchFamily="34" charset="-122"/>
                <a:cs typeface="Calibri" pitchFamily="34" charset="-120"/>
              </a:rPr>
              <a:t>FULL LØNN (+ bonus, overtid, tillegg)</a:t>
            </a:r>
            <a:endParaRPr lang="en-US" sz="1500" dirty="0"/>
          </a:p>
        </p:txBody>
      </p:sp>
      <p:sp>
        <p:nvSpPr>
          <p:cNvPr id="11" name="Text 9"/>
          <p:cNvSpPr/>
          <p:nvPr/>
        </p:nvSpPr>
        <p:spPr>
          <a:xfrm>
            <a:off x="6592824" y="2834640"/>
            <a:ext cx="4727448" cy="1051560"/>
          </a:xfrm>
          <a:prstGeom prst="rect">
            <a:avLst/>
          </a:prstGeom>
          <a:noFill/>
          <a:ln/>
        </p:spPr>
        <p:txBody>
          <a:bodyPr wrap="square" lIns="0" tIns="0" rIns="0" bIns="0" rtlCol="0" anchor="ctr"/>
          <a:lstStyle/>
          <a:p>
            <a:pPr marL="0" indent="0">
              <a:buNone/>
            </a:pPr>
            <a:r>
              <a:rPr lang="en-US" sz="4000" b="1" dirty="0">
                <a:solidFill>
                  <a:srgbClr val="1E3A5F"/>
                </a:solidFill>
                <a:latin typeface="Cambria" pitchFamily="34" charset="0"/>
                <a:ea typeface="Cambria" pitchFamily="34" charset="-122"/>
                <a:cs typeface="Cambria" pitchFamily="34" charset="-120"/>
              </a:rPr>
              <a:t>≈ full overvelting</a:t>
            </a:r>
            <a:endParaRPr lang="en-US" sz="4000" dirty="0"/>
          </a:p>
        </p:txBody>
      </p:sp>
      <p:sp>
        <p:nvSpPr>
          <p:cNvPr id="12" name="Text 10"/>
          <p:cNvSpPr/>
          <p:nvPr/>
        </p:nvSpPr>
        <p:spPr>
          <a:xfrm>
            <a:off x="6592824" y="3931920"/>
            <a:ext cx="4727448" cy="914400"/>
          </a:xfrm>
          <a:prstGeom prst="rect">
            <a:avLst/>
          </a:prstGeom>
          <a:noFill/>
          <a:ln/>
        </p:spPr>
        <p:txBody>
          <a:bodyPr wrap="square" lIns="0" tIns="0" rIns="0" bIns="0" rtlCol="0" anchor="ctr"/>
          <a:lstStyle/>
          <a:p>
            <a:pPr marL="0" indent="0">
              <a:lnSpc>
                <a:spcPct val="120000"/>
              </a:lnSpc>
              <a:buNone/>
            </a:pPr>
            <a:r>
              <a:rPr lang="en-US" sz="1300" dirty="0">
                <a:solidFill>
                  <a:srgbClr val="23303F"/>
                </a:solidFill>
                <a:latin typeface="Calibri" pitchFamily="34" charset="0"/>
                <a:ea typeface="Calibri" pitchFamily="34" charset="-122"/>
                <a:cs typeface="Calibri" pitchFamily="34" charset="-120"/>
              </a:rPr>
              <a:t>Sterk evidens for at mesteparten av avgiftsøkningen veltes over på arbeidstakerne — via bonus/overtid, ikke grunnlønnen.</a:t>
            </a:r>
            <a:endParaRPr lang="en-US" sz="1300" dirty="0"/>
          </a:p>
        </p:txBody>
      </p:sp>
      <p:sp>
        <p:nvSpPr>
          <p:cNvPr id="13" name="Shape 11"/>
          <p:cNvSpPr/>
          <p:nvPr/>
        </p:nvSpPr>
        <p:spPr>
          <a:xfrm>
            <a:off x="548640" y="5166360"/>
            <a:ext cx="11091672" cy="960120"/>
          </a:xfrm>
          <a:prstGeom prst="roundRect">
            <a:avLst>
              <a:gd name="adj" fmla="val 7619"/>
            </a:avLst>
          </a:prstGeom>
          <a:solidFill>
            <a:srgbClr val="1E3A5F"/>
          </a:solidFill>
          <a:ln/>
        </p:spPr>
        <p:txBody>
          <a:bodyPr/>
          <a:lstStyle/>
          <a:p>
            <a:endParaRPr lang="en-US"/>
          </a:p>
        </p:txBody>
      </p:sp>
      <p:sp>
        <p:nvSpPr>
          <p:cNvPr id="14" name="Text 12"/>
          <p:cNvSpPr/>
          <p:nvPr/>
        </p:nvSpPr>
        <p:spPr>
          <a:xfrm>
            <a:off x="868680" y="5166360"/>
            <a:ext cx="10515600" cy="960120"/>
          </a:xfrm>
          <a:prstGeom prst="rect">
            <a:avLst/>
          </a:prstGeom>
          <a:noFill/>
          <a:ln/>
        </p:spPr>
        <p:txBody>
          <a:bodyPr wrap="square" lIns="0" tIns="0" rIns="0" bIns="0" rtlCol="0" anchor="ctr"/>
          <a:lstStyle/>
          <a:p>
            <a:pPr marL="0" indent="0">
              <a:lnSpc>
                <a:spcPct val="120000"/>
              </a:lnSpc>
              <a:buNone/>
            </a:pPr>
            <a:r>
              <a:rPr lang="en-US" sz="1450" b="1" dirty="0">
                <a:solidFill>
                  <a:srgbClr val="FFFFFF"/>
                </a:solidFill>
                <a:latin typeface="Calibri" pitchFamily="34" charset="0"/>
                <a:ea typeface="Calibri" pitchFamily="34" charset="-122"/>
                <a:cs typeface="Calibri" pitchFamily="34" charset="-120"/>
              </a:rPr>
              <a:t>Konklusjon: </a:t>
            </a:r>
            <a:r>
              <a:rPr lang="en-US" sz="1450" dirty="0">
                <a:solidFill>
                  <a:srgbClr val="FFFFFF"/>
                </a:solidFill>
                <a:latin typeface="Calibri" pitchFamily="34" charset="0"/>
                <a:ea typeface="Calibri" pitchFamily="34" charset="-122"/>
                <a:cs typeface="Calibri" pitchFamily="34" charset="-120"/>
              </a:rPr>
              <a:t>Avgiften veltes over gjennom «incidental payments», ikke kontraktslønn. Effekten er konsentrert i store bedrifter: bedrifter som betaler bonus viser full overvelting, bedrifter uten bonusutbetaling viser tilnærmet null.</a:t>
            </a:r>
            <a:endParaRPr lang="en-US" sz="14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13DD8-63A9-5386-F94C-6145A2C7EAD7}"/>
              </a:ext>
            </a:extLst>
          </p:cNvPr>
          <p:cNvSpPr>
            <a:spLocks noGrp="1"/>
          </p:cNvSpPr>
          <p:nvPr>
            <p:ph type="title"/>
          </p:nvPr>
        </p:nvSpPr>
        <p:spPr>
          <a:xfrm>
            <a:off x="838200" y="365125"/>
            <a:ext cx="10971362" cy="1325563"/>
          </a:xfrm>
        </p:spPr>
        <p:txBody>
          <a:bodyPr>
            <a:normAutofit/>
          </a:bodyPr>
          <a:lstStyle/>
          <a:p>
            <a:r>
              <a:rPr lang="nb-NO" sz="3200" b="1" noProof="0" dirty="0">
                <a:solidFill>
                  <a:srgbClr val="FF0000"/>
                </a:solidFill>
              </a:rPr>
              <a:t>Er det mer naturlig å anta at arbeidsgiveravgiften deles 50/50?</a:t>
            </a:r>
          </a:p>
        </p:txBody>
      </p:sp>
      <p:sp>
        <p:nvSpPr>
          <p:cNvPr id="3" name="Content Placeholder 2">
            <a:extLst>
              <a:ext uri="{FF2B5EF4-FFF2-40B4-BE49-F238E27FC236}">
                <a16:creationId xmlns:a16="http://schemas.microsoft.com/office/drawing/2014/main" id="{9AA458FC-A133-4C16-D0CA-BD232A09DFAE}"/>
              </a:ext>
            </a:extLst>
          </p:cNvPr>
          <p:cNvSpPr>
            <a:spLocks noGrp="1"/>
          </p:cNvSpPr>
          <p:nvPr>
            <p:ph idx="1"/>
          </p:nvPr>
        </p:nvSpPr>
        <p:spPr/>
        <p:txBody>
          <a:bodyPr/>
          <a:lstStyle/>
          <a:p>
            <a:r>
              <a:rPr lang="nb-NO" noProof="0" dirty="0"/>
              <a:t>Skattekommisjonen burde sett på dette !</a:t>
            </a:r>
          </a:p>
          <a:p>
            <a:endParaRPr lang="nb-NO" noProof="0" dirty="0"/>
          </a:p>
          <a:p>
            <a:r>
              <a:rPr lang="nb-NO" noProof="0" dirty="0"/>
              <a:t>Hvis arbeidsgiveravgiften deles 50/50 eller 30/70 betyr det en betydelig lettelse av eierbeskatningen.</a:t>
            </a:r>
          </a:p>
          <a:p>
            <a:endParaRPr lang="nb-NO" noProof="0" dirty="0"/>
          </a:p>
          <a:p>
            <a:r>
              <a:rPr lang="nb-NO" noProof="0" dirty="0"/>
              <a:t>Lavere eierskatt kan redusere opphopningen av latente eierskatter i selskapene</a:t>
            </a:r>
          </a:p>
        </p:txBody>
      </p:sp>
    </p:spTree>
    <p:extLst>
      <p:ext uri="{BB962C8B-B14F-4D97-AF65-F5344CB8AC3E}">
        <p14:creationId xmlns:p14="http://schemas.microsoft.com/office/powerpoint/2010/main" val="16434444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F009D-DAC8-FDFE-FFFE-7327DA728229}"/>
              </a:ext>
            </a:extLst>
          </p:cNvPr>
          <p:cNvSpPr>
            <a:spLocks noGrp="1"/>
          </p:cNvSpPr>
          <p:nvPr>
            <p:ph type="title"/>
          </p:nvPr>
        </p:nvSpPr>
        <p:spPr>
          <a:xfrm>
            <a:off x="838200" y="365126"/>
            <a:ext cx="10515600" cy="759482"/>
          </a:xfrm>
        </p:spPr>
        <p:txBody>
          <a:bodyPr>
            <a:normAutofit fontScale="90000"/>
          </a:bodyPr>
          <a:lstStyle/>
          <a:p>
            <a:r>
              <a:rPr lang="nb-NO" sz="3600" dirty="0"/>
              <a:t>Aksjonærlån</a:t>
            </a:r>
            <a:br>
              <a:rPr lang="nb-NO" sz="3600" dirty="0"/>
            </a:br>
            <a:endParaRPr lang="nb-NO" sz="3600" noProof="0" dirty="0"/>
          </a:p>
        </p:txBody>
      </p:sp>
      <p:sp>
        <p:nvSpPr>
          <p:cNvPr id="3" name="Content Placeholder 2">
            <a:extLst>
              <a:ext uri="{FF2B5EF4-FFF2-40B4-BE49-F238E27FC236}">
                <a16:creationId xmlns:a16="http://schemas.microsoft.com/office/drawing/2014/main" id="{E48F5FC5-174B-A762-D4EB-CAB172657E24}"/>
              </a:ext>
            </a:extLst>
          </p:cNvPr>
          <p:cNvSpPr>
            <a:spLocks noGrp="1"/>
          </p:cNvSpPr>
          <p:nvPr>
            <p:ph idx="1"/>
          </p:nvPr>
        </p:nvSpPr>
        <p:spPr>
          <a:xfrm>
            <a:off x="838200" y="1334814"/>
            <a:ext cx="10515600" cy="4842149"/>
          </a:xfrm>
        </p:spPr>
        <p:txBody>
          <a:bodyPr>
            <a:normAutofit fontScale="92500"/>
          </a:bodyPr>
          <a:lstStyle/>
          <a:p>
            <a:r>
              <a:rPr lang="nb-NO" sz="2800" dirty="0"/>
              <a:t>Eierskatten er høy (37,84%): Kan vi ikke unngå eierskatten ved at eierne (aksjonærene) låner penger fra bedriften til lav rente? </a:t>
            </a:r>
            <a:endParaRPr lang="nb-NO" b="0" i="0" noProof="0" dirty="0">
              <a:solidFill>
                <a:srgbClr val="474747"/>
              </a:solidFill>
              <a:effectLst/>
            </a:endParaRPr>
          </a:p>
          <a:p>
            <a:endParaRPr lang="nb-NO" b="0" i="0" noProof="0" dirty="0">
              <a:solidFill>
                <a:srgbClr val="474747"/>
              </a:solidFill>
              <a:effectLst/>
            </a:endParaRPr>
          </a:p>
          <a:p>
            <a:r>
              <a:rPr lang="nb-NO" b="0" i="0" noProof="0" dirty="0">
                <a:solidFill>
                  <a:srgbClr val="474747"/>
                </a:solidFill>
                <a:effectLst/>
              </a:rPr>
              <a:t>Renteinntekter skattlegge bare med 22% mot eierskatten på 37,84%</a:t>
            </a:r>
          </a:p>
          <a:p>
            <a:endParaRPr lang="nb-NO" noProof="0" dirty="0">
              <a:solidFill>
                <a:srgbClr val="474747"/>
              </a:solidFill>
            </a:endParaRPr>
          </a:p>
          <a:p>
            <a:r>
              <a:rPr lang="nb-NO" b="0" i="0" noProof="0" dirty="0">
                <a:solidFill>
                  <a:srgbClr val="1F1F1F"/>
                </a:solidFill>
                <a:effectLst/>
              </a:rPr>
              <a:t>Endringer i aksjeloven i 2015 gjorde alle lån til personlige aksjonærer, altså privatpersoner som helt eller delvis eier et AS, </a:t>
            </a:r>
            <a:r>
              <a:rPr lang="nb-NO" b="0" i="0" noProof="0" dirty="0">
                <a:solidFill>
                  <a:srgbClr val="474747"/>
                </a:solidFill>
                <a:effectLst/>
              </a:rPr>
              <a:t>beskattes på lik linje som utbytte. </a:t>
            </a:r>
            <a:r>
              <a:rPr lang="nb-NO" b="0" i="0" u="sng" noProof="0" dirty="0">
                <a:solidFill>
                  <a:srgbClr val="474747"/>
                </a:solidFill>
                <a:effectLst/>
              </a:rPr>
              <a:t>Det lønner seg ikke med aksjonærlån!</a:t>
            </a:r>
          </a:p>
          <a:p>
            <a:endParaRPr lang="nb-NO" noProof="0" dirty="0">
              <a:solidFill>
                <a:srgbClr val="474747"/>
              </a:solidFill>
            </a:endParaRPr>
          </a:p>
          <a:p>
            <a:r>
              <a:rPr lang="nb-NO" b="0" i="0" noProof="0" dirty="0">
                <a:solidFill>
                  <a:srgbClr val="1A1A1A"/>
                </a:solidFill>
                <a:effectLst/>
              </a:rPr>
              <a:t>Unntak gjelder lån på under 100 000 kroner og som tilbakebetales innen 60 dager (eks reiseutgifter). Slike lån skal ikke skattlegges som utbytte</a:t>
            </a:r>
            <a:endParaRPr lang="nb-NO" b="0" i="0" noProof="0" dirty="0">
              <a:solidFill>
                <a:srgbClr val="474747"/>
              </a:solidFill>
              <a:effectLst/>
            </a:endParaRPr>
          </a:p>
          <a:p>
            <a:endParaRPr lang="nb-NO" noProof="0" dirty="0">
              <a:solidFill>
                <a:srgbClr val="474747"/>
              </a:solidFill>
              <a:latin typeface="Google Sans"/>
            </a:endParaRPr>
          </a:p>
        </p:txBody>
      </p:sp>
    </p:spTree>
    <p:extLst>
      <p:ext uri="{BB962C8B-B14F-4D97-AF65-F5344CB8AC3E}">
        <p14:creationId xmlns:p14="http://schemas.microsoft.com/office/powerpoint/2010/main" val="4155933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CDFF0F-B9E3-BE4E-B3AE-BEE749AD7DA6}"/>
              </a:ext>
            </a:extLst>
          </p:cNvPr>
          <p:cNvSpPr>
            <a:spLocks noGrp="1"/>
          </p:cNvSpPr>
          <p:nvPr>
            <p:ph type="ctrTitle"/>
          </p:nvPr>
        </p:nvSpPr>
        <p:spPr>
          <a:xfrm>
            <a:off x="1524003" y="1999615"/>
            <a:ext cx="9144000" cy="2764028"/>
          </a:xfrm>
        </p:spPr>
        <p:txBody>
          <a:bodyPr anchor="ctr">
            <a:normAutofit/>
          </a:bodyPr>
          <a:lstStyle/>
          <a:p>
            <a:r>
              <a:rPr lang="nb-NO" sz="6700"/>
              <a:t>6. Nominelle, effektive og marginale skattesater</a:t>
            </a:r>
          </a:p>
        </p:txBody>
      </p:sp>
      <p:sp>
        <p:nvSpPr>
          <p:cNvPr id="3" name="Subtitle 2">
            <a:extLst>
              <a:ext uri="{FF2B5EF4-FFF2-40B4-BE49-F238E27FC236}">
                <a16:creationId xmlns:a16="http://schemas.microsoft.com/office/drawing/2014/main" id="{9CAB5572-0C6F-C96A-7901-01709A75F984}"/>
              </a:ext>
            </a:extLst>
          </p:cNvPr>
          <p:cNvSpPr>
            <a:spLocks noGrp="1"/>
          </p:cNvSpPr>
          <p:nvPr>
            <p:ph type="subTitle" idx="1"/>
          </p:nvPr>
        </p:nvSpPr>
        <p:spPr>
          <a:xfrm>
            <a:off x="1966912" y="5645150"/>
            <a:ext cx="8258176" cy="631825"/>
          </a:xfrm>
        </p:spPr>
        <p:txBody>
          <a:bodyPr anchor="ctr">
            <a:normAutofit/>
          </a:bodyPr>
          <a:lstStyle/>
          <a:p>
            <a:endParaRPr lang="nb-NO" sz="2800"/>
          </a:p>
        </p:txBody>
      </p:sp>
      <p:sp>
        <p:nvSpPr>
          <p:cNvPr id="15" name="Rectangle 14">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4B5B5536-3F76-E61A-6502-671248BC18A6}"/>
              </a:ext>
            </a:extLst>
          </p:cNvPr>
          <p:cNvSpPr>
            <a:spLocks noGrp="1"/>
          </p:cNvSpPr>
          <p:nvPr>
            <p:ph type="sldNum" sz="quarter" idx="12"/>
          </p:nvPr>
        </p:nvSpPr>
        <p:spPr>
          <a:xfrm>
            <a:off x="10489019" y="6356350"/>
            <a:ext cx="1268818" cy="365125"/>
          </a:xfrm>
        </p:spPr>
        <p:txBody>
          <a:bodyPr>
            <a:normAutofit/>
          </a:bodyPr>
          <a:lstStyle/>
          <a:p>
            <a:pPr>
              <a:spcAft>
                <a:spcPts val="600"/>
              </a:spcAft>
            </a:pPr>
            <a:fld id="{092CA8B5-DBB4-47BA-9127-F945AE107A35}" type="slidenum">
              <a:rPr lang="nb-NO">
                <a:solidFill>
                  <a:schemeClr val="tx1">
                    <a:lumMod val="50000"/>
                    <a:lumOff val="50000"/>
                  </a:schemeClr>
                </a:solidFill>
              </a:rPr>
              <a:pPr>
                <a:spcAft>
                  <a:spcPts val="600"/>
                </a:spcAft>
              </a:pPr>
              <a:t>58</a:t>
            </a:fld>
            <a:endParaRPr lang="nb-NO">
              <a:solidFill>
                <a:schemeClr val="tx1">
                  <a:lumMod val="50000"/>
                  <a:lumOff val="50000"/>
                </a:schemeClr>
              </a:solidFill>
            </a:endParaRPr>
          </a:p>
        </p:txBody>
      </p:sp>
    </p:spTree>
    <p:extLst>
      <p:ext uri="{BB962C8B-B14F-4D97-AF65-F5344CB8AC3E}">
        <p14:creationId xmlns:p14="http://schemas.microsoft.com/office/powerpoint/2010/main" val="2741066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91BEC-2A5F-9B17-A8B3-93FC0C44DEBF}"/>
              </a:ext>
            </a:extLst>
          </p:cNvPr>
          <p:cNvSpPr>
            <a:spLocks noGrp="1"/>
          </p:cNvSpPr>
          <p:nvPr>
            <p:ph type="title"/>
          </p:nvPr>
        </p:nvSpPr>
        <p:spPr>
          <a:xfrm>
            <a:off x="838200" y="136525"/>
            <a:ext cx="10515600" cy="948204"/>
          </a:xfrm>
        </p:spPr>
        <p:txBody>
          <a:bodyPr>
            <a:normAutofit/>
          </a:bodyPr>
          <a:lstStyle/>
          <a:p>
            <a:r>
              <a:rPr lang="nb-NO" sz="3600" noProof="0" dirty="0"/>
              <a:t>Nominelle , marginale og effektive skattesatser</a:t>
            </a:r>
          </a:p>
        </p:txBody>
      </p:sp>
      <p:sp>
        <p:nvSpPr>
          <p:cNvPr id="3" name="Content Placeholder 2">
            <a:extLst>
              <a:ext uri="{FF2B5EF4-FFF2-40B4-BE49-F238E27FC236}">
                <a16:creationId xmlns:a16="http://schemas.microsoft.com/office/drawing/2014/main" id="{D6833803-6E0E-C12C-E1F5-8F07D5B17D99}"/>
              </a:ext>
            </a:extLst>
          </p:cNvPr>
          <p:cNvSpPr>
            <a:spLocks noGrp="1"/>
          </p:cNvSpPr>
          <p:nvPr>
            <p:ph idx="1"/>
          </p:nvPr>
        </p:nvSpPr>
        <p:spPr>
          <a:xfrm>
            <a:off x="245327" y="1232647"/>
            <a:ext cx="11529813" cy="4944316"/>
          </a:xfrm>
        </p:spPr>
        <p:txBody>
          <a:bodyPr>
            <a:normAutofit fontScale="92500" lnSpcReduction="20000"/>
          </a:bodyPr>
          <a:lstStyle/>
          <a:p>
            <a:r>
              <a:rPr lang="nb-NO" sz="3600" b="1" noProof="0" dirty="0"/>
              <a:t>Nominell selskapsskatt er den alminnelige inntektsskatten som er </a:t>
            </a:r>
            <a:r>
              <a:rPr lang="nb-NO" sz="3600" noProof="0" dirty="0"/>
              <a:t>22% og er den offisielle lov-vedtatte skattesatsen</a:t>
            </a:r>
          </a:p>
          <a:p>
            <a:pPr marL="0" indent="0">
              <a:buNone/>
            </a:pPr>
            <a:endParaRPr lang="nb-NO" sz="3600" noProof="0" dirty="0"/>
          </a:p>
          <a:p>
            <a:r>
              <a:rPr lang="nb-NO" sz="3600" b="1" noProof="0" dirty="0"/>
              <a:t>Effektiv </a:t>
            </a:r>
            <a:r>
              <a:rPr lang="nb-NO" sz="3600" b="1" noProof="0" dirty="0" err="1"/>
              <a:t>gjsn.skatt</a:t>
            </a:r>
            <a:r>
              <a:rPr lang="nb-NO" sz="3600" b="1" noProof="0" dirty="0"/>
              <a:t> </a:t>
            </a:r>
            <a:r>
              <a:rPr lang="nb-NO" sz="3600" noProof="0" dirty="0"/>
              <a:t>(</a:t>
            </a:r>
            <a:r>
              <a:rPr lang="nb-NO" sz="3600" noProof="0" dirty="0" err="1"/>
              <a:t>Average</a:t>
            </a:r>
            <a:r>
              <a:rPr lang="nb-NO" sz="3600" noProof="0" dirty="0"/>
              <a:t> </a:t>
            </a:r>
            <a:r>
              <a:rPr lang="nb-NO" sz="3600" dirty="0"/>
              <a:t>E</a:t>
            </a:r>
            <a:r>
              <a:rPr lang="nb-NO" sz="3600" noProof="0" dirty="0" err="1"/>
              <a:t>ffective</a:t>
            </a:r>
            <a:r>
              <a:rPr lang="nb-NO" sz="3600" noProof="0" dirty="0"/>
              <a:t> Rate of </a:t>
            </a:r>
            <a:r>
              <a:rPr lang="nb-NO" sz="3600" dirty="0"/>
              <a:t>T</a:t>
            </a:r>
            <a:r>
              <a:rPr lang="nb-NO" sz="3600" noProof="0" dirty="0" err="1"/>
              <a:t>ax</a:t>
            </a:r>
            <a:r>
              <a:rPr lang="nb-NO" sz="3600" noProof="0" dirty="0"/>
              <a:t> (AERT)) måler faktisk betalte skatt </a:t>
            </a:r>
            <a:r>
              <a:rPr lang="nb-NO" sz="3600" b="1" noProof="0" dirty="0"/>
              <a:t>i prosent av brutto inntekt før skatt. </a:t>
            </a:r>
          </a:p>
          <a:p>
            <a:pPr lvl="1"/>
            <a:r>
              <a:rPr lang="nb-NO" sz="3200" dirty="0"/>
              <a:t>AERT er basert på data tilbake i tid</a:t>
            </a:r>
            <a:r>
              <a:rPr lang="nb-NO" sz="3200" noProof="0" dirty="0"/>
              <a:t>.</a:t>
            </a:r>
          </a:p>
          <a:p>
            <a:endParaRPr lang="nb-NO" sz="3600" dirty="0"/>
          </a:p>
          <a:p>
            <a:r>
              <a:rPr lang="nb-NO" sz="3600" b="1" noProof="0" dirty="0"/>
              <a:t>Marginal eierskatt </a:t>
            </a:r>
            <a:r>
              <a:rPr lang="nb-NO" sz="3600" noProof="0" dirty="0"/>
              <a:t>er skatten som faller på en enhet inntekt hensyn tatt til selskapsskatt og utbytteskatt</a:t>
            </a:r>
          </a:p>
          <a:p>
            <a:endParaRPr lang="nb-NO" sz="3600" dirty="0"/>
          </a:p>
          <a:p>
            <a:r>
              <a:rPr lang="nb-NO" sz="3600" noProof="0" dirty="0"/>
              <a:t>Det er forskjell på effektiv skatt og marginal skatt</a:t>
            </a:r>
          </a:p>
          <a:p>
            <a:pPr marL="0" indent="0">
              <a:buNone/>
            </a:pPr>
            <a:endParaRPr lang="nb-NO" noProof="0" dirty="0"/>
          </a:p>
          <a:p>
            <a:endParaRPr lang="nb-NO" noProof="0" dirty="0"/>
          </a:p>
        </p:txBody>
      </p:sp>
      <p:sp>
        <p:nvSpPr>
          <p:cNvPr id="4" name="Slide Number Placeholder 3">
            <a:extLst>
              <a:ext uri="{FF2B5EF4-FFF2-40B4-BE49-F238E27FC236}">
                <a16:creationId xmlns:a16="http://schemas.microsoft.com/office/drawing/2014/main" id="{653BF2B5-B9CE-4342-248A-3A53176108BA}"/>
              </a:ext>
            </a:extLst>
          </p:cNvPr>
          <p:cNvSpPr>
            <a:spLocks noGrp="1"/>
          </p:cNvSpPr>
          <p:nvPr>
            <p:ph type="sldNum" sz="quarter" idx="12"/>
          </p:nvPr>
        </p:nvSpPr>
        <p:spPr/>
        <p:txBody>
          <a:bodyPr/>
          <a:lstStyle/>
          <a:p>
            <a:fld id="{092CA8B5-DBB4-47BA-9127-F945AE107A35}" type="slidenum">
              <a:rPr lang="nb-NO" noProof="0" smtClean="0"/>
              <a:t>59</a:t>
            </a:fld>
            <a:endParaRPr lang="nb-NO" noProof="0" dirty="0"/>
          </a:p>
        </p:txBody>
      </p:sp>
    </p:spTree>
    <p:extLst>
      <p:ext uri="{BB962C8B-B14F-4D97-AF65-F5344CB8AC3E}">
        <p14:creationId xmlns:p14="http://schemas.microsoft.com/office/powerpoint/2010/main" val="389322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A4550-AA32-99A5-A764-71B044911E84}"/>
              </a:ext>
            </a:extLst>
          </p:cNvPr>
          <p:cNvSpPr>
            <a:spLocks noGrp="1"/>
          </p:cNvSpPr>
          <p:nvPr>
            <p:ph type="title"/>
          </p:nvPr>
        </p:nvSpPr>
        <p:spPr>
          <a:xfrm>
            <a:off x="838199" y="136525"/>
            <a:ext cx="10578353" cy="1118626"/>
          </a:xfrm>
        </p:spPr>
        <p:txBody>
          <a:bodyPr>
            <a:noAutofit/>
          </a:bodyPr>
          <a:lstStyle/>
          <a:p>
            <a:pPr algn="ctr"/>
            <a:r>
              <a:rPr lang="nb-NO" sz="3200" b="1" noProof="0" dirty="0">
                <a:latin typeface="+mn-lt"/>
              </a:rPr>
              <a:t>Gjennomsnittlig effektiv skattesats for bedriften</a:t>
            </a:r>
            <a:br>
              <a:rPr lang="nb-NO" sz="3200" b="1" noProof="0" dirty="0">
                <a:latin typeface="+mn-lt"/>
              </a:rPr>
            </a:br>
            <a:r>
              <a:rPr lang="nb-NO" sz="3200" b="1" noProof="0" dirty="0">
                <a:latin typeface="+mn-lt"/>
              </a:rPr>
              <a:t> (AERT – </a:t>
            </a:r>
            <a:r>
              <a:rPr lang="nb-NO" sz="3200" b="1" noProof="0" dirty="0" err="1">
                <a:latin typeface="+mn-lt"/>
              </a:rPr>
              <a:t>Average</a:t>
            </a:r>
            <a:r>
              <a:rPr lang="nb-NO" sz="3200" b="1" noProof="0" dirty="0">
                <a:latin typeface="+mn-lt"/>
              </a:rPr>
              <a:t> </a:t>
            </a:r>
            <a:r>
              <a:rPr lang="nb-NO" sz="3200" b="1" noProof="0" dirty="0" err="1">
                <a:latin typeface="+mn-lt"/>
              </a:rPr>
              <a:t>Effective</a:t>
            </a:r>
            <a:r>
              <a:rPr lang="nb-NO" sz="3200" b="1" noProof="0" dirty="0">
                <a:latin typeface="+mn-lt"/>
              </a:rPr>
              <a:t> Tax Rate)</a:t>
            </a:r>
            <a:br>
              <a:rPr lang="nb-NO" sz="2800" b="1" noProof="0" dirty="0">
                <a:latin typeface="+mn-lt"/>
              </a:rPr>
            </a:br>
            <a:endParaRPr lang="nb-NO" sz="2800" b="1" noProof="0" dirty="0">
              <a:latin typeface="+mn-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856810-A916-8665-0263-B8884786DB0F}"/>
                  </a:ext>
                </a:extLst>
              </p:cNvPr>
              <p:cNvSpPr>
                <a:spLocks noGrp="1"/>
              </p:cNvSpPr>
              <p:nvPr>
                <p:ph idx="1"/>
              </p:nvPr>
            </p:nvSpPr>
            <p:spPr>
              <a:xfrm>
                <a:off x="102219" y="1437714"/>
                <a:ext cx="11987561" cy="5101198"/>
              </a:xfrm>
            </p:spPr>
            <p:txBody>
              <a:bodyPr>
                <a:normAutofit/>
              </a:bodyPr>
              <a:lstStyle/>
              <a:p>
                <a:endParaRPr lang="nb-NO" noProof="0" dirty="0"/>
              </a:p>
              <a:p>
                <a:pPr marL="0" indent="0">
                  <a:buNone/>
                </a:pPr>
                <a14:m>
                  <m:oMathPara xmlns:m="http://schemas.openxmlformats.org/officeDocument/2006/math">
                    <m:oMath>
                      <m:r>
                        <a:rPr lang="nb-NO" i="1" noProof="0" smtClean="0">
                          <a:latin typeface="Cambria Math" panose="02040503050406030204" pitchFamily="18" charset="0"/>
                        </a:rPr>
                        <m:t>𝐸𝑓𝑓𝑒𝑘𝑡𝑖𝑣</m:t>
                      </m:r>
                      <m:r>
                        <a:rPr lang="nb-NO" i="1" noProof="0" smtClean="0">
                          <a:latin typeface="Cambria Math" panose="02040503050406030204" pitchFamily="18" charset="0"/>
                        </a:rPr>
                        <m:t> </m:t>
                      </m:r>
                      <m:r>
                        <a:rPr lang="nb-NO" i="1" noProof="0" smtClean="0">
                          <a:latin typeface="Cambria Math" panose="02040503050406030204" pitchFamily="18" charset="0"/>
                        </a:rPr>
                        <m:t>𝑠𝑒𝑙𝑠𝑘𝑎𝑝𝑠𝑠𝑘𝑎𝑡𝑡</m:t>
                      </m:r>
                      <m:r>
                        <a:rPr lang="nb-NO" b="0" i="1" noProof="0" smtClean="0">
                          <a:latin typeface="Cambria Math" panose="02040503050406030204" pitchFamily="18" charset="0"/>
                        </a:rPr>
                        <m:t>(</m:t>
                      </m:r>
                      <m:r>
                        <a:rPr lang="nb-NO" b="0" i="1" noProof="0" smtClean="0">
                          <a:latin typeface="Cambria Math" panose="02040503050406030204" pitchFamily="18" charset="0"/>
                        </a:rPr>
                        <m:t>𝐴𝐸𝑅𝑇</m:t>
                      </m:r>
                      <m:r>
                        <a:rPr lang="nb-NO" b="0" i="1" noProof="0" smtClean="0">
                          <a:latin typeface="Cambria Math" panose="02040503050406030204" pitchFamily="18" charset="0"/>
                        </a:rPr>
                        <m:t>)=</m:t>
                      </m:r>
                      <m:f>
                        <m:fPr>
                          <m:ctrlPr>
                            <a:rPr lang="nb-NO" b="0" i="1" noProof="0" smtClean="0">
                              <a:latin typeface="Cambria Math" panose="02040503050406030204" pitchFamily="18" charset="0"/>
                            </a:rPr>
                          </m:ctrlPr>
                        </m:fPr>
                        <m:num>
                          <m:r>
                            <a:rPr lang="nb-NO" b="0" i="1" noProof="0" smtClean="0">
                              <a:latin typeface="Cambria Math" panose="02040503050406030204" pitchFamily="18" charset="0"/>
                            </a:rPr>
                            <m:t>𝑠𝑘𝑎𝑡𝑡</m:t>
                          </m:r>
                          <m:r>
                            <a:rPr lang="nb-NO" b="0" i="1" noProof="0" smtClean="0">
                              <a:latin typeface="Cambria Math" panose="02040503050406030204" pitchFamily="18" charset="0"/>
                            </a:rPr>
                            <m:t> </m:t>
                          </m:r>
                          <m:r>
                            <a:rPr lang="nb-NO" b="0" i="1" noProof="0" smtClean="0">
                              <a:latin typeface="Cambria Math" panose="02040503050406030204" pitchFamily="18" charset="0"/>
                            </a:rPr>
                            <m:t>𝑏𝑒𝑡𝑎𝑙𝑡</m:t>
                          </m:r>
                          <m:r>
                            <a:rPr lang="nb-NO" b="0" i="1" noProof="0" smtClean="0">
                              <a:latin typeface="Cambria Math" panose="02040503050406030204" pitchFamily="18" charset="0"/>
                            </a:rPr>
                            <m:t> </m:t>
                          </m:r>
                          <m:r>
                            <a:rPr lang="nb-NO" b="0" i="1" noProof="0" smtClean="0">
                              <a:latin typeface="Cambria Math" panose="02040503050406030204" pitchFamily="18" charset="0"/>
                            </a:rPr>
                            <m:t>𝑎𝑣</m:t>
                          </m:r>
                          <m:r>
                            <a:rPr lang="nb-NO" b="0" i="1" noProof="0" smtClean="0">
                              <a:latin typeface="Cambria Math" panose="02040503050406030204" pitchFamily="18" charset="0"/>
                            </a:rPr>
                            <m:t> </m:t>
                          </m:r>
                          <m:r>
                            <a:rPr lang="nb-NO" b="0" i="1" noProof="0" smtClean="0">
                              <a:latin typeface="Cambria Math" panose="02040503050406030204" pitchFamily="18" charset="0"/>
                            </a:rPr>
                            <m:t>𝑏𝑒𝑑𝑟𝑖𝑓𝑡𝑒𝑛</m:t>
                          </m:r>
                          <m:r>
                            <a:rPr lang="nb-NO" b="0" i="1" noProof="0" smtClean="0">
                              <a:latin typeface="Cambria Math" panose="02040503050406030204" pitchFamily="18" charset="0"/>
                            </a:rPr>
                            <m:t> </m:t>
                          </m:r>
                        </m:num>
                        <m:den>
                          <m:r>
                            <a:rPr lang="nb-NO" i="1" noProof="0" smtClean="0">
                              <a:latin typeface="Cambria Math" panose="02040503050406030204" pitchFamily="18" charset="0"/>
                            </a:rPr>
                            <m:t>𝐵𝑟𝑢𝑡𝑡𝑜</m:t>
                          </m:r>
                          <m:r>
                            <a:rPr lang="nb-NO" i="1" noProof="0" smtClean="0">
                              <a:latin typeface="Cambria Math" panose="02040503050406030204" pitchFamily="18" charset="0"/>
                            </a:rPr>
                            <m:t> </m:t>
                          </m:r>
                          <m:r>
                            <a:rPr lang="nb-NO" i="1" noProof="0" smtClean="0">
                              <a:latin typeface="Cambria Math" panose="02040503050406030204" pitchFamily="18" charset="0"/>
                            </a:rPr>
                            <m:t>𝑖𝑛𝑛𝑡𝑒𝑘𝑡</m:t>
                          </m:r>
                          <m:r>
                            <a:rPr lang="nb-NO" b="0" i="1" noProof="0" smtClean="0">
                              <a:latin typeface="Cambria Math" panose="02040503050406030204" pitchFamily="18" charset="0"/>
                            </a:rPr>
                            <m:t> </m:t>
                          </m:r>
                        </m:den>
                      </m:f>
                    </m:oMath>
                  </m:oMathPara>
                </a14:m>
                <a:endParaRPr lang="nb-NO" noProof="0" dirty="0"/>
              </a:p>
              <a:p>
                <a:pPr marL="0" indent="0">
                  <a:buNone/>
                </a:pPr>
                <a:endParaRPr lang="nb-NO" noProof="0" dirty="0"/>
              </a:p>
              <a:p>
                <a:r>
                  <a:rPr lang="nb-NO" noProof="0" dirty="0"/>
                  <a:t>​ AERT er vanligvis lavere enn den lovbestemte skattesatsen på grunn av avvik mellom virkelige kostnader og skattemessige kostnader, framførbare underskudd mm som påvirker teller</a:t>
                </a:r>
              </a:p>
              <a:p>
                <a:endParaRPr lang="nb-NO" dirty="0"/>
              </a:p>
              <a:p>
                <a:r>
                  <a:rPr lang="nb-NO" b="1" noProof="0" dirty="0"/>
                  <a:t>AERT er selskapsspesifikk fordi selskaper har investert i ulike aktiva med ulike avskrivningssatser samt at noen selskaper har fremførbare underskudd. AERT vil derfor variere fra år til år for et selskap.</a:t>
                </a:r>
              </a:p>
              <a:p>
                <a:endParaRPr lang="nb-NO" noProof="0" dirty="0"/>
              </a:p>
            </p:txBody>
          </p:sp>
        </mc:Choice>
        <mc:Fallback xmlns="">
          <p:sp>
            <p:nvSpPr>
              <p:cNvPr id="3" name="Content Placeholder 2">
                <a:extLst>
                  <a:ext uri="{FF2B5EF4-FFF2-40B4-BE49-F238E27FC236}">
                    <a16:creationId xmlns:a16="http://schemas.microsoft.com/office/drawing/2014/main" id="{DA856810-A916-8665-0263-B8884786DB0F}"/>
                  </a:ext>
                </a:extLst>
              </p:cNvPr>
              <p:cNvSpPr>
                <a:spLocks noGrp="1" noRot="1" noChangeAspect="1" noMove="1" noResize="1" noEditPoints="1" noAdjustHandles="1" noChangeArrowheads="1" noChangeShapeType="1" noTextEdit="1"/>
              </p:cNvSpPr>
              <p:nvPr>
                <p:ph idx="1"/>
              </p:nvPr>
            </p:nvSpPr>
            <p:spPr>
              <a:xfrm>
                <a:off x="102219" y="1437714"/>
                <a:ext cx="11987561" cy="5101198"/>
              </a:xfrm>
              <a:blipFill>
                <a:blip r:embed="rId2"/>
                <a:stretch>
                  <a:fillRect l="-916" r="-356"/>
                </a:stretch>
              </a:blipFill>
            </p:spPr>
            <p:txBody>
              <a:bodyPr/>
              <a:lstStyle/>
              <a:p>
                <a:r>
                  <a:rPr lang="nb-NO">
                    <a:noFill/>
                  </a:rPr>
                  <a:t> </a:t>
                </a:r>
              </a:p>
            </p:txBody>
          </p:sp>
        </mc:Fallback>
      </mc:AlternateContent>
      <p:sp>
        <p:nvSpPr>
          <p:cNvPr id="4" name="Slide Number Placeholder 3">
            <a:extLst>
              <a:ext uri="{FF2B5EF4-FFF2-40B4-BE49-F238E27FC236}">
                <a16:creationId xmlns:a16="http://schemas.microsoft.com/office/drawing/2014/main" id="{6DDF02D7-3B7B-D99A-1C2E-6ADAAD7191DE}"/>
              </a:ext>
            </a:extLst>
          </p:cNvPr>
          <p:cNvSpPr>
            <a:spLocks noGrp="1"/>
          </p:cNvSpPr>
          <p:nvPr>
            <p:ph type="sldNum" sz="quarter" idx="12"/>
          </p:nvPr>
        </p:nvSpPr>
        <p:spPr/>
        <p:txBody>
          <a:bodyPr/>
          <a:lstStyle/>
          <a:p>
            <a:fld id="{092CA8B5-DBB4-47BA-9127-F945AE107A35}" type="slidenum">
              <a:rPr lang="nb-NO" noProof="0" smtClean="0"/>
              <a:t>60</a:t>
            </a:fld>
            <a:endParaRPr lang="nb-NO" noProof="0" dirty="0"/>
          </a:p>
        </p:txBody>
      </p:sp>
    </p:spTree>
    <p:extLst>
      <p:ext uri="{BB962C8B-B14F-4D97-AF65-F5344CB8AC3E}">
        <p14:creationId xmlns:p14="http://schemas.microsoft.com/office/powerpoint/2010/main" val="2721964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9A7B3-AFE4-7EA4-A2B5-1EA9B9CBA892}"/>
              </a:ext>
            </a:extLst>
          </p:cNvPr>
          <p:cNvSpPr>
            <a:spLocks noGrp="1"/>
          </p:cNvSpPr>
          <p:nvPr>
            <p:ph type="title"/>
          </p:nvPr>
        </p:nvSpPr>
        <p:spPr>
          <a:xfrm>
            <a:off x="839788" y="178267"/>
            <a:ext cx="10515600" cy="872004"/>
          </a:xfrm>
        </p:spPr>
        <p:txBody>
          <a:bodyPr>
            <a:normAutofit/>
          </a:bodyPr>
          <a:lstStyle/>
          <a:p>
            <a:r>
              <a:rPr lang="nb-NO" sz="4000" b="1" dirty="0"/>
              <a:t>Eksempel: AERT </a:t>
            </a:r>
            <a:r>
              <a:rPr lang="nb-NO" sz="4000" b="1" dirty="0" err="1"/>
              <a:t>vs</a:t>
            </a:r>
            <a:r>
              <a:rPr lang="nb-NO" sz="4000" b="1" dirty="0"/>
              <a:t> nominell skattesats</a:t>
            </a:r>
          </a:p>
        </p:txBody>
      </p:sp>
      <p:sp>
        <p:nvSpPr>
          <p:cNvPr id="3" name="Text Placeholder 2">
            <a:extLst>
              <a:ext uri="{FF2B5EF4-FFF2-40B4-BE49-F238E27FC236}">
                <a16:creationId xmlns:a16="http://schemas.microsoft.com/office/drawing/2014/main" id="{F217DD8B-74B4-252A-8A5C-FC19BCD1E2F3}"/>
              </a:ext>
            </a:extLst>
          </p:cNvPr>
          <p:cNvSpPr>
            <a:spLocks noGrp="1"/>
          </p:cNvSpPr>
          <p:nvPr>
            <p:ph type="body" idx="1"/>
          </p:nvPr>
        </p:nvSpPr>
        <p:spPr>
          <a:xfrm>
            <a:off x="872471" y="964686"/>
            <a:ext cx="5157787" cy="823912"/>
          </a:xfrm>
        </p:spPr>
        <p:txBody>
          <a:bodyPr>
            <a:normAutofit/>
          </a:bodyPr>
          <a:lstStyle/>
          <a:p>
            <a:r>
              <a:rPr lang="nb-NO" sz="3200" dirty="0"/>
              <a:t>Full avskrivning</a:t>
            </a:r>
          </a:p>
        </p:txBody>
      </p:sp>
      <p:sp>
        <p:nvSpPr>
          <p:cNvPr id="4" name="Content Placeholder 3">
            <a:extLst>
              <a:ext uri="{FF2B5EF4-FFF2-40B4-BE49-F238E27FC236}">
                <a16:creationId xmlns:a16="http://schemas.microsoft.com/office/drawing/2014/main" id="{8D4A78F2-EE71-7E45-BA7D-342EB59CD723}"/>
              </a:ext>
            </a:extLst>
          </p:cNvPr>
          <p:cNvSpPr>
            <a:spLocks noGrp="1"/>
          </p:cNvSpPr>
          <p:nvPr>
            <p:ph sz="half" idx="2"/>
          </p:nvPr>
        </p:nvSpPr>
        <p:spPr>
          <a:xfrm>
            <a:off x="839788" y="1971815"/>
            <a:ext cx="5157787" cy="3684588"/>
          </a:xfrm>
        </p:spPr>
        <p:txBody>
          <a:bodyPr>
            <a:normAutofit/>
          </a:bodyPr>
          <a:lstStyle/>
          <a:p>
            <a:r>
              <a:rPr lang="nb-NO" dirty="0"/>
              <a:t>Inntekt:	300 000</a:t>
            </a:r>
          </a:p>
          <a:p>
            <a:r>
              <a:rPr lang="nb-NO" dirty="0"/>
              <a:t>Kjøpt printer: 100 000</a:t>
            </a:r>
          </a:p>
          <a:p>
            <a:r>
              <a:rPr lang="nb-NO" dirty="0"/>
              <a:t>Skattbar inntekt: 200 000</a:t>
            </a:r>
          </a:p>
          <a:p>
            <a:r>
              <a:rPr lang="nb-NO" dirty="0"/>
              <a:t>Skatt (22%): 44 000</a:t>
            </a:r>
          </a:p>
          <a:p>
            <a:r>
              <a:rPr lang="nb-NO" dirty="0"/>
              <a:t> AERT: 44 000/300 000 = 14,6%</a:t>
            </a:r>
          </a:p>
        </p:txBody>
      </p:sp>
      <p:sp>
        <p:nvSpPr>
          <p:cNvPr id="5" name="Text Placeholder 4">
            <a:extLst>
              <a:ext uri="{FF2B5EF4-FFF2-40B4-BE49-F238E27FC236}">
                <a16:creationId xmlns:a16="http://schemas.microsoft.com/office/drawing/2014/main" id="{DF208D21-7948-FFB1-B95F-F2A5A7099D0A}"/>
              </a:ext>
            </a:extLst>
          </p:cNvPr>
          <p:cNvSpPr>
            <a:spLocks noGrp="1"/>
          </p:cNvSpPr>
          <p:nvPr>
            <p:ph type="body" sz="quarter" idx="3"/>
          </p:nvPr>
        </p:nvSpPr>
        <p:spPr>
          <a:xfrm>
            <a:off x="6062941" y="848776"/>
            <a:ext cx="5183188" cy="823912"/>
          </a:xfrm>
        </p:spPr>
        <p:txBody>
          <a:bodyPr>
            <a:normAutofit/>
          </a:bodyPr>
          <a:lstStyle/>
          <a:p>
            <a:r>
              <a:rPr lang="nb-NO" sz="3200" dirty="0"/>
              <a:t>Saldoavskrivning 30%</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B32D3EEE-7770-EC22-2479-D5EA5979FC68}"/>
                  </a:ext>
                </a:extLst>
              </p:cNvPr>
              <p:cNvSpPr>
                <a:spLocks noGrp="1"/>
              </p:cNvSpPr>
              <p:nvPr>
                <p:ph sz="quarter" idx="4"/>
              </p:nvPr>
            </p:nvSpPr>
            <p:spPr>
              <a:xfrm>
                <a:off x="6096000" y="1855905"/>
                <a:ext cx="5719482" cy="3684588"/>
              </a:xfrm>
            </p:spPr>
            <p:txBody>
              <a:bodyPr>
                <a:normAutofit/>
              </a:bodyPr>
              <a:lstStyle/>
              <a:p>
                <a:r>
                  <a:rPr lang="nb-NO" dirty="0"/>
                  <a:t>Inntekt: 	300 000</a:t>
                </a:r>
              </a:p>
              <a:p>
                <a:r>
                  <a:rPr lang="nb-NO" dirty="0"/>
                  <a:t>Kjøpt printer: 30 000 (30% av 100’)</a:t>
                </a:r>
              </a:p>
              <a:p>
                <a:r>
                  <a:rPr lang="nb-NO" dirty="0"/>
                  <a:t>Skattbar inntekt: 270 000</a:t>
                </a:r>
              </a:p>
              <a:p>
                <a:r>
                  <a:rPr lang="nb-NO" dirty="0"/>
                  <a:t>Skatt: 59 400</a:t>
                </a:r>
              </a:p>
              <a:p>
                <a:r>
                  <a:rPr lang="nb-NO" dirty="0"/>
                  <a:t>AERT: 59 400/300 000 </a:t>
                </a:r>
                <a14:m>
                  <m:oMath xmlns:m="http://schemas.openxmlformats.org/officeDocument/2006/math">
                    <m:r>
                      <a:rPr lang="nb-NO" i="1" smtClean="0">
                        <a:latin typeface="Cambria Math" panose="02040503050406030204" pitchFamily="18" charset="0"/>
                        <a:ea typeface="Cambria Math" panose="02040503050406030204" pitchFamily="18" charset="0"/>
                      </a:rPr>
                      <m:t>≅</m:t>
                    </m:r>
                  </m:oMath>
                </a14:m>
                <a:r>
                  <a:rPr lang="nb-NO" dirty="0"/>
                  <a:t> 19,8%</a:t>
                </a:r>
              </a:p>
            </p:txBody>
          </p:sp>
        </mc:Choice>
        <mc:Fallback xmlns="">
          <p:sp>
            <p:nvSpPr>
              <p:cNvPr id="6" name="Content Placeholder 5">
                <a:extLst>
                  <a:ext uri="{FF2B5EF4-FFF2-40B4-BE49-F238E27FC236}">
                    <a16:creationId xmlns:a16="http://schemas.microsoft.com/office/drawing/2014/main" id="{B32D3EEE-7770-EC22-2479-D5EA5979FC68}"/>
                  </a:ext>
                </a:extLst>
              </p:cNvPr>
              <p:cNvSpPr>
                <a:spLocks noGrp="1" noRot="1" noChangeAspect="1" noMove="1" noResize="1" noEditPoints="1" noAdjustHandles="1" noChangeArrowheads="1" noChangeShapeType="1" noTextEdit="1"/>
              </p:cNvSpPr>
              <p:nvPr>
                <p:ph sz="quarter" idx="4"/>
              </p:nvPr>
            </p:nvSpPr>
            <p:spPr>
              <a:xfrm>
                <a:off x="6096000" y="1855905"/>
                <a:ext cx="5719482" cy="3684588"/>
              </a:xfrm>
              <a:blipFill>
                <a:blip r:embed="rId2"/>
                <a:stretch>
                  <a:fillRect l="-1919" t="-2645"/>
                </a:stretch>
              </a:blipFill>
            </p:spPr>
            <p:txBody>
              <a:bodyPr/>
              <a:lstStyle/>
              <a:p>
                <a:r>
                  <a:rPr lang="nb-NO">
                    <a:noFill/>
                  </a:rPr>
                  <a:t> </a:t>
                </a:r>
              </a:p>
            </p:txBody>
          </p:sp>
        </mc:Fallback>
      </mc:AlternateContent>
      <p:sp>
        <p:nvSpPr>
          <p:cNvPr id="7" name="Slide Number Placeholder 6">
            <a:extLst>
              <a:ext uri="{FF2B5EF4-FFF2-40B4-BE49-F238E27FC236}">
                <a16:creationId xmlns:a16="http://schemas.microsoft.com/office/drawing/2014/main" id="{6BF19357-8B14-EE09-E6C3-2B3E2DB44D26}"/>
              </a:ext>
            </a:extLst>
          </p:cNvPr>
          <p:cNvSpPr>
            <a:spLocks noGrp="1"/>
          </p:cNvSpPr>
          <p:nvPr>
            <p:ph type="sldNum" sz="quarter" idx="12"/>
          </p:nvPr>
        </p:nvSpPr>
        <p:spPr/>
        <p:txBody>
          <a:bodyPr/>
          <a:lstStyle/>
          <a:p>
            <a:fld id="{092CA8B5-DBB4-47BA-9127-F945AE107A35}" type="slidenum">
              <a:rPr lang="nb-NO" smtClean="0"/>
              <a:t>61</a:t>
            </a:fld>
            <a:endParaRPr lang="nb-NO"/>
          </a:p>
        </p:txBody>
      </p:sp>
      <p:sp>
        <p:nvSpPr>
          <p:cNvPr id="8" name="TextBox 7">
            <a:extLst>
              <a:ext uri="{FF2B5EF4-FFF2-40B4-BE49-F238E27FC236}">
                <a16:creationId xmlns:a16="http://schemas.microsoft.com/office/drawing/2014/main" id="{8B81D29C-7326-59FC-2CB5-66F329C3C2F6}"/>
              </a:ext>
            </a:extLst>
          </p:cNvPr>
          <p:cNvSpPr txBox="1"/>
          <p:nvPr/>
        </p:nvSpPr>
        <p:spPr>
          <a:xfrm>
            <a:off x="767575" y="4640371"/>
            <a:ext cx="11424425" cy="2616101"/>
          </a:xfrm>
          <a:prstGeom prst="rect">
            <a:avLst/>
          </a:prstGeom>
          <a:noFill/>
        </p:spPr>
        <p:txBody>
          <a:bodyPr wrap="square" rtlCol="0">
            <a:spAutoFit/>
          </a:bodyPr>
          <a:lstStyle/>
          <a:p>
            <a:r>
              <a:rPr lang="nb-NO" sz="2800" i="1" dirty="0">
                <a:solidFill>
                  <a:schemeClr val="accent1">
                    <a:lumMod val="50000"/>
                  </a:schemeClr>
                </a:solidFill>
              </a:rPr>
              <a:t>Merk at effektiv skattesats ved full avskrivning (15,4%) og ved saldoavskrivning (20%) er forskjellig fra den nominelle satsen på 22%</a:t>
            </a:r>
          </a:p>
          <a:p>
            <a:r>
              <a:rPr lang="nb-NO" sz="2800" i="1" dirty="0">
                <a:solidFill>
                  <a:schemeClr val="accent1">
                    <a:lumMod val="50000"/>
                  </a:schemeClr>
                </a:solidFill>
              </a:rPr>
              <a:t>Hvis virkelig kapitalslit avviker fra avskrivningssatsen får vi en </a:t>
            </a:r>
            <a:r>
              <a:rPr lang="nb-NO" sz="2800" i="1" dirty="0" err="1">
                <a:solidFill>
                  <a:schemeClr val="accent1">
                    <a:lumMod val="50000"/>
                  </a:schemeClr>
                </a:solidFill>
              </a:rPr>
              <a:t>skattekile</a:t>
            </a:r>
            <a:r>
              <a:rPr lang="nb-NO" sz="2800" i="1" dirty="0">
                <a:solidFill>
                  <a:schemeClr val="accent1">
                    <a:lumMod val="50000"/>
                  </a:schemeClr>
                </a:solidFill>
              </a:rPr>
              <a:t> som påvirker atferd og effektiv gjennomsnittsskatt</a:t>
            </a:r>
          </a:p>
          <a:p>
            <a:endParaRPr lang="nb-NO" sz="2800" dirty="0"/>
          </a:p>
          <a:p>
            <a:endParaRPr lang="nb-NO" sz="2400" dirty="0"/>
          </a:p>
        </p:txBody>
      </p:sp>
    </p:spTree>
    <p:extLst>
      <p:ext uri="{BB962C8B-B14F-4D97-AF65-F5344CB8AC3E}">
        <p14:creationId xmlns:p14="http://schemas.microsoft.com/office/powerpoint/2010/main" val="311930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additive="base">
                                        <p:cTn id="1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 calcmode="lin" valueType="num">
                                      <p:cBhvr additive="base">
                                        <p:cTn id="2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 calcmode="lin" valueType="num">
                                      <p:cBhvr additive="base">
                                        <p:cTn id="2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 calcmode="lin" valueType="num">
                                      <p:cBhvr additive="base">
                                        <p:cTn id="3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anim calcmode="lin" valueType="num">
                                      <p:cBhvr additive="base">
                                        <p:cTn id="4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
                                            <p:txEl>
                                              <p:pRg st="4" end="4"/>
                                            </p:txEl>
                                          </p:spTgt>
                                        </p:tgtEl>
                                        <p:attrNameLst>
                                          <p:attrName>style.visibility</p:attrName>
                                        </p:attrNameLst>
                                      </p:cBhvr>
                                      <p:to>
                                        <p:strVal val="visible"/>
                                      </p:to>
                                    </p:set>
                                    <p:anim calcmode="lin" valueType="num">
                                      <p:cBhvr additive="base">
                                        <p:cTn id="4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8" grpId="0" build="allAtOnce"/>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7F966-BD81-3741-5C44-172ED16A3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03557-FE50-2DA5-30C8-C0E66D7A7484}"/>
              </a:ext>
            </a:extLst>
          </p:cNvPr>
          <p:cNvSpPr>
            <a:spLocks noGrp="1"/>
          </p:cNvSpPr>
          <p:nvPr>
            <p:ph type="title"/>
          </p:nvPr>
        </p:nvSpPr>
        <p:spPr>
          <a:xfrm>
            <a:off x="390293" y="100673"/>
            <a:ext cx="11446727" cy="647887"/>
          </a:xfrm>
        </p:spPr>
        <p:txBody>
          <a:bodyPr>
            <a:noAutofit/>
          </a:bodyPr>
          <a:lstStyle/>
          <a:p>
            <a:r>
              <a:rPr lang="nb-NO" sz="3200" b="1" noProof="0" dirty="0">
                <a:solidFill>
                  <a:srgbClr val="FF0000"/>
                </a:solidFill>
              </a:rPr>
              <a:t>Skattesystemet er nøytralt når bedriften kan avskrive alt med en gang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DECE86-CA03-E2DA-28BA-AE18FEFE332E}"/>
                  </a:ext>
                </a:extLst>
              </p:cNvPr>
              <p:cNvSpPr>
                <a:spLocks noGrp="1"/>
              </p:cNvSpPr>
              <p:nvPr>
                <p:ph idx="1"/>
              </p:nvPr>
            </p:nvSpPr>
            <p:spPr>
              <a:xfrm>
                <a:off x="265771" y="757325"/>
                <a:ext cx="11926229" cy="5907933"/>
              </a:xfrm>
            </p:spPr>
            <p:txBody>
              <a:bodyPr>
                <a:noAutofit/>
              </a:bodyPr>
              <a:lstStyle/>
              <a:p>
                <a:r>
                  <a:rPr lang="nb-NO" b="1" noProof="0" dirty="0"/>
                  <a:t>Skattepliktig overskudd: </a:t>
                </a:r>
                <a14:m>
                  <m:oMath xmlns:m="http://schemas.openxmlformats.org/officeDocument/2006/math">
                    <m:sSup>
                      <m:sSupPr>
                        <m:ctrlPr>
                          <a:rPr lang="nb-NO" b="1" i="1" noProof="0" smtClean="0">
                            <a:latin typeface="Cambria Math" panose="02040503050406030204" pitchFamily="18" charset="0"/>
                            <a:ea typeface="Cambria Math" panose="02040503050406030204" pitchFamily="18" charset="0"/>
                          </a:rPr>
                        </m:ctrlPr>
                      </m:sSupPr>
                      <m:e>
                        <m:r>
                          <a:rPr lang="nb-NO" b="1" i="1" noProof="0" smtClean="0">
                            <a:latin typeface="Cambria Math" panose="02040503050406030204" pitchFamily="18" charset="0"/>
                            <a:ea typeface="Cambria Math" panose="02040503050406030204" pitchFamily="18" charset="0"/>
                          </a:rPr>
                          <m:t>𝝅</m:t>
                        </m:r>
                      </m:e>
                      <m:sup>
                        <m:r>
                          <a:rPr lang="nb-NO" b="1" i="1" noProof="0" smtClean="0">
                            <a:latin typeface="Cambria Math" panose="02040503050406030204" pitchFamily="18" charset="0"/>
                          </a:rPr>
                          <m:t>𝒕</m:t>
                        </m:r>
                      </m:sup>
                    </m:sSup>
                    <m:r>
                      <a:rPr lang="en-US" b="1" i="1" noProof="0" smtClean="0">
                        <a:latin typeface="Cambria Math" panose="02040503050406030204" pitchFamily="18" charset="0"/>
                      </a:rPr>
                      <m:t>=</m:t>
                    </m:r>
                    <m:r>
                      <a:rPr lang="en-US" b="1" i="1" noProof="0" smtClean="0">
                        <a:latin typeface="Cambria Math" panose="02040503050406030204" pitchFamily="18" charset="0"/>
                      </a:rPr>
                      <m:t>𝒑𝒙</m:t>
                    </m:r>
                    <m:r>
                      <a:rPr lang="en-US" b="1" i="1" noProof="0" smtClean="0">
                        <a:latin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𝜷</m:t>
                    </m:r>
                    <m:r>
                      <a:rPr lang="en-US" b="1" i="1" noProof="0" smtClean="0">
                        <a:latin typeface="Cambria Math" panose="02040503050406030204" pitchFamily="18" charset="0"/>
                      </a:rPr>
                      <m:t>𝒄</m:t>
                    </m:r>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𝒙</m:t>
                        </m:r>
                      </m:e>
                    </m:d>
                  </m:oMath>
                </a14:m>
                <a:r>
                  <a:rPr lang="nb-NO" noProof="0" dirty="0"/>
                  <a:t>, </a:t>
                </a:r>
              </a:p>
              <a:p>
                <a:pPr lvl="1"/>
                <a:r>
                  <a:rPr lang="nb-NO" sz="2800" dirty="0"/>
                  <a:t>H</a:t>
                </a:r>
                <a:r>
                  <a:rPr lang="nb-NO" sz="2800" noProof="0" dirty="0"/>
                  <a:t>vor </a:t>
                </a:r>
                <a14:m>
                  <m:oMath xmlns:m="http://schemas.openxmlformats.org/officeDocument/2006/math">
                    <m:r>
                      <a:rPr lang="en-US" sz="2800" noProof="0" dirty="0">
                        <a:latin typeface="Cambria Math" panose="02040503050406030204" pitchFamily="18" charset="0"/>
                        <a:ea typeface="Cambria Math" panose="02040503050406030204" pitchFamily="18" charset="0"/>
                      </a:rPr>
                      <m:t>0</m:t>
                    </m:r>
                    <m:r>
                      <a:rPr lang="en-US" sz="2800" i="1" noProof="0" dirty="0"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𝛽</m:t>
                    </m:r>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1</m:t>
                    </m:r>
                  </m:oMath>
                </a14:m>
                <a:r>
                  <a:rPr lang="nb-NO" sz="2800" noProof="0" dirty="0"/>
                  <a:t> er andelen av kostnadene </a:t>
                </a:r>
                <a14:m>
                  <m:oMath xmlns:m="http://schemas.openxmlformats.org/officeDocument/2006/math">
                    <m:r>
                      <m:rPr>
                        <m:sty m:val="p"/>
                      </m:rPr>
                      <a:rPr lang="en-US" sz="2800" dirty="0">
                        <a:latin typeface="Cambria Math" panose="02040503050406030204" pitchFamily="18" charset="0"/>
                      </a:rPr>
                      <m:t>c</m:t>
                    </m:r>
                    <m:d>
                      <m:dPr>
                        <m:ctrlPr>
                          <a:rPr lang="en-US" sz="2800" i="1">
                            <a:latin typeface="Cambria Math" panose="02040503050406030204" pitchFamily="18" charset="0"/>
                          </a:rPr>
                        </m:ctrlPr>
                      </m:dPr>
                      <m:e>
                        <m:r>
                          <a:rPr lang="en-US" sz="2800" i="1">
                            <a:latin typeface="Cambria Math" panose="02040503050406030204" pitchFamily="18" charset="0"/>
                          </a:rPr>
                          <m:t>𝑥</m:t>
                        </m:r>
                      </m:e>
                    </m:d>
                  </m:oMath>
                </a14:m>
                <a:r>
                  <a:rPr lang="nb-NO" sz="2800" noProof="0" dirty="0"/>
                  <a:t> som avskrives over tid</a:t>
                </a:r>
              </a:p>
              <a:p>
                <a:endParaRPr lang="nb-NO" b="1" noProof="0" dirty="0"/>
              </a:p>
              <a:p>
                <a:r>
                  <a:rPr lang="nb-NO" b="1" noProof="0" dirty="0"/>
                  <a:t>Økonomisk/virkelig overskudd: </a:t>
                </a:r>
                <a14:m>
                  <m:oMath xmlns:m="http://schemas.openxmlformats.org/officeDocument/2006/math">
                    <m:sSup>
                      <m:sSupPr>
                        <m:ctrlPr>
                          <a:rPr lang="nb-NO" b="1" i="1">
                            <a:latin typeface="Cambria Math" panose="02040503050406030204" pitchFamily="18" charset="0"/>
                            <a:ea typeface="Cambria Math" panose="02040503050406030204" pitchFamily="18" charset="0"/>
                          </a:rPr>
                        </m:ctrlPr>
                      </m:sSupPr>
                      <m:e>
                        <m:r>
                          <a:rPr lang="nb-NO" b="1" i="1">
                            <a:latin typeface="Cambria Math" panose="02040503050406030204" pitchFamily="18" charset="0"/>
                            <a:ea typeface="Cambria Math" panose="02040503050406030204" pitchFamily="18" charset="0"/>
                          </a:rPr>
                          <m:t>𝝅</m:t>
                        </m:r>
                      </m:e>
                      <m:sup>
                        <m:r>
                          <a:rPr lang="en-US" b="1" i="1" noProof="0" smtClean="0">
                            <a:latin typeface="Cambria Math" panose="02040503050406030204" pitchFamily="18" charset="0"/>
                            <a:ea typeface="Cambria Math" panose="02040503050406030204" pitchFamily="18" charset="0"/>
                          </a:rPr>
                          <m:t>𝒗</m:t>
                        </m:r>
                      </m:sup>
                    </m:sSup>
                    <m:r>
                      <a:rPr lang="en-US" b="1"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𝒑𝒙</m:t>
                    </m:r>
                    <m:r>
                      <a:rPr lang="en-US" b="1"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𝒄</m:t>
                    </m:r>
                    <m:r>
                      <a:rPr lang="en-US" b="1"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𝒙</m:t>
                    </m:r>
                    <m:r>
                      <a:rPr lang="en-US" b="1" i="1" noProof="0" smtClean="0">
                        <a:latin typeface="Cambria Math" panose="02040503050406030204" pitchFamily="18" charset="0"/>
                        <a:ea typeface="Cambria Math" panose="02040503050406030204" pitchFamily="18" charset="0"/>
                      </a:rPr>
                      <m:t>)</m:t>
                    </m:r>
                  </m:oMath>
                </a14:m>
                <a:endParaRPr lang="nb-NO" b="1" noProof="0" dirty="0"/>
              </a:p>
              <a:p>
                <a:endParaRPr lang="nb-NO" b="1" noProof="0" dirty="0"/>
              </a:p>
              <a:p>
                <a:r>
                  <a:rPr lang="nb-NO" b="1" noProof="0" dirty="0"/>
                  <a:t>Bedriften maksimerer overskudd etter skatt (</a:t>
                </a:r>
                <a14:m>
                  <m:oMath xmlns:m="http://schemas.openxmlformats.org/officeDocument/2006/math">
                    <m:r>
                      <a:rPr lang="nb-NO" b="1" i="1">
                        <a:latin typeface="Cambria Math" panose="02040503050406030204" pitchFamily="18" charset="0"/>
                        <a:ea typeface="Cambria Math" panose="02040503050406030204" pitchFamily="18" charset="0"/>
                      </a:rPr>
                      <m:t>𝝅</m:t>
                    </m:r>
                  </m:oMath>
                </a14:m>
                <a:r>
                  <a:rPr lang="nb-NO" b="1" noProof="0" dirty="0"/>
                  <a:t>):</a:t>
                </a:r>
                <a:r>
                  <a:rPr lang="nb-NO" b="1" dirty="0">
                    <a:ea typeface="Cambria Math" panose="02040503050406030204" pitchFamily="18" charset="0"/>
                  </a:rPr>
                  <a:t> </a:t>
                </a:r>
                <a14:m>
                  <m:oMath xmlns:m="http://schemas.openxmlformats.org/officeDocument/2006/math">
                    <m:r>
                      <a:rPr lang="nb-NO" b="1" i="1">
                        <a:latin typeface="Cambria Math" panose="02040503050406030204" pitchFamily="18" charset="0"/>
                        <a:ea typeface="Cambria Math" panose="02040503050406030204" pitchFamily="18" charset="0"/>
                      </a:rPr>
                      <m:t>𝝅</m:t>
                    </m:r>
                    <m:r>
                      <a:rPr lang="nb-NO" b="1" i="1">
                        <a:latin typeface="Cambria Math" panose="02040503050406030204" pitchFamily="18" charset="0"/>
                        <a:ea typeface="Cambria Math" panose="02040503050406030204" pitchFamily="18" charset="0"/>
                      </a:rPr>
                      <m:t> =</m:t>
                    </m:r>
                    <m:sSup>
                      <m:sSupPr>
                        <m:ctrlPr>
                          <a:rPr lang="nb-NO" i="1" smtClean="0">
                            <a:latin typeface="Cambria Math" panose="02040503050406030204" pitchFamily="18" charset="0"/>
                            <a:ea typeface="Cambria Math" panose="02040503050406030204" pitchFamily="18" charset="0"/>
                          </a:rPr>
                        </m:ctrlPr>
                      </m:sSupPr>
                      <m:e>
                        <m:r>
                          <a:rPr lang="nb-NO"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𝑣</m:t>
                        </m:r>
                      </m:sup>
                    </m:sSup>
                    <m:r>
                      <a:rPr lang="nb-NO" i="1">
                        <a:latin typeface="Cambria Math" panose="02040503050406030204" pitchFamily="18" charset="0"/>
                        <a:ea typeface="Cambria Math" panose="02040503050406030204" pitchFamily="18" charset="0"/>
                      </a:rPr>
                      <m:t>−</m:t>
                    </m:r>
                    <m:r>
                      <a:rPr lang="nb-NO" i="1">
                        <a:latin typeface="Cambria Math" panose="02040503050406030204" pitchFamily="18" charset="0"/>
                        <a:ea typeface="Cambria Math" panose="02040503050406030204" pitchFamily="18" charset="0"/>
                      </a:rPr>
                      <m:t>𝑡</m:t>
                    </m:r>
                    <m:sSup>
                      <m:sSupPr>
                        <m:ctrlPr>
                          <a:rPr lang="nb-NO" i="1">
                            <a:latin typeface="Cambria Math" panose="02040503050406030204" pitchFamily="18" charset="0"/>
                            <a:ea typeface="Cambria Math" panose="02040503050406030204" pitchFamily="18" charset="0"/>
                          </a:rPr>
                        </m:ctrlPr>
                      </m:sSupPr>
                      <m:e>
                        <m:r>
                          <a:rPr lang="nb-NO" i="1">
                            <a:latin typeface="Cambria Math" panose="02040503050406030204" pitchFamily="18" charset="0"/>
                            <a:ea typeface="Cambria Math" panose="02040503050406030204" pitchFamily="18" charset="0"/>
                          </a:rPr>
                          <m:t>𝜋</m:t>
                        </m:r>
                      </m:e>
                      <m:sup>
                        <m:r>
                          <a:rPr lang="nb-NO" i="1">
                            <a:latin typeface="Cambria Math" panose="02040503050406030204" pitchFamily="18" charset="0"/>
                            <a:ea typeface="Cambria Math" panose="02040503050406030204" pitchFamily="18" charset="0"/>
                          </a:rPr>
                          <m:t>𝑡</m:t>
                        </m:r>
                      </m:sup>
                    </m:sSup>
                  </m:oMath>
                </a14:m>
                <a:endParaRPr lang="nb-NO" noProof="0" dirty="0"/>
              </a:p>
              <a:p>
                <a:endParaRPr lang="nb-NO" noProof="0" dirty="0"/>
              </a:p>
              <a:p>
                <a:pPr marL="0" indent="0">
                  <a:buNone/>
                </a:pPr>
                <a14:m>
                  <m:oMath xmlns:m="http://schemas.openxmlformats.org/officeDocument/2006/math">
                    <m:f>
                      <m:fPr>
                        <m:ctrlPr>
                          <a:rPr lang="en-US" sz="3200" i="1">
                            <a:latin typeface="Cambria Math" panose="02040503050406030204" pitchFamily="18" charset="0"/>
                            <a:ea typeface="Cambria Math" panose="02040503050406030204" pitchFamily="18" charset="0"/>
                          </a:rPr>
                        </m:ctrlPr>
                      </m:fPr>
                      <m:num>
                        <m:r>
                          <a:rPr lang="en-US" sz="3200" i="1">
                            <a:latin typeface="Cambria Math" panose="02040503050406030204" pitchFamily="18" charset="0"/>
                            <a:ea typeface="Cambria Math" panose="02040503050406030204" pitchFamily="18" charset="0"/>
                          </a:rPr>
                          <m:t>𝜕</m:t>
                        </m:r>
                        <m:d>
                          <m:dPr>
                            <m:ctrlPr>
                              <a:rPr lang="nb-NO" sz="3200" i="1">
                                <a:latin typeface="Cambria Math" panose="02040503050406030204" pitchFamily="18" charset="0"/>
                                <a:ea typeface="Cambria Math" panose="02040503050406030204" pitchFamily="18" charset="0"/>
                              </a:rPr>
                            </m:ctrlPr>
                          </m:dPr>
                          <m:e>
                            <m:sSup>
                              <m:sSupPr>
                                <m:ctrlPr>
                                  <a:rPr lang="nb-NO" sz="3200" i="1">
                                    <a:latin typeface="Cambria Math" panose="02040503050406030204" pitchFamily="18" charset="0"/>
                                    <a:ea typeface="Cambria Math" panose="02040503050406030204" pitchFamily="18" charset="0"/>
                                  </a:rPr>
                                </m:ctrlPr>
                              </m:sSupPr>
                              <m:e>
                                <m:r>
                                  <a:rPr lang="nb-NO" sz="3200" i="1">
                                    <a:latin typeface="Cambria Math" panose="02040503050406030204" pitchFamily="18" charset="0"/>
                                    <a:ea typeface="Cambria Math" panose="02040503050406030204" pitchFamily="18" charset="0"/>
                                  </a:rPr>
                                  <m:t>𝜋</m:t>
                                </m:r>
                              </m:e>
                              <m:sup>
                                <m:r>
                                  <a:rPr lang="en-US" sz="3200" i="1">
                                    <a:latin typeface="Cambria Math" panose="02040503050406030204" pitchFamily="18" charset="0"/>
                                  </a:rPr>
                                  <m:t>𝑣</m:t>
                                </m:r>
                              </m:sup>
                            </m:sSup>
                            <m:r>
                              <a:rPr lang="nb-NO" sz="3200" i="1">
                                <a:latin typeface="Cambria Math" panose="02040503050406030204" pitchFamily="18" charset="0"/>
                                <a:ea typeface="Cambria Math" panose="02040503050406030204" pitchFamily="18" charset="0"/>
                              </a:rPr>
                              <m:t>−</m:t>
                            </m:r>
                            <m:r>
                              <a:rPr lang="nb-NO" sz="3200" i="1">
                                <a:latin typeface="Cambria Math" panose="02040503050406030204" pitchFamily="18" charset="0"/>
                                <a:ea typeface="Cambria Math" panose="02040503050406030204" pitchFamily="18" charset="0"/>
                              </a:rPr>
                              <m:t>𝑡</m:t>
                            </m:r>
                            <m:sSup>
                              <m:sSupPr>
                                <m:ctrlPr>
                                  <a:rPr lang="nb-NO" sz="3200" i="1">
                                    <a:latin typeface="Cambria Math" panose="02040503050406030204" pitchFamily="18" charset="0"/>
                                    <a:ea typeface="Cambria Math" panose="02040503050406030204" pitchFamily="18" charset="0"/>
                                  </a:rPr>
                                </m:ctrlPr>
                              </m:sSupPr>
                              <m:e>
                                <m:r>
                                  <a:rPr lang="nb-NO" sz="3200" i="1">
                                    <a:latin typeface="Cambria Math" panose="02040503050406030204" pitchFamily="18" charset="0"/>
                                    <a:ea typeface="Cambria Math" panose="02040503050406030204" pitchFamily="18" charset="0"/>
                                  </a:rPr>
                                  <m:t>𝜋</m:t>
                                </m:r>
                              </m:e>
                              <m:sup>
                                <m:r>
                                  <a:rPr lang="nb-NO" sz="3200" i="1">
                                    <a:latin typeface="Cambria Math" panose="02040503050406030204" pitchFamily="18" charset="0"/>
                                    <a:ea typeface="Cambria Math" panose="02040503050406030204" pitchFamily="18" charset="0"/>
                                  </a:rPr>
                                  <m:t>𝑡</m:t>
                                </m:r>
                              </m:sup>
                            </m:sSup>
                          </m:e>
                        </m:d>
                      </m:num>
                      <m:den>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𝑥</m:t>
                        </m:r>
                      </m:den>
                    </m:f>
                    <m:r>
                      <a:rPr lang="nb-NO" sz="3200" b="0" i="0" noProof="0" smtClean="0">
                        <a:latin typeface="Cambria Math" panose="02040503050406030204" pitchFamily="18" charset="0"/>
                        <a:ea typeface="Cambria Math" panose="02040503050406030204" pitchFamily="18" charset="0"/>
                      </a:rPr>
                      <m:t>=</m:t>
                    </m:r>
                    <m:r>
                      <a:rPr lang="nb-NO" sz="3200" i="1">
                        <a:latin typeface="Cambria Math" panose="02040503050406030204" pitchFamily="18" charset="0"/>
                      </a:rPr>
                      <m:t>𝑝</m:t>
                    </m:r>
                    <m:d>
                      <m:dPr>
                        <m:ctrlPr>
                          <a:rPr lang="en-US" sz="3200" b="0" i="0" noProof="0" smtClean="0">
                            <a:latin typeface="Cambria Math" panose="02040503050406030204" pitchFamily="18" charset="0"/>
                            <a:ea typeface="Cambria Math" panose="02040503050406030204" pitchFamily="18" charset="0"/>
                          </a:rPr>
                        </m:ctrlPr>
                      </m:dPr>
                      <m:e>
                        <m:r>
                          <a:rPr lang="en-US" sz="3200" b="0" i="0" noProof="0" smtClean="0">
                            <a:latin typeface="Cambria Math" panose="02040503050406030204" pitchFamily="18" charset="0"/>
                            <a:ea typeface="Cambria Math" panose="02040503050406030204" pitchFamily="18" charset="0"/>
                          </a:rPr>
                          <m:t>1−</m:t>
                        </m:r>
                        <m:r>
                          <m:rPr>
                            <m:sty m:val="p"/>
                          </m:rPr>
                          <a:rPr lang="en-US" sz="3200" b="0" i="0" noProof="0" smtClean="0">
                            <a:latin typeface="Cambria Math" panose="02040503050406030204" pitchFamily="18" charset="0"/>
                            <a:ea typeface="Cambria Math" panose="02040503050406030204" pitchFamily="18" charset="0"/>
                          </a:rPr>
                          <m:t>t</m:t>
                        </m:r>
                      </m:e>
                    </m:d>
                    <m:r>
                      <a:rPr lang="en-US" sz="3200" b="0" i="0" noProof="0" smtClean="0">
                        <a:latin typeface="Cambria Math" panose="02040503050406030204" pitchFamily="18" charset="0"/>
                        <a:ea typeface="Cambria Math" panose="02040503050406030204" pitchFamily="18" charset="0"/>
                      </a:rPr>
                      <m:t>−</m:t>
                    </m:r>
                    <m:r>
                      <a:rPr lang="en-US" sz="3200" i="1">
                        <a:latin typeface="Cambria Math" panose="02040503050406030204" pitchFamily="18" charset="0"/>
                        <a:ea typeface="Cambria Math" panose="02040503050406030204" pitchFamily="18" charset="0"/>
                      </a:rPr>
                      <m:t>𝑐</m:t>
                    </m:r>
                    <m:d>
                      <m:dPr>
                        <m:ctrlPr>
                          <a:rPr lang="en-US" sz="3200" i="1">
                            <a:latin typeface="Cambria Math" panose="02040503050406030204" pitchFamily="18" charset="0"/>
                            <a:ea typeface="Cambria Math" panose="02040503050406030204" pitchFamily="18" charset="0"/>
                          </a:rPr>
                        </m:ctrlPr>
                      </m:dPr>
                      <m:e>
                        <m:r>
                          <a:rPr lang="en-US" sz="3200" i="1">
                            <a:latin typeface="Cambria Math" panose="02040503050406030204" pitchFamily="18" charset="0"/>
                            <a:ea typeface="Cambria Math" panose="02040503050406030204" pitchFamily="18" charset="0"/>
                          </a:rPr>
                          <m:t>𝑥</m:t>
                        </m:r>
                      </m:e>
                    </m:d>
                    <m:d>
                      <m:dPr>
                        <m:ctrlPr>
                          <a:rPr lang="en-US" sz="3200" i="1">
                            <a:latin typeface="Cambria Math" panose="02040503050406030204" pitchFamily="18" charset="0"/>
                            <a:ea typeface="Cambria Math" panose="02040503050406030204" pitchFamily="18" charset="0"/>
                          </a:rPr>
                        </m:ctrlPr>
                      </m:dPr>
                      <m:e>
                        <m:r>
                          <a:rPr lang="en-US" sz="3200" i="1">
                            <a:latin typeface="Cambria Math" panose="02040503050406030204" pitchFamily="18" charset="0"/>
                            <a:ea typeface="Cambria Math" panose="02040503050406030204" pitchFamily="18" charset="0"/>
                          </a:rPr>
                          <m:t>1−</m:t>
                        </m:r>
                        <m:r>
                          <a:rPr lang="en-US" sz="3200" i="1">
                            <a:latin typeface="Cambria Math" panose="02040503050406030204" pitchFamily="18" charset="0"/>
                            <a:ea typeface="Cambria Math" panose="02040503050406030204" pitchFamily="18" charset="0"/>
                          </a:rPr>
                          <m:t>𝑡</m:t>
                        </m:r>
                        <m:r>
                          <a:rPr lang="en-US" sz="3200" i="1">
                            <a:latin typeface="Cambria Math" panose="02040503050406030204" pitchFamily="18" charset="0"/>
                            <a:ea typeface="Cambria Math" panose="02040503050406030204" pitchFamily="18" charset="0"/>
                          </a:rPr>
                          <m:t>𝛽</m:t>
                        </m:r>
                      </m:e>
                    </m:d>
                    <m:r>
                      <a:rPr lang="en-US" sz="3200" b="0" i="1" smtClean="0">
                        <a:latin typeface="Cambria Math" panose="02040503050406030204" pitchFamily="18" charset="0"/>
                        <a:ea typeface="Cambria Math" panose="02040503050406030204" pitchFamily="18" charset="0"/>
                      </a:rPr>
                      <m:t>=0</m:t>
                    </m:r>
                  </m:oMath>
                </a14:m>
                <a:r>
                  <a:rPr lang="nb-NO" sz="3200" dirty="0">
                    <a:ea typeface="Cambria Math" panose="02040503050406030204" pitchFamily="18" charset="0"/>
                  </a:rPr>
                  <a:t>    </a:t>
                </a:r>
                <a14:m>
                  <m:oMath xmlns:m="http://schemas.openxmlformats.org/officeDocument/2006/math">
                    <m:r>
                      <a:rPr lang="nb-NO" sz="3200" i="1">
                        <a:latin typeface="Cambria Math" panose="02040503050406030204" pitchFamily="18" charset="0"/>
                        <a:ea typeface="Cambria Math" panose="02040503050406030204" pitchFamily="18" charset="0"/>
                      </a:rPr>
                      <m:t>→ </m:t>
                    </m:r>
                    <m:r>
                      <a:rPr lang="nb-NO" sz="3200" i="1">
                        <a:latin typeface="Cambria Math" panose="02040503050406030204" pitchFamily="18" charset="0"/>
                      </a:rPr>
                      <m:t>𝑝</m:t>
                    </m:r>
                    <m:r>
                      <a:rPr lang="en-US" sz="3200" i="1">
                        <a:latin typeface="Cambria Math" panose="02040503050406030204" pitchFamily="18" charset="0"/>
                      </a:rPr>
                      <m:t>=</m:t>
                    </m:r>
                    <m:r>
                      <a:rPr lang="en-US" sz="3200" i="1">
                        <a:latin typeface="Cambria Math" panose="02040503050406030204" pitchFamily="18" charset="0"/>
                      </a:rPr>
                      <m:t>𝑐</m:t>
                    </m:r>
                    <m:r>
                      <a:rPr lang="en-US" sz="3200" i="1">
                        <a:latin typeface="Cambria Math" panose="02040503050406030204" pitchFamily="18" charset="0"/>
                      </a:rPr>
                      <m:t>′(</m:t>
                    </m:r>
                    <m:r>
                      <a:rPr lang="en-US" sz="3200" i="1">
                        <a:latin typeface="Cambria Math" panose="02040503050406030204" pitchFamily="18" charset="0"/>
                      </a:rPr>
                      <m:t>𝑥</m:t>
                    </m:r>
                    <m:r>
                      <a:rPr lang="en-US" sz="3200" i="1">
                        <a:latin typeface="Cambria Math" panose="02040503050406030204" pitchFamily="18" charset="0"/>
                      </a:rPr>
                      <m:t>)∙</m:t>
                    </m:r>
                    <m:f>
                      <m:fPr>
                        <m:ctrlPr>
                          <a:rPr lang="en-US" sz="3200" i="1">
                            <a:latin typeface="Cambria Math" panose="02040503050406030204" pitchFamily="18" charset="0"/>
                            <a:ea typeface="Cambria Math" panose="02040503050406030204" pitchFamily="18" charset="0"/>
                          </a:rPr>
                        </m:ctrlPr>
                      </m:fPr>
                      <m:num>
                        <m:d>
                          <m:dPr>
                            <m:ctrlPr>
                              <a:rPr lang="en-US" sz="3200" i="1">
                                <a:latin typeface="Cambria Math" panose="02040503050406030204" pitchFamily="18" charset="0"/>
                                <a:ea typeface="Cambria Math" panose="02040503050406030204" pitchFamily="18" charset="0"/>
                              </a:rPr>
                            </m:ctrlPr>
                          </m:dPr>
                          <m:e>
                            <m:r>
                              <a:rPr lang="en-US" sz="3200" i="1">
                                <a:latin typeface="Cambria Math" panose="02040503050406030204" pitchFamily="18" charset="0"/>
                                <a:ea typeface="Cambria Math" panose="02040503050406030204" pitchFamily="18" charset="0"/>
                              </a:rPr>
                              <m:t>1−</m:t>
                            </m:r>
                            <m:r>
                              <a:rPr lang="en-US" sz="3200" i="1">
                                <a:latin typeface="Cambria Math" panose="02040503050406030204" pitchFamily="18" charset="0"/>
                                <a:ea typeface="Cambria Math" panose="02040503050406030204" pitchFamily="18" charset="0"/>
                              </a:rPr>
                              <m:t>𝑡</m:t>
                            </m:r>
                            <m:r>
                              <a:rPr lang="en-US" sz="3200" i="1">
                                <a:latin typeface="Cambria Math" panose="02040503050406030204" pitchFamily="18" charset="0"/>
                                <a:ea typeface="Cambria Math" panose="02040503050406030204" pitchFamily="18" charset="0"/>
                              </a:rPr>
                              <m:t>𝛽</m:t>
                            </m:r>
                          </m:e>
                        </m:d>
                      </m:num>
                      <m:den>
                        <m:r>
                          <a:rPr lang="en-US" sz="3200" i="1">
                            <a:latin typeface="Cambria Math" panose="02040503050406030204" pitchFamily="18" charset="0"/>
                          </a:rPr>
                          <m:t>(1−</m:t>
                        </m:r>
                        <m:r>
                          <a:rPr lang="en-US" sz="3200" i="1">
                            <a:latin typeface="Cambria Math" panose="02040503050406030204" pitchFamily="18" charset="0"/>
                          </a:rPr>
                          <m:t>𝑡</m:t>
                        </m:r>
                        <m:r>
                          <a:rPr lang="en-US" sz="3200" i="1">
                            <a:latin typeface="Cambria Math" panose="02040503050406030204" pitchFamily="18" charset="0"/>
                          </a:rPr>
                          <m:t>)</m:t>
                        </m:r>
                      </m:den>
                    </m:f>
                  </m:oMath>
                </a14:m>
                <a:endParaRPr lang="nb-NO" noProof="0" dirty="0"/>
              </a:p>
              <a:p>
                <a:pPr marL="0" indent="0">
                  <a:buNone/>
                </a:pPr>
                <a:endParaRPr lang="en-US" i="1" dirty="0">
                  <a:latin typeface="Cambria Math" panose="02040503050406030204" pitchFamily="18" charset="0"/>
                  <a:ea typeface="Cambria Math" panose="02040503050406030204" pitchFamily="18" charset="0"/>
                </a:endParaRPr>
              </a:p>
              <a:p>
                <a:pPr marL="0" indent="0">
                  <a:buNone/>
                </a:pPr>
                <a:r>
                  <a:rPr lang="nb-NO" b="0" noProof="0" dirty="0"/>
                  <a:t>Hvis  </a:t>
                </a:r>
                <a14:m>
                  <m:oMath xmlns:m="http://schemas.openxmlformats.org/officeDocument/2006/math">
                    <m:r>
                      <a:rPr lang="en-US" i="1">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oMath>
                </a14:m>
                <a:r>
                  <a:rPr lang="nb-NO" b="0" noProof="0" dirty="0"/>
                  <a:t> (virkelig og skattemessig overskudd er det samme) får vi </a:t>
                </a:r>
                <a14:m>
                  <m:oMath xmlns:m="http://schemas.openxmlformats.org/officeDocument/2006/math">
                    <m:r>
                      <a:rPr lang="nb-NO" i="1" smtClean="0">
                        <a:solidFill>
                          <a:srgbClr val="FF0000"/>
                        </a:solidFill>
                        <a:latin typeface="Cambria Math" panose="02040503050406030204" pitchFamily="18" charset="0"/>
                      </a:rPr>
                      <m:t>𝑝</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𝑐</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𝑥</m:t>
                    </m:r>
                    <m:r>
                      <a:rPr lang="en-US" i="1">
                        <a:solidFill>
                          <a:srgbClr val="FF0000"/>
                        </a:solidFill>
                        <a:latin typeface="Cambria Math" panose="02040503050406030204" pitchFamily="18" charset="0"/>
                      </a:rPr>
                      <m:t>) </m:t>
                    </m:r>
                  </m:oMath>
                </a14:m>
                <a:r>
                  <a:rPr lang="nb-NO" b="0" noProof="0" dirty="0">
                    <a:solidFill>
                      <a:srgbClr val="FF0000"/>
                    </a:solidFill>
                  </a:rPr>
                  <a:t> </a:t>
                </a:r>
                <a:r>
                  <a:rPr lang="nb-NO" b="0" noProof="0" dirty="0" err="1"/>
                  <a:t>dvs</a:t>
                </a:r>
                <a:r>
                  <a:rPr lang="nb-NO" b="0" noProof="0" dirty="0"/>
                  <a:t> grenseinntekt lik grensekostnad og skatten påvirker ikke bedriftens atferd.</a:t>
                </a:r>
                <a:endParaRPr lang="nb-NO" sz="3200" noProof="0" dirty="0"/>
              </a:p>
            </p:txBody>
          </p:sp>
        </mc:Choice>
        <mc:Fallback xmlns="">
          <p:sp>
            <p:nvSpPr>
              <p:cNvPr id="3" name="Content Placeholder 2">
                <a:extLst>
                  <a:ext uri="{FF2B5EF4-FFF2-40B4-BE49-F238E27FC236}">
                    <a16:creationId xmlns:a16="http://schemas.microsoft.com/office/drawing/2014/main" id="{00DECE86-CA03-E2DA-28BA-AE18FEFE332E}"/>
                  </a:ext>
                </a:extLst>
              </p:cNvPr>
              <p:cNvSpPr>
                <a:spLocks noGrp="1" noRot="1" noChangeAspect="1" noMove="1" noResize="1" noEditPoints="1" noAdjustHandles="1" noChangeArrowheads="1" noChangeShapeType="1" noTextEdit="1"/>
              </p:cNvSpPr>
              <p:nvPr>
                <p:ph idx="1"/>
              </p:nvPr>
            </p:nvSpPr>
            <p:spPr>
              <a:xfrm>
                <a:off x="265771" y="757325"/>
                <a:ext cx="11926229" cy="5907933"/>
              </a:xfrm>
              <a:blipFill>
                <a:blip r:embed="rId2"/>
                <a:stretch>
                  <a:fillRect l="-1074" t="-1651"/>
                </a:stretch>
              </a:blipFill>
            </p:spPr>
            <p:txBody>
              <a:bodyPr/>
              <a:lstStyle/>
              <a:p>
                <a:r>
                  <a:rPr lang="nb-NO">
                    <a:noFill/>
                  </a:rPr>
                  <a:t> </a:t>
                </a:r>
              </a:p>
            </p:txBody>
          </p:sp>
        </mc:Fallback>
      </mc:AlternateContent>
      <p:sp>
        <p:nvSpPr>
          <p:cNvPr id="4" name="Slide Number Placeholder 3">
            <a:extLst>
              <a:ext uri="{FF2B5EF4-FFF2-40B4-BE49-F238E27FC236}">
                <a16:creationId xmlns:a16="http://schemas.microsoft.com/office/drawing/2014/main" id="{4D0B62B3-5514-94C7-789F-C6849DF5F0FE}"/>
              </a:ext>
            </a:extLst>
          </p:cNvPr>
          <p:cNvSpPr>
            <a:spLocks noGrp="1"/>
          </p:cNvSpPr>
          <p:nvPr>
            <p:ph type="sldNum" sz="quarter" idx="12"/>
          </p:nvPr>
        </p:nvSpPr>
        <p:spPr/>
        <p:txBody>
          <a:bodyPr/>
          <a:lstStyle/>
          <a:p>
            <a:fld id="{092CA8B5-DBB4-47BA-9127-F945AE107A35}" type="slidenum">
              <a:rPr lang="nb-NO" noProof="0" smtClean="0"/>
              <a:t>62</a:t>
            </a:fld>
            <a:endParaRPr lang="nb-NO" noProof="0" dirty="0"/>
          </a:p>
        </p:txBody>
      </p:sp>
    </p:spTree>
    <p:extLst>
      <p:ext uri="{BB962C8B-B14F-4D97-AF65-F5344CB8AC3E}">
        <p14:creationId xmlns:p14="http://schemas.microsoft.com/office/powerpoint/2010/main" val="2494329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60FB0F-B60F-2F64-1E7A-2B11DF580413}"/>
                  </a:ext>
                </a:extLst>
              </p:cNvPr>
              <p:cNvSpPr>
                <a:spLocks noGrp="1"/>
              </p:cNvSpPr>
              <p:nvPr>
                <p:ph idx="1"/>
              </p:nvPr>
            </p:nvSpPr>
            <p:spPr>
              <a:xfrm>
                <a:off x="195146" y="174812"/>
                <a:ext cx="11781264" cy="6546663"/>
              </a:xfrm>
            </p:spPr>
            <p:txBody>
              <a:bodyPr>
                <a:normAutofit/>
              </a:bodyPr>
              <a:lstStyle/>
              <a:p>
                <a:pPr marL="0" indent="0" algn="ctr">
                  <a:buNone/>
                </a:pPr>
                <a:r>
                  <a:rPr lang="nb-NO" sz="3200" b="1" dirty="0"/>
                  <a:t>Effektive gjennomsnittlige skattesatser (AERT) </a:t>
                </a:r>
              </a:p>
              <a:p>
                <a:pPr marL="0" indent="0" algn="ctr">
                  <a:buNone/>
                </a:pPr>
                <a:r>
                  <a:rPr lang="nb-NO" sz="3200" b="1" dirty="0"/>
                  <a:t>for personlige skattytere og næringsdrivende</a:t>
                </a:r>
                <a:endParaRPr lang="nb-NO" b="1" dirty="0"/>
              </a:p>
              <a:p>
                <a:endParaRPr lang="nb-NO" dirty="0"/>
              </a:p>
              <a:p>
                <a:r>
                  <a:rPr lang="nb-NO" sz="3200" dirty="0"/>
                  <a:t>Personlig skattyter: </a:t>
                </a:r>
                <a14:m>
                  <m:oMath xmlns:m="http://schemas.openxmlformats.org/officeDocument/2006/math">
                    <m:r>
                      <a:rPr lang="en-US" sz="3500" b="0" i="1" smtClean="0">
                        <a:latin typeface="Cambria Math" panose="02040503050406030204" pitchFamily="18" charset="0"/>
                      </a:rPr>
                      <m:t>𝐴𝐸𝑅𝑇</m:t>
                    </m:r>
                    <m:r>
                      <a:rPr lang="en-US" sz="3500" b="0" i="1" smtClean="0">
                        <a:latin typeface="Cambria Math" panose="02040503050406030204" pitchFamily="18" charset="0"/>
                      </a:rPr>
                      <m:t>= </m:t>
                    </m:r>
                    <m:f>
                      <m:fPr>
                        <m:ctrlPr>
                          <a:rPr lang="en-US" sz="3500" b="0" i="1" smtClean="0">
                            <a:latin typeface="Cambria Math" panose="02040503050406030204" pitchFamily="18" charset="0"/>
                          </a:rPr>
                        </m:ctrlPr>
                      </m:fPr>
                      <m:num>
                        <m:r>
                          <a:rPr lang="en-US" sz="3500" b="0" i="1" smtClean="0">
                            <a:latin typeface="Cambria Math" panose="02040503050406030204" pitchFamily="18" charset="0"/>
                          </a:rPr>
                          <m:t>𝑏𝑒𝑡𝑎𝑙𝑡</m:t>
                        </m:r>
                        <m:r>
                          <a:rPr lang="en-US" sz="3500" b="0" i="1" smtClean="0">
                            <a:latin typeface="Cambria Math" panose="02040503050406030204" pitchFamily="18" charset="0"/>
                          </a:rPr>
                          <m:t> </m:t>
                        </m:r>
                        <m:r>
                          <a:rPr lang="en-US" sz="3500" b="0" i="1" smtClean="0">
                            <a:latin typeface="Cambria Math" panose="02040503050406030204" pitchFamily="18" charset="0"/>
                          </a:rPr>
                          <m:t>𝑠𝑘𝑎𝑡𝑡</m:t>
                        </m:r>
                        <m:r>
                          <a:rPr lang="en-US" sz="3500" b="0" i="1" smtClean="0">
                            <a:latin typeface="Cambria Math" panose="02040503050406030204" pitchFamily="18" charset="0"/>
                          </a:rPr>
                          <m:t> </m:t>
                        </m:r>
                        <m:r>
                          <a:rPr lang="en-US" sz="3500" b="0" i="1" smtClean="0">
                            <a:latin typeface="Cambria Math" panose="02040503050406030204" pitchFamily="18" charset="0"/>
                          </a:rPr>
                          <m:t>𝑝𝑒𝑟𝑠𝑜𝑛𝑠𝑖𝑛𝑛𝑡𝑒𝑘𝑡</m:t>
                        </m:r>
                        <m:r>
                          <a:rPr lang="en-US" sz="3500" b="0" i="1" smtClean="0">
                            <a:latin typeface="Cambria Math" panose="02040503050406030204" pitchFamily="18" charset="0"/>
                          </a:rPr>
                          <m:t> </m:t>
                        </m:r>
                      </m:num>
                      <m:den>
                        <m:r>
                          <a:rPr lang="en-US" sz="3500" b="0" i="1" smtClean="0">
                            <a:latin typeface="Cambria Math" panose="02040503050406030204" pitchFamily="18" charset="0"/>
                          </a:rPr>
                          <m:t>𝑏𝑟𝑢𝑡𝑡𝑜</m:t>
                        </m:r>
                        <m:r>
                          <a:rPr lang="en-US" sz="3500" b="0" i="1" smtClean="0">
                            <a:latin typeface="Cambria Math" panose="02040503050406030204" pitchFamily="18" charset="0"/>
                          </a:rPr>
                          <m:t> </m:t>
                        </m:r>
                        <m:r>
                          <a:rPr lang="en-US" sz="3500" b="0" i="1" smtClean="0">
                            <a:latin typeface="Cambria Math" panose="02040503050406030204" pitchFamily="18" charset="0"/>
                          </a:rPr>
                          <m:t>𝑝𝑒𝑟𝑠𝑜𝑛𝑖𝑛𝑛𝑡𝑒𝑘𝑡</m:t>
                        </m:r>
                      </m:den>
                    </m:f>
                  </m:oMath>
                </a14:m>
                <a:endParaRPr lang="nb-NO" dirty="0"/>
              </a:p>
              <a:p>
                <a:endParaRPr lang="nb-NO" dirty="0"/>
              </a:p>
              <a:p>
                <a:r>
                  <a:rPr lang="nb-NO" sz="3200" dirty="0"/>
                  <a:t>Næringsdrivende/aksjonærs </a:t>
                </a:r>
                <a:r>
                  <a:rPr lang="nb-NO" sz="3200" i="1" dirty="0"/>
                  <a:t>AERT</a:t>
                </a:r>
                <a:r>
                  <a:rPr lang="nb-NO" sz="3200" dirty="0"/>
                  <a:t>: </a:t>
                </a:r>
              </a:p>
              <a:p>
                <a:endParaRPr lang="en-US" b="0" i="1" dirty="0">
                  <a:latin typeface="Cambria Math" panose="02040503050406030204" pitchFamily="18" charset="0"/>
                </a:endParaRPr>
              </a:p>
              <a:p>
                <a:pPr marL="0" indent="0">
                  <a:buNone/>
                </a:pPr>
                <a14:m>
                  <m:oMathPara xmlns:m="http://schemas.openxmlformats.org/officeDocument/2006/math">
                    <m:o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𝑏𝑒𝑡𝑎𝑙𝑡</m:t>
                          </m:r>
                          <m:r>
                            <a:rPr lang="en-US" b="0" i="1" smtClean="0">
                              <a:latin typeface="Cambria Math" panose="02040503050406030204" pitchFamily="18" charset="0"/>
                            </a:rPr>
                            <m:t> </m:t>
                          </m:r>
                          <m:r>
                            <a:rPr lang="en-US" b="0" i="1" smtClean="0">
                              <a:latin typeface="Cambria Math" panose="02040503050406030204" pitchFamily="18" charset="0"/>
                            </a:rPr>
                            <m:t>𝑠𝑘𝑎𝑡𝑡</m:t>
                          </m:r>
                          <m:r>
                            <a:rPr lang="en-US" b="0" i="1" smtClean="0">
                              <a:latin typeface="Cambria Math" panose="02040503050406030204" pitchFamily="18" charset="0"/>
                            </a:rPr>
                            <m:t> </m:t>
                          </m:r>
                          <m:r>
                            <a:rPr lang="en-US" b="0" i="1" smtClean="0">
                              <a:latin typeface="Cambria Math" panose="02040503050406030204" pitchFamily="18" charset="0"/>
                            </a:rPr>
                            <m:t>𝑝𝑒𝑟𝑠𝑜𝑛𝑖𝑛𝑛𝑡𝑒𝑘𝑡</m:t>
                          </m:r>
                          <m:r>
                            <a:rPr lang="en-US" b="0" i="1" smtClean="0">
                              <a:latin typeface="Cambria Math" panose="02040503050406030204" pitchFamily="18" charset="0"/>
                            </a:rPr>
                            <m:t>+</m:t>
                          </m:r>
                          <m:r>
                            <a:rPr lang="en-US" b="0" i="1" smtClean="0">
                              <a:latin typeface="Cambria Math" panose="02040503050406030204" pitchFamily="18" charset="0"/>
                            </a:rPr>
                            <m:t>𝑒𝑖𝑒𝑟𝑎𝑛𝑑𝑒𝑙</m:t>
                          </m:r>
                          <m:r>
                            <a:rPr lang="en-US" b="0" i="1" smtClean="0">
                              <a:latin typeface="Cambria Math" panose="02040503050406030204" pitchFamily="18" charset="0"/>
                            </a:rPr>
                            <m:t> </m:t>
                          </m:r>
                          <m:r>
                            <a:rPr lang="en-US" b="0" i="1" smtClean="0">
                              <a:latin typeface="Cambria Math" panose="02040503050406030204" pitchFamily="18" charset="0"/>
                            </a:rPr>
                            <m:t>𝑏𝑒𝑡𝑎𝑙𝑡</m:t>
                          </m:r>
                          <m:r>
                            <a:rPr lang="en-US" b="0" i="1" smtClean="0">
                              <a:latin typeface="Cambria Math" panose="02040503050406030204" pitchFamily="18" charset="0"/>
                            </a:rPr>
                            <m:t> </m:t>
                          </m:r>
                          <m:r>
                            <a:rPr lang="en-US" b="0" i="1" smtClean="0">
                              <a:latin typeface="Cambria Math" panose="02040503050406030204" pitchFamily="18" charset="0"/>
                            </a:rPr>
                            <m:t>𝑠𝑘𝑎𝑡𝑡</m:t>
                          </m:r>
                          <m:r>
                            <a:rPr lang="en-US" b="0" i="1" smtClean="0">
                              <a:latin typeface="Cambria Math" panose="02040503050406030204" pitchFamily="18" charset="0"/>
                            </a:rPr>
                            <m:t> </m:t>
                          </m:r>
                          <m:r>
                            <a:rPr lang="en-US" b="0" i="1" smtClean="0">
                              <a:latin typeface="Cambria Math" panose="02040503050406030204" pitchFamily="18" charset="0"/>
                            </a:rPr>
                            <m:t>𝑎𝑣</m:t>
                          </m:r>
                          <m:r>
                            <a:rPr lang="en-US" b="0" i="1" smtClean="0">
                              <a:latin typeface="Cambria Math" panose="02040503050406030204" pitchFamily="18" charset="0"/>
                            </a:rPr>
                            <m:t> </m:t>
                          </m:r>
                          <m:r>
                            <a:rPr lang="en-US" b="0" i="1" smtClean="0">
                              <a:latin typeface="Cambria Math" panose="02040503050406030204" pitchFamily="18" charset="0"/>
                            </a:rPr>
                            <m:t>𝑠𝑒𝑙𝑠𝑘𝑎𝑝𝑠𝑖𝑛𝑛𝑡𝑒𝑘𝑡</m:t>
                          </m:r>
                        </m:num>
                        <m:den>
                          <m:r>
                            <a:rPr lang="en-US" b="0" i="1" smtClean="0">
                              <a:latin typeface="Cambria Math" panose="02040503050406030204" pitchFamily="18" charset="0"/>
                            </a:rPr>
                            <m:t>𝐵𝑟𝑢𝑡𝑡𝑜</m:t>
                          </m:r>
                          <m:r>
                            <a:rPr lang="en-US" b="0" i="1" smtClean="0">
                              <a:latin typeface="Cambria Math" panose="02040503050406030204" pitchFamily="18" charset="0"/>
                            </a:rPr>
                            <m:t> </m:t>
                          </m:r>
                          <m:r>
                            <a:rPr lang="en-US" b="0" i="1" smtClean="0">
                              <a:latin typeface="Cambria Math" panose="02040503050406030204" pitchFamily="18" charset="0"/>
                            </a:rPr>
                            <m:t>𝑝𝑒𝑟𝑠𝑜𝑛𝑖𝑛𝑛𝑡𝑒𝑘𝑡</m:t>
                          </m:r>
                          <m:r>
                            <a:rPr lang="en-US" b="0" i="1" smtClean="0">
                              <a:latin typeface="Cambria Math" panose="02040503050406030204" pitchFamily="18" charset="0"/>
                            </a:rPr>
                            <m:t>+</m:t>
                          </m:r>
                          <m:r>
                            <a:rPr lang="en-US" b="0" i="1" smtClean="0">
                              <a:latin typeface="Cambria Math" panose="02040503050406030204" pitchFamily="18" charset="0"/>
                            </a:rPr>
                            <m:t>𝑒𝑖𝑒𝑟𝑎𝑛𝑑𝑒𝑙</m:t>
                          </m:r>
                          <m:r>
                            <a:rPr lang="en-US" b="0" i="1" smtClean="0">
                              <a:latin typeface="Cambria Math" panose="02040503050406030204" pitchFamily="18" charset="0"/>
                            </a:rPr>
                            <m:t> </m:t>
                          </m:r>
                          <m:r>
                            <a:rPr lang="en-US" b="0" i="1" smtClean="0">
                              <a:latin typeface="Cambria Math" panose="02040503050406030204" pitchFamily="18" charset="0"/>
                            </a:rPr>
                            <m:t>𝑏𝑟𝑢𝑡𝑡𝑜</m:t>
                          </m:r>
                          <m:r>
                            <a:rPr lang="en-US" b="0" i="1" smtClean="0">
                              <a:latin typeface="Cambria Math" panose="02040503050406030204" pitchFamily="18" charset="0"/>
                            </a:rPr>
                            <m:t> </m:t>
                          </m:r>
                          <m:r>
                            <a:rPr lang="en-US" b="0" i="1" smtClean="0">
                              <a:latin typeface="Cambria Math" panose="02040503050406030204" pitchFamily="18" charset="0"/>
                            </a:rPr>
                            <m:t>𝑠𝑒𝑙𝑠𝑘𝑎𝑝𝑠𝑖𝑛𝑛𝑡𝑒𝑘𝑡</m:t>
                          </m:r>
                        </m:den>
                      </m:f>
                    </m:oMath>
                  </m:oMathPara>
                </a14:m>
                <a:endParaRPr lang="nb-NO" dirty="0"/>
              </a:p>
            </p:txBody>
          </p:sp>
        </mc:Choice>
        <mc:Fallback xmlns="">
          <p:sp>
            <p:nvSpPr>
              <p:cNvPr id="3" name="Content Placeholder 2">
                <a:extLst>
                  <a:ext uri="{FF2B5EF4-FFF2-40B4-BE49-F238E27FC236}">
                    <a16:creationId xmlns:a16="http://schemas.microsoft.com/office/drawing/2014/main" id="{0060FB0F-B60F-2F64-1E7A-2B11DF580413}"/>
                  </a:ext>
                </a:extLst>
              </p:cNvPr>
              <p:cNvSpPr>
                <a:spLocks noGrp="1" noRot="1" noChangeAspect="1" noMove="1" noResize="1" noEditPoints="1" noAdjustHandles="1" noChangeArrowheads="1" noChangeShapeType="1" noTextEdit="1"/>
              </p:cNvSpPr>
              <p:nvPr>
                <p:ph idx="1"/>
              </p:nvPr>
            </p:nvSpPr>
            <p:spPr>
              <a:xfrm>
                <a:off x="195146" y="174812"/>
                <a:ext cx="11781264" cy="6546663"/>
              </a:xfrm>
              <a:blipFill>
                <a:blip r:embed="rId2"/>
                <a:stretch>
                  <a:fillRect l="-1190" t="-1955"/>
                </a:stretch>
              </a:blipFill>
            </p:spPr>
            <p:txBody>
              <a:bodyPr/>
              <a:lstStyle/>
              <a:p>
                <a:r>
                  <a:rPr lang="nb-NO">
                    <a:noFill/>
                  </a:rPr>
                  <a:t> </a:t>
                </a:r>
              </a:p>
            </p:txBody>
          </p:sp>
        </mc:Fallback>
      </mc:AlternateContent>
      <p:sp>
        <p:nvSpPr>
          <p:cNvPr id="4" name="Slide Number Placeholder 3">
            <a:extLst>
              <a:ext uri="{FF2B5EF4-FFF2-40B4-BE49-F238E27FC236}">
                <a16:creationId xmlns:a16="http://schemas.microsoft.com/office/drawing/2014/main" id="{E8A1BCBA-15C1-B61B-3D28-D9079F32DA44}"/>
              </a:ext>
            </a:extLst>
          </p:cNvPr>
          <p:cNvSpPr>
            <a:spLocks noGrp="1"/>
          </p:cNvSpPr>
          <p:nvPr>
            <p:ph type="sldNum" sz="quarter" idx="12"/>
          </p:nvPr>
        </p:nvSpPr>
        <p:spPr/>
        <p:txBody>
          <a:bodyPr/>
          <a:lstStyle/>
          <a:p>
            <a:fld id="{092CA8B5-DBB4-47BA-9127-F945AE107A35}" type="slidenum">
              <a:rPr lang="nb-NO" smtClean="0"/>
              <a:t>63</a:t>
            </a:fld>
            <a:endParaRPr lang="nb-NO"/>
          </a:p>
        </p:txBody>
      </p:sp>
    </p:spTree>
    <p:extLst>
      <p:ext uri="{BB962C8B-B14F-4D97-AF65-F5344CB8AC3E}">
        <p14:creationId xmlns:p14="http://schemas.microsoft.com/office/powerpoint/2010/main" val="42325176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64BC3-6DC0-8E44-E247-5F957AAC7F96}"/>
              </a:ext>
            </a:extLst>
          </p:cNvPr>
          <p:cNvSpPr>
            <a:spLocks noGrp="1"/>
          </p:cNvSpPr>
          <p:nvPr>
            <p:ph type="title"/>
          </p:nvPr>
        </p:nvSpPr>
        <p:spPr>
          <a:xfrm>
            <a:off x="775447" y="136525"/>
            <a:ext cx="10515600" cy="818216"/>
          </a:xfrm>
        </p:spPr>
        <p:txBody>
          <a:bodyPr>
            <a:normAutofit/>
          </a:bodyPr>
          <a:lstStyle/>
          <a:p>
            <a:r>
              <a:rPr lang="nb-NO" sz="4000" b="1" dirty="0">
                <a:latin typeface="+mn-lt"/>
              </a:rPr>
              <a:t>Effektiv marginalskatt på eier av bedrift</a:t>
            </a:r>
          </a:p>
        </p:txBody>
      </p:sp>
      <p:sp>
        <p:nvSpPr>
          <p:cNvPr id="3" name="Content Placeholder 2">
            <a:extLst>
              <a:ext uri="{FF2B5EF4-FFF2-40B4-BE49-F238E27FC236}">
                <a16:creationId xmlns:a16="http://schemas.microsoft.com/office/drawing/2014/main" id="{F64C4C98-7F78-4928-9F47-E7FF979BC35B}"/>
              </a:ext>
            </a:extLst>
          </p:cNvPr>
          <p:cNvSpPr>
            <a:spLocks noGrp="1"/>
          </p:cNvSpPr>
          <p:nvPr>
            <p:ph idx="1"/>
          </p:nvPr>
        </p:nvSpPr>
        <p:spPr>
          <a:xfrm>
            <a:off x="336177" y="1066800"/>
            <a:ext cx="11636188" cy="5110163"/>
          </a:xfrm>
        </p:spPr>
        <p:txBody>
          <a:bodyPr>
            <a:normAutofit/>
          </a:bodyPr>
          <a:lstStyle/>
          <a:p>
            <a:pPr marL="0" indent="0">
              <a:buNone/>
            </a:pPr>
            <a:r>
              <a:rPr lang="nb-NO" sz="3600" u="sng" dirty="0"/>
              <a:t>Offisiell statistikk </a:t>
            </a:r>
            <a:r>
              <a:rPr lang="nb-NO" sz="3600" dirty="0"/>
              <a:t>bruker nominelle satser og forutsetter at alt som opptjenes i bedriften betales ut som utbytte. </a:t>
            </a:r>
          </a:p>
          <a:p>
            <a:pPr marL="0" indent="0">
              <a:buNone/>
            </a:pPr>
            <a:endParaRPr lang="nb-NO" sz="3600" dirty="0"/>
          </a:p>
          <a:p>
            <a:pPr marL="0" indent="0">
              <a:buNone/>
            </a:pPr>
            <a:r>
              <a:rPr lang="nb-NO" sz="3600" dirty="0"/>
              <a:t>En krone i skattbar inntekt  i bedriften som etter selskapsskatt tas ut i sin helhet som utbytte gir marginalskatt</a:t>
            </a:r>
          </a:p>
          <a:p>
            <a:pPr marL="0" indent="0">
              <a:buNone/>
            </a:pPr>
            <a:endParaRPr lang="nb-NO" sz="3600" dirty="0"/>
          </a:p>
          <a:p>
            <a:pPr marL="0" indent="0" algn="ctr">
              <a:buNone/>
            </a:pPr>
            <a:r>
              <a:rPr lang="nb-NO" sz="3600" dirty="0"/>
              <a:t>1 kr *22% + (1 kr – 0,22 kr) *37,84% = </a:t>
            </a:r>
            <a:r>
              <a:rPr lang="nb-NO" sz="3600" dirty="0">
                <a:solidFill>
                  <a:srgbClr val="FF0000"/>
                </a:solidFill>
              </a:rPr>
              <a:t>51,5%</a:t>
            </a:r>
          </a:p>
          <a:p>
            <a:endParaRPr lang="nb-NO" sz="3600" dirty="0"/>
          </a:p>
          <a:p>
            <a:endParaRPr lang="nb-NO" dirty="0"/>
          </a:p>
        </p:txBody>
      </p:sp>
      <p:sp>
        <p:nvSpPr>
          <p:cNvPr id="4" name="Slide Number Placeholder 3">
            <a:extLst>
              <a:ext uri="{FF2B5EF4-FFF2-40B4-BE49-F238E27FC236}">
                <a16:creationId xmlns:a16="http://schemas.microsoft.com/office/drawing/2014/main" id="{1132AFB5-00B6-6101-5029-0687C03AC676}"/>
              </a:ext>
            </a:extLst>
          </p:cNvPr>
          <p:cNvSpPr>
            <a:spLocks noGrp="1"/>
          </p:cNvSpPr>
          <p:nvPr>
            <p:ph type="sldNum" sz="quarter" idx="12"/>
          </p:nvPr>
        </p:nvSpPr>
        <p:spPr/>
        <p:txBody>
          <a:bodyPr/>
          <a:lstStyle/>
          <a:p>
            <a:fld id="{092CA8B5-DBB4-47BA-9127-F945AE107A35}" type="slidenum">
              <a:rPr lang="nb-NO" smtClean="0"/>
              <a:t>64</a:t>
            </a:fld>
            <a:endParaRPr lang="nb-NO"/>
          </a:p>
        </p:txBody>
      </p:sp>
    </p:spTree>
    <p:extLst>
      <p:ext uri="{BB962C8B-B14F-4D97-AF65-F5344CB8AC3E}">
        <p14:creationId xmlns:p14="http://schemas.microsoft.com/office/powerpoint/2010/main" val="24375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F46124-7892-2EDB-891D-54A0658599B0}"/>
              </a:ext>
            </a:extLst>
          </p:cNvPr>
          <p:cNvSpPr>
            <a:spLocks noGrp="1"/>
          </p:cNvSpPr>
          <p:nvPr>
            <p:ph idx="1"/>
          </p:nvPr>
        </p:nvSpPr>
        <p:spPr>
          <a:xfrm>
            <a:off x="838200" y="255494"/>
            <a:ext cx="10515600" cy="5921469"/>
          </a:xfrm>
        </p:spPr>
        <p:txBody>
          <a:bodyPr>
            <a:normAutofit fontScale="92500" lnSpcReduction="20000"/>
          </a:bodyPr>
          <a:lstStyle/>
          <a:p>
            <a:r>
              <a:rPr lang="nb-NO" sz="3600" dirty="0"/>
              <a:t>Offisielle statistikk er imidlertid feil fordi vi vet at den virkelige effektive skattesatsen bedriftene betaler ikke er lik den nominelle satsen. </a:t>
            </a:r>
          </a:p>
          <a:p>
            <a:endParaRPr lang="nb-NO" sz="3600" dirty="0"/>
          </a:p>
          <a:p>
            <a:r>
              <a:rPr lang="nb-NO" sz="3600" dirty="0"/>
              <a:t>Studier på norske data viser at den effektive skatten bedriftene betaler ligger mellom </a:t>
            </a:r>
            <a:r>
              <a:rPr lang="nb-NO" sz="3600" dirty="0">
                <a:solidFill>
                  <a:srgbClr val="FF0000"/>
                </a:solidFill>
              </a:rPr>
              <a:t>13-15%</a:t>
            </a:r>
            <a:r>
              <a:rPr lang="nb-NO" sz="3600" dirty="0"/>
              <a:t>. Bruker vi </a:t>
            </a:r>
            <a:r>
              <a:rPr lang="nb-NO" sz="3600" dirty="0">
                <a:solidFill>
                  <a:srgbClr val="FF0000"/>
                </a:solidFill>
              </a:rPr>
              <a:t>14% </a:t>
            </a:r>
            <a:r>
              <a:rPr lang="nb-NO" sz="3600" dirty="0"/>
              <a:t>har vi at den marginale eierskatten er:</a:t>
            </a:r>
          </a:p>
          <a:p>
            <a:endParaRPr lang="nb-NO" sz="3600" dirty="0"/>
          </a:p>
          <a:p>
            <a:pPr marL="0" indent="0" algn="ctr">
              <a:buNone/>
            </a:pPr>
            <a:r>
              <a:rPr lang="nb-NO" sz="3600" dirty="0"/>
              <a:t>1 kr *14% + (1 kr – 0,14 kr) *37,84% = </a:t>
            </a:r>
            <a:r>
              <a:rPr lang="nb-NO" sz="3600" dirty="0">
                <a:solidFill>
                  <a:srgbClr val="FF0000"/>
                </a:solidFill>
              </a:rPr>
              <a:t>46,5%</a:t>
            </a:r>
          </a:p>
          <a:p>
            <a:pPr marL="0" indent="0" algn="ctr">
              <a:buNone/>
            </a:pPr>
            <a:endParaRPr lang="nb-NO" sz="3600" dirty="0">
              <a:solidFill>
                <a:srgbClr val="FF0000"/>
              </a:solidFill>
            </a:endParaRPr>
          </a:p>
          <a:p>
            <a:r>
              <a:rPr lang="nb-NO" sz="3600" dirty="0"/>
              <a:t>Grunnen til at offisielle statistikk bruker et annet tall er at man ønsker et sammenlikningsgrunnlag med andre land som bruker nominelle satser.</a:t>
            </a:r>
          </a:p>
          <a:p>
            <a:endParaRPr lang="nb-NO" dirty="0"/>
          </a:p>
        </p:txBody>
      </p:sp>
      <p:sp>
        <p:nvSpPr>
          <p:cNvPr id="4" name="Slide Number Placeholder 3">
            <a:extLst>
              <a:ext uri="{FF2B5EF4-FFF2-40B4-BE49-F238E27FC236}">
                <a16:creationId xmlns:a16="http://schemas.microsoft.com/office/drawing/2014/main" id="{E468EDE9-5AFE-41C2-86D9-077CF332CD8F}"/>
              </a:ext>
            </a:extLst>
          </p:cNvPr>
          <p:cNvSpPr>
            <a:spLocks noGrp="1"/>
          </p:cNvSpPr>
          <p:nvPr>
            <p:ph type="sldNum" sz="quarter" idx="12"/>
          </p:nvPr>
        </p:nvSpPr>
        <p:spPr/>
        <p:txBody>
          <a:bodyPr/>
          <a:lstStyle/>
          <a:p>
            <a:fld id="{092CA8B5-DBB4-47BA-9127-F945AE107A35}" type="slidenum">
              <a:rPr lang="nb-NO" smtClean="0"/>
              <a:t>65</a:t>
            </a:fld>
            <a:endParaRPr lang="nb-NO"/>
          </a:p>
        </p:txBody>
      </p:sp>
    </p:spTree>
    <p:extLst>
      <p:ext uri="{BB962C8B-B14F-4D97-AF65-F5344CB8AC3E}">
        <p14:creationId xmlns:p14="http://schemas.microsoft.com/office/powerpoint/2010/main" val="41909187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ED28709-5CB7-44D6-B3BC-B1C015D6BE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noProof="0" dirty="0"/>
          </a:p>
        </p:txBody>
      </p:sp>
      <p:sp>
        <p:nvSpPr>
          <p:cNvPr id="13" name="Rectangle 12">
            <a:extLst>
              <a:ext uri="{FF2B5EF4-FFF2-40B4-BE49-F238E27FC236}">
                <a16:creationId xmlns:a16="http://schemas.microsoft.com/office/drawing/2014/main" id="{1AE2FDE4-8ECB-4D0B-B871-D4EE5260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noProof="0" dirty="0"/>
          </a:p>
        </p:txBody>
      </p:sp>
      <p:pic>
        <p:nvPicPr>
          <p:cNvPr id="5" name="Picture 4" descr="A person standing in front of a white cube&#10;&#10;Description automatically generated">
            <a:extLst>
              <a:ext uri="{FF2B5EF4-FFF2-40B4-BE49-F238E27FC236}">
                <a16:creationId xmlns:a16="http://schemas.microsoft.com/office/drawing/2014/main" id="{29BE773C-5CF1-1F9F-E3E3-326BF7C799F4}"/>
              </a:ext>
            </a:extLst>
          </p:cNvPr>
          <p:cNvPicPr>
            <a:picLocks noChangeAspect="1"/>
          </p:cNvPicPr>
          <p:nvPr/>
        </p:nvPicPr>
        <p:blipFill rotWithShape="1">
          <a:blip r:embed="rId2">
            <a:duotone>
              <a:prstClr val="black"/>
              <a:schemeClr val="bg1">
                <a:tint val="45000"/>
                <a:satMod val="400000"/>
              </a:schemeClr>
            </a:duotone>
            <a:alphaModFix amt="10000"/>
          </a:blip>
          <a:srcRect t="8907"/>
          <a:stretch/>
        </p:blipFill>
        <p:spPr>
          <a:xfrm>
            <a:off x="1397897" y="1261982"/>
            <a:ext cx="9349174" cy="5258906"/>
          </a:xfrm>
          <a:prstGeom prst="rect">
            <a:avLst/>
          </a:prstGeom>
        </p:spPr>
      </p:pic>
      <p:sp>
        <p:nvSpPr>
          <p:cNvPr id="2" name="Title 1">
            <a:extLst>
              <a:ext uri="{FF2B5EF4-FFF2-40B4-BE49-F238E27FC236}">
                <a16:creationId xmlns:a16="http://schemas.microsoft.com/office/drawing/2014/main" id="{F4C13FDD-3085-4BF0-9261-ED28A5FDDC1C}"/>
              </a:ext>
            </a:extLst>
          </p:cNvPr>
          <p:cNvSpPr>
            <a:spLocks noGrp="1"/>
          </p:cNvSpPr>
          <p:nvPr>
            <p:ph type="ctrTitle"/>
          </p:nvPr>
        </p:nvSpPr>
        <p:spPr>
          <a:xfrm>
            <a:off x="732568" y="1169982"/>
            <a:ext cx="10530318" cy="2736390"/>
          </a:xfrm>
        </p:spPr>
        <p:txBody>
          <a:bodyPr anchor="b">
            <a:normAutofit/>
          </a:bodyPr>
          <a:lstStyle/>
          <a:p>
            <a:pPr algn="l"/>
            <a:r>
              <a:rPr lang="nb-NO" sz="4400" dirty="0">
                <a:solidFill>
                  <a:schemeClr val="tx2"/>
                </a:solidFill>
              </a:rPr>
              <a:t>7</a:t>
            </a:r>
            <a:r>
              <a:rPr lang="nb-NO" sz="4400" noProof="0" dirty="0">
                <a:solidFill>
                  <a:schemeClr val="tx2"/>
                </a:solidFill>
              </a:rPr>
              <a:t>. De rikeste og kapitalbeskatningen i Norge</a:t>
            </a:r>
          </a:p>
        </p:txBody>
      </p:sp>
      <p:sp>
        <p:nvSpPr>
          <p:cNvPr id="3" name="Subtitle 2">
            <a:extLst>
              <a:ext uri="{FF2B5EF4-FFF2-40B4-BE49-F238E27FC236}">
                <a16:creationId xmlns:a16="http://schemas.microsoft.com/office/drawing/2014/main" id="{88DF5ECE-DFCE-4B5E-984B-BCCA08A1046B}"/>
              </a:ext>
            </a:extLst>
          </p:cNvPr>
          <p:cNvSpPr>
            <a:spLocks noGrp="1"/>
          </p:cNvSpPr>
          <p:nvPr>
            <p:ph type="subTitle" idx="1"/>
          </p:nvPr>
        </p:nvSpPr>
        <p:spPr>
          <a:xfrm>
            <a:off x="732567" y="4067745"/>
            <a:ext cx="10530318" cy="1949813"/>
          </a:xfrm>
        </p:spPr>
        <p:txBody>
          <a:bodyPr anchor="t">
            <a:normAutofit/>
          </a:bodyPr>
          <a:lstStyle/>
          <a:p>
            <a:pPr algn="l"/>
            <a:endParaRPr lang="nb-NO" sz="3200" noProof="0" dirty="0">
              <a:solidFill>
                <a:schemeClr val="tx2"/>
              </a:solidFill>
            </a:endParaRPr>
          </a:p>
        </p:txBody>
      </p:sp>
      <p:cxnSp>
        <p:nvCxnSpPr>
          <p:cNvPr id="14" name="Straight Connector 13">
            <a:extLst>
              <a:ext uri="{FF2B5EF4-FFF2-40B4-BE49-F238E27FC236}">
                <a16:creationId xmlns:a16="http://schemas.microsoft.com/office/drawing/2014/main" id="{C9C09A4F-8DE1-4622-BAE9-9E65C0252F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DAD8094-670D-4F60-875A-A60C3CD0C7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9B97FD1C-2756-4C3B-9EA4-69F4781003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19" name="Straight Connector 18">
              <a:extLst>
                <a:ext uri="{FF2B5EF4-FFF2-40B4-BE49-F238E27FC236}">
                  <a16:creationId xmlns:a16="http://schemas.microsoft.com/office/drawing/2014/main" id="{363DAE67-4E3B-405B-BE8E-9D6444C616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B3572FF-9A6D-4F25-8AE0-EC00386D7C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8542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000"/>
                                  </p:stCondLst>
                                  <p:endCondLst>
                                    <p:cond evt="begin" delay="0">
                                      <p:tn val="5"/>
                                    </p:cond>
                                  </p:end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28799-2DE5-A4DC-CE6A-E54BABDFBF0F}"/>
              </a:ext>
            </a:extLst>
          </p:cNvPr>
          <p:cNvSpPr>
            <a:spLocks noGrp="1"/>
          </p:cNvSpPr>
          <p:nvPr>
            <p:ph type="title"/>
          </p:nvPr>
        </p:nvSpPr>
        <p:spPr>
          <a:xfrm>
            <a:off x="276896" y="365125"/>
            <a:ext cx="11076904" cy="722777"/>
          </a:xfrm>
        </p:spPr>
        <p:txBody>
          <a:bodyPr>
            <a:noAutofit/>
          </a:bodyPr>
          <a:lstStyle/>
          <a:p>
            <a:r>
              <a:rPr lang="nb-NO" sz="3200" dirty="0"/>
              <a:t>De 1 prosent rikeste (</a:t>
            </a:r>
            <a:r>
              <a:rPr lang="nb-NO" sz="3200" dirty="0" err="1"/>
              <a:t>ca</a:t>
            </a:r>
            <a:r>
              <a:rPr lang="nb-NO" sz="3200" dirty="0"/>
              <a:t> 50 000 personer) kjennetegnes ved: </a:t>
            </a:r>
          </a:p>
        </p:txBody>
      </p:sp>
      <p:sp>
        <p:nvSpPr>
          <p:cNvPr id="3" name="Content Placeholder 2">
            <a:extLst>
              <a:ext uri="{FF2B5EF4-FFF2-40B4-BE49-F238E27FC236}">
                <a16:creationId xmlns:a16="http://schemas.microsoft.com/office/drawing/2014/main" id="{20D99B71-B5B4-5B84-5B2F-540DB2064963}"/>
              </a:ext>
            </a:extLst>
          </p:cNvPr>
          <p:cNvSpPr>
            <a:spLocks noGrp="1"/>
          </p:cNvSpPr>
          <p:nvPr>
            <p:ph idx="1"/>
          </p:nvPr>
        </p:nvSpPr>
        <p:spPr>
          <a:xfrm>
            <a:off x="838199" y="1373945"/>
            <a:ext cx="10932459" cy="4803018"/>
          </a:xfrm>
        </p:spPr>
        <p:txBody>
          <a:bodyPr>
            <a:normAutofit/>
          </a:bodyPr>
          <a:lstStyle/>
          <a:p>
            <a:r>
              <a:rPr lang="nb-NO" sz="3200" dirty="0"/>
              <a:t>At de har nesten ikke lønnsinntekt</a:t>
            </a:r>
          </a:p>
          <a:p>
            <a:endParaRPr lang="nb-NO" sz="3200" dirty="0"/>
          </a:p>
          <a:p>
            <a:r>
              <a:rPr lang="nb-NO" sz="3200" dirty="0"/>
              <a:t>Eier relativt til andre grupper lite eiendom</a:t>
            </a:r>
          </a:p>
          <a:p>
            <a:endParaRPr lang="nb-NO" sz="3200" dirty="0"/>
          </a:p>
          <a:p>
            <a:r>
              <a:rPr lang="nb-NO" sz="3200" dirty="0"/>
              <a:t>Eier mesteparten av aksjene i Norge</a:t>
            </a:r>
          </a:p>
          <a:p>
            <a:endParaRPr lang="nb-NO" sz="3200" dirty="0"/>
          </a:p>
          <a:p>
            <a:pPr marL="0" indent="0">
              <a:buNone/>
            </a:pPr>
            <a:endParaRPr lang="nb-NO" sz="3200" dirty="0"/>
          </a:p>
          <a:p>
            <a:r>
              <a:rPr lang="nb-NO" sz="3200" dirty="0"/>
              <a:t>Har 2/3 av formuen er i unoterte aksjer med lav formuesverdi</a:t>
            </a:r>
          </a:p>
          <a:p>
            <a:endParaRPr lang="nb-NO" dirty="0"/>
          </a:p>
          <a:p>
            <a:endParaRPr lang="nb-NO" dirty="0"/>
          </a:p>
          <a:p>
            <a:endParaRPr lang="nb-NO" dirty="0"/>
          </a:p>
        </p:txBody>
      </p:sp>
      <p:sp>
        <p:nvSpPr>
          <p:cNvPr id="4" name="Slide Number Placeholder 3">
            <a:extLst>
              <a:ext uri="{FF2B5EF4-FFF2-40B4-BE49-F238E27FC236}">
                <a16:creationId xmlns:a16="http://schemas.microsoft.com/office/drawing/2014/main" id="{30BE79A4-CCA5-9184-A0A5-1216090856BC}"/>
              </a:ext>
            </a:extLst>
          </p:cNvPr>
          <p:cNvSpPr>
            <a:spLocks noGrp="1"/>
          </p:cNvSpPr>
          <p:nvPr>
            <p:ph type="sldNum" sz="quarter" idx="12"/>
          </p:nvPr>
        </p:nvSpPr>
        <p:spPr/>
        <p:txBody>
          <a:bodyPr/>
          <a:lstStyle/>
          <a:p>
            <a:fld id="{092CA8B5-DBB4-47BA-9127-F945AE107A35}" type="slidenum">
              <a:rPr lang="nb-NO" smtClean="0"/>
              <a:t>67</a:t>
            </a:fld>
            <a:endParaRPr lang="nb-NO"/>
          </a:p>
        </p:txBody>
      </p:sp>
    </p:spTree>
    <p:extLst>
      <p:ext uri="{BB962C8B-B14F-4D97-AF65-F5344CB8AC3E}">
        <p14:creationId xmlns:p14="http://schemas.microsoft.com/office/powerpoint/2010/main" val="33803723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FAFD6-33E7-4B00-8502-D864736C763E}"/>
              </a:ext>
            </a:extLst>
          </p:cNvPr>
          <p:cNvSpPr>
            <a:spLocks noGrp="1"/>
          </p:cNvSpPr>
          <p:nvPr>
            <p:ph type="ctrTitle"/>
          </p:nvPr>
        </p:nvSpPr>
        <p:spPr>
          <a:xfrm>
            <a:off x="1683026" y="627529"/>
            <a:ext cx="9144000" cy="5189071"/>
          </a:xfrm>
        </p:spPr>
        <p:txBody>
          <a:bodyPr>
            <a:normAutofit fontScale="90000"/>
          </a:bodyPr>
          <a:lstStyle/>
          <a:p>
            <a:r>
              <a:rPr lang="nb-NO" noProof="0" dirty="0"/>
              <a:t>Hva er skattebelastningen</a:t>
            </a:r>
            <a:br>
              <a:rPr lang="nb-NO" noProof="0" dirty="0"/>
            </a:br>
            <a:r>
              <a:rPr lang="nb-NO" noProof="0" dirty="0"/>
              <a:t> for en topp 1% rik investor</a:t>
            </a:r>
            <a:br>
              <a:rPr lang="nb-NO" noProof="0" dirty="0"/>
            </a:br>
            <a:br>
              <a:rPr lang="nb-NO" noProof="0" dirty="0"/>
            </a:br>
            <a:r>
              <a:rPr lang="nb-NO" sz="4900" noProof="0" dirty="0"/>
              <a:t>(</a:t>
            </a:r>
            <a:r>
              <a:rPr lang="nb-NO" sz="4900" dirty="0"/>
              <a:t>vi skal sette oss inn i samme posisjon og se hva vi ender opp med i skatt</a:t>
            </a:r>
            <a:r>
              <a:rPr lang="nb-NO" sz="4900" noProof="0" dirty="0"/>
              <a:t>)</a:t>
            </a:r>
            <a:br>
              <a:rPr lang="nb-NO" noProof="0" dirty="0"/>
            </a:br>
            <a:br>
              <a:rPr lang="nb-NO" noProof="0" dirty="0"/>
            </a:br>
            <a:endParaRPr lang="nb-NO" noProof="0" dirty="0"/>
          </a:p>
        </p:txBody>
      </p:sp>
    </p:spTree>
    <p:extLst>
      <p:ext uri="{BB962C8B-B14F-4D97-AF65-F5344CB8AC3E}">
        <p14:creationId xmlns:p14="http://schemas.microsoft.com/office/powerpoint/2010/main" val="17584320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48190-E02D-F6FF-E8B7-F673C9DE66D9}"/>
              </a:ext>
            </a:extLst>
          </p:cNvPr>
          <p:cNvSpPr>
            <a:spLocks noGrp="1"/>
          </p:cNvSpPr>
          <p:nvPr>
            <p:ph type="title"/>
          </p:nvPr>
        </p:nvSpPr>
        <p:spPr>
          <a:xfrm>
            <a:off x="838200" y="91702"/>
            <a:ext cx="10515600" cy="813734"/>
          </a:xfrm>
        </p:spPr>
        <p:txBody>
          <a:bodyPr>
            <a:normAutofit/>
          </a:bodyPr>
          <a:lstStyle/>
          <a:p>
            <a:r>
              <a:rPr lang="nb-NO" sz="3200" dirty="0"/>
              <a:t>Vi skal finne effektiv skatt (AERT) for en rik investor</a:t>
            </a:r>
          </a:p>
        </p:txBody>
      </p:sp>
      <p:sp>
        <p:nvSpPr>
          <p:cNvPr id="3" name="Content Placeholder 2">
            <a:extLst>
              <a:ext uri="{FF2B5EF4-FFF2-40B4-BE49-F238E27FC236}">
                <a16:creationId xmlns:a16="http://schemas.microsoft.com/office/drawing/2014/main" id="{0302611A-8B63-F2A3-A83A-B0947C78A4C3}"/>
              </a:ext>
            </a:extLst>
          </p:cNvPr>
          <p:cNvSpPr>
            <a:spLocks noGrp="1"/>
          </p:cNvSpPr>
          <p:nvPr>
            <p:ph idx="1"/>
          </p:nvPr>
        </p:nvSpPr>
        <p:spPr>
          <a:xfrm>
            <a:off x="239151" y="1107140"/>
            <a:ext cx="11397037" cy="5477435"/>
          </a:xfrm>
        </p:spPr>
        <p:txBody>
          <a:bodyPr>
            <a:normAutofit/>
          </a:bodyPr>
          <a:lstStyle/>
          <a:p>
            <a:r>
              <a:rPr lang="nb-NO" sz="3000" dirty="0"/>
              <a:t>Inntekten til investoren er inntekten til selskapet han eier som gir kr 100 pr år i inntekt </a:t>
            </a:r>
          </a:p>
          <a:p>
            <a:endParaRPr lang="nb-NO" sz="3000" dirty="0"/>
          </a:p>
          <a:p>
            <a:r>
              <a:rPr lang="nb-NO" sz="3000" dirty="0"/>
              <a:t>Vi antar at investor tar utbytte for å betale formuesskatten.</a:t>
            </a:r>
          </a:p>
          <a:p>
            <a:endParaRPr lang="nb-NO" sz="3000" dirty="0"/>
          </a:p>
          <a:p>
            <a:r>
              <a:rPr lang="nb-NO" sz="3000" dirty="0"/>
              <a:t>Vi skal anta at investoren ikke har gjeld siden han er veldig rik</a:t>
            </a:r>
          </a:p>
          <a:p>
            <a:endParaRPr lang="nb-NO" sz="3000" dirty="0"/>
          </a:p>
          <a:p>
            <a:r>
              <a:rPr lang="nb-NO" sz="3000" dirty="0"/>
              <a:t>Investoren betaler </a:t>
            </a:r>
            <a:r>
              <a:rPr lang="nb-NO" sz="3000" dirty="0">
                <a:solidFill>
                  <a:srgbClr val="FF0000"/>
                </a:solidFill>
              </a:rPr>
              <a:t>formuesskatt + skatt på utbytte + selskapsskatt</a:t>
            </a:r>
          </a:p>
          <a:p>
            <a:endParaRPr lang="nb-NO" dirty="0"/>
          </a:p>
        </p:txBody>
      </p:sp>
      <p:sp>
        <p:nvSpPr>
          <p:cNvPr id="4" name="Slide Number Placeholder 3">
            <a:extLst>
              <a:ext uri="{FF2B5EF4-FFF2-40B4-BE49-F238E27FC236}">
                <a16:creationId xmlns:a16="http://schemas.microsoft.com/office/drawing/2014/main" id="{ADF36F8A-8088-7A73-AF4F-A8C67805717F}"/>
              </a:ext>
            </a:extLst>
          </p:cNvPr>
          <p:cNvSpPr>
            <a:spLocks noGrp="1"/>
          </p:cNvSpPr>
          <p:nvPr>
            <p:ph type="sldNum" sz="quarter" idx="12"/>
          </p:nvPr>
        </p:nvSpPr>
        <p:spPr/>
        <p:txBody>
          <a:bodyPr/>
          <a:lstStyle/>
          <a:p>
            <a:fld id="{092CA8B5-DBB4-47BA-9127-F945AE107A35}" type="slidenum">
              <a:rPr lang="nb-NO" smtClean="0"/>
              <a:t>69</a:t>
            </a:fld>
            <a:endParaRPr lang="nb-NO"/>
          </a:p>
        </p:txBody>
      </p:sp>
    </p:spTree>
    <p:extLst>
      <p:ext uri="{BB962C8B-B14F-4D97-AF65-F5344CB8AC3E}">
        <p14:creationId xmlns:p14="http://schemas.microsoft.com/office/powerpoint/2010/main" val="1613959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D4D8A2-622C-287A-03A9-8FAEEA7C39CB}"/>
                  </a:ext>
                </a:extLst>
              </p:cNvPr>
              <p:cNvSpPr>
                <a:spLocks noGrp="1"/>
              </p:cNvSpPr>
              <p:nvPr>
                <p:ph idx="1"/>
              </p:nvPr>
            </p:nvSpPr>
            <p:spPr>
              <a:xfrm>
                <a:off x="268940" y="304800"/>
                <a:ext cx="11802035" cy="6132139"/>
              </a:xfrm>
            </p:spPr>
            <p:txBody>
              <a:bodyPr>
                <a:normAutofit fontScale="92500" lnSpcReduction="10000"/>
              </a:bodyPr>
              <a:lstStyle/>
              <a:p>
                <a:r>
                  <a:rPr lang="nb-NO" sz="3200" noProof="0" dirty="0">
                    <a:latin typeface="Calibri" panose="020F0502020204030204" pitchFamily="34" charset="0"/>
                    <a:ea typeface="Calibri" panose="020F0502020204030204" pitchFamily="34" charset="0"/>
                    <a:cs typeface="Calibri" panose="020F0502020204030204" pitchFamily="34" charset="0"/>
                  </a:rPr>
                  <a:t>Markedsverdien av et selskap som tjener kr 100 hvert år er: </a:t>
                </a:r>
              </a:p>
              <a:p>
                <a:pPr marL="0" indent="0">
                  <a:buNone/>
                </a:pPr>
                <a:endParaRPr lang="en-US" sz="3200" b="0" i="1" noProof="0" dirty="0">
                  <a:latin typeface="Cambria Math" panose="02040503050406030204" pitchFamily="18" charset="0"/>
                  <a:ea typeface="Calibri" panose="020F0502020204030204" pitchFamily="34" charset="0"/>
                  <a:cs typeface="Calibri" panose="020F0502020204030204" pitchFamily="34" charset="0"/>
                </a:endParaRPr>
              </a:p>
              <a:p>
                <a:pPr marL="0" indent="0">
                  <a:buNone/>
                </a:pPr>
                <a14:m>
                  <m:oMathPara xmlns:m="http://schemas.openxmlformats.org/officeDocument/2006/math">
                    <m:oMath>
                      <m:r>
                        <a:rPr lang="en-US" sz="3200" b="0" i="1" noProof="0" smtClean="0">
                          <a:latin typeface="Cambria Math" panose="02040503050406030204" pitchFamily="18" charset="0"/>
                          <a:ea typeface="Calibri" panose="020F0502020204030204" pitchFamily="34" charset="0"/>
                          <a:cs typeface="Calibri" panose="020F0502020204030204" pitchFamily="34" charset="0"/>
                        </a:rPr>
                        <m:t>𝑀𝑎𝑟𝑘𝑒𝑑𝑠𝑣𝑒𝑟𝑑𝑖</m:t>
                      </m:r>
                      <m:r>
                        <a:rPr lang="en-US" sz="3200" b="0" i="1" noProof="0" smtClean="0">
                          <a:latin typeface="Cambria Math" panose="02040503050406030204" pitchFamily="18" charset="0"/>
                          <a:ea typeface="Calibri" panose="020F0502020204030204" pitchFamily="34" charset="0"/>
                          <a:cs typeface="Calibri" panose="020F0502020204030204" pitchFamily="34" charset="0"/>
                        </a:rPr>
                        <m:t> </m:t>
                      </m:r>
                      <m:d>
                        <m:dPr>
                          <m:ctrlPr>
                            <a:rPr lang="en-US" sz="3200" b="0" i="1" noProof="0" smtClean="0">
                              <a:latin typeface="Cambria Math" panose="02040503050406030204" pitchFamily="18" charset="0"/>
                              <a:ea typeface="Calibri" panose="020F0502020204030204" pitchFamily="34" charset="0"/>
                              <a:cs typeface="Calibri" panose="020F0502020204030204" pitchFamily="34" charset="0"/>
                            </a:rPr>
                          </m:ctrlPr>
                        </m:dPr>
                        <m:e>
                          <m:r>
                            <a:rPr lang="en-US" sz="3200" b="0" i="1" noProof="0" smtClean="0">
                              <a:latin typeface="Cambria Math" panose="02040503050406030204" pitchFamily="18" charset="0"/>
                              <a:ea typeface="Calibri" panose="020F0502020204030204" pitchFamily="34" charset="0"/>
                              <a:cs typeface="Calibri" panose="020F0502020204030204" pitchFamily="34" charset="0"/>
                            </a:rPr>
                            <m:t>𝑏</m:t>
                          </m:r>
                          <m:r>
                            <a:rPr lang="en-US" sz="3200" b="0" i="1" noProof="0" smtClean="0">
                              <a:latin typeface="Cambria Math" panose="02040503050406030204" pitchFamily="18" charset="0"/>
                              <a:ea typeface="Calibri" panose="020F0502020204030204" pitchFamily="34" charset="0"/>
                              <a:cs typeface="Calibri" panose="020F0502020204030204" pitchFamily="34" charset="0"/>
                            </a:rPr>
                            <m:t>ø</m:t>
                          </m:r>
                          <m:r>
                            <a:rPr lang="en-US" sz="3200" b="0" i="1" noProof="0" smtClean="0">
                              <a:latin typeface="Cambria Math" panose="02040503050406030204" pitchFamily="18" charset="0"/>
                              <a:ea typeface="Calibri" panose="020F0502020204030204" pitchFamily="34" charset="0"/>
                              <a:cs typeface="Calibri" panose="020F0502020204030204" pitchFamily="34" charset="0"/>
                            </a:rPr>
                            <m:t>𝑟𝑠𝑣𝑒𝑟𝑑𝑖</m:t>
                          </m:r>
                        </m:e>
                      </m:d>
                      <m:r>
                        <a:rPr lang="en-US" sz="3200" b="0" i="1" noProof="0" smtClean="0">
                          <a:latin typeface="Cambria Math" panose="02040503050406030204" pitchFamily="18" charset="0"/>
                          <a:ea typeface="Calibri" panose="020F0502020204030204" pitchFamily="34" charset="0"/>
                          <a:cs typeface="Calibri" panose="020F0502020204030204" pitchFamily="34" charset="0"/>
                        </a:rPr>
                        <m:t>𝑎𝑘𝑠𝑗𝑒𝑛𝑒</m:t>
                      </m:r>
                      <m:r>
                        <a:rPr lang="en-US" sz="3200" b="0" i="1" noProof="0" smtClean="0">
                          <a:latin typeface="Cambria Math" panose="02040503050406030204" pitchFamily="18" charset="0"/>
                          <a:ea typeface="Calibri" panose="020F0502020204030204" pitchFamily="34" charset="0"/>
                          <a:cs typeface="Calibri" panose="020F0502020204030204" pitchFamily="34" charset="0"/>
                        </a:rPr>
                        <m:t>=</m:t>
                      </m:r>
                      <m:f>
                        <m:fPr>
                          <m:ctrlPr>
                            <a:rPr lang="en-US" sz="3200" b="0" i="1" noProof="0" smtClean="0">
                              <a:latin typeface="Cambria Math" panose="02040503050406030204" pitchFamily="18" charset="0"/>
                              <a:ea typeface="Calibri" panose="020F0502020204030204" pitchFamily="34" charset="0"/>
                              <a:cs typeface="Calibri" panose="020F0502020204030204" pitchFamily="34" charset="0"/>
                            </a:rPr>
                          </m:ctrlPr>
                        </m:fPr>
                        <m:num>
                          <m:r>
                            <a:rPr lang="en-US" sz="3200" b="0" i="1" noProof="0" smtClean="0">
                              <a:latin typeface="Cambria Math" panose="02040503050406030204" pitchFamily="18" charset="0"/>
                              <a:ea typeface="Calibri" panose="020F0502020204030204" pitchFamily="34" charset="0"/>
                              <a:cs typeface="Calibri" panose="020F0502020204030204" pitchFamily="34" charset="0"/>
                            </a:rPr>
                            <m:t>100 </m:t>
                          </m:r>
                          <m:r>
                            <a:rPr lang="en-US" sz="3200" b="0" i="1" noProof="0" smtClean="0">
                              <a:latin typeface="Cambria Math" panose="02040503050406030204" pitchFamily="18" charset="0"/>
                              <a:ea typeface="Calibri" panose="020F0502020204030204" pitchFamily="34" charset="0"/>
                              <a:cs typeface="Calibri" panose="020F0502020204030204" pitchFamily="34" charset="0"/>
                            </a:rPr>
                            <m:t>𝑘𝑟</m:t>
                          </m:r>
                        </m:num>
                        <m:den>
                          <m:r>
                            <a:rPr lang="en-US" sz="3200" b="0" i="1" noProof="0" smtClean="0">
                              <a:latin typeface="Cambria Math" panose="02040503050406030204" pitchFamily="18" charset="0"/>
                              <a:ea typeface="Calibri" panose="020F0502020204030204" pitchFamily="34" charset="0"/>
                              <a:cs typeface="Calibri" panose="020F0502020204030204" pitchFamily="34" charset="0"/>
                            </a:rPr>
                            <m:t>12,22%</m:t>
                          </m:r>
                        </m:den>
                      </m:f>
                      <m:r>
                        <a:rPr lang="en-US" sz="3200" b="0" i="1" noProof="0" smtClean="0">
                          <a:latin typeface="Cambria Math" panose="02040503050406030204" pitchFamily="18" charset="0"/>
                          <a:ea typeface="Calibri" panose="020F0502020204030204" pitchFamily="34" charset="0"/>
                          <a:cs typeface="Calibri" panose="020F0502020204030204" pitchFamily="34" charset="0"/>
                        </a:rPr>
                        <m:t>=</m:t>
                      </m:r>
                      <m:r>
                        <a:rPr lang="en-US" sz="3200" b="0" i="1" noProof="0" smtClean="0">
                          <a:latin typeface="Cambria Math" panose="02040503050406030204" pitchFamily="18" charset="0"/>
                          <a:ea typeface="Calibri" panose="020F0502020204030204" pitchFamily="34" charset="0"/>
                          <a:cs typeface="Calibri" panose="020F0502020204030204" pitchFamily="34" charset="0"/>
                        </a:rPr>
                        <m:t>𝑘𝑟</m:t>
                      </m:r>
                      <m:r>
                        <a:rPr lang="en-US" sz="3200" b="0" i="1" noProof="0" smtClean="0">
                          <a:latin typeface="Cambria Math" panose="02040503050406030204" pitchFamily="18" charset="0"/>
                          <a:ea typeface="Calibri" panose="020F0502020204030204" pitchFamily="34" charset="0"/>
                          <a:cs typeface="Calibri" panose="020F0502020204030204" pitchFamily="34" charset="0"/>
                        </a:rPr>
                        <m:t> 818</m:t>
                      </m:r>
                    </m:oMath>
                  </m:oMathPara>
                </a14:m>
                <a:endParaRPr lang="en-US" sz="3200" b="0" noProof="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nb-NO" sz="2800" noProof="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nb-NO" sz="3000" noProof="0" dirty="0">
                    <a:latin typeface="Calibri" panose="020F0502020204030204" pitchFamily="34" charset="0"/>
                    <a:ea typeface="Calibri" panose="020F0502020204030204" pitchFamily="34" charset="0"/>
                    <a:cs typeface="Calibri" panose="020F0502020204030204" pitchFamily="34" charset="0"/>
                  </a:rPr>
                  <a:t>hvor diskonteringsfaktoren på 12,22% er realavkastningen i Norge på aksjer etter 1980 (</a:t>
                </a:r>
                <a:r>
                  <a:rPr lang="nb-NO" sz="3000" noProof="0" dirty="0" err="1">
                    <a:latin typeface="Calibri" panose="020F0502020204030204" pitchFamily="34" charset="0"/>
                    <a:ea typeface="Calibri" panose="020F0502020204030204" pitchFamily="34" charset="0"/>
                    <a:cs typeface="Calibri" panose="020F0502020204030204" pitchFamily="34" charset="0"/>
                  </a:rPr>
                  <a:t>jf</a:t>
                </a:r>
                <a:r>
                  <a:rPr lang="nb-NO" sz="3000" noProof="0" dirty="0">
                    <a:latin typeface="Calibri" panose="020F0502020204030204" pitchFamily="34" charset="0"/>
                    <a:ea typeface="Calibri" panose="020F0502020204030204" pitchFamily="34" charset="0"/>
                    <a:cs typeface="Calibri" panose="020F0502020204030204" pitchFamily="34" charset="0"/>
                  </a:rPr>
                  <a:t> artikkelen </a:t>
                </a:r>
                <a:r>
                  <a:rPr lang="nb-NO" sz="3000" dirty="0">
                    <a:latin typeface="Calibri" panose="020F0502020204030204" pitchFamily="34" charset="0"/>
                    <a:ea typeface="Calibri" panose="020F0502020204030204" pitchFamily="34" charset="0"/>
                    <a:cs typeface="Calibri" panose="020F0502020204030204" pitchFamily="34" charset="0"/>
                  </a:rPr>
                  <a:t>«</a:t>
                </a:r>
                <a:r>
                  <a:rPr lang="nb-NO" sz="3000" noProof="0" dirty="0">
                    <a:latin typeface="Calibri" panose="020F0502020204030204" pitchFamily="34" charset="0"/>
                    <a:ea typeface="Calibri" panose="020F0502020204030204" pitchFamily="34" charset="0"/>
                    <a:cs typeface="Calibri" panose="020F0502020204030204" pitchFamily="34" charset="0"/>
                  </a:rPr>
                  <a:t>The rate </a:t>
                </a:r>
                <a:r>
                  <a:rPr lang="nb-NO" sz="3000" noProof="0" dirty="0" err="1">
                    <a:latin typeface="Calibri" panose="020F0502020204030204" pitchFamily="34" charset="0"/>
                    <a:ea typeface="Calibri" panose="020F0502020204030204" pitchFamily="34" charset="0"/>
                    <a:cs typeface="Calibri" panose="020F0502020204030204" pitchFamily="34" charset="0"/>
                  </a:rPr>
                  <a:t>of</a:t>
                </a:r>
                <a:r>
                  <a:rPr lang="nb-NO" sz="3000" noProof="0" dirty="0">
                    <a:latin typeface="Calibri" panose="020F0502020204030204" pitchFamily="34" charset="0"/>
                    <a:ea typeface="Calibri" panose="020F0502020204030204" pitchFamily="34" charset="0"/>
                    <a:cs typeface="Calibri" panose="020F0502020204030204" pitchFamily="34" charset="0"/>
                  </a:rPr>
                  <a:t> </a:t>
                </a:r>
                <a:r>
                  <a:rPr lang="nb-NO" sz="3000" noProof="0" dirty="0" err="1">
                    <a:latin typeface="Calibri" panose="020F0502020204030204" pitchFamily="34" charset="0"/>
                    <a:ea typeface="Calibri" panose="020F0502020204030204" pitchFamily="34" charset="0"/>
                    <a:cs typeface="Calibri" panose="020F0502020204030204" pitchFamily="34" charset="0"/>
                  </a:rPr>
                  <a:t>return</a:t>
                </a:r>
                <a:r>
                  <a:rPr lang="nb-NO" sz="3000" noProof="0" dirty="0">
                    <a:latin typeface="Calibri" panose="020F0502020204030204" pitchFamily="34" charset="0"/>
                    <a:ea typeface="Calibri" panose="020F0502020204030204" pitchFamily="34" charset="0"/>
                    <a:cs typeface="Calibri" panose="020F0502020204030204" pitchFamily="34" charset="0"/>
                  </a:rPr>
                  <a:t> </a:t>
                </a:r>
                <a:r>
                  <a:rPr lang="nb-NO" sz="3000" noProof="0" dirty="0" err="1">
                    <a:latin typeface="Calibri" panose="020F0502020204030204" pitchFamily="34" charset="0"/>
                    <a:ea typeface="Calibri" panose="020F0502020204030204" pitchFamily="34" charset="0"/>
                    <a:cs typeface="Calibri" panose="020F0502020204030204" pitchFamily="34" charset="0"/>
                  </a:rPr>
                  <a:t>of</a:t>
                </a:r>
                <a:r>
                  <a:rPr lang="nb-NO" sz="3000" noProof="0" dirty="0">
                    <a:latin typeface="Calibri" panose="020F0502020204030204" pitchFamily="34" charset="0"/>
                    <a:ea typeface="Calibri" panose="020F0502020204030204" pitchFamily="34" charset="0"/>
                    <a:cs typeface="Calibri" panose="020F0502020204030204" pitchFamily="34" charset="0"/>
                  </a:rPr>
                  <a:t> </a:t>
                </a:r>
                <a:r>
                  <a:rPr lang="nb-NO" sz="3000" noProof="0" dirty="0" err="1">
                    <a:latin typeface="Calibri" panose="020F0502020204030204" pitchFamily="34" charset="0"/>
                    <a:ea typeface="Calibri" panose="020F0502020204030204" pitchFamily="34" charset="0"/>
                    <a:cs typeface="Calibri" panose="020F0502020204030204" pitchFamily="34" charset="0"/>
                  </a:rPr>
                  <a:t>everything</a:t>
                </a:r>
                <a:r>
                  <a:rPr lang="nb-NO" sz="3000" noProof="0" dirty="0">
                    <a:latin typeface="Calibri" panose="020F0502020204030204" pitchFamily="34" charset="0"/>
                    <a:ea typeface="Calibri" panose="020F0502020204030204" pitchFamily="34" charset="0"/>
                    <a:cs typeface="Calibri" panose="020F0502020204030204" pitchFamily="34" charset="0"/>
                  </a:rPr>
                  <a:t>», QJE 2019)</a:t>
                </a:r>
              </a:p>
              <a:p>
                <a:pPr marL="0" indent="0">
                  <a:buNone/>
                </a:pPr>
                <a:endParaRPr lang="nb-NO" sz="3200" dirty="0">
                  <a:latin typeface="Calibri" panose="020F0502020204030204" pitchFamily="34" charset="0"/>
                  <a:ea typeface="Calibri" panose="020F0502020204030204" pitchFamily="34" charset="0"/>
                  <a:cs typeface="Calibri" panose="020F0502020204030204" pitchFamily="34" charset="0"/>
                </a:endParaRPr>
              </a:p>
              <a:p>
                <a:r>
                  <a:rPr lang="nb-NO" sz="3200" dirty="0">
                    <a:latin typeface="Calibri" panose="020F0502020204030204" pitchFamily="34" charset="0"/>
                    <a:ea typeface="Calibri" panose="020F0502020204030204" pitchFamily="34" charset="0"/>
                    <a:cs typeface="Calibri" panose="020F0502020204030204" pitchFamily="34" charset="0"/>
                  </a:rPr>
                  <a:t>Hvis selskapet er unotert anslår to SSB rapporter (rapport 2022/31 og rapport </a:t>
                </a:r>
                <a:r>
                  <a:rPr lang="nb-NO" sz="3200" dirty="0">
                    <a:latin typeface="Calibri" panose="020F0502020204030204" pitchFamily="34" charset="0"/>
                    <a:ea typeface="Calibri" panose="020F0502020204030204" pitchFamily="34" charset="0"/>
                    <a:cs typeface="Calibri" panose="020F0502020204030204" pitchFamily="34" charset="0"/>
                    <a:hlinkClick r:id="rId2"/>
                  </a:rPr>
                  <a:t>2025/21</a:t>
                </a:r>
                <a:r>
                  <a:rPr lang="nb-NO" sz="3200" dirty="0">
                    <a:latin typeface="Calibri" panose="020F0502020204030204" pitchFamily="34" charset="0"/>
                    <a:ea typeface="Calibri" panose="020F0502020204030204" pitchFamily="34" charset="0"/>
                    <a:cs typeface="Calibri" panose="020F0502020204030204" pitchFamily="34" charset="0"/>
                  </a:rPr>
                  <a:t>) at formuesverdien til unoterte aksjer ligger et sted mellom 35-40% av markedsverdien </a:t>
                </a:r>
              </a:p>
              <a:p>
                <a:endParaRPr lang="nb-NO" sz="3200" b="1" dirty="0">
                  <a:solidFill>
                    <a:srgbClr val="FF0000"/>
                  </a:solidFill>
                </a:endParaRPr>
              </a:p>
              <a:p>
                <a:r>
                  <a:rPr lang="nb-NO" sz="3200" b="1" dirty="0">
                    <a:solidFill>
                      <a:srgbClr val="FF0000"/>
                    </a:solidFill>
                  </a:rPr>
                  <a:t>Anta at formuesverdi inkl. aksjerabatten er 35% av markedsverdien. Formuesverdien på unoterte aksjer er kr 286,3</a:t>
                </a:r>
                <a:r>
                  <a:rPr lang="nb-NO" sz="3200" dirty="0"/>
                  <a:t> (= 818*35%)</a:t>
                </a:r>
                <a:endParaRPr lang="nb-NO" sz="3200" dirty="0">
                  <a:latin typeface="Calibri" panose="020F0502020204030204" pitchFamily="34" charset="0"/>
                  <a:ea typeface="Calibri" panose="020F0502020204030204" pitchFamily="34" charset="0"/>
                  <a:cs typeface="Calibri" panose="020F0502020204030204" pitchFamily="34" charset="0"/>
                </a:endParaRPr>
              </a:p>
              <a:p>
                <a:endParaRPr lang="nb-NO"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D2D4D8A2-622C-287A-03A9-8FAEEA7C39CB}"/>
                  </a:ext>
                </a:extLst>
              </p:cNvPr>
              <p:cNvSpPr>
                <a:spLocks noGrp="1" noRot="1" noChangeAspect="1" noMove="1" noResize="1" noEditPoints="1" noAdjustHandles="1" noChangeArrowheads="1" noChangeShapeType="1" noTextEdit="1"/>
              </p:cNvSpPr>
              <p:nvPr>
                <p:ph idx="1"/>
              </p:nvPr>
            </p:nvSpPr>
            <p:spPr>
              <a:xfrm>
                <a:off x="268940" y="304800"/>
                <a:ext cx="11802035" cy="6132139"/>
              </a:xfrm>
              <a:blipFill>
                <a:blip r:embed="rId3"/>
                <a:stretch>
                  <a:fillRect l="-1075" t="-2484" b="-269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A9CDC7C-8043-8C97-F159-F4305AA1FE6E}"/>
              </a:ext>
            </a:extLst>
          </p:cNvPr>
          <p:cNvSpPr>
            <a:spLocks noGrp="1"/>
          </p:cNvSpPr>
          <p:nvPr>
            <p:ph type="sldNum" sz="quarter" idx="12"/>
          </p:nvPr>
        </p:nvSpPr>
        <p:spPr/>
        <p:txBody>
          <a:bodyPr/>
          <a:lstStyle/>
          <a:p>
            <a:fld id="{092CA8B5-DBB4-47BA-9127-F945AE107A35}" type="slidenum">
              <a:rPr lang="nb-NO" smtClean="0"/>
              <a:t>70</a:t>
            </a:fld>
            <a:endParaRPr lang="nb-NO"/>
          </a:p>
        </p:txBody>
      </p:sp>
    </p:spTree>
    <p:extLst>
      <p:ext uri="{BB962C8B-B14F-4D97-AF65-F5344CB8AC3E}">
        <p14:creationId xmlns:p14="http://schemas.microsoft.com/office/powerpoint/2010/main" val="237794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3B1D5-2923-983E-FE9F-D4CD66D7CF4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A1E773-E2AC-B051-FED3-A80FD9DA5230}"/>
                  </a:ext>
                </a:extLst>
              </p:cNvPr>
              <p:cNvSpPr>
                <a:spLocks noGrp="1"/>
              </p:cNvSpPr>
              <p:nvPr>
                <p:ph idx="1"/>
              </p:nvPr>
            </p:nvSpPr>
            <p:spPr>
              <a:xfrm>
                <a:off x="206188" y="174812"/>
                <a:ext cx="11716179" cy="6538482"/>
              </a:xfrm>
            </p:spPr>
            <p:txBody>
              <a:bodyPr>
                <a:normAutofit lnSpcReduction="10000"/>
              </a:bodyPr>
              <a:lstStyle/>
              <a:p>
                <a:r>
                  <a:rPr lang="nb-NO" b="1" noProof="0" dirty="0">
                    <a:latin typeface="Calibri" panose="020F0502020204030204" pitchFamily="34" charset="0"/>
                    <a:ea typeface="Calibri" panose="020F0502020204030204" pitchFamily="34" charset="0"/>
                    <a:cs typeface="Calibri" panose="020F0502020204030204" pitchFamily="34" charset="0"/>
                  </a:rPr>
                  <a:t>Formuesskatt  børsnotert selskap </a:t>
                </a:r>
                <a:r>
                  <a:rPr lang="nb-NO" noProof="0" dirty="0">
                    <a:latin typeface="Calibri" panose="020F0502020204030204" pitchFamily="34" charset="0"/>
                    <a:ea typeface="Calibri" panose="020F0502020204030204" pitchFamily="34" charset="0"/>
                    <a:cs typeface="Calibri" panose="020F0502020204030204" pitchFamily="34" charset="0"/>
                  </a:rPr>
                  <a:t>(formuesverdi kr 818; jf. forrige slide):</a:t>
                </a:r>
              </a:p>
              <a:p>
                <a:pPr marL="457200" lvl="1" indent="0">
                  <a:buNone/>
                </a:pPr>
                <a:endParaRPr lang="nb-NO" noProof="0" dirty="0">
                  <a:latin typeface="Calibri" panose="020F0502020204030204" pitchFamily="34" charset="0"/>
                  <a:ea typeface="Calibri" panose="020F0502020204030204" pitchFamily="34" charset="0"/>
                  <a:cs typeface="Calibri" panose="020F0502020204030204" pitchFamily="34" charset="0"/>
                </a:endParaRPr>
              </a:p>
              <a:p>
                <a:pPr marL="457200" lvl="1" indent="0" algn="ctr">
                  <a:buNone/>
                </a:pPr>
                <a:r>
                  <a:rPr lang="nb-NO" noProof="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ctrlPr>
                          <a:rPr lang="nb-NO" b="0" i="1" noProof="0" smtClean="0">
                            <a:latin typeface="Cambria Math" panose="02040503050406030204" pitchFamily="18" charset="0"/>
                          </a:rPr>
                        </m:ctrlPr>
                      </m:dPr>
                      <m:e>
                        <m:r>
                          <a:rPr lang="nb-NO" b="0" i="1" noProof="0" smtClean="0">
                            <a:latin typeface="Cambria Math" panose="02040503050406030204" pitchFamily="18" charset="0"/>
                          </a:rPr>
                          <m:t>𝑘𝑟</m:t>
                        </m:r>
                        <m:r>
                          <a:rPr lang="nb-NO" b="0" i="1" noProof="0" smtClean="0">
                            <a:latin typeface="Cambria Math" panose="02040503050406030204" pitchFamily="18" charset="0"/>
                          </a:rPr>
                          <m:t> 818∗</m:t>
                        </m:r>
                        <m:d>
                          <m:dPr>
                            <m:ctrlPr>
                              <a:rPr lang="nb-NO" b="0" i="1" noProof="0" smtClean="0">
                                <a:latin typeface="Cambria Math" panose="02040503050406030204" pitchFamily="18" charset="0"/>
                              </a:rPr>
                            </m:ctrlPr>
                          </m:dPr>
                          <m:e>
                            <m:r>
                              <a:rPr lang="nb-NO" b="0" i="1" noProof="0" smtClean="0">
                                <a:latin typeface="Cambria Math" panose="02040503050406030204" pitchFamily="18" charset="0"/>
                              </a:rPr>
                              <m:t>100%−20%</m:t>
                            </m:r>
                          </m:e>
                        </m:d>
                      </m:e>
                    </m:d>
                    <m:r>
                      <a:rPr lang="nb-NO" b="0" i="1" noProof="0" smtClean="0">
                        <a:latin typeface="Cambria Math" panose="02040503050406030204" pitchFamily="18" charset="0"/>
                      </a:rPr>
                      <m:t>∗1,1%</m:t>
                    </m:r>
                    <m:r>
                      <m:rPr>
                        <m:nor/>
                      </m:rPr>
                      <a:rPr lang="nb-NO" b="0" i="0" noProof="0" smtClean="0">
                        <a:latin typeface="Cambria Math" panose="02040503050406030204" pitchFamily="18" charset="0"/>
                      </a:rPr>
                      <m:t> </m:t>
                    </m:r>
                    <m:r>
                      <a:rPr lang="nb-NO" b="0" i="1" noProof="0" smtClean="0">
                        <a:latin typeface="Cambria Math" panose="02040503050406030204" pitchFamily="18" charset="0"/>
                        <a:ea typeface="Cambria Math" panose="02040503050406030204" pitchFamily="18" charset="0"/>
                      </a:rPr>
                      <m:t>≅</m:t>
                    </m:r>
                    <m:r>
                      <a:rPr lang="nb-NO" b="0" i="1" noProof="0" smtClean="0">
                        <a:latin typeface="Cambria Math" panose="02040503050406030204" pitchFamily="18" charset="0"/>
                        <a:ea typeface="Calibri" panose="020F0502020204030204" pitchFamily="34" charset="0"/>
                        <a:cs typeface="Calibri" panose="020F0502020204030204" pitchFamily="34" charset="0"/>
                      </a:rPr>
                      <m:t> </m:t>
                    </m:r>
                    <m:r>
                      <a:rPr lang="nb-NO" b="1" i="1" noProof="0" smtClean="0">
                        <a:solidFill>
                          <a:srgbClr val="FF0000"/>
                        </a:solidFill>
                        <a:latin typeface="Cambria Math" panose="02040503050406030204" pitchFamily="18" charset="0"/>
                      </a:rPr>
                      <m:t>𝒌𝒓</m:t>
                    </m:r>
                    <m:r>
                      <a:rPr lang="nb-NO" b="1" i="1" noProof="0" smtClean="0">
                        <a:solidFill>
                          <a:srgbClr val="FF0000"/>
                        </a:solidFill>
                        <a:latin typeface="Cambria Math" panose="02040503050406030204" pitchFamily="18" charset="0"/>
                      </a:rPr>
                      <m:t> </m:t>
                    </m:r>
                    <m:r>
                      <a:rPr lang="en-US" b="1" i="1" noProof="0" smtClean="0">
                        <a:solidFill>
                          <a:srgbClr val="FF0000"/>
                        </a:solidFill>
                        <a:latin typeface="Cambria Math" panose="02040503050406030204" pitchFamily="18" charset="0"/>
                      </a:rPr>
                      <m:t>𝟕</m:t>
                    </m:r>
                    <m:r>
                      <a:rPr lang="nb-NO" b="1" i="1" noProof="0" smtClean="0">
                        <a:solidFill>
                          <a:srgbClr val="FF0000"/>
                        </a:solidFill>
                        <a:latin typeface="Cambria Math" panose="02040503050406030204" pitchFamily="18" charset="0"/>
                      </a:rPr>
                      <m:t>,</m:t>
                    </m:r>
                    <m:r>
                      <a:rPr lang="en-US" b="1" i="1" noProof="0" smtClean="0">
                        <a:solidFill>
                          <a:srgbClr val="FF0000"/>
                        </a:solidFill>
                        <a:latin typeface="Cambria Math" panose="02040503050406030204" pitchFamily="18" charset="0"/>
                      </a:rPr>
                      <m:t>𝟐</m:t>
                    </m:r>
                  </m:oMath>
                </a14:m>
                <a:endParaRPr lang="nb-NO" b="1" noProof="0" dirty="0">
                  <a:latin typeface="Calibri" panose="020F0502020204030204" pitchFamily="34" charset="0"/>
                  <a:ea typeface="Calibri" panose="020F0502020204030204" pitchFamily="34" charset="0"/>
                  <a:cs typeface="Calibri" panose="020F0502020204030204" pitchFamily="34" charset="0"/>
                </a:endParaRPr>
              </a:p>
              <a:p>
                <a:endParaRPr lang="nb-NO" sz="2400" noProof="0"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nb-NO" b="1"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nb-NO" b="1" noProof="0" dirty="0">
                  <a:latin typeface="Calibri" panose="020F0502020204030204" pitchFamily="34" charset="0"/>
                  <a:ea typeface="Calibri" panose="020F0502020204030204" pitchFamily="34" charset="0"/>
                  <a:cs typeface="Calibri" panose="020F0502020204030204" pitchFamily="34" charset="0"/>
                </a:endParaRPr>
              </a:p>
              <a:p>
                <a:r>
                  <a:rPr lang="nb-NO" b="1" dirty="0">
                    <a:latin typeface="Calibri" panose="020F0502020204030204" pitchFamily="34" charset="0"/>
                    <a:ea typeface="Calibri" panose="020F0502020204030204" pitchFamily="34" charset="0"/>
                    <a:cs typeface="Calibri" panose="020F0502020204030204" pitchFamily="34" charset="0"/>
                  </a:rPr>
                  <a:t>Hopland mfl (2024) finner at AERT for alle norske selskaper er </a:t>
                </a:r>
                <a:r>
                  <a:rPr lang="nb-NO" b="1" dirty="0">
                    <a:solidFill>
                      <a:srgbClr val="FF0000"/>
                    </a:solidFill>
                    <a:latin typeface="Calibri" panose="020F0502020204030204" pitchFamily="34" charset="0"/>
                    <a:ea typeface="Calibri" panose="020F0502020204030204" pitchFamily="34" charset="0"/>
                    <a:cs typeface="Calibri" panose="020F0502020204030204" pitchFamily="34" charset="0"/>
                  </a:rPr>
                  <a:t>13,1%</a:t>
                </a:r>
              </a:p>
              <a:p>
                <a:pPr marL="0" indent="0">
                  <a:buNone/>
                </a:pPr>
                <a:endParaRPr lang="nb-NO" b="1" noProof="0" dirty="0">
                  <a:latin typeface="Calibri" panose="020F0502020204030204" pitchFamily="34" charset="0"/>
                  <a:ea typeface="Calibri" panose="020F0502020204030204" pitchFamily="34" charset="0"/>
                  <a:cs typeface="Calibri" panose="020F0502020204030204" pitchFamily="34" charset="0"/>
                </a:endParaRPr>
              </a:p>
              <a:p>
                <a:r>
                  <a:rPr lang="nb-NO" b="1" noProof="0" dirty="0">
                    <a:latin typeface="Calibri" panose="020F0502020204030204" pitchFamily="34" charset="0"/>
                    <a:ea typeface="Calibri" panose="020F0502020204030204" pitchFamily="34" charset="0"/>
                    <a:cs typeface="Calibri" panose="020F0502020204030204" pitchFamily="34" charset="0"/>
                  </a:rPr>
                  <a:t>Hvor mye utbytte må tas for å betale formuesskatten?</a:t>
                </a:r>
              </a:p>
              <a:p>
                <a:endParaRPr lang="nb-NO" b="1" dirty="0">
                  <a:latin typeface="Calibri" panose="020F0502020204030204" pitchFamily="34" charset="0"/>
                  <a:ea typeface="Calibri" panose="020F0502020204030204" pitchFamily="34" charset="0"/>
                  <a:cs typeface="Calibri" panose="020F0502020204030204" pitchFamily="34" charset="0"/>
                </a:endParaRPr>
              </a:p>
              <a:p>
                <a:r>
                  <a:rPr lang="nb-NO" b="1" noProof="0" dirty="0">
                    <a:latin typeface="Calibri" panose="020F0502020204030204" pitchFamily="34" charset="0"/>
                    <a:ea typeface="Calibri" panose="020F0502020204030204" pitchFamily="34" charset="0"/>
                    <a:cs typeface="Calibri" panose="020F0502020204030204" pitchFamily="34" charset="0"/>
                  </a:rPr>
                  <a:t>Utbytte</a:t>
                </a:r>
                <a:r>
                  <a:rPr lang="nb-NO" dirty="0"/>
                  <a:t>: </a:t>
                </a:r>
                <a14:m>
                  <m:oMath xmlns:m="http://schemas.openxmlformats.org/officeDocument/2006/math">
                    <m:f>
                      <m:fPr>
                        <m:ctrlPr>
                          <a:rPr lang="nb-NO" sz="3200" i="1">
                            <a:latin typeface="Cambria Math" panose="02040503050406030204" pitchFamily="18" charset="0"/>
                          </a:rPr>
                        </m:ctrlPr>
                      </m:fPr>
                      <m:num>
                        <m:r>
                          <a:rPr lang="nb-NO" sz="3200" i="1">
                            <a:latin typeface="Cambria Math" panose="02040503050406030204" pitchFamily="18" charset="0"/>
                          </a:rPr>
                          <m:t>𝑘𝑟</m:t>
                        </m:r>
                        <m:r>
                          <a:rPr lang="nb-NO" sz="3200" i="1">
                            <a:latin typeface="Cambria Math" panose="02040503050406030204" pitchFamily="18" charset="0"/>
                          </a:rPr>
                          <m:t> 7,2</m:t>
                        </m:r>
                      </m:num>
                      <m:den>
                        <m:r>
                          <a:rPr lang="nb-NO" sz="3200" i="1">
                            <a:latin typeface="Cambria Math" panose="02040503050406030204" pitchFamily="18" charset="0"/>
                          </a:rPr>
                          <m:t>100%−37,84%</m:t>
                        </m:r>
                      </m:den>
                    </m:f>
                    <m:r>
                      <a:rPr lang="nb-NO" sz="3200" i="1">
                        <a:latin typeface="Cambria Math" panose="02040503050406030204" pitchFamily="18" charset="0"/>
                      </a:rPr>
                      <m:t>=</m:t>
                    </m:r>
                    <m:r>
                      <a:rPr lang="nb-NO" sz="3200" i="1">
                        <a:latin typeface="Cambria Math" panose="02040503050406030204" pitchFamily="18" charset="0"/>
                      </a:rPr>
                      <m:t>𝑘𝑟</m:t>
                    </m:r>
                    <m:r>
                      <a:rPr lang="nb-NO" sz="3200" i="1">
                        <a:latin typeface="Cambria Math" panose="02040503050406030204" pitchFamily="18" charset="0"/>
                      </a:rPr>
                      <m:t> 11,6</m:t>
                    </m:r>
                  </m:oMath>
                </a14:m>
                <a:r>
                  <a:rPr lang="nb-NO" b="1" noProof="0" dirty="0">
                    <a:latin typeface="Calibri" panose="020F0502020204030204" pitchFamily="34" charset="0"/>
                    <a:ea typeface="Calibri" panose="020F0502020204030204" pitchFamily="34" charset="0"/>
                    <a:cs typeface="Calibri" panose="020F0502020204030204" pitchFamily="34" charset="0"/>
                  </a:rPr>
                  <a:t> </a:t>
                </a:r>
                <a:r>
                  <a:rPr lang="nb-NO" noProof="0" dirty="0">
                    <a:latin typeface="Calibri" panose="020F0502020204030204" pitchFamily="34" charset="0"/>
                    <a:ea typeface="Calibri" panose="020F0502020204030204" pitchFamily="34" charset="0"/>
                    <a:cs typeface="Calibri" panose="020F0502020204030204" pitchFamily="34" charset="0"/>
                  </a:rPr>
                  <a:t>og utbytteskatt </a:t>
                </a:r>
                <a:r>
                  <a:rPr lang="nb-NO" b="1" noProof="0" dirty="0">
                    <a:solidFill>
                      <a:srgbClr val="FF0000"/>
                    </a:solidFill>
                    <a:latin typeface="Calibri" panose="020F0502020204030204" pitchFamily="34" charset="0"/>
                    <a:ea typeface="Calibri" panose="020F0502020204030204" pitchFamily="34" charset="0"/>
                    <a:cs typeface="Calibri" panose="020F0502020204030204" pitchFamily="34" charset="0"/>
                  </a:rPr>
                  <a:t>kr 4,4 </a:t>
                </a:r>
                <a:r>
                  <a:rPr lang="nb-NO" dirty="0">
                    <a:latin typeface="Calibri" panose="020F0502020204030204" pitchFamily="34" charset="0"/>
                    <a:ea typeface="Calibri" panose="020F0502020204030204" pitchFamily="34" charset="0"/>
                    <a:cs typeface="Calibri" panose="020F0502020204030204" pitchFamily="34" charset="0"/>
                  </a:rPr>
                  <a:t>(= kr 11,6*37,84)</a:t>
                </a:r>
                <a:r>
                  <a:rPr lang="nb-NO" b="1" noProof="0" dirty="0">
                    <a:latin typeface="Calibri" panose="020F0502020204030204" pitchFamily="34" charset="0"/>
                    <a:ea typeface="Calibri" panose="020F0502020204030204" pitchFamily="34" charset="0"/>
                    <a:cs typeface="Calibri" panose="020F0502020204030204" pitchFamily="34" charset="0"/>
                  </a:rPr>
                  <a:t> </a:t>
                </a:r>
              </a:p>
              <a:p>
                <a:endParaRPr lang="nb-NO"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14:m>
                  <m:oMathPara xmlns:m="http://schemas.openxmlformats.org/officeDocument/2006/math">
                    <m:oMath>
                      <m:r>
                        <a:rPr lang="en-US" sz="3200" b="1" i="1" noProof="0" smtClean="0">
                          <a:solidFill>
                            <a:srgbClr val="FF0000"/>
                          </a:solidFill>
                          <a:latin typeface="Cambria Math" panose="02040503050406030204" pitchFamily="18" charset="0"/>
                        </a:rPr>
                        <m:t>𝑨𝑬𝑹𝑻</m:t>
                      </m:r>
                      <m:r>
                        <a:rPr lang="en-US" sz="3200" b="1" i="1" noProof="0" smtClean="0">
                          <a:solidFill>
                            <a:srgbClr val="FF0000"/>
                          </a:solidFill>
                          <a:latin typeface="Cambria Math" panose="02040503050406030204" pitchFamily="18" charset="0"/>
                        </a:rPr>
                        <m:t>=</m:t>
                      </m:r>
                      <m:f>
                        <m:fPr>
                          <m:ctrlPr>
                            <a:rPr lang="en-US" sz="3200" b="1" i="1" noProof="0" smtClean="0">
                              <a:solidFill>
                                <a:srgbClr val="FF0000"/>
                              </a:solidFill>
                              <a:latin typeface="Cambria Math" panose="02040503050406030204" pitchFamily="18" charset="0"/>
                            </a:rPr>
                          </m:ctrlPr>
                        </m:fPr>
                        <m:num>
                          <m:r>
                            <a:rPr lang="en-US" sz="3200" b="1" i="1" noProof="0" smtClean="0">
                              <a:solidFill>
                                <a:srgbClr val="FF0000"/>
                              </a:solidFill>
                              <a:latin typeface="Cambria Math" panose="02040503050406030204" pitchFamily="18" charset="0"/>
                            </a:rPr>
                            <m:t>𝟕</m:t>
                          </m:r>
                          <m:r>
                            <a:rPr lang="en-US" sz="3200" b="1" i="1" noProof="0" smtClean="0">
                              <a:solidFill>
                                <a:srgbClr val="FF0000"/>
                              </a:solidFill>
                              <a:latin typeface="Cambria Math" panose="02040503050406030204" pitchFamily="18" charset="0"/>
                            </a:rPr>
                            <m:t>,</m:t>
                          </m:r>
                          <m:r>
                            <a:rPr lang="en-US" sz="3200" b="1" i="1" noProof="0" smtClean="0">
                              <a:solidFill>
                                <a:srgbClr val="FF0000"/>
                              </a:solidFill>
                              <a:latin typeface="Cambria Math" panose="02040503050406030204" pitchFamily="18" charset="0"/>
                            </a:rPr>
                            <m:t>𝟐</m:t>
                          </m:r>
                          <m:r>
                            <a:rPr lang="en-US" sz="3200" b="1" i="1" noProof="0" smtClean="0">
                              <a:solidFill>
                                <a:srgbClr val="FF0000"/>
                              </a:solidFill>
                              <a:latin typeface="Cambria Math" panose="02040503050406030204" pitchFamily="18" charset="0"/>
                            </a:rPr>
                            <m:t>+</m:t>
                          </m:r>
                          <m:r>
                            <a:rPr lang="en-US" sz="3200" b="1" i="1" noProof="0" smtClean="0">
                              <a:solidFill>
                                <a:srgbClr val="FF0000"/>
                              </a:solidFill>
                              <a:latin typeface="Cambria Math" panose="02040503050406030204" pitchFamily="18" charset="0"/>
                            </a:rPr>
                            <m:t>𝟏𝟑</m:t>
                          </m:r>
                          <m:r>
                            <a:rPr lang="en-US" sz="3200" b="1" i="1" noProof="0" smtClean="0">
                              <a:solidFill>
                                <a:srgbClr val="FF0000"/>
                              </a:solidFill>
                              <a:latin typeface="Cambria Math" panose="02040503050406030204" pitchFamily="18" charset="0"/>
                            </a:rPr>
                            <m:t>,</m:t>
                          </m:r>
                          <m:r>
                            <a:rPr lang="en-US" sz="3200" b="1" i="1" noProof="0" smtClean="0">
                              <a:solidFill>
                                <a:srgbClr val="FF0000"/>
                              </a:solidFill>
                              <a:latin typeface="Cambria Math" panose="02040503050406030204" pitchFamily="18" charset="0"/>
                            </a:rPr>
                            <m:t>𝟏</m:t>
                          </m:r>
                          <m:r>
                            <a:rPr lang="en-US" sz="3200" b="1" i="1" noProof="0" smtClean="0">
                              <a:solidFill>
                                <a:srgbClr val="FF0000"/>
                              </a:solidFill>
                              <a:latin typeface="Cambria Math" panose="02040503050406030204" pitchFamily="18" charset="0"/>
                            </a:rPr>
                            <m:t>+</m:t>
                          </m:r>
                          <m:r>
                            <a:rPr lang="en-US" sz="3200" b="1" i="1" noProof="0" smtClean="0">
                              <a:solidFill>
                                <a:srgbClr val="FF0000"/>
                              </a:solidFill>
                              <a:latin typeface="Cambria Math" panose="02040503050406030204" pitchFamily="18" charset="0"/>
                            </a:rPr>
                            <m:t>𝟒</m:t>
                          </m:r>
                          <m:r>
                            <a:rPr lang="en-US" sz="3200" b="1" i="1" noProof="0" smtClean="0">
                              <a:solidFill>
                                <a:srgbClr val="FF0000"/>
                              </a:solidFill>
                              <a:latin typeface="Cambria Math" panose="02040503050406030204" pitchFamily="18" charset="0"/>
                            </a:rPr>
                            <m:t>,</m:t>
                          </m:r>
                          <m:r>
                            <a:rPr lang="en-US" sz="3200" b="1" i="1" noProof="0" smtClean="0">
                              <a:solidFill>
                                <a:srgbClr val="FF0000"/>
                              </a:solidFill>
                              <a:latin typeface="Cambria Math" panose="02040503050406030204" pitchFamily="18" charset="0"/>
                            </a:rPr>
                            <m:t>𝟒</m:t>
                          </m:r>
                        </m:num>
                        <m:den>
                          <m:r>
                            <a:rPr lang="en-US" sz="3200" b="1" i="1" noProof="0" smtClean="0">
                              <a:solidFill>
                                <a:srgbClr val="FF0000"/>
                              </a:solidFill>
                              <a:latin typeface="Cambria Math" panose="02040503050406030204" pitchFamily="18" charset="0"/>
                            </a:rPr>
                            <m:t>𝟏𝟎𝟎</m:t>
                          </m:r>
                        </m:den>
                      </m:f>
                      <m:r>
                        <a:rPr lang="en-US" sz="3200" b="1" i="1" noProof="0" smtClean="0">
                          <a:solidFill>
                            <a:srgbClr val="FF0000"/>
                          </a:solidFill>
                          <a:latin typeface="Cambria Math" panose="02040503050406030204" pitchFamily="18" charset="0"/>
                        </a:rPr>
                        <m:t>=</m:t>
                      </m:r>
                      <m:r>
                        <a:rPr lang="en-US" sz="3200" b="1" i="0" noProof="0" smtClean="0">
                          <a:solidFill>
                            <a:srgbClr val="FF0000"/>
                          </a:solidFill>
                          <a:latin typeface="Cambria Math" panose="02040503050406030204" pitchFamily="18" charset="0"/>
                        </a:rPr>
                        <m:t>𝟐𝟒</m:t>
                      </m:r>
                      <m:r>
                        <a:rPr lang="en-US" sz="3200" b="1" i="0" noProof="0" smtClean="0">
                          <a:solidFill>
                            <a:srgbClr val="FF0000"/>
                          </a:solidFill>
                          <a:latin typeface="Cambria Math" panose="02040503050406030204" pitchFamily="18" charset="0"/>
                        </a:rPr>
                        <m:t>,</m:t>
                      </m:r>
                      <m:r>
                        <a:rPr lang="en-US" sz="3200" b="1" i="0" noProof="0" smtClean="0">
                          <a:solidFill>
                            <a:srgbClr val="FF0000"/>
                          </a:solidFill>
                          <a:latin typeface="Cambria Math" panose="02040503050406030204" pitchFamily="18" charset="0"/>
                        </a:rPr>
                        <m:t>𝟕</m:t>
                      </m:r>
                      <m:r>
                        <a:rPr lang="en-US" sz="3200" b="1" i="0" noProof="0" smtClean="0">
                          <a:solidFill>
                            <a:srgbClr val="FF0000"/>
                          </a:solidFill>
                          <a:latin typeface="Cambria Math" panose="02040503050406030204" pitchFamily="18" charset="0"/>
                        </a:rPr>
                        <m:t>%</m:t>
                      </m:r>
                    </m:oMath>
                  </m:oMathPara>
                </a14:m>
                <a:endParaRPr lang="nb-NO" sz="3200" b="1" noProof="0" dirty="0">
                  <a:solidFill>
                    <a:srgbClr val="FF0000"/>
                  </a:solidFill>
                </a:endParaRPr>
              </a:p>
            </p:txBody>
          </p:sp>
        </mc:Choice>
        <mc:Fallback xmlns="">
          <p:sp>
            <p:nvSpPr>
              <p:cNvPr id="3" name="Content Placeholder 2">
                <a:extLst>
                  <a:ext uri="{FF2B5EF4-FFF2-40B4-BE49-F238E27FC236}">
                    <a16:creationId xmlns:a16="http://schemas.microsoft.com/office/drawing/2014/main" id="{A3A1E773-E2AC-B051-FED3-A80FD9DA5230}"/>
                  </a:ext>
                </a:extLst>
              </p:cNvPr>
              <p:cNvSpPr>
                <a:spLocks noGrp="1" noRot="1" noChangeAspect="1" noMove="1" noResize="1" noEditPoints="1" noAdjustHandles="1" noChangeArrowheads="1" noChangeShapeType="1" noTextEdit="1"/>
              </p:cNvSpPr>
              <p:nvPr>
                <p:ph idx="1"/>
              </p:nvPr>
            </p:nvSpPr>
            <p:spPr>
              <a:xfrm>
                <a:off x="206188" y="174812"/>
                <a:ext cx="11716179" cy="6538482"/>
              </a:xfrm>
              <a:blipFill>
                <a:blip r:embed="rId2"/>
                <a:stretch>
                  <a:fillRect l="-975" t="-2132"/>
                </a:stretch>
              </a:blipFill>
            </p:spPr>
            <p:txBody>
              <a:bodyPr/>
              <a:lstStyle/>
              <a:p>
                <a:r>
                  <a:rPr lang="en-US">
                    <a:noFill/>
                  </a:rPr>
                  <a:t> </a:t>
                </a:r>
              </a:p>
            </p:txBody>
          </p:sp>
        </mc:Fallback>
      </mc:AlternateContent>
      <p:sp>
        <p:nvSpPr>
          <p:cNvPr id="4" name="Right Brace 3">
            <a:extLst>
              <a:ext uri="{FF2B5EF4-FFF2-40B4-BE49-F238E27FC236}">
                <a16:creationId xmlns:a16="http://schemas.microsoft.com/office/drawing/2014/main" id="{A975BAD0-5636-D2EE-E3FD-CA60E26B8DED}"/>
              </a:ext>
            </a:extLst>
          </p:cNvPr>
          <p:cNvSpPr/>
          <p:nvPr/>
        </p:nvSpPr>
        <p:spPr>
          <a:xfrm rot="5400000">
            <a:off x="5666832" y="876833"/>
            <a:ext cx="226141" cy="1617785"/>
          </a:xfrm>
          <a:prstGeom prst="rightBrace">
            <a:avLst/>
          </a:prstGeom>
          <a:ln w="19050"/>
        </p:spPr>
        <p:style>
          <a:lnRef idx="2">
            <a:schemeClr val="accent2"/>
          </a:lnRef>
          <a:fillRef idx="0">
            <a:schemeClr val="accent2"/>
          </a:fillRef>
          <a:effectRef idx="1">
            <a:schemeClr val="accent2"/>
          </a:effectRef>
          <a:fontRef idx="minor">
            <a:schemeClr val="tx1"/>
          </a:fontRef>
        </p:style>
        <p:txBody>
          <a:bodyPr rtlCol="0" anchor="ctr"/>
          <a:lstStyle/>
          <a:p>
            <a:pPr algn="ctr"/>
            <a:endParaRPr lang="nb-NO" noProof="0" dirty="0">
              <a:ln w="38100">
                <a:solidFill>
                  <a:schemeClr val="tx1"/>
                </a:solidFill>
              </a:ln>
            </a:endParaRPr>
          </a:p>
        </p:txBody>
      </p:sp>
      <p:sp>
        <p:nvSpPr>
          <p:cNvPr id="5" name="TextBox 4">
            <a:extLst>
              <a:ext uri="{FF2B5EF4-FFF2-40B4-BE49-F238E27FC236}">
                <a16:creationId xmlns:a16="http://schemas.microsoft.com/office/drawing/2014/main" id="{F896D8BF-40B3-BD72-5663-2C9B05E4382E}"/>
              </a:ext>
            </a:extLst>
          </p:cNvPr>
          <p:cNvSpPr txBox="1"/>
          <p:nvPr/>
        </p:nvSpPr>
        <p:spPr>
          <a:xfrm>
            <a:off x="4971010" y="1843619"/>
            <a:ext cx="1643142" cy="400110"/>
          </a:xfrm>
          <a:prstGeom prst="rect">
            <a:avLst/>
          </a:prstGeom>
          <a:noFill/>
        </p:spPr>
        <p:txBody>
          <a:bodyPr wrap="none" rtlCol="0">
            <a:spAutoFit/>
          </a:bodyPr>
          <a:lstStyle/>
          <a:p>
            <a:r>
              <a:rPr lang="nb-NO" sz="2000" b="1" noProof="0" dirty="0">
                <a:solidFill>
                  <a:schemeClr val="accent2">
                    <a:lumMod val="75000"/>
                  </a:schemeClr>
                </a:solidFill>
              </a:rPr>
              <a:t>aksjerabatten</a:t>
            </a:r>
          </a:p>
        </p:txBody>
      </p:sp>
      <p:sp>
        <p:nvSpPr>
          <p:cNvPr id="8" name="Right Brace 7">
            <a:extLst>
              <a:ext uri="{FF2B5EF4-FFF2-40B4-BE49-F238E27FC236}">
                <a16:creationId xmlns:a16="http://schemas.microsoft.com/office/drawing/2014/main" id="{CCE8A88A-0242-AEDF-5CB4-C8E1ADEE9445}"/>
              </a:ext>
            </a:extLst>
          </p:cNvPr>
          <p:cNvSpPr/>
          <p:nvPr/>
        </p:nvSpPr>
        <p:spPr>
          <a:xfrm rot="5400000">
            <a:off x="7678247" y="1321547"/>
            <a:ext cx="211016" cy="565186"/>
          </a:xfrm>
          <a:prstGeom prst="rightBrace">
            <a:avLst/>
          </a:prstGeom>
          <a:ln w="19050"/>
        </p:spPr>
        <p:style>
          <a:lnRef idx="2">
            <a:schemeClr val="accent1"/>
          </a:lnRef>
          <a:fillRef idx="0">
            <a:schemeClr val="accent1"/>
          </a:fillRef>
          <a:effectRef idx="1">
            <a:schemeClr val="accent1"/>
          </a:effectRef>
          <a:fontRef idx="minor">
            <a:schemeClr val="tx1"/>
          </a:fontRef>
        </p:style>
        <p:txBody>
          <a:bodyPr rtlCol="0" anchor="ctr"/>
          <a:lstStyle/>
          <a:p>
            <a:pPr algn="ctr"/>
            <a:endParaRPr lang="nb-NO" noProof="0" dirty="0"/>
          </a:p>
        </p:txBody>
      </p:sp>
      <p:sp>
        <p:nvSpPr>
          <p:cNvPr id="9" name="TextBox 8">
            <a:extLst>
              <a:ext uri="{FF2B5EF4-FFF2-40B4-BE49-F238E27FC236}">
                <a16:creationId xmlns:a16="http://schemas.microsoft.com/office/drawing/2014/main" id="{BE5A9579-15E1-0F58-6799-0F3562B5F0E5}"/>
              </a:ext>
            </a:extLst>
          </p:cNvPr>
          <p:cNvSpPr txBox="1"/>
          <p:nvPr/>
        </p:nvSpPr>
        <p:spPr>
          <a:xfrm>
            <a:off x="6998748" y="1791204"/>
            <a:ext cx="2135200" cy="400110"/>
          </a:xfrm>
          <a:prstGeom prst="rect">
            <a:avLst/>
          </a:prstGeom>
          <a:noFill/>
        </p:spPr>
        <p:txBody>
          <a:bodyPr wrap="none" rtlCol="0">
            <a:spAutoFit/>
          </a:bodyPr>
          <a:lstStyle/>
          <a:p>
            <a:r>
              <a:rPr lang="nb-NO" sz="2000" b="1" noProof="0" dirty="0">
                <a:solidFill>
                  <a:srgbClr val="0070C0"/>
                </a:solidFill>
              </a:rPr>
              <a:t>formuesskattesats</a:t>
            </a:r>
            <a:endParaRPr lang="nb-NO" b="1" noProof="0" dirty="0">
              <a:solidFill>
                <a:srgbClr val="0070C0"/>
              </a:solidFill>
            </a:endParaRPr>
          </a:p>
        </p:txBody>
      </p:sp>
    </p:spTree>
    <p:extLst>
      <p:ext uri="{BB962C8B-B14F-4D97-AF65-F5344CB8AC3E}">
        <p14:creationId xmlns:p14="http://schemas.microsoft.com/office/powerpoint/2010/main" val="14461256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C5838-1EB9-51FF-2A1F-A65DFFEDF85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B7094E-1115-033E-90FA-05D4DE40D1D8}"/>
                  </a:ext>
                </a:extLst>
              </p:cNvPr>
              <p:cNvSpPr>
                <a:spLocks noGrp="1"/>
              </p:cNvSpPr>
              <p:nvPr>
                <p:ph idx="1"/>
              </p:nvPr>
            </p:nvSpPr>
            <p:spPr>
              <a:xfrm>
                <a:off x="219636" y="174812"/>
                <a:ext cx="11702732" cy="6538482"/>
              </a:xfrm>
            </p:spPr>
            <p:txBody>
              <a:bodyPr>
                <a:normAutofit lnSpcReduction="10000"/>
              </a:bodyPr>
              <a:lstStyle/>
              <a:p>
                <a:r>
                  <a:rPr lang="nb-NO" sz="3200" b="1" noProof="0" dirty="0">
                    <a:latin typeface="Calibri" panose="020F0502020204030204" pitchFamily="34" charset="0"/>
                    <a:ea typeface="Calibri" panose="020F0502020204030204" pitchFamily="34" charset="0"/>
                    <a:cs typeface="Calibri" panose="020F0502020204030204" pitchFamily="34" charset="0"/>
                  </a:rPr>
                  <a:t>Formuesskatt unotert selskap </a:t>
                </a:r>
                <a:r>
                  <a:rPr lang="nb-NO" sz="3200" noProof="0" dirty="0">
                    <a:latin typeface="Calibri" panose="020F0502020204030204" pitchFamily="34" charset="0"/>
                    <a:ea typeface="Calibri" panose="020F0502020204030204" pitchFamily="34" charset="0"/>
                    <a:cs typeface="Calibri" panose="020F0502020204030204" pitchFamily="34" charset="0"/>
                  </a:rPr>
                  <a:t>(formuesverdi kr </a:t>
                </a:r>
                <a:r>
                  <a:rPr lang="nb-NO" sz="3200" dirty="0">
                    <a:latin typeface="Calibri" panose="020F0502020204030204" pitchFamily="34" charset="0"/>
                    <a:ea typeface="Calibri" panose="020F0502020204030204" pitchFamily="34" charset="0"/>
                    <a:cs typeface="Calibri" panose="020F0502020204030204" pitchFamily="34" charset="0"/>
                  </a:rPr>
                  <a:t>286,3</a:t>
                </a:r>
                <a:r>
                  <a:rPr lang="nb-NO" sz="3200" noProof="0" dirty="0">
                    <a:latin typeface="Calibri" panose="020F0502020204030204" pitchFamily="34" charset="0"/>
                    <a:ea typeface="Calibri" panose="020F0502020204030204" pitchFamily="34" charset="0"/>
                    <a:cs typeface="Calibri" panose="020F0502020204030204" pitchFamily="34" charset="0"/>
                  </a:rPr>
                  <a:t>; jf. forrige slide):</a:t>
                </a:r>
              </a:p>
              <a:p>
                <a:pPr marL="457200" lvl="1" indent="0">
                  <a:buNone/>
                </a:pPr>
                <a:endParaRPr lang="nb-NO" sz="2800" noProof="0" dirty="0">
                  <a:latin typeface="Calibri" panose="020F0502020204030204" pitchFamily="34" charset="0"/>
                  <a:ea typeface="Calibri" panose="020F0502020204030204" pitchFamily="34" charset="0"/>
                  <a:cs typeface="Calibri" panose="020F0502020204030204" pitchFamily="34" charset="0"/>
                </a:endParaRPr>
              </a:p>
              <a:p>
                <a:pPr marL="457200" lvl="1" indent="0" algn="ctr">
                  <a:buNone/>
                </a:pPr>
                <a:r>
                  <a:rPr lang="nb-NO" sz="2800" b="0" noProof="0" dirty="0"/>
                  <a:t>Kr 286,3</a:t>
                </a:r>
                <a14:m>
                  <m:oMath xmlns:m="http://schemas.openxmlformats.org/officeDocument/2006/math">
                    <m:r>
                      <a:rPr lang="nb-NO" sz="2800" b="0" i="1" noProof="0" smtClean="0">
                        <a:latin typeface="Cambria Math" panose="02040503050406030204" pitchFamily="18" charset="0"/>
                      </a:rPr>
                      <m:t>∗1,1%</m:t>
                    </m:r>
                    <m:r>
                      <m:rPr>
                        <m:nor/>
                      </m:rPr>
                      <a:rPr lang="nb-NO" sz="2800" b="0" i="0" noProof="0" smtClean="0">
                        <a:latin typeface="Cambria Math" panose="02040503050406030204" pitchFamily="18" charset="0"/>
                      </a:rPr>
                      <m:t> </m:t>
                    </m:r>
                    <m:r>
                      <a:rPr lang="nb-NO" sz="2800" b="0" i="1" noProof="0" smtClean="0">
                        <a:latin typeface="Cambria Math" panose="02040503050406030204" pitchFamily="18" charset="0"/>
                        <a:ea typeface="Cambria Math" panose="02040503050406030204" pitchFamily="18" charset="0"/>
                      </a:rPr>
                      <m:t>≅</m:t>
                    </m:r>
                    <m:r>
                      <a:rPr lang="nb-NO" sz="2800" b="0" i="1" noProof="0" smtClean="0">
                        <a:latin typeface="Cambria Math" panose="02040503050406030204" pitchFamily="18" charset="0"/>
                        <a:ea typeface="Calibri" panose="020F0502020204030204" pitchFamily="34" charset="0"/>
                        <a:cs typeface="Calibri" panose="020F0502020204030204" pitchFamily="34" charset="0"/>
                      </a:rPr>
                      <m:t> </m:t>
                    </m:r>
                    <m:r>
                      <a:rPr lang="nb-NO" sz="2800" b="0" i="1" noProof="0" smtClean="0">
                        <a:solidFill>
                          <a:srgbClr val="FF0000"/>
                        </a:solidFill>
                        <a:latin typeface="Cambria Math" panose="02040503050406030204" pitchFamily="18" charset="0"/>
                      </a:rPr>
                      <m:t>𝑘𝑟</m:t>
                    </m:r>
                    <m:r>
                      <a:rPr lang="nb-NO" sz="2800" b="0" i="1" noProof="0" smtClean="0">
                        <a:solidFill>
                          <a:srgbClr val="FF0000"/>
                        </a:solidFill>
                        <a:latin typeface="Cambria Math" panose="02040503050406030204" pitchFamily="18" charset="0"/>
                      </a:rPr>
                      <m:t> 3,1</m:t>
                    </m:r>
                  </m:oMath>
                </a14:m>
                <a:endParaRPr lang="nb-NO" sz="2800" noProof="0" dirty="0">
                  <a:latin typeface="Calibri" panose="020F0502020204030204" pitchFamily="34" charset="0"/>
                  <a:ea typeface="Calibri" panose="020F0502020204030204" pitchFamily="34" charset="0"/>
                  <a:cs typeface="Calibri" panose="020F0502020204030204" pitchFamily="34" charset="0"/>
                </a:endParaRPr>
              </a:p>
              <a:p>
                <a:endParaRPr lang="nb-NO" noProof="0"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nb-NO" sz="2800" b="1"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nb-NO" sz="2800" b="1" noProof="0" dirty="0">
                  <a:latin typeface="Calibri" panose="020F0502020204030204" pitchFamily="34" charset="0"/>
                  <a:ea typeface="Calibri" panose="020F0502020204030204" pitchFamily="34" charset="0"/>
                  <a:cs typeface="Calibri" panose="020F0502020204030204" pitchFamily="34" charset="0"/>
                </a:endParaRPr>
              </a:p>
              <a:p>
                <a:r>
                  <a:rPr lang="nb-NO" sz="3200" b="1" dirty="0">
                    <a:latin typeface="Calibri" panose="020F0502020204030204" pitchFamily="34" charset="0"/>
                    <a:ea typeface="Calibri" panose="020F0502020204030204" pitchFamily="34" charset="0"/>
                    <a:cs typeface="Calibri" panose="020F0502020204030204" pitchFamily="34" charset="0"/>
                  </a:rPr>
                  <a:t>Selskapsskatt: kr 13,1 (</a:t>
                </a:r>
                <a:r>
                  <a:rPr lang="nb-NO" sz="3200" b="1" dirty="0" err="1">
                    <a:latin typeface="Calibri" panose="020F0502020204030204" pitchFamily="34" charset="0"/>
                    <a:ea typeface="Calibri" panose="020F0502020204030204" pitchFamily="34" charset="0"/>
                    <a:cs typeface="Calibri" panose="020F0502020204030204" pitchFamily="34" charset="0"/>
                  </a:rPr>
                  <a:t>jf</a:t>
                </a:r>
                <a:r>
                  <a:rPr lang="nb-NO" sz="3200" b="1" dirty="0">
                    <a:latin typeface="Calibri" panose="020F0502020204030204" pitchFamily="34" charset="0"/>
                    <a:ea typeface="Calibri" panose="020F0502020204030204" pitchFamily="34" charset="0"/>
                    <a:cs typeface="Calibri" panose="020F0502020204030204" pitchFamily="34" charset="0"/>
                  </a:rPr>
                  <a:t> forrige lysark)</a:t>
                </a:r>
              </a:p>
              <a:p>
                <a:pPr marL="0" indent="0">
                  <a:buNone/>
                </a:pPr>
                <a:endParaRPr lang="nb-NO" sz="3200" b="1" noProof="0" dirty="0">
                  <a:latin typeface="Calibri" panose="020F0502020204030204" pitchFamily="34" charset="0"/>
                  <a:ea typeface="Calibri" panose="020F0502020204030204" pitchFamily="34" charset="0"/>
                  <a:cs typeface="Calibri" panose="020F0502020204030204" pitchFamily="34" charset="0"/>
                </a:endParaRPr>
              </a:p>
              <a:p>
                <a:r>
                  <a:rPr lang="nb-NO" sz="3200" b="1" noProof="0" dirty="0">
                    <a:latin typeface="Calibri" panose="020F0502020204030204" pitchFamily="34" charset="0"/>
                    <a:ea typeface="Calibri" panose="020F0502020204030204" pitchFamily="34" charset="0"/>
                    <a:cs typeface="Calibri" panose="020F0502020204030204" pitchFamily="34" charset="0"/>
                  </a:rPr>
                  <a:t> </a:t>
                </a:r>
                <a:r>
                  <a:rPr lang="nb-NO" sz="3200" dirty="0"/>
                  <a:t>𝑈𝑡𝑏𝑦𝑡𝑡𝑒 : </a:t>
                </a:r>
                <a14:m>
                  <m:oMath xmlns:m="http://schemas.openxmlformats.org/officeDocument/2006/math">
                    <m:f>
                      <m:fPr>
                        <m:ctrlPr>
                          <a:rPr lang="nb-NO" sz="3200" i="1">
                            <a:latin typeface="Cambria Math" panose="02040503050406030204" pitchFamily="18" charset="0"/>
                          </a:rPr>
                        </m:ctrlPr>
                      </m:fPr>
                      <m:num>
                        <m:r>
                          <a:rPr lang="nb-NO" sz="3200" i="1">
                            <a:latin typeface="Cambria Math" panose="02040503050406030204" pitchFamily="18" charset="0"/>
                          </a:rPr>
                          <m:t>𝑘𝑟</m:t>
                        </m:r>
                        <m:r>
                          <a:rPr lang="nb-NO" sz="3200" i="1">
                            <a:latin typeface="Cambria Math" panose="02040503050406030204" pitchFamily="18" charset="0"/>
                          </a:rPr>
                          <m:t> 3,1</m:t>
                        </m:r>
                      </m:num>
                      <m:den>
                        <m:r>
                          <a:rPr lang="nb-NO" sz="3200" i="1">
                            <a:latin typeface="Cambria Math" panose="02040503050406030204" pitchFamily="18" charset="0"/>
                          </a:rPr>
                          <m:t>100%−37,84%</m:t>
                        </m:r>
                      </m:den>
                    </m:f>
                    <m:r>
                      <a:rPr lang="nb-NO" sz="3200" i="1">
                        <a:latin typeface="Cambria Math" panose="02040503050406030204" pitchFamily="18" charset="0"/>
                      </a:rPr>
                      <m:t>=</m:t>
                    </m:r>
                    <m:r>
                      <a:rPr lang="nb-NO" sz="3200" i="1">
                        <a:latin typeface="Cambria Math" panose="02040503050406030204" pitchFamily="18" charset="0"/>
                      </a:rPr>
                      <m:t>𝑘𝑟</m:t>
                    </m:r>
                    <m:r>
                      <a:rPr lang="nb-NO" sz="3200" i="1">
                        <a:latin typeface="Cambria Math" panose="02040503050406030204" pitchFamily="18" charset="0"/>
                      </a:rPr>
                      <m:t> 5</m:t>
                    </m:r>
                  </m:oMath>
                </a14:m>
                <a:r>
                  <a:rPr lang="nb-NO" sz="3200" b="1" noProof="0" dirty="0">
                    <a:latin typeface="Calibri" panose="020F0502020204030204" pitchFamily="34" charset="0"/>
                    <a:ea typeface="Calibri" panose="020F0502020204030204" pitchFamily="34" charset="0"/>
                    <a:cs typeface="Calibri" panose="020F0502020204030204" pitchFamily="34" charset="0"/>
                  </a:rPr>
                  <a:t>  </a:t>
                </a:r>
                <a:r>
                  <a:rPr lang="nb-NO" sz="3200" noProof="0" dirty="0">
                    <a:latin typeface="Calibri" panose="020F0502020204030204" pitchFamily="34" charset="0"/>
                    <a:ea typeface="Calibri" panose="020F0502020204030204" pitchFamily="34" charset="0"/>
                    <a:cs typeface="Calibri" panose="020F0502020204030204" pitchFamily="34" charset="0"/>
                  </a:rPr>
                  <a:t>og utbytteskatt = kr 5*37,84 = 1,9 kr</a:t>
                </a:r>
              </a:p>
              <a:p>
                <a:endParaRPr lang="nb-NO" sz="32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14:m>
                  <m:oMathPara xmlns:m="http://schemas.openxmlformats.org/officeDocument/2006/math">
                    <m:oMath>
                      <m:r>
                        <a:rPr lang="en-US" sz="3200" b="1" i="1" noProof="0" smtClean="0">
                          <a:solidFill>
                            <a:srgbClr val="FF0000"/>
                          </a:solidFill>
                          <a:latin typeface="Cambria Math" panose="02040503050406030204" pitchFamily="18" charset="0"/>
                        </a:rPr>
                        <m:t>𝑨𝑬𝑹𝑻</m:t>
                      </m:r>
                      <m:r>
                        <a:rPr lang="en-US" sz="3200" b="1" i="1" noProof="0" smtClean="0">
                          <a:solidFill>
                            <a:srgbClr val="FF0000"/>
                          </a:solidFill>
                          <a:latin typeface="Cambria Math" panose="02040503050406030204" pitchFamily="18" charset="0"/>
                        </a:rPr>
                        <m:t>=</m:t>
                      </m:r>
                      <m:f>
                        <m:fPr>
                          <m:ctrlPr>
                            <a:rPr lang="en-US" sz="3200" b="1" i="1" noProof="0" smtClean="0">
                              <a:solidFill>
                                <a:srgbClr val="FF0000"/>
                              </a:solidFill>
                              <a:latin typeface="Cambria Math" panose="02040503050406030204" pitchFamily="18" charset="0"/>
                            </a:rPr>
                          </m:ctrlPr>
                        </m:fPr>
                        <m:num>
                          <m:r>
                            <a:rPr lang="en-US" sz="3200" b="1" i="1" noProof="0" smtClean="0">
                              <a:solidFill>
                                <a:srgbClr val="FF0000"/>
                              </a:solidFill>
                              <a:latin typeface="Cambria Math" panose="02040503050406030204" pitchFamily="18" charset="0"/>
                            </a:rPr>
                            <m:t>𝟑</m:t>
                          </m:r>
                          <m:r>
                            <a:rPr lang="en-US" sz="3200" b="1" i="1" noProof="0" smtClean="0">
                              <a:solidFill>
                                <a:srgbClr val="FF0000"/>
                              </a:solidFill>
                              <a:latin typeface="Cambria Math" panose="02040503050406030204" pitchFamily="18" charset="0"/>
                            </a:rPr>
                            <m:t>,</m:t>
                          </m:r>
                          <m:r>
                            <a:rPr lang="en-US" sz="3200" b="1" i="1" noProof="0" smtClean="0">
                              <a:solidFill>
                                <a:srgbClr val="FF0000"/>
                              </a:solidFill>
                              <a:latin typeface="Cambria Math" panose="02040503050406030204" pitchFamily="18" charset="0"/>
                            </a:rPr>
                            <m:t>𝟏</m:t>
                          </m:r>
                          <m:r>
                            <a:rPr lang="en-US" sz="3200" b="1" i="1" noProof="0" smtClean="0">
                              <a:solidFill>
                                <a:srgbClr val="FF0000"/>
                              </a:solidFill>
                              <a:latin typeface="Cambria Math" panose="02040503050406030204" pitchFamily="18" charset="0"/>
                            </a:rPr>
                            <m:t>+</m:t>
                          </m:r>
                          <m:r>
                            <a:rPr lang="en-US" sz="3200" b="1" i="1" noProof="0" smtClean="0">
                              <a:solidFill>
                                <a:srgbClr val="FF0000"/>
                              </a:solidFill>
                              <a:latin typeface="Cambria Math" panose="02040503050406030204" pitchFamily="18" charset="0"/>
                            </a:rPr>
                            <m:t>𝟏𝟑</m:t>
                          </m:r>
                          <m:r>
                            <a:rPr lang="en-US" sz="3200" b="1" i="1" noProof="0" smtClean="0">
                              <a:solidFill>
                                <a:srgbClr val="FF0000"/>
                              </a:solidFill>
                              <a:latin typeface="Cambria Math" panose="02040503050406030204" pitchFamily="18" charset="0"/>
                            </a:rPr>
                            <m:t>,</m:t>
                          </m:r>
                          <m:r>
                            <a:rPr lang="en-US" sz="3200" b="1" i="1" noProof="0" smtClean="0">
                              <a:solidFill>
                                <a:srgbClr val="FF0000"/>
                              </a:solidFill>
                              <a:latin typeface="Cambria Math" panose="02040503050406030204" pitchFamily="18" charset="0"/>
                            </a:rPr>
                            <m:t>𝟏</m:t>
                          </m:r>
                          <m:r>
                            <a:rPr lang="en-US" sz="3200" b="1" i="1" noProof="0" smtClean="0">
                              <a:solidFill>
                                <a:srgbClr val="FF0000"/>
                              </a:solidFill>
                              <a:latin typeface="Cambria Math" panose="02040503050406030204" pitchFamily="18" charset="0"/>
                            </a:rPr>
                            <m:t>+</m:t>
                          </m:r>
                          <m:r>
                            <a:rPr lang="en-US" sz="3200" b="1" i="1" noProof="0" smtClean="0">
                              <a:solidFill>
                                <a:srgbClr val="FF0000"/>
                              </a:solidFill>
                              <a:latin typeface="Cambria Math" panose="02040503050406030204" pitchFamily="18" charset="0"/>
                            </a:rPr>
                            <m:t>𝟏</m:t>
                          </m:r>
                          <m:r>
                            <a:rPr lang="en-US" sz="3200" b="1" i="1" noProof="0" smtClean="0">
                              <a:solidFill>
                                <a:srgbClr val="FF0000"/>
                              </a:solidFill>
                              <a:latin typeface="Cambria Math" panose="02040503050406030204" pitchFamily="18" charset="0"/>
                            </a:rPr>
                            <m:t>,</m:t>
                          </m:r>
                          <m:r>
                            <a:rPr lang="en-US" sz="3200" b="1" i="1" noProof="0" smtClean="0">
                              <a:solidFill>
                                <a:srgbClr val="FF0000"/>
                              </a:solidFill>
                              <a:latin typeface="Cambria Math" panose="02040503050406030204" pitchFamily="18" charset="0"/>
                            </a:rPr>
                            <m:t>𝟗</m:t>
                          </m:r>
                        </m:num>
                        <m:den>
                          <m:r>
                            <a:rPr lang="en-US" sz="3200" b="1" i="1" noProof="0" smtClean="0">
                              <a:solidFill>
                                <a:srgbClr val="FF0000"/>
                              </a:solidFill>
                              <a:latin typeface="Cambria Math" panose="02040503050406030204" pitchFamily="18" charset="0"/>
                            </a:rPr>
                            <m:t>𝟏𝟎𝟎</m:t>
                          </m:r>
                        </m:den>
                      </m:f>
                      <m:r>
                        <a:rPr lang="en-US" sz="3200" b="1" i="1" noProof="0" smtClean="0">
                          <a:solidFill>
                            <a:srgbClr val="FF0000"/>
                          </a:solidFill>
                          <a:latin typeface="Cambria Math" panose="02040503050406030204" pitchFamily="18" charset="0"/>
                        </a:rPr>
                        <m:t>=</m:t>
                      </m:r>
                      <m:r>
                        <a:rPr lang="en-US" sz="3200" b="1" i="0" noProof="0" smtClean="0">
                          <a:solidFill>
                            <a:srgbClr val="FF0000"/>
                          </a:solidFill>
                          <a:latin typeface="Cambria Math" panose="02040503050406030204" pitchFamily="18" charset="0"/>
                        </a:rPr>
                        <m:t>𝟏𝟖</m:t>
                      </m:r>
                      <m:r>
                        <a:rPr lang="en-US" sz="3200" b="1" i="0" noProof="0" smtClean="0">
                          <a:solidFill>
                            <a:srgbClr val="FF0000"/>
                          </a:solidFill>
                          <a:latin typeface="Cambria Math" panose="02040503050406030204" pitchFamily="18" charset="0"/>
                        </a:rPr>
                        <m:t>,</m:t>
                      </m:r>
                      <m:r>
                        <a:rPr lang="en-US" sz="3200" b="1" i="0" noProof="0" smtClean="0">
                          <a:solidFill>
                            <a:srgbClr val="FF0000"/>
                          </a:solidFill>
                          <a:latin typeface="Cambria Math" panose="02040503050406030204" pitchFamily="18" charset="0"/>
                        </a:rPr>
                        <m:t>𝟏</m:t>
                      </m:r>
                      <m:r>
                        <a:rPr lang="en-US" sz="3200" b="1" i="0" noProof="0" smtClean="0">
                          <a:solidFill>
                            <a:srgbClr val="FF0000"/>
                          </a:solidFill>
                          <a:latin typeface="Cambria Math" panose="02040503050406030204" pitchFamily="18" charset="0"/>
                        </a:rPr>
                        <m:t>%</m:t>
                      </m:r>
                    </m:oMath>
                  </m:oMathPara>
                </a14:m>
                <a:endParaRPr lang="nb-NO" sz="3200" b="1" noProof="0" dirty="0">
                  <a:solidFill>
                    <a:srgbClr val="FF0000"/>
                  </a:solidFill>
                </a:endParaRPr>
              </a:p>
            </p:txBody>
          </p:sp>
        </mc:Choice>
        <mc:Fallback xmlns="">
          <p:sp>
            <p:nvSpPr>
              <p:cNvPr id="3" name="Content Placeholder 2">
                <a:extLst>
                  <a:ext uri="{FF2B5EF4-FFF2-40B4-BE49-F238E27FC236}">
                    <a16:creationId xmlns:a16="http://schemas.microsoft.com/office/drawing/2014/main" id="{0CB7094E-1115-033E-90FA-05D4DE40D1D8}"/>
                  </a:ext>
                </a:extLst>
              </p:cNvPr>
              <p:cNvSpPr>
                <a:spLocks noGrp="1" noRot="1" noChangeAspect="1" noMove="1" noResize="1" noEditPoints="1" noAdjustHandles="1" noChangeArrowheads="1" noChangeShapeType="1" noTextEdit="1"/>
              </p:cNvSpPr>
              <p:nvPr>
                <p:ph idx="1"/>
              </p:nvPr>
            </p:nvSpPr>
            <p:spPr>
              <a:xfrm>
                <a:off x="219636" y="174812"/>
                <a:ext cx="11702732" cy="6538482"/>
              </a:xfrm>
              <a:blipFill>
                <a:blip r:embed="rId3"/>
                <a:stretch>
                  <a:fillRect l="-1198" t="-2519" r="-729"/>
                </a:stretch>
              </a:blipFill>
            </p:spPr>
            <p:txBody>
              <a:bodyPr/>
              <a:lstStyle/>
              <a:p>
                <a:r>
                  <a:rPr lang="nb-NO">
                    <a:noFill/>
                  </a:rPr>
                  <a:t> </a:t>
                </a:r>
              </a:p>
            </p:txBody>
          </p:sp>
        </mc:Fallback>
      </mc:AlternateContent>
    </p:spTree>
    <p:extLst>
      <p:ext uri="{BB962C8B-B14F-4D97-AF65-F5344CB8AC3E}">
        <p14:creationId xmlns:p14="http://schemas.microsoft.com/office/powerpoint/2010/main" val="29373427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D5C543-C8D8-0DA0-D66E-E7CBFBCBF4F5}"/>
                  </a:ext>
                </a:extLst>
              </p:cNvPr>
              <p:cNvSpPr>
                <a:spLocks noGrp="1"/>
              </p:cNvSpPr>
              <p:nvPr>
                <p:ph idx="1"/>
              </p:nvPr>
            </p:nvSpPr>
            <p:spPr>
              <a:xfrm>
                <a:off x="407894" y="206188"/>
                <a:ext cx="11528612" cy="6454588"/>
              </a:xfrm>
            </p:spPr>
            <p:txBody>
              <a:bodyPr>
                <a:normAutofit lnSpcReduction="10000"/>
              </a:bodyPr>
              <a:lstStyle/>
              <a:p>
                <a:r>
                  <a:rPr lang="nb-NO" dirty="0"/>
                  <a:t>AERT når alle aksjene er børsnoter er 24,7%. AERT når alle aksjene er unoterte er 18,1%</a:t>
                </a:r>
              </a:p>
              <a:p>
                <a:endParaRPr lang="nb-NO" dirty="0"/>
              </a:p>
              <a:p>
                <a:r>
                  <a:rPr lang="nb-NO" dirty="0"/>
                  <a:t>Topp 1% eier 1/3 børsnoterte og 2/3 unoterte aksjer. AERT for en slik portefølje er </a:t>
                </a:r>
              </a:p>
              <a:p>
                <a:endParaRPr lang="nb-NO" dirty="0"/>
              </a:p>
              <a:p>
                <a:pPr marL="0" indent="0">
                  <a:buNone/>
                </a:pPr>
                <a14:m>
                  <m:oMathPara xmlns:m="http://schemas.openxmlformats.org/officeDocument/2006/math">
                    <m:oMath>
                      <m:r>
                        <a:rPr lang="en-US" i="1">
                          <a:latin typeface="Cambria Math" panose="02040503050406030204" pitchFamily="18" charset="0"/>
                        </a:rPr>
                        <m:t>2</m:t>
                      </m:r>
                      <m:r>
                        <a:rPr lang="en-US" b="0" i="1" smtClean="0">
                          <a:latin typeface="Cambria Math" panose="02040503050406030204" pitchFamily="18" charset="0"/>
                        </a:rPr>
                        <m:t>4,7%∗</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+18,1%∗</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20,3</m:t>
                      </m:r>
                      <m:r>
                        <a:rPr lang="en-US" b="0" i="1" smtClean="0">
                          <a:latin typeface="Cambria Math" panose="02040503050406030204" pitchFamily="18" charset="0"/>
                        </a:rPr>
                        <m:t>%</m:t>
                      </m:r>
                    </m:oMath>
                  </m:oMathPara>
                </a14:m>
                <a:endParaRPr lang="nb-NO" dirty="0"/>
              </a:p>
              <a:p>
                <a:pPr marL="0" indent="0">
                  <a:buNone/>
                </a:pPr>
                <a:endParaRPr lang="nb-NO" dirty="0"/>
              </a:p>
              <a:p>
                <a:pPr marL="0" indent="0">
                  <a:buNone/>
                </a:pPr>
                <a:r>
                  <a:rPr lang="nb-NO" dirty="0"/>
                  <a:t> </a:t>
                </a:r>
              </a:p>
              <a:p>
                <a:r>
                  <a:rPr lang="nb-NO" dirty="0"/>
                  <a:t>Aaberge et al (2020); effektiv skatt for topp 1% var 22% i gjennomsnitt for perioden 2001-2018</a:t>
                </a:r>
              </a:p>
              <a:p>
                <a:endParaRPr lang="nb-NO" dirty="0"/>
              </a:p>
              <a:p>
                <a:r>
                  <a:rPr lang="nb-NO" dirty="0"/>
                  <a:t>Aaberge et al (2020); effektiv skatt for topp 0,1% lå mellom 9% og 17% i perioden 2001-2018. </a:t>
                </a:r>
              </a:p>
            </p:txBody>
          </p:sp>
        </mc:Choice>
        <mc:Fallback xmlns="">
          <p:sp>
            <p:nvSpPr>
              <p:cNvPr id="3" name="Content Placeholder 2">
                <a:extLst>
                  <a:ext uri="{FF2B5EF4-FFF2-40B4-BE49-F238E27FC236}">
                    <a16:creationId xmlns:a16="http://schemas.microsoft.com/office/drawing/2014/main" id="{0CD5C543-C8D8-0DA0-D66E-E7CBFBCBF4F5}"/>
                  </a:ext>
                </a:extLst>
              </p:cNvPr>
              <p:cNvSpPr>
                <a:spLocks noGrp="1" noRot="1" noChangeAspect="1" noMove="1" noResize="1" noEditPoints="1" noAdjustHandles="1" noChangeArrowheads="1" noChangeShapeType="1" noTextEdit="1"/>
              </p:cNvSpPr>
              <p:nvPr>
                <p:ph idx="1"/>
              </p:nvPr>
            </p:nvSpPr>
            <p:spPr>
              <a:xfrm>
                <a:off x="407894" y="206188"/>
                <a:ext cx="11528612" cy="6454588"/>
              </a:xfrm>
              <a:blipFill>
                <a:blip r:embed="rId2"/>
                <a:stretch>
                  <a:fillRect l="-952" t="-2172"/>
                </a:stretch>
              </a:blipFill>
            </p:spPr>
            <p:txBody>
              <a:bodyPr/>
              <a:lstStyle/>
              <a:p>
                <a:r>
                  <a:rPr lang="nb-NO">
                    <a:noFill/>
                  </a:rPr>
                  <a:t> </a:t>
                </a:r>
              </a:p>
            </p:txBody>
          </p:sp>
        </mc:Fallback>
      </mc:AlternateContent>
      <p:sp>
        <p:nvSpPr>
          <p:cNvPr id="4" name="Slide Number Placeholder 3">
            <a:extLst>
              <a:ext uri="{FF2B5EF4-FFF2-40B4-BE49-F238E27FC236}">
                <a16:creationId xmlns:a16="http://schemas.microsoft.com/office/drawing/2014/main" id="{A9373801-D2C1-5623-1EF2-1DD23905F476}"/>
              </a:ext>
            </a:extLst>
          </p:cNvPr>
          <p:cNvSpPr>
            <a:spLocks noGrp="1"/>
          </p:cNvSpPr>
          <p:nvPr>
            <p:ph type="sldNum" sz="quarter" idx="12"/>
          </p:nvPr>
        </p:nvSpPr>
        <p:spPr/>
        <p:txBody>
          <a:bodyPr/>
          <a:lstStyle/>
          <a:p>
            <a:fld id="{092CA8B5-DBB4-47BA-9127-F945AE107A35}" type="slidenum">
              <a:rPr lang="nb-NO" smtClean="0"/>
              <a:t>73</a:t>
            </a:fld>
            <a:endParaRPr lang="nb-NO"/>
          </a:p>
        </p:txBody>
      </p:sp>
    </p:spTree>
    <p:extLst>
      <p:ext uri="{BB962C8B-B14F-4D97-AF65-F5344CB8AC3E}">
        <p14:creationId xmlns:p14="http://schemas.microsoft.com/office/powerpoint/2010/main" val="553167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3E7C-76FE-0E95-7366-3ECBBAA02DEC}"/>
              </a:ext>
            </a:extLst>
          </p:cNvPr>
          <p:cNvSpPr>
            <a:spLocks noGrp="1"/>
          </p:cNvSpPr>
          <p:nvPr>
            <p:ph type="title"/>
          </p:nvPr>
        </p:nvSpPr>
        <p:spPr/>
        <p:txBody>
          <a:bodyPr/>
          <a:lstStyle/>
          <a:p>
            <a:r>
              <a:rPr lang="nb-NO" noProof="0" dirty="0"/>
              <a:t>Appendiks</a:t>
            </a:r>
          </a:p>
        </p:txBody>
      </p:sp>
      <p:sp>
        <p:nvSpPr>
          <p:cNvPr id="3" name="Content Placeholder 2">
            <a:extLst>
              <a:ext uri="{FF2B5EF4-FFF2-40B4-BE49-F238E27FC236}">
                <a16:creationId xmlns:a16="http://schemas.microsoft.com/office/drawing/2014/main" id="{0E82C315-6909-5EC5-23D3-8FE39D6D1973}"/>
              </a:ext>
            </a:extLst>
          </p:cNvPr>
          <p:cNvSpPr>
            <a:spLocks noGrp="1"/>
          </p:cNvSpPr>
          <p:nvPr>
            <p:ph idx="1"/>
          </p:nvPr>
        </p:nvSpPr>
        <p:spPr/>
        <p:txBody>
          <a:bodyPr/>
          <a:lstStyle/>
          <a:p>
            <a:r>
              <a:rPr lang="nb-NO" noProof="0" dirty="0"/>
              <a:t>Dere må forstå hva fritaksmetoden og aksjonærmodellen innebærer</a:t>
            </a:r>
          </a:p>
          <a:p>
            <a:endParaRPr lang="nb-NO" noProof="0" dirty="0"/>
          </a:p>
          <a:p>
            <a:r>
              <a:rPr lang="nb-NO" noProof="0" dirty="0"/>
              <a:t>Dere må kunne inntektsskiftningsligningen</a:t>
            </a:r>
          </a:p>
          <a:p>
            <a:endParaRPr lang="nb-NO" noProof="0" dirty="0"/>
          </a:p>
          <a:p>
            <a:r>
              <a:rPr lang="nb-NO" noProof="0" dirty="0"/>
              <a:t>Dere må kunne hvordan man beregner skattbart utbytte og hva skatten på utbytte og gevinst blir (la oss se litt nøyere på det)</a:t>
            </a:r>
          </a:p>
        </p:txBody>
      </p:sp>
      <p:sp>
        <p:nvSpPr>
          <p:cNvPr id="4" name="Slide Number Placeholder 3">
            <a:extLst>
              <a:ext uri="{FF2B5EF4-FFF2-40B4-BE49-F238E27FC236}">
                <a16:creationId xmlns:a16="http://schemas.microsoft.com/office/drawing/2014/main" id="{153EC768-30C7-F754-9C96-9689D592D287}"/>
              </a:ext>
            </a:extLst>
          </p:cNvPr>
          <p:cNvSpPr>
            <a:spLocks noGrp="1"/>
          </p:cNvSpPr>
          <p:nvPr>
            <p:ph type="sldNum" sz="quarter" idx="12"/>
          </p:nvPr>
        </p:nvSpPr>
        <p:spPr/>
        <p:txBody>
          <a:bodyPr/>
          <a:lstStyle/>
          <a:p>
            <a:fld id="{092CA8B5-DBB4-47BA-9127-F945AE107A35}" type="slidenum">
              <a:rPr lang="nb-NO" noProof="0" smtClean="0"/>
              <a:t>74</a:t>
            </a:fld>
            <a:endParaRPr lang="nb-NO" noProof="0" dirty="0"/>
          </a:p>
        </p:txBody>
      </p:sp>
    </p:spTree>
    <p:extLst>
      <p:ext uri="{BB962C8B-B14F-4D97-AF65-F5344CB8AC3E}">
        <p14:creationId xmlns:p14="http://schemas.microsoft.com/office/powerpoint/2010/main" val="32736573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739D7-4120-F2DB-6214-73B65942A253}"/>
              </a:ext>
            </a:extLst>
          </p:cNvPr>
          <p:cNvSpPr>
            <a:spLocks noGrp="1"/>
          </p:cNvSpPr>
          <p:nvPr>
            <p:ph type="title"/>
          </p:nvPr>
        </p:nvSpPr>
        <p:spPr>
          <a:xfrm>
            <a:off x="838200" y="136525"/>
            <a:ext cx="10515600" cy="750981"/>
          </a:xfrm>
        </p:spPr>
        <p:txBody>
          <a:bodyPr>
            <a:normAutofit/>
          </a:bodyPr>
          <a:lstStyle/>
          <a:p>
            <a:r>
              <a:rPr lang="nb-NO" sz="3600" noProof="0" dirty="0"/>
              <a:t>Eksempel 1: Typisk eksamensoppgave (skatt på utbytte) </a:t>
            </a:r>
          </a:p>
        </p:txBody>
      </p:sp>
      <p:sp>
        <p:nvSpPr>
          <p:cNvPr id="3" name="Content Placeholder 2">
            <a:extLst>
              <a:ext uri="{FF2B5EF4-FFF2-40B4-BE49-F238E27FC236}">
                <a16:creationId xmlns:a16="http://schemas.microsoft.com/office/drawing/2014/main" id="{8F6A3EB1-5A14-1DA5-D37B-EB31C9429DFE}"/>
              </a:ext>
            </a:extLst>
          </p:cNvPr>
          <p:cNvSpPr>
            <a:spLocks noGrp="1"/>
          </p:cNvSpPr>
          <p:nvPr>
            <p:ph idx="1"/>
          </p:nvPr>
        </p:nvSpPr>
        <p:spPr>
          <a:xfrm>
            <a:off x="201706" y="1044388"/>
            <a:ext cx="11152094" cy="5198215"/>
          </a:xfrm>
        </p:spPr>
        <p:txBody>
          <a:bodyPr>
            <a:normAutofit/>
          </a:bodyPr>
          <a:lstStyle/>
          <a:p>
            <a:r>
              <a:rPr lang="nb-NO" noProof="0" dirty="0"/>
              <a:t>Sindre har kjøpt en aksje i selskapet Box med kostpris kr 100 i 2018. Siden han satt med aksjen over årsskiftet 2018/2019, har han rett på utbytte i 2018 samt skjerming. Sindre sitter ennå på aksjen og tror han skal få stor kursgevinst i 2025. Anta følgende utbyttepolitikk og </a:t>
            </a:r>
            <a:r>
              <a:rPr lang="nb-NO" noProof="0" dirty="0" err="1"/>
              <a:t>skjermingsrente</a:t>
            </a:r>
            <a:r>
              <a:rPr lang="nb-NO" noProof="0" dirty="0"/>
              <a:t> i følgende år:</a:t>
            </a:r>
          </a:p>
          <a:p>
            <a:pPr marL="0" indent="0">
              <a:buNone/>
            </a:pPr>
            <a:endParaRPr lang="nb-NO" sz="3200" noProof="0" dirty="0"/>
          </a:p>
          <a:p>
            <a:endParaRPr lang="nb-NO" noProof="0" dirty="0"/>
          </a:p>
        </p:txBody>
      </p:sp>
      <p:sp>
        <p:nvSpPr>
          <p:cNvPr id="4" name="Slide Number Placeholder 3">
            <a:extLst>
              <a:ext uri="{FF2B5EF4-FFF2-40B4-BE49-F238E27FC236}">
                <a16:creationId xmlns:a16="http://schemas.microsoft.com/office/drawing/2014/main" id="{98C65A65-0F4B-8278-D4CE-9871611B8F66}"/>
              </a:ext>
            </a:extLst>
          </p:cNvPr>
          <p:cNvSpPr>
            <a:spLocks noGrp="1"/>
          </p:cNvSpPr>
          <p:nvPr>
            <p:ph type="sldNum" sz="quarter" idx="12"/>
          </p:nvPr>
        </p:nvSpPr>
        <p:spPr/>
        <p:txBody>
          <a:bodyPr/>
          <a:lstStyle/>
          <a:p>
            <a:fld id="{092CA8B5-DBB4-47BA-9127-F945AE107A35}" type="slidenum">
              <a:rPr lang="nb-NO" noProof="0" smtClean="0"/>
              <a:t>75</a:t>
            </a:fld>
            <a:endParaRPr lang="nb-NO" noProof="0" dirty="0"/>
          </a:p>
        </p:txBody>
      </p:sp>
      <p:graphicFrame>
        <p:nvGraphicFramePr>
          <p:cNvPr id="5" name="Table 5">
            <a:extLst>
              <a:ext uri="{FF2B5EF4-FFF2-40B4-BE49-F238E27FC236}">
                <a16:creationId xmlns:a16="http://schemas.microsoft.com/office/drawing/2014/main" id="{AFED1657-697F-AA6B-B4FC-A47FBAF5C8D9}"/>
              </a:ext>
            </a:extLst>
          </p:cNvPr>
          <p:cNvGraphicFramePr>
            <a:graphicFrameLocks noGrp="1"/>
          </p:cNvGraphicFramePr>
          <p:nvPr>
            <p:extLst>
              <p:ext uri="{D42A27DB-BD31-4B8C-83A1-F6EECF244321}">
                <p14:modId xmlns:p14="http://schemas.microsoft.com/office/powerpoint/2010/main" val="3230632311"/>
              </p:ext>
            </p:extLst>
          </p:nvPr>
        </p:nvGraphicFramePr>
        <p:xfrm>
          <a:off x="835742" y="3428999"/>
          <a:ext cx="8816257" cy="2590800"/>
        </p:xfrm>
        <a:graphic>
          <a:graphicData uri="http://schemas.openxmlformats.org/drawingml/2006/table">
            <a:tbl>
              <a:tblPr firstRow="1" bandRow="1">
                <a:tableStyleId>{5C22544A-7EE6-4342-B048-85BDC9FD1C3A}</a:tableStyleId>
              </a:tblPr>
              <a:tblGrid>
                <a:gridCol w="2940391">
                  <a:extLst>
                    <a:ext uri="{9D8B030D-6E8A-4147-A177-3AD203B41FA5}">
                      <a16:colId xmlns:a16="http://schemas.microsoft.com/office/drawing/2014/main" val="336948964"/>
                    </a:ext>
                  </a:extLst>
                </a:gridCol>
                <a:gridCol w="2937933">
                  <a:extLst>
                    <a:ext uri="{9D8B030D-6E8A-4147-A177-3AD203B41FA5}">
                      <a16:colId xmlns:a16="http://schemas.microsoft.com/office/drawing/2014/main" val="1243220909"/>
                    </a:ext>
                  </a:extLst>
                </a:gridCol>
                <a:gridCol w="2937933">
                  <a:extLst>
                    <a:ext uri="{9D8B030D-6E8A-4147-A177-3AD203B41FA5}">
                      <a16:colId xmlns:a16="http://schemas.microsoft.com/office/drawing/2014/main" val="1563159935"/>
                    </a:ext>
                  </a:extLst>
                </a:gridCol>
              </a:tblGrid>
              <a:tr h="484565">
                <a:tc>
                  <a:txBody>
                    <a:bodyPr/>
                    <a:lstStyle/>
                    <a:p>
                      <a:r>
                        <a:rPr lang="nb-NO" sz="2800" noProof="0" dirty="0"/>
                        <a:t>År</a:t>
                      </a:r>
                    </a:p>
                  </a:txBody>
                  <a:tcPr/>
                </a:tc>
                <a:tc>
                  <a:txBody>
                    <a:bodyPr/>
                    <a:lstStyle/>
                    <a:p>
                      <a:r>
                        <a:rPr lang="nb-NO" sz="2800" noProof="0" dirty="0"/>
                        <a:t>Utbetalt utbytte</a:t>
                      </a:r>
                    </a:p>
                  </a:txBody>
                  <a:tcPr/>
                </a:tc>
                <a:tc>
                  <a:txBody>
                    <a:bodyPr/>
                    <a:lstStyle/>
                    <a:p>
                      <a:r>
                        <a:rPr lang="nb-NO" sz="2800" noProof="0" dirty="0" err="1"/>
                        <a:t>skjermingsrente</a:t>
                      </a:r>
                      <a:endParaRPr lang="nb-NO" sz="2800" noProof="0" dirty="0"/>
                    </a:p>
                  </a:txBody>
                  <a:tcPr/>
                </a:tc>
                <a:extLst>
                  <a:ext uri="{0D108BD9-81ED-4DB2-BD59-A6C34878D82A}">
                    <a16:rowId xmlns:a16="http://schemas.microsoft.com/office/drawing/2014/main" val="3234867186"/>
                  </a:ext>
                </a:extLst>
              </a:tr>
              <a:tr h="484565">
                <a:tc>
                  <a:txBody>
                    <a:bodyPr/>
                    <a:lstStyle/>
                    <a:p>
                      <a:r>
                        <a:rPr lang="nb-NO" sz="2800" noProof="0" dirty="0"/>
                        <a:t>2018</a:t>
                      </a:r>
                    </a:p>
                  </a:txBody>
                  <a:tcPr/>
                </a:tc>
                <a:tc>
                  <a:txBody>
                    <a:bodyPr/>
                    <a:lstStyle/>
                    <a:p>
                      <a:r>
                        <a:rPr lang="nb-NO" sz="2800" noProof="0" dirty="0"/>
                        <a:t>Kr 3</a:t>
                      </a:r>
                    </a:p>
                  </a:txBody>
                  <a:tcPr/>
                </a:tc>
                <a:tc>
                  <a:txBody>
                    <a:bodyPr/>
                    <a:lstStyle/>
                    <a:p>
                      <a:r>
                        <a:rPr lang="nb-NO" sz="2800" noProof="0" dirty="0"/>
                        <a:t>2%</a:t>
                      </a:r>
                    </a:p>
                  </a:txBody>
                  <a:tcPr/>
                </a:tc>
                <a:extLst>
                  <a:ext uri="{0D108BD9-81ED-4DB2-BD59-A6C34878D82A}">
                    <a16:rowId xmlns:a16="http://schemas.microsoft.com/office/drawing/2014/main" val="3421493584"/>
                  </a:ext>
                </a:extLst>
              </a:tr>
              <a:tr h="484565">
                <a:tc>
                  <a:txBody>
                    <a:bodyPr/>
                    <a:lstStyle/>
                    <a:p>
                      <a:r>
                        <a:rPr lang="nb-NO" sz="2800" noProof="0" dirty="0"/>
                        <a:t>2019</a:t>
                      </a:r>
                    </a:p>
                  </a:txBody>
                  <a:tcPr/>
                </a:tc>
                <a:tc>
                  <a:txBody>
                    <a:bodyPr/>
                    <a:lstStyle/>
                    <a:p>
                      <a:r>
                        <a:rPr lang="nb-NO" sz="2800" noProof="0" dirty="0"/>
                        <a:t>Kr 5</a:t>
                      </a:r>
                    </a:p>
                  </a:txBody>
                  <a:tcPr/>
                </a:tc>
                <a:tc>
                  <a:txBody>
                    <a:bodyPr/>
                    <a:lstStyle/>
                    <a:p>
                      <a:r>
                        <a:rPr lang="nb-NO" sz="2800" noProof="0" dirty="0"/>
                        <a:t>3%</a:t>
                      </a:r>
                    </a:p>
                  </a:txBody>
                  <a:tcPr/>
                </a:tc>
                <a:extLst>
                  <a:ext uri="{0D108BD9-81ED-4DB2-BD59-A6C34878D82A}">
                    <a16:rowId xmlns:a16="http://schemas.microsoft.com/office/drawing/2014/main" val="1774756545"/>
                  </a:ext>
                </a:extLst>
              </a:tr>
              <a:tr h="484565">
                <a:tc>
                  <a:txBody>
                    <a:bodyPr/>
                    <a:lstStyle/>
                    <a:p>
                      <a:r>
                        <a:rPr lang="nb-NO" sz="2800" noProof="0" dirty="0"/>
                        <a:t>2020</a:t>
                      </a:r>
                    </a:p>
                  </a:txBody>
                  <a:tcPr/>
                </a:tc>
                <a:tc>
                  <a:txBody>
                    <a:bodyPr/>
                    <a:lstStyle/>
                    <a:p>
                      <a:r>
                        <a:rPr lang="nb-NO" sz="2800" noProof="0" dirty="0"/>
                        <a:t>Kr 1</a:t>
                      </a:r>
                    </a:p>
                  </a:txBody>
                  <a:tcPr/>
                </a:tc>
                <a:tc>
                  <a:txBody>
                    <a:bodyPr/>
                    <a:lstStyle/>
                    <a:p>
                      <a:r>
                        <a:rPr lang="nb-NO" sz="2800" noProof="0" dirty="0"/>
                        <a:t>5%</a:t>
                      </a:r>
                    </a:p>
                  </a:txBody>
                  <a:tcPr/>
                </a:tc>
                <a:extLst>
                  <a:ext uri="{0D108BD9-81ED-4DB2-BD59-A6C34878D82A}">
                    <a16:rowId xmlns:a16="http://schemas.microsoft.com/office/drawing/2014/main" val="673628797"/>
                  </a:ext>
                </a:extLst>
              </a:tr>
              <a:tr h="484565">
                <a:tc>
                  <a:txBody>
                    <a:bodyPr/>
                    <a:lstStyle/>
                    <a:p>
                      <a:r>
                        <a:rPr lang="nb-NO" sz="2800" noProof="0" dirty="0"/>
                        <a:t>2021</a:t>
                      </a:r>
                    </a:p>
                  </a:txBody>
                  <a:tcPr/>
                </a:tc>
                <a:tc>
                  <a:txBody>
                    <a:bodyPr/>
                    <a:lstStyle/>
                    <a:p>
                      <a:r>
                        <a:rPr lang="nb-NO" sz="2800" noProof="0" dirty="0"/>
                        <a:t>Kr 3</a:t>
                      </a:r>
                    </a:p>
                  </a:txBody>
                  <a:tcPr/>
                </a:tc>
                <a:tc>
                  <a:txBody>
                    <a:bodyPr/>
                    <a:lstStyle/>
                    <a:p>
                      <a:r>
                        <a:rPr lang="nb-NO" sz="2800" noProof="0" dirty="0"/>
                        <a:t>1%</a:t>
                      </a:r>
                    </a:p>
                  </a:txBody>
                  <a:tcPr/>
                </a:tc>
                <a:extLst>
                  <a:ext uri="{0D108BD9-81ED-4DB2-BD59-A6C34878D82A}">
                    <a16:rowId xmlns:a16="http://schemas.microsoft.com/office/drawing/2014/main" val="874652373"/>
                  </a:ext>
                </a:extLst>
              </a:tr>
            </a:tbl>
          </a:graphicData>
        </a:graphic>
      </p:graphicFrame>
      <p:sp>
        <p:nvSpPr>
          <p:cNvPr id="6" name="TextBox 5">
            <a:extLst>
              <a:ext uri="{FF2B5EF4-FFF2-40B4-BE49-F238E27FC236}">
                <a16:creationId xmlns:a16="http://schemas.microsoft.com/office/drawing/2014/main" id="{338EAB9A-84A3-A67C-4118-854794DDA31E}"/>
              </a:ext>
            </a:extLst>
          </p:cNvPr>
          <p:cNvSpPr txBox="1"/>
          <p:nvPr/>
        </p:nvSpPr>
        <p:spPr>
          <a:xfrm>
            <a:off x="1759974" y="6242603"/>
            <a:ext cx="7296481" cy="523220"/>
          </a:xfrm>
          <a:prstGeom prst="rect">
            <a:avLst/>
          </a:prstGeom>
          <a:noFill/>
        </p:spPr>
        <p:txBody>
          <a:bodyPr wrap="square" rtlCol="0">
            <a:spAutoFit/>
          </a:bodyPr>
          <a:lstStyle/>
          <a:p>
            <a:r>
              <a:rPr lang="nb-NO" sz="2800" noProof="0" dirty="0"/>
              <a:t>Typisk spørsmål: Hva er skattbart utbytte i 2021?</a:t>
            </a:r>
          </a:p>
        </p:txBody>
      </p:sp>
    </p:spTree>
    <p:extLst>
      <p:ext uri="{BB962C8B-B14F-4D97-AF65-F5344CB8AC3E}">
        <p14:creationId xmlns:p14="http://schemas.microsoft.com/office/powerpoint/2010/main" val="155050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510D27-D419-BC24-5C74-A03A8643E506}"/>
              </a:ext>
            </a:extLst>
          </p:cNvPr>
          <p:cNvSpPr>
            <a:spLocks noGrp="1"/>
          </p:cNvSpPr>
          <p:nvPr>
            <p:ph type="sldNum" sz="quarter" idx="12"/>
          </p:nvPr>
        </p:nvSpPr>
        <p:spPr/>
        <p:txBody>
          <a:bodyPr/>
          <a:lstStyle/>
          <a:p>
            <a:fld id="{092CA8B5-DBB4-47BA-9127-F945AE107A35}" type="slidenum">
              <a:rPr lang="nb-NO" noProof="0" smtClean="0"/>
              <a:t>76</a:t>
            </a:fld>
            <a:endParaRPr lang="nb-NO" noProof="0" dirty="0"/>
          </a:p>
        </p:txBody>
      </p:sp>
      <p:graphicFrame>
        <p:nvGraphicFramePr>
          <p:cNvPr id="4" name="Table 4">
            <a:extLst>
              <a:ext uri="{FF2B5EF4-FFF2-40B4-BE49-F238E27FC236}">
                <a16:creationId xmlns:a16="http://schemas.microsoft.com/office/drawing/2014/main" id="{254CA733-721D-A985-BDBB-61503AE56FB3}"/>
              </a:ext>
            </a:extLst>
          </p:cNvPr>
          <p:cNvGraphicFramePr>
            <a:graphicFrameLocks noGrp="1"/>
          </p:cNvGraphicFramePr>
          <p:nvPr>
            <p:extLst>
              <p:ext uri="{D42A27DB-BD31-4B8C-83A1-F6EECF244321}">
                <p14:modId xmlns:p14="http://schemas.microsoft.com/office/powerpoint/2010/main" val="1415975608"/>
              </p:ext>
            </p:extLst>
          </p:nvPr>
        </p:nvGraphicFramePr>
        <p:xfrm>
          <a:off x="294353" y="2212259"/>
          <a:ext cx="11828821" cy="4509218"/>
        </p:xfrm>
        <a:graphic>
          <a:graphicData uri="http://schemas.openxmlformats.org/drawingml/2006/table">
            <a:tbl>
              <a:tblPr firstRow="1" bandRow="1">
                <a:tableStyleId>{5C22544A-7EE6-4342-B048-85BDC9FD1C3A}</a:tableStyleId>
              </a:tblPr>
              <a:tblGrid>
                <a:gridCol w="934986">
                  <a:extLst>
                    <a:ext uri="{9D8B030D-6E8A-4147-A177-3AD203B41FA5}">
                      <a16:colId xmlns:a16="http://schemas.microsoft.com/office/drawing/2014/main" val="748207785"/>
                    </a:ext>
                  </a:extLst>
                </a:gridCol>
                <a:gridCol w="965147">
                  <a:extLst>
                    <a:ext uri="{9D8B030D-6E8A-4147-A177-3AD203B41FA5}">
                      <a16:colId xmlns:a16="http://schemas.microsoft.com/office/drawing/2014/main" val="2542269668"/>
                    </a:ext>
                  </a:extLst>
                </a:gridCol>
                <a:gridCol w="1433617">
                  <a:extLst>
                    <a:ext uri="{9D8B030D-6E8A-4147-A177-3AD203B41FA5}">
                      <a16:colId xmlns:a16="http://schemas.microsoft.com/office/drawing/2014/main" val="1628619919"/>
                    </a:ext>
                  </a:extLst>
                </a:gridCol>
                <a:gridCol w="1012723">
                  <a:extLst>
                    <a:ext uri="{9D8B030D-6E8A-4147-A177-3AD203B41FA5}">
                      <a16:colId xmlns:a16="http://schemas.microsoft.com/office/drawing/2014/main" val="2571063212"/>
                    </a:ext>
                  </a:extLst>
                </a:gridCol>
                <a:gridCol w="2064774">
                  <a:extLst>
                    <a:ext uri="{9D8B030D-6E8A-4147-A177-3AD203B41FA5}">
                      <a16:colId xmlns:a16="http://schemas.microsoft.com/office/drawing/2014/main" val="3254354619"/>
                    </a:ext>
                  </a:extLst>
                </a:gridCol>
                <a:gridCol w="2605548">
                  <a:extLst>
                    <a:ext uri="{9D8B030D-6E8A-4147-A177-3AD203B41FA5}">
                      <a16:colId xmlns:a16="http://schemas.microsoft.com/office/drawing/2014/main" val="1157604736"/>
                    </a:ext>
                  </a:extLst>
                </a:gridCol>
                <a:gridCol w="2812026">
                  <a:extLst>
                    <a:ext uri="{9D8B030D-6E8A-4147-A177-3AD203B41FA5}">
                      <a16:colId xmlns:a16="http://schemas.microsoft.com/office/drawing/2014/main" val="1581938230"/>
                    </a:ext>
                  </a:extLst>
                </a:gridCol>
              </a:tblGrid>
              <a:tr h="1703482">
                <a:tc>
                  <a:txBody>
                    <a:bodyPr/>
                    <a:lstStyle/>
                    <a:p>
                      <a:r>
                        <a:rPr lang="nb-NO" sz="2400" noProof="0" dirty="0"/>
                        <a:t>År</a:t>
                      </a:r>
                    </a:p>
                  </a:txBody>
                  <a:tcPr/>
                </a:tc>
                <a:tc>
                  <a:txBody>
                    <a:bodyPr/>
                    <a:lstStyle/>
                    <a:p>
                      <a:r>
                        <a:rPr lang="nb-NO" sz="2400" noProof="0" dirty="0"/>
                        <a:t>Ut-</a:t>
                      </a:r>
                    </a:p>
                    <a:p>
                      <a:r>
                        <a:rPr lang="nb-NO" sz="2400" noProof="0" dirty="0"/>
                        <a:t>bytte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b-NO" sz="2400" noProof="0" dirty="0" err="1"/>
                        <a:t>Skj</a:t>
                      </a:r>
                      <a:r>
                        <a:rPr lang="nb-NO" sz="2400" noProof="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nb-NO" sz="2400" noProof="0" dirty="0"/>
                        <a:t>grunnlag</a:t>
                      </a:r>
                    </a:p>
                    <a:p>
                      <a:endParaRPr lang="nb-NO" sz="2400" noProof="0" dirty="0"/>
                    </a:p>
                  </a:txBody>
                  <a:tcPr/>
                </a:tc>
                <a:tc>
                  <a:txBody>
                    <a:bodyPr/>
                    <a:lstStyle/>
                    <a:p>
                      <a:r>
                        <a:rPr lang="nb-NO" sz="2400" noProof="0" dirty="0" err="1"/>
                        <a:t>Skj</a:t>
                      </a:r>
                      <a:r>
                        <a:rPr lang="nb-NO" sz="2400" noProof="0" dirty="0"/>
                        <a:t>.</a:t>
                      </a:r>
                    </a:p>
                    <a:p>
                      <a:r>
                        <a:rPr lang="nb-NO" sz="2400" noProof="0" dirty="0"/>
                        <a:t>rente</a:t>
                      </a:r>
                    </a:p>
                  </a:txBody>
                  <a:tcPr/>
                </a:tc>
                <a:tc>
                  <a:txBody>
                    <a:bodyPr/>
                    <a:lstStyle/>
                    <a:p>
                      <a:r>
                        <a:rPr lang="nb-NO" sz="2400" noProof="0" dirty="0"/>
                        <a:t>Skjermings</a:t>
                      </a:r>
                    </a:p>
                    <a:p>
                      <a:r>
                        <a:rPr lang="nb-NO" sz="2400" noProof="0" dirty="0"/>
                        <a:t>fradrag</a:t>
                      </a:r>
                    </a:p>
                  </a:txBody>
                  <a:tcPr/>
                </a:tc>
                <a:tc>
                  <a:txBody>
                    <a:bodyPr/>
                    <a:lstStyle/>
                    <a:p>
                      <a:r>
                        <a:rPr lang="nb-NO" sz="2400" noProof="0" dirty="0"/>
                        <a:t>Skattbart</a:t>
                      </a:r>
                    </a:p>
                    <a:p>
                      <a:r>
                        <a:rPr lang="nb-NO" sz="2400" noProof="0" dirty="0"/>
                        <a:t>utbytte</a:t>
                      </a:r>
                    </a:p>
                  </a:txBody>
                  <a:tcPr/>
                </a:tc>
                <a:tc>
                  <a:txBody>
                    <a:bodyPr/>
                    <a:lstStyle/>
                    <a:p>
                      <a:r>
                        <a:rPr lang="nb-NO" sz="2400" noProof="0" dirty="0"/>
                        <a:t>Akk. </a:t>
                      </a:r>
                      <a:r>
                        <a:rPr lang="nb-NO" sz="2400" noProof="0" dirty="0" err="1"/>
                        <a:t>Skj.fradrag</a:t>
                      </a:r>
                      <a:endParaRPr lang="nb-NO" sz="2400" noProof="0" dirty="0"/>
                    </a:p>
                  </a:txBody>
                  <a:tcPr/>
                </a:tc>
                <a:extLst>
                  <a:ext uri="{0D108BD9-81ED-4DB2-BD59-A6C34878D82A}">
                    <a16:rowId xmlns:a16="http://schemas.microsoft.com/office/drawing/2014/main" val="3996227700"/>
                  </a:ext>
                </a:extLst>
              </a:tr>
              <a:tr h="501024">
                <a:tc>
                  <a:txBody>
                    <a:bodyPr/>
                    <a:lstStyle/>
                    <a:p>
                      <a:r>
                        <a:rPr lang="nb-NO" sz="2400" noProof="0" dirty="0"/>
                        <a:t>2018</a:t>
                      </a:r>
                    </a:p>
                  </a:txBody>
                  <a:tcPr/>
                </a:tc>
                <a:tc>
                  <a:txBody>
                    <a:bodyPr/>
                    <a:lstStyle/>
                    <a:p>
                      <a:r>
                        <a:rPr lang="nb-NO" sz="2400" noProof="0" dirty="0">
                          <a:solidFill>
                            <a:srgbClr val="0070C0"/>
                          </a:solidFill>
                        </a:rPr>
                        <a:t>Kr 3</a:t>
                      </a:r>
                    </a:p>
                  </a:txBody>
                  <a:tcPr/>
                </a:tc>
                <a:tc>
                  <a:txBody>
                    <a:bodyPr/>
                    <a:lstStyle/>
                    <a:p>
                      <a:r>
                        <a:rPr lang="nb-NO" sz="2400" noProof="0" dirty="0"/>
                        <a:t>100</a:t>
                      </a:r>
                    </a:p>
                  </a:txBody>
                  <a:tcPr/>
                </a:tc>
                <a:tc>
                  <a:txBody>
                    <a:bodyPr/>
                    <a:lstStyle/>
                    <a:p>
                      <a:r>
                        <a:rPr lang="nb-NO" sz="2400" noProof="0" dirty="0"/>
                        <a:t>2%</a:t>
                      </a:r>
                    </a:p>
                  </a:txBody>
                  <a:tcPr/>
                </a:tc>
                <a:tc>
                  <a:txBody>
                    <a:bodyPr/>
                    <a:lstStyle/>
                    <a:p>
                      <a:r>
                        <a:rPr lang="nb-NO" sz="2400" noProof="0" dirty="0"/>
                        <a:t>100*2% = </a:t>
                      </a:r>
                      <a:r>
                        <a:rPr lang="nb-NO" sz="2400" noProof="0" dirty="0">
                          <a:solidFill>
                            <a:srgbClr val="FF0000"/>
                          </a:solidFill>
                        </a:rPr>
                        <a:t>2</a:t>
                      </a:r>
                    </a:p>
                  </a:txBody>
                  <a:tcPr/>
                </a:tc>
                <a:tc>
                  <a:txBody>
                    <a:bodyPr/>
                    <a:lstStyle/>
                    <a:p>
                      <a:r>
                        <a:rPr lang="nb-NO" sz="2400" noProof="0" dirty="0">
                          <a:solidFill>
                            <a:srgbClr val="0070C0"/>
                          </a:solidFill>
                        </a:rPr>
                        <a:t>3</a:t>
                      </a:r>
                      <a:r>
                        <a:rPr lang="nb-NO" sz="2400" noProof="0" dirty="0"/>
                        <a:t> – </a:t>
                      </a:r>
                      <a:r>
                        <a:rPr lang="nb-NO" sz="2400" noProof="0" dirty="0">
                          <a:solidFill>
                            <a:srgbClr val="FF0000"/>
                          </a:solidFill>
                        </a:rPr>
                        <a:t>2</a:t>
                      </a:r>
                      <a:r>
                        <a:rPr lang="nb-NO" sz="2400" noProof="0" dirty="0"/>
                        <a:t> = 1 kr  </a:t>
                      </a:r>
                    </a:p>
                  </a:txBody>
                  <a:tcPr/>
                </a:tc>
                <a:tc>
                  <a:txBody>
                    <a:bodyPr/>
                    <a:lstStyle/>
                    <a:p>
                      <a:r>
                        <a:rPr lang="nb-NO" sz="2400" noProof="0" dirty="0"/>
                        <a:t>0</a:t>
                      </a:r>
                    </a:p>
                  </a:txBody>
                  <a:tcPr/>
                </a:tc>
                <a:extLst>
                  <a:ext uri="{0D108BD9-81ED-4DB2-BD59-A6C34878D82A}">
                    <a16:rowId xmlns:a16="http://schemas.microsoft.com/office/drawing/2014/main" val="384462381"/>
                  </a:ext>
                </a:extLst>
              </a:tr>
              <a:tr h="901844">
                <a:tc>
                  <a:txBody>
                    <a:bodyPr/>
                    <a:lstStyle/>
                    <a:p>
                      <a:r>
                        <a:rPr lang="nb-NO" sz="2400" noProof="0" dirty="0"/>
                        <a:t>2019</a:t>
                      </a:r>
                    </a:p>
                  </a:txBody>
                  <a:tcPr/>
                </a:tc>
                <a:tc>
                  <a:txBody>
                    <a:bodyPr/>
                    <a:lstStyle/>
                    <a:p>
                      <a:r>
                        <a:rPr lang="nb-NO" sz="2400" noProof="0" dirty="0">
                          <a:solidFill>
                            <a:srgbClr val="0070C0"/>
                          </a:solidFill>
                        </a:rPr>
                        <a:t>Kr 5</a:t>
                      </a:r>
                    </a:p>
                  </a:txBody>
                  <a:tcPr/>
                </a:tc>
                <a:tc>
                  <a:txBody>
                    <a:bodyPr/>
                    <a:lstStyle/>
                    <a:p>
                      <a:r>
                        <a:rPr lang="nb-NO" sz="2400" noProof="0" dirty="0"/>
                        <a:t>100</a:t>
                      </a:r>
                    </a:p>
                  </a:txBody>
                  <a:tcPr/>
                </a:tc>
                <a:tc>
                  <a:txBody>
                    <a:bodyPr/>
                    <a:lstStyle/>
                    <a:p>
                      <a:r>
                        <a:rPr lang="nb-NO" sz="2400" noProof="0" dirty="0"/>
                        <a:t>3%</a:t>
                      </a:r>
                    </a:p>
                  </a:txBody>
                  <a:tcPr/>
                </a:tc>
                <a:tc>
                  <a:txBody>
                    <a:bodyPr/>
                    <a:lstStyle/>
                    <a:p>
                      <a:r>
                        <a:rPr lang="nb-NO" sz="2400" noProof="0" dirty="0"/>
                        <a:t>100*3% =  </a:t>
                      </a:r>
                      <a:r>
                        <a:rPr lang="nb-NO" sz="2400" noProof="0" dirty="0">
                          <a:solidFill>
                            <a:srgbClr val="FF0000"/>
                          </a:solidFill>
                        </a:rPr>
                        <a:t>3</a:t>
                      </a:r>
                    </a:p>
                  </a:txBody>
                  <a:tcPr/>
                </a:tc>
                <a:tc>
                  <a:txBody>
                    <a:bodyPr/>
                    <a:lstStyle/>
                    <a:p>
                      <a:r>
                        <a:rPr lang="nb-NO" sz="2400" noProof="0" dirty="0">
                          <a:solidFill>
                            <a:srgbClr val="0070C0"/>
                          </a:solidFill>
                        </a:rPr>
                        <a:t>5</a:t>
                      </a:r>
                      <a:r>
                        <a:rPr lang="nb-NO" sz="2400" noProof="0" dirty="0"/>
                        <a:t> – </a:t>
                      </a:r>
                      <a:r>
                        <a:rPr lang="nb-NO" sz="2400" noProof="0" dirty="0">
                          <a:solidFill>
                            <a:srgbClr val="FF0000"/>
                          </a:solidFill>
                        </a:rPr>
                        <a:t>3</a:t>
                      </a:r>
                      <a:r>
                        <a:rPr lang="nb-NO" sz="2400" noProof="0" dirty="0"/>
                        <a:t> = 2 kr</a:t>
                      </a:r>
                    </a:p>
                  </a:txBody>
                  <a:tcPr/>
                </a:tc>
                <a:tc>
                  <a:txBody>
                    <a:bodyPr/>
                    <a:lstStyle/>
                    <a:p>
                      <a:r>
                        <a:rPr lang="nb-NO" sz="2400" noProof="0" dirty="0"/>
                        <a:t>0</a:t>
                      </a:r>
                    </a:p>
                  </a:txBody>
                  <a:tcPr/>
                </a:tc>
                <a:extLst>
                  <a:ext uri="{0D108BD9-81ED-4DB2-BD59-A6C34878D82A}">
                    <a16:rowId xmlns:a16="http://schemas.microsoft.com/office/drawing/2014/main" val="3697615204"/>
                  </a:ext>
                </a:extLst>
              </a:tr>
              <a:tr h="501024">
                <a:tc>
                  <a:txBody>
                    <a:bodyPr/>
                    <a:lstStyle/>
                    <a:p>
                      <a:r>
                        <a:rPr lang="nb-NO" sz="2400" noProof="0" dirty="0"/>
                        <a:t>2020</a:t>
                      </a:r>
                    </a:p>
                  </a:txBody>
                  <a:tcPr/>
                </a:tc>
                <a:tc>
                  <a:txBody>
                    <a:bodyPr/>
                    <a:lstStyle/>
                    <a:p>
                      <a:r>
                        <a:rPr lang="nb-NO" sz="2400" noProof="0" dirty="0">
                          <a:solidFill>
                            <a:srgbClr val="0070C0"/>
                          </a:solidFill>
                        </a:rPr>
                        <a:t>Kr 1</a:t>
                      </a:r>
                    </a:p>
                  </a:txBody>
                  <a:tcPr/>
                </a:tc>
                <a:tc>
                  <a:txBody>
                    <a:bodyPr/>
                    <a:lstStyle/>
                    <a:p>
                      <a:r>
                        <a:rPr lang="nb-NO" sz="2400" noProof="0" dirty="0"/>
                        <a:t>100</a:t>
                      </a:r>
                    </a:p>
                  </a:txBody>
                  <a:tcPr/>
                </a:tc>
                <a:tc>
                  <a:txBody>
                    <a:bodyPr/>
                    <a:lstStyle/>
                    <a:p>
                      <a:r>
                        <a:rPr lang="nb-NO" sz="2400" noProof="0" dirty="0"/>
                        <a:t>5%</a:t>
                      </a:r>
                    </a:p>
                  </a:txBody>
                  <a:tcPr/>
                </a:tc>
                <a:tc>
                  <a:txBody>
                    <a:bodyPr/>
                    <a:lstStyle/>
                    <a:p>
                      <a:r>
                        <a:rPr lang="nb-NO" sz="2400" noProof="0" dirty="0"/>
                        <a:t>100*5% = </a:t>
                      </a:r>
                      <a:r>
                        <a:rPr lang="nb-NO" sz="2400" noProof="0" dirty="0">
                          <a:solidFill>
                            <a:srgbClr val="FF0000"/>
                          </a:solidFill>
                        </a:rPr>
                        <a:t>5</a:t>
                      </a:r>
                      <a:r>
                        <a:rPr lang="nb-NO" sz="2400" noProof="0" dirty="0"/>
                        <a:t> </a:t>
                      </a:r>
                    </a:p>
                  </a:txBody>
                  <a:tcPr/>
                </a:tc>
                <a:tc>
                  <a:txBody>
                    <a:bodyPr/>
                    <a:lstStyle/>
                    <a:p>
                      <a:r>
                        <a:rPr lang="nb-NO" sz="2400" noProof="0" dirty="0"/>
                        <a:t>0 (</a:t>
                      </a:r>
                      <a:r>
                        <a:rPr lang="nb-NO" sz="2400" noProof="0" dirty="0">
                          <a:solidFill>
                            <a:srgbClr val="0070C0"/>
                          </a:solidFill>
                        </a:rPr>
                        <a:t>1</a:t>
                      </a:r>
                      <a:r>
                        <a:rPr lang="nb-NO" sz="2400" noProof="0" dirty="0"/>
                        <a:t>- </a:t>
                      </a:r>
                      <a:r>
                        <a:rPr lang="nb-NO" sz="2400" noProof="0" dirty="0">
                          <a:solidFill>
                            <a:srgbClr val="FF0000"/>
                          </a:solidFill>
                        </a:rPr>
                        <a:t>5</a:t>
                      </a:r>
                      <a:r>
                        <a:rPr lang="nb-NO" sz="2400" noProof="0" dirty="0"/>
                        <a:t> &lt; 0)</a:t>
                      </a:r>
                    </a:p>
                  </a:txBody>
                  <a:tcPr/>
                </a:tc>
                <a:tc>
                  <a:txBody>
                    <a:bodyPr/>
                    <a:lstStyle/>
                    <a:p>
                      <a:r>
                        <a:rPr lang="nb-NO" sz="2400" noProof="0" dirty="0"/>
                        <a:t>4 (= </a:t>
                      </a:r>
                      <a:r>
                        <a:rPr lang="nb-NO" sz="2400" noProof="0" dirty="0">
                          <a:solidFill>
                            <a:srgbClr val="FF0000"/>
                          </a:solidFill>
                        </a:rPr>
                        <a:t>5</a:t>
                      </a:r>
                      <a:r>
                        <a:rPr lang="nb-NO" sz="2400" noProof="0" dirty="0"/>
                        <a:t> - </a:t>
                      </a:r>
                      <a:r>
                        <a:rPr lang="nb-NO" sz="2400" noProof="0" dirty="0">
                          <a:solidFill>
                            <a:srgbClr val="0070C0"/>
                          </a:solidFill>
                        </a:rPr>
                        <a:t>1</a:t>
                      </a:r>
                      <a:r>
                        <a:rPr lang="nb-NO" sz="2400" noProof="0" dirty="0"/>
                        <a:t>)</a:t>
                      </a:r>
                    </a:p>
                  </a:txBody>
                  <a:tcPr/>
                </a:tc>
                <a:extLst>
                  <a:ext uri="{0D108BD9-81ED-4DB2-BD59-A6C34878D82A}">
                    <a16:rowId xmlns:a16="http://schemas.microsoft.com/office/drawing/2014/main" val="4232024994"/>
                  </a:ext>
                </a:extLst>
              </a:tr>
              <a:tr h="901844">
                <a:tc>
                  <a:txBody>
                    <a:bodyPr/>
                    <a:lstStyle/>
                    <a:p>
                      <a:r>
                        <a:rPr lang="nb-NO" sz="2400" noProof="0" dirty="0"/>
                        <a:t>2021</a:t>
                      </a:r>
                    </a:p>
                  </a:txBody>
                  <a:tcPr/>
                </a:tc>
                <a:tc>
                  <a:txBody>
                    <a:bodyPr/>
                    <a:lstStyle/>
                    <a:p>
                      <a:r>
                        <a:rPr lang="nb-NO" sz="2400" noProof="0" dirty="0">
                          <a:solidFill>
                            <a:srgbClr val="0070C0"/>
                          </a:solidFill>
                        </a:rPr>
                        <a:t>Kr 3</a:t>
                      </a:r>
                    </a:p>
                  </a:txBody>
                  <a:tcPr/>
                </a:tc>
                <a:tc>
                  <a:txBody>
                    <a:bodyPr/>
                    <a:lstStyle/>
                    <a:p>
                      <a:r>
                        <a:rPr lang="nb-NO" sz="2400" noProof="0" dirty="0"/>
                        <a:t>104</a:t>
                      </a:r>
                    </a:p>
                  </a:txBody>
                  <a:tcPr/>
                </a:tc>
                <a:tc>
                  <a:txBody>
                    <a:bodyPr/>
                    <a:lstStyle/>
                    <a:p>
                      <a:r>
                        <a:rPr lang="nb-NO" sz="2400" noProof="0" dirty="0"/>
                        <a:t>1%</a:t>
                      </a:r>
                    </a:p>
                  </a:txBody>
                  <a:tcPr/>
                </a:tc>
                <a:tc>
                  <a:txBody>
                    <a:bodyPr/>
                    <a:lstStyle/>
                    <a:p>
                      <a:r>
                        <a:rPr lang="nb-NO" sz="2400" noProof="0" dirty="0"/>
                        <a:t>104* 1% = </a:t>
                      </a:r>
                      <a:r>
                        <a:rPr lang="nb-NO" sz="2400" noProof="0" dirty="0">
                          <a:solidFill>
                            <a:srgbClr val="FF0000"/>
                          </a:solidFill>
                        </a:rPr>
                        <a:t>1,04</a:t>
                      </a:r>
                    </a:p>
                  </a:txBody>
                  <a:tcPr/>
                </a:tc>
                <a:tc>
                  <a:txBody>
                    <a:bodyPr/>
                    <a:lstStyle/>
                    <a:p>
                      <a:r>
                        <a:rPr lang="nb-NO" sz="2400" noProof="0" dirty="0"/>
                        <a:t>0 (</a:t>
                      </a:r>
                      <a:r>
                        <a:rPr lang="nb-NO" sz="2400" noProof="0" dirty="0">
                          <a:solidFill>
                            <a:srgbClr val="0070C0"/>
                          </a:solidFill>
                        </a:rPr>
                        <a:t>3</a:t>
                      </a:r>
                      <a:r>
                        <a:rPr lang="nb-NO" sz="2400" noProof="0" dirty="0"/>
                        <a:t> – </a:t>
                      </a:r>
                      <a:r>
                        <a:rPr lang="nb-NO" sz="2400" noProof="0" dirty="0">
                          <a:solidFill>
                            <a:srgbClr val="FF0000"/>
                          </a:solidFill>
                        </a:rPr>
                        <a:t>1,04</a:t>
                      </a:r>
                      <a:r>
                        <a:rPr lang="nb-NO" sz="2400" noProof="0" dirty="0"/>
                        <a:t> – 4 &lt; 0) </a:t>
                      </a:r>
                    </a:p>
                  </a:txBody>
                  <a:tcPr/>
                </a:tc>
                <a:tc>
                  <a:txBody>
                    <a:bodyPr/>
                    <a:lstStyle/>
                    <a:p>
                      <a:r>
                        <a:rPr lang="nb-NO" sz="2400" noProof="0" dirty="0"/>
                        <a:t>2,04 (= 4 + </a:t>
                      </a:r>
                      <a:r>
                        <a:rPr lang="nb-NO" sz="2400" noProof="0" dirty="0">
                          <a:solidFill>
                            <a:srgbClr val="FF0000"/>
                          </a:solidFill>
                        </a:rPr>
                        <a:t>1,04</a:t>
                      </a:r>
                      <a:r>
                        <a:rPr lang="nb-NO" sz="2400" noProof="0" dirty="0"/>
                        <a:t> – </a:t>
                      </a:r>
                      <a:r>
                        <a:rPr lang="nb-NO" sz="2400" noProof="0" dirty="0">
                          <a:solidFill>
                            <a:srgbClr val="0070C0"/>
                          </a:solidFill>
                        </a:rPr>
                        <a:t>3</a:t>
                      </a:r>
                      <a:r>
                        <a:rPr lang="nb-NO" sz="2400" noProof="0" dirty="0"/>
                        <a:t>)</a:t>
                      </a:r>
                    </a:p>
                  </a:txBody>
                  <a:tcPr/>
                </a:tc>
                <a:extLst>
                  <a:ext uri="{0D108BD9-81ED-4DB2-BD59-A6C34878D82A}">
                    <a16:rowId xmlns:a16="http://schemas.microsoft.com/office/drawing/2014/main" val="1039133120"/>
                  </a:ext>
                </a:extLst>
              </a:tr>
            </a:tbl>
          </a:graphicData>
        </a:graphic>
      </p:graphicFrame>
      <p:sp>
        <p:nvSpPr>
          <p:cNvPr id="5" name="TextBox 4">
            <a:extLst>
              <a:ext uri="{FF2B5EF4-FFF2-40B4-BE49-F238E27FC236}">
                <a16:creationId xmlns:a16="http://schemas.microsoft.com/office/drawing/2014/main" id="{C1B9FFB5-D638-C1D9-45DA-49936488A28B}"/>
              </a:ext>
            </a:extLst>
          </p:cNvPr>
          <p:cNvSpPr txBox="1"/>
          <p:nvPr/>
        </p:nvSpPr>
        <p:spPr>
          <a:xfrm>
            <a:off x="1238250" y="641350"/>
            <a:ext cx="9342173" cy="461665"/>
          </a:xfrm>
          <a:prstGeom prst="rect">
            <a:avLst/>
          </a:prstGeom>
          <a:noFill/>
        </p:spPr>
        <p:txBody>
          <a:bodyPr wrap="none" rtlCol="0">
            <a:spAutoFit/>
          </a:bodyPr>
          <a:lstStyle/>
          <a:p>
            <a:r>
              <a:rPr lang="nb-NO" sz="2400" noProof="0" dirty="0"/>
              <a:t>Fasit: Sindre kjøpte aksjen for kr 100 så det er aksjens skjermingsgrunnlag</a:t>
            </a:r>
          </a:p>
        </p:txBody>
      </p:sp>
      <p:sp>
        <p:nvSpPr>
          <p:cNvPr id="6" name="TextBox 5">
            <a:extLst>
              <a:ext uri="{FF2B5EF4-FFF2-40B4-BE49-F238E27FC236}">
                <a16:creationId xmlns:a16="http://schemas.microsoft.com/office/drawing/2014/main" id="{E773F320-08F5-4BFB-FC4D-07B10FA63207}"/>
              </a:ext>
            </a:extLst>
          </p:cNvPr>
          <p:cNvSpPr txBox="1"/>
          <p:nvPr/>
        </p:nvSpPr>
        <p:spPr>
          <a:xfrm>
            <a:off x="294353" y="1129540"/>
            <a:ext cx="11741869" cy="830997"/>
          </a:xfrm>
          <a:prstGeom prst="rect">
            <a:avLst/>
          </a:prstGeom>
          <a:noFill/>
        </p:spPr>
        <p:txBody>
          <a:bodyPr wrap="none" rtlCol="0">
            <a:spAutoFit/>
          </a:bodyPr>
          <a:lstStyle/>
          <a:p>
            <a:r>
              <a:rPr lang="nb-NO" sz="2400" noProof="0" dirty="0"/>
              <a:t>Husk at hvis skjermingsgrunnlaget overstiger utbyttet skal differansen akkumuleres og bruke </a:t>
            </a:r>
          </a:p>
          <a:p>
            <a:r>
              <a:rPr lang="nb-NO" sz="2400" noProof="0" dirty="0"/>
              <a:t>senere. Husk at akkumulert skjermingsfradrag øker skjermingsgrunnlaget </a:t>
            </a:r>
          </a:p>
        </p:txBody>
      </p:sp>
    </p:spTree>
    <p:extLst>
      <p:ext uri="{BB962C8B-B14F-4D97-AF65-F5344CB8AC3E}">
        <p14:creationId xmlns:p14="http://schemas.microsoft.com/office/powerpoint/2010/main" val="35243593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8BC2-E2B9-E2DE-726F-7FA725F5CF72}"/>
              </a:ext>
            </a:extLst>
          </p:cNvPr>
          <p:cNvSpPr>
            <a:spLocks noGrp="1"/>
          </p:cNvSpPr>
          <p:nvPr>
            <p:ph type="title"/>
          </p:nvPr>
        </p:nvSpPr>
        <p:spPr>
          <a:xfrm>
            <a:off x="825501" y="12700"/>
            <a:ext cx="10515600" cy="664135"/>
          </a:xfrm>
        </p:spPr>
        <p:txBody>
          <a:bodyPr>
            <a:normAutofit/>
          </a:bodyPr>
          <a:lstStyle/>
          <a:p>
            <a:r>
              <a:rPr lang="nb-NO" sz="3200" noProof="0" dirty="0"/>
              <a:t>Eksempel 2: Formuesskatt og utbytte.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54B4DA-1184-20DE-D608-39876D5B5ACA}"/>
                  </a:ext>
                </a:extLst>
              </p:cNvPr>
              <p:cNvSpPr>
                <a:spLocks noGrp="1"/>
              </p:cNvSpPr>
              <p:nvPr>
                <p:ph idx="1"/>
              </p:nvPr>
            </p:nvSpPr>
            <p:spPr>
              <a:xfrm>
                <a:off x="381001" y="797859"/>
                <a:ext cx="11404600" cy="5850591"/>
              </a:xfrm>
            </p:spPr>
            <p:txBody>
              <a:bodyPr>
                <a:normAutofit/>
              </a:bodyPr>
              <a:lstStyle/>
              <a:p>
                <a:r>
                  <a:rPr lang="nb-NO" sz="2600" noProof="0" dirty="0"/>
                  <a:t>Leah Laus eier en bedrift som har formuesverdi på kr 100. Hun må betale 1% i formuesskatt av formuesverdien dvs. kr 1. Leah har likviditetsutfordringer og må ta utbytte for å betale formuesskatten. Samtidig må hun sikre at utbyttet er stort nok til å betale eierskatten på 37,8%. Hvor stort utbytte må Leah ta for å dekke både formuesskatten og skatt på utbytte?</a:t>
                </a:r>
              </a:p>
              <a:p>
                <a:endParaRPr lang="nb-NO" sz="2600" noProof="0" dirty="0"/>
              </a:p>
              <a:p>
                <a:r>
                  <a:rPr lang="nb-NO" sz="2600" b="1" noProof="0" dirty="0"/>
                  <a:t>Fasit: </a:t>
                </a:r>
                <a:r>
                  <a:rPr lang="nb-NO" sz="2600" noProof="0" dirty="0"/>
                  <a:t>Leah skylder kr 1 i formuesskatt. For å dekke formuesskatten ved uttak av utbytte fra eierselskapet må størrelsen på utbyttet være</a:t>
                </a:r>
              </a:p>
              <a:p>
                <a:endParaRPr lang="nb-NO" sz="2600" noProof="0" dirty="0"/>
              </a:p>
              <a:p>
                <a:pPr marL="0" indent="0">
                  <a:buNone/>
                </a:pPr>
                <a14:m>
                  <m:oMathPara xmlns:m="http://schemas.openxmlformats.org/officeDocument/2006/math">
                    <m:oMath>
                      <m:f>
                        <m:fPr>
                          <m:ctrlPr>
                            <a:rPr lang="nb-NO" sz="2600" b="0" i="1" noProof="0" smtClean="0">
                              <a:latin typeface="Cambria Math" panose="02040503050406030204" pitchFamily="18" charset="0"/>
                            </a:rPr>
                          </m:ctrlPr>
                        </m:fPr>
                        <m:num>
                          <m:r>
                            <a:rPr lang="nb-NO" sz="2600" b="0" i="1" noProof="0" smtClean="0">
                              <a:latin typeface="Cambria Math" panose="02040503050406030204" pitchFamily="18" charset="0"/>
                            </a:rPr>
                            <m:t>1 </m:t>
                          </m:r>
                          <m:r>
                            <a:rPr lang="nb-NO" sz="2600" b="0" i="1" noProof="0" smtClean="0">
                              <a:latin typeface="Cambria Math" panose="02040503050406030204" pitchFamily="18" charset="0"/>
                            </a:rPr>
                            <m:t>𝑘𝑟</m:t>
                          </m:r>
                        </m:num>
                        <m:den>
                          <m:r>
                            <a:rPr lang="nb-NO" sz="2600" b="0" i="1" noProof="0" smtClean="0">
                              <a:latin typeface="Cambria Math" panose="02040503050406030204" pitchFamily="18" charset="0"/>
                            </a:rPr>
                            <m:t>100%−37,8%</m:t>
                          </m:r>
                        </m:den>
                      </m:f>
                      <m:r>
                        <a:rPr lang="nb-NO" sz="2600" b="0" i="1" noProof="0" smtClean="0">
                          <a:latin typeface="Cambria Math" panose="02040503050406030204" pitchFamily="18" charset="0"/>
                          <a:ea typeface="Cambria Math" panose="02040503050406030204" pitchFamily="18" charset="0"/>
                        </a:rPr>
                        <m:t>≅</m:t>
                      </m:r>
                      <m:r>
                        <a:rPr lang="nb-NO" sz="2600" b="0" i="1" noProof="0" smtClean="0">
                          <a:latin typeface="Cambria Math" panose="02040503050406030204" pitchFamily="18" charset="0"/>
                        </a:rPr>
                        <m:t>1,6 </m:t>
                      </m:r>
                      <m:r>
                        <a:rPr lang="nb-NO" sz="2600" b="0" i="1" noProof="0" smtClean="0">
                          <a:latin typeface="Cambria Math" panose="02040503050406030204" pitchFamily="18" charset="0"/>
                        </a:rPr>
                        <m:t>𝑘𝑟</m:t>
                      </m:r>
                    </m:oMath>
                  </m:oMathPara>
                </a14:m>
                <a:endParaRPr lang="nb-NO" sz="2600" noProof="0" dirty="0"/>
              </a:p>
              <a:p>
                <a:pPr marL="0" indent="0">
                  <a:buNone/>
                </a:pPr>
                <a:endParaRPr lang="nb-NO" sz="2600" noProof="0" dirty="0"/>
              </a:p>
              <a:p>
                <a:pPr marL="0" indent="0">
                  <a:buNone/>
                </a:pPr>
                <a:r>
                  <a:rPr lang="nb-NO" sz="2600" noProof="0" dirty="0"/>
                  <a:t>Sindre betaler kr 0,6 (=1,6*37,8) i utbytteskatt og kr 1 i formuesskatt derfor er utbyttet kr 1,6 (= 1kr + 0,6 kr).</a:t>
                </a:r>
              </a:p>
              <a:p>
                <a:pPr marL="0" indent="0">
                  <a:buNone/>
                </a:pPr>
                <a:endParaRPr lang="nb-NO" sz="2400" noProof="0" dirty="0"/>
              </a:p>
              <a:p>
                <a:endParaRPr lang="nb-NO" sz="2400" noProof="0" dirty="0"/>
              </a:p>
            </p:txBody>
          </p:sp>
        </mc:Choice>
        <mc:Fallback xmlns="">
          <p:sp>
            <p:nvSpPr>
              <p:cNvPr id="3" name="Content Placeholder 2">
                <a:extLst>
                  <a:ext uri="{FF2B5EF4-FFF2-40B4-BE49-F238E27FC236}">
                    <a16:creationId xmlns:a16="http://schemas.microsoft.com/office/drawing/2014/main" id="{0954B4DA-1184-20DE-D608-39876D5B5ACA}"/>
                  </a:ext>
                </a:extLst>
              </p:cNvPr>
              <p:cNvSpPr>
                <a:spLocks noGrp="1" noRot="1" noChangeAspect="1" noMove="1" noResize="1" noEditPoints="1" noAdjustHandles="1" noChangeArrowheads="1" noChangeShapeType="1" noTextEdit="1"/>
              </p:cNvSpPr>
              <p:nvPr>
                <p:ph idx="1"/>
              </p:nvPr>
            </p:nvSpPr>
            <p:spPr>
              <a:xfrm>
                <a:off x="381001" y="797859"/>
                <a:ext cx="11404600" cy="5850591"/>
              </a:xfrm>
              <a:blipFill>
                <a:blip r:embed="rId2"/>
                <a:stretch>
                  <a:fillRect l="-963" t="-1563" b="-417"/>
                </a:stretch>
              </a:blipFill>
            </p:spPr>
            <p:txBody>
              <a:bodyPr/>
              <a:lstStyle/>
              <a:p>
                <a:r>
                  <a:rPr lang="nb-NO">
                    <a:noFill/>
                  </a:rPr>
                  <a:t> </a:t>
                </a:r>
              </a:p>
            </p:txBody>
          </p:sp>
        </mc:Fallback>
      </mc:AlternateContent>
      <p:sp>
        <p:nvSpPr>
          <p:cNvPr id="4" name="Slide Number Placeholder 3">
            <a:extLst>
              <a:ext uri="{FF2B5EF4-FFF2-40B4-BE49-F238E27FC236}">
                <a16:creationId xmlns:a16="http://schemas.microsoft.com/office/drawing/2014/main" id="{1994E523-51BE-45A1-DBE6-F04430C54A25}"/>
              </a:ext>
            </a:extLst>
          </p:cNvPr>
          <p:cNvSpPr>
            <a:spLocks noGrp="1"/>
          </p:cNvSpPr>
          <p:nvPr>
            <p:ph type="sldNum" sz="quarter" idx="12"/>
          </p:nvPr>
        </p:nvSpPr>
        <p:spPr/>
        <p:txBody>
          <a:bodyPr/>
          <a:lstStyle/>
          <a:p>
            <a:fld id="{092CA8B5-DBB4-47BA-9127-F945AE107A35}" type="slidenum">
              <a:rPr lang="nb-NO" noProof="0" smtClean="0"/>
              <a:t>77</a:t>
            </a:fld>
            <a:endParaRPr lang="nb-NO" noProof="0" dirty="0"/>
          </a:p>
        </p:txBody>
      </p:sp>
    </p:spTree>
    <p:extLst>
      <p:ext uri="{BB962C8B-B14F-4D97-AF65-F5344CB8AC3E}">
        <p14:creationId xmlns:p14="http://schemas.microsoft.com/office/powerpoint/2010/main" val="312099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F8C65-34DE-35C0-C09B-18E9B0473829}"/>
              </a:ext>
            </a:extLst>
          </p:cNvPr>
          <p:cNvSpPr>
            <a:spLocks noGrp="1"/>
          </p:cNvSpPr>
          <p:nvPr>
            <p:ph type="title"/>
          </p:nvPr>
        </p:nvSpPr>
        <p:spPr>
          <a:xfrm>
            <a:off x="838200" y="136525"/>
            <a:ext cx="10515600" cy="729237"/>
          </a:xfrm>
        </p:spPr>
        <p:txBody>
          <a:bodyPr>
            <a:normAutofit fontScale="90000"/>
          </a:bodyPr>
          <a:lstStyle/>
          <a:p>
            <a:br>
              <a:rPr lang="nb-NO" sz="3600" noProof="0" dirty="0"/>
            </a:br>
            <a:r>
              <a:rPr lang="nb-NO" sz="3600" noProof="0" dirty="0"/>
              <a:t>Bjerksund-Schjelderup modellen (BS-modellen)</a:t>
            </a:r>
          </a:p>
        </p:txBody>
      </p:sp>
      <p:sp>
        <p:nvSpPr>
          <p:cNvPr id="3" name="Content Placeholder 2">
            <a:extLst>
              <a:ext uri="{FF2B5EF4-FFF2-40B4-BE49-F238E27FC236}">
                <a16:creationId xmlns:a16="http://schemas.microsoft.com/office/drawing/2014/main" id="{395EBEE3-0EA0-005A-3AEA-CA43AD08AB77}"/>
              </a:ext>
            </a:extLst>
          </p:cNvPr>
          <p:cNvSpPr>
            <a:spLocks noGrp="1"/>
          </p:cNvSpPr>
          <p:nvPr>
            <p:ph idx="1"/>
          </p:nvPr>
        </p:nvSpPr>
        <p:spPr>
          <a:xfrm>
            <a:off x="838200" y="1215957"/>
            <a:ext cx="10515600" cy="4961006"/>
          </a:xfrm>
        </p:spPr>
        <p:txBody>
          <a:bodyPr>
            <a:normAutofit/>
          </a:bodyPr>
          <a:lstStyle/>
          <a:p>
            <a:r>
              <a:rPr lang="nb-NO" noProof="0" dirty="0"/>
              <a:t>Valget er mellom </a:t>
            </a:r>
            <a:r>
              <a:rPr lang="nb-NO" i="1" noProof="0" dirty="0">
                <a:solidFill>
                  <a:srgbClr val="FF0000"/>
                </a:solidFill>
              </a:rPr>
              <a:t>å ta en krone i skattepliktig utbytte nå </a:t>
            </a:r>
            <a:r>
              <a:rPr lang="nb-NO" noProof="0" dirty="0"/>
              <a:t>(t=0) eller vente til horisonten (t= 1). Hva lønner seg?</a:t>
            </a:r>
          </a:p>
          <a:p>
            <a:pPr marL="0" indent="0">
              <a:buNone/>
            </a:pPr>
            <a:endParaRPr lang="nb-NO" noProof="0" dirty="0"/>
          </a:p>
          <a:p>
            <a:r>
              <a:rPr lang="nb-NO" noProof="0" dirty="0"/>
              <a:t>For å kunne sammenligne de to alternativene må egenkapitalen i selskapet skal være uendret ved begge strategier for å gi samme risiko i begge tilfellene.</a:t>
            </a:r>
          </a:p>
          <a:p>
            <a:endParaRPr lang="nb-NO" noProof="0" dirty="0"/>
          </a:p>
          <a:p>
            <a:pPr>
              <a:buFont typeface="Calibri" panose="020F0502020204030204" pitchFamily="34" charset="0"/>
              <a:buChar char="→"/>
            </a:pPr>
            <a:r>
              <a:rPr lang="nb-NO" noProof="0" dirty="0"/>
              <a:t> Tar vi ut utbytte på t = 0 må vi skyte inn EK tilsvarende utbyttet på kr 1 ved  t=0 for at risikoen i selskapet skal være den samme, og det må vi </a:t>
            </a:r>
            <a:r>
              <a:rPr lang="nb-NO" u="sng" noProof="0" dirty="0"/>
              <a:t>låne penger til </a:t>
            </a:r>
            <a:r>
              <a:rPr lang="nb-NO" noProof="0" dirty="0"/>
              <a:t>ellers hadde vi ikke behøvd å ta utbytte!</a:t>
            </a:r>
          </a:p>
          <a:p>
            <a:endParaRPr lang="nb-NO" noProof="0" dirty="0"/>
          </a:p>
        </p:txBody>
      </p:sp>
      <p:sp>
        <p:nvSpPr>
          <p:cNvPr id="4" name="Slide Number Placeholder 3">
            <a:extLst>
              <a:ext uri="{FF2B5EF4-FFF2-40B4-BE49-F238E27FC236}">
                <a16:creationId xmlns:a16="http://schemas.microsoft.com/office/drawing/2014/main" id="{6E944C1A-A90C-638F-6521-72892F760FD8}"/>
              </a:ext>
            </a:extLst>
          </p:cNvPr>
          <p:cNvSpPr>
            <a:spLocks noGrp="1"/>
          </p:cNvSpPr>
          <p:nvPr>
            <p:ph type="sldNum" sz="quarter" idx="12"/>
          </p:nvPr>
        </p:nvSpPr>
        <p:spPr/>
        <p:txBody>
          <a:bodyPr/>
          <a:lstStyle/>
          <a:p>
            <a:fld id="{092CA8B5-DBB4-47BA-9127-F945AE107A35}" type="slidenum">
              <a:rPr lang="nb-NO" noProof="0" smtClean="0"/>
              <a:t>78</a:t>
            </a:fld>
            <a:endParaRPr lang="nb-NO" noProof="0" dirty="0"/>
          </a:p>
        </p:txBody>
      </p:sp>
    </p:spTree>
    <p:extLst>
      <p:ext uri="{BB962C8B-B14F-4D97-AF65-F5344CB8AC3E}">
        <p14:creationId xmlns:p14="http://schemas.microsoft.com/office/powerpoint/2010/main" val="36453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5DDAC-0A72-8CDD-AC06-1EA578404FBA}"/>
              </a:ext>
            </a:extLst>
          </p:cNvPr>
          <p:cNvSpPr>
            <a:spLocks noGrp="1"/>
          </p:cNvSpPr>
          <p:nvPr>
            <p:ph type="title"/>
          </p:nvPr>
        </p:nvSpPr>
        <p:spPr>
          <a:xfrm>
            <a:off x="838200" y="18255"/>
            <a:ext cx="10515600" cy="1325563"/>
          </a:xfrm>
        </p:spPr>
        <p:txBody>
          <a:bodyPr>
            <a:normAutofit/>
          </a:bodyPr>
          <a:lstStyle/>
          <a:p>
            <a:r>
              <a:rPr lang="nb-NO" sz="2800" b="1" noProof="0" dirty="0">
                <a:solidFill>
                  <a:schemeClr val="accent1">
                    <a:lumMod val="50000"/>
                  </a:schemeClr>
                </a:solidFill>
                <a:latin typeface="+mn-lt"/>
              </a:rPr>
              <a:t>Aksjonæren tar ut utbytte på 1 krone på t=0 og skyter samtidig inn 1 krone inn som ny egenkapital</a:t>
            </a:r>
            <a:r>
              <a:rPr lang="nb-NO" sz="3200" b="1" noProof="0" dirty="0">
                <a:solidFill>
                  <a:schemeClr val="accent1">
                    <a:lumMod val="50000"/>
                  </a:schemeClr>
                </a:solidFill>
                <a:latin typeface="+mn-lt"/>
              </a:rPr>
              <a:t>.</a:t>
            </a:r>
          </a:p>
        </p:txBody>
      </p:sp>
      <p:sp>
        <p:nvSpPr>
          <p:cNvPr id="3" name="Content Placeholder 2">
            <a:extLst>
              <a:ext uri="{FF2B5EF4-FFF2-40B4-BE49-F238E27FC236}">
                <a16:creationId xmlns:a16="http://schemas.microsoft.com/office/drawing/2014/main" id="{9DEAF7C0-ABF5-3318-7C80-8AD40855DBED}"/>
              </a:ext>
            </a:extLst>
          </p:cNvPr>
          <p:cNvSpPr>
            <a:spLocks noGrp="1"/>
          </p:cNvSpPr>
          <p:nvPr>
            <p:ph idx="1"/>
          </p:nvPr>
        </p:nvSpPr>
        <p:spPr>
          <a:xfrm>
            <a:off x="461682" y="1343818"/>
            <a:ext cx="10892118" cy="4833145"/>
          </a:xfrm>
        </p:spPr>
        <p:txBody>
          <a:bodyPr>
            <a:normAutofit fontScale="92500" lnSpcReduction="20000"/>
          </a:bodyPr>
          <a:lstStyle/>
          <a:p>
            <a:r>
              <a:rPr lang="nb-NO" b="1" noProof="0" dirty="0"/>
              <a:t>Aksjonæren</a:t>
            </a:r>
            <a:r>
              <a:rPr lang="nb-NO" noProof="0" dirty="0"/>
              <a:t> betaler eierskatt av utbyttet på kr 1 lik kr 0,378 (37,8% av 1 kr) og finansierer skattebetalingen ved å ta opp lån privat.</a:t>
            </a:r>
          </a:p>
          <a:p>
            <a:endParaRPr lang="nb-NO" noProof="0" dirty="0"/>
          </a:p>
          <a:p>
            <a:r>
              <a:rPr lang="nb-NO" b="1" noProof="0" dirty="0"/>
              <a:t>Ved t=1</a:t>
            </a:r>
            <a:r>
              <a:rPr lang="nb-NO" noProof="0" dirty="0"/>
              <a:t> må aksjonæren innfri lånet på </a:t>
            </a:r>
            <a:r>
              <a:rPr lang="nb-NO" noProof="0" dirty="0">
                <a:solidFill>
                  <a:srgbClr val="FF0000"/>
                </a:solidFill>
              </a:rPr>
              <a:t>kr 0,378 </a:t>
            </a:r>
            <a:r>
              <a:rPr lang="nb-NO" noProof="0" dirty="0"/>
              <a:t>med påløpte renter slik at investoren må innfri:  </a:t>
            </a:r>
            <a:r>
              <a:rPr lang="nb-NO" noProof="0" dirty="0">
                <a:solidFill>
                  <a:srgbClr val="FF0000"/>
                </a:solidFill>
              </a:rPr>
              <a:t>kr 0,378*(1 + R(1-t)) </a:t>
            </a:r>
            <a:r>
              <a:rPr lang="nb-NO" noProof="0" dirty="0"/>
              <a:t>hvor </a:t>
            </a:r>
            <a:r>
              <a:rPr lang="nb-NO" noProof="0" dirty="0">
                <a:solidFill>
                  <a:srgbClr val="FF0000"/>
                </a:solidFill>
              </a:rPr>
              <a:t>R</a:t>
            </a:r>
            <a:r>
              <a:rPr lang="nb-NO" noProof="0" dirty="0"/>
              <a:t> er lånerenten og </a:t>
            </a:r>
            <a:r>
              <a:rPr lang="nb-NO" noProof="0" dirty="0">
                <a:solidFill>
                  <a:srgbClr val="FF0000"/>
                </a:solidFill>
              </a:rPr>
              <a:t>t</a:t>
            </a:r>
            <a:r>
              <a:rPr lang="nb-NO" noProof="0" dirty="0"/>
              <a:t> er skattesats på alminnelig inntekt.  Lånet er en kostnad ved å ta utbytte nå.</a:t>
            </a:r>
          </a:p>
          <a:p>
            <a:endParaRPr lang="nb-NO" noProof="0" dirty="0"/>
          </a:p>
          <a:p>
            <a:r>
              <a:rPr lang="nb-NO" b="1" noProof="0" dirty="0"/>
              <a:t>Når det skytes inn 1 krone i ny egenkapital </a:t>
            </a:r>
            <a:r>
              <a:rPr lang="nb-NO" noProof="0" dirty="0"/>
              <a:t>øker aksjonærens inngangsverdi til </a:t>
            </a:r>
            <a:r>
              <a:rPr lang="nb-NO" noProof="0" dirty="0">
                <a:solidFill>
                  <a:srgbClr val="FF0000"/>
                </a:solidFill>
              </a:rPr>
              <a:t>1*(1+r(1-t)) </a:t>
            </a:r>
            <a:r>
              <a:rPr lang="nb-NO" noProof="0" dirty="0"/>
              <a:t>hvor </a:t>
            </a:r>
            <a:r>
              <a:rPr lang="nb-NO" noProof="0" dirty="0">
                <a:solidFill>
                  <a:srgbClr val="FF0000"/>
                </a:solidFill>
              </a:rPr>
              <a:t>r(1-t) </a:t>
            </a:r>
            <a:r>
              <a:rPr lang="nb-NO" noProof="0" dirty="0"/>
              <a:t>er skjermingsrenten etter skatt (husk at skjermingsrenten (</a:t>
            </a:r>
            <a:r>
              <a:rPr lang="nb-NO" noProof="0" dirty="0">
                <a:solidFill>
                  <a:srgbClr val="FF0000"/>
                </a:solidFill>
              </a:rPr>
              <a:t>r</a:t>
            </a:r>
            <a:r>
              <a:rPr lang="nb-NO" noProof="0" dirty="0"/>
              <a:t>) renten skal være etter skatt). </a:t>
            </a:r>
          </a:p>
          <a:p>
            <a:endParaRPr lang="nb-NO" noProof="0" dirty="0"/>
          </a:p>
          <a:p>
            <a:r>
              <a:rPr lang="nb-NO" b="1" noProof="0" dirty="0"/>
              <a:t>Verdien av økt inngangsverdi </a:t>
            </a:r>
            <a:r>
              <a:rPr lang="nb-NO" noProof="0" dirty="0"/>
              <a:t>må multipliseres med eierskatten får å få fram skattebesparelsen dvs. </a:t>
            </a:r>
            <a:r>
              <a:rPr lang="nb-NO" noProof="0" dirty="0">
                <a:solidFill>
                  <a:srgbClr val="FF0000"/>
                </a:solidFill>
              </a:rPr>
              <a:t>0,378*(1+r(1-t)). </a:t>
            </a:r>
          </a:p>
          <a:p>
            <a:endParaRPr lang="nb-NO" noProof="0" dirty="0"/>
          </a:p>
        </p:txBody>
      </p:sp>
      <p:sp>
        <p:nvSpPr>
          <p:cNvPr id="4" name="Slide Number Placeholder 3">
            <a:extLst>
              <a:ext uri="{FF2B5EF4-FFF2-40B4-BE49-F238E27FC236}">
                <a16:creationId xmlns:a16="http://schemas.microsoft.com/office/drawing/2014/main" id="{26F93ED3-8FE2-5532-34A8-A5D2E4830732}"/>
              </a:ext>
            </a:extLst>
          </p:cNvPr>
          <p:cNvSpPr>
            <a:spLocks noGrp="1"/>
          </p:cNvSpPr>
          <p:nvPr>
            <p:ph type="sldNum" sz="quarter" idx="12"/>
          </p:nvPr>
        </p:nvSpPr>
        <p:spPr/>
        <p:txBody>
          <a:bodyPr/>
          <a:lstStyle/>
          <a:p>
            <a:fld id="{092CA8B5-DBB4-47BA-9127-F945AE107A35}" type="slidenum">
              <a:rPr lang="nb-NO" noProof="0" smtClean="0"/>
              <a:t>79</a:t>
            </a:fld>
            <a:endParaRPr lang="nb-NO" noProof="0" dirty="0"/>
          </a:p>
        </p:txBody>
      </p:sp>
    </p:spTree>
    <p:extLst>
      <p:ext uri="{BB962C8B-B14F-4D97-AF65-F5344CB8AC3E}">
        <p14:creationId xmlns:p14="http://schemas.microsoft.com/office/powerpoint/2010/main" val="105733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AE05-E4E4-C77B-18BB-2E2F0BE34AD3}"/>
              </a:ext>
            </a:extLst>
          </p:cNvPr>
          <p:cNvSpPr>
            <a:spLocks noGrp="1"/>
          </p:cNvSpPr>
          <p:nvPr>
            <p:ph type="title"/>
          </p:nvPr>
        </p:nvSpPr>
        <p:spPr>
          <a:xfrm>
            <a:off x="838200" y="365125"/>
            <a:ext cx="10515600" cy="786781"/>
          </a:xfrm>
        </p:spPr>
        <p:txBody>
          <a:bodyPr>
            <a:noAutofit/>
          </a:bodyPr>
          <a:lstStyle/>
          <a:p>
            <a:r>
              <a:rPr lang="nb-NO" sz="2400" b="1" u="sng" noProof="0" dirty="0"/>
              <a:t>Forts. </a:t>
            </a:r>
            <a:r>
              <a:rPr lang="nb-NO" sz="2400" b="1" noProof="0" dirty="0"/>
              <a:t>La oss sammenfatte. Aksjonæren tar ut utbytte på 1 krone nå (t=0) og skyter samtidig inn 1 krone inn som ny egenkapital.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ACC6C3-217C-8C65-C09B-CC3EF2C3EFA4}"/>
                  </a:ext>
                </a:extLst>
              </p:cNvPr>
              <p:cNvSpPr>
                <a:spLocks noGrp="1"/>
              </p:cNvSpPr>
              <p:nvPr>
                <p:ph idx="1"/>
              </p:nvPr>
            </p:nvSpPr>
            <p:spPr>
              <a:xfrm>
                <a:off x="564229" y="1456089"/>
                <a:ext cx="11063542" cy="5265386"/>
              </a:xfrm>
            </p:spPr>
            <p:txBody>
              <a:bodyPr>
                <a:normAutofit fontScale="92500" lnSpcReduction="20000"/>
              </a:bodyPr>
              <a:lstStyle/>
              <a:p>
                <a:r>
                  <a:rPr lang="nb-NO" sz="2600" noProof="0" dirty="0"/>
                  <a:t>Økt skjermingsgrunnlag ved å skyte inn 1 kr i EK gir en skattebesparelse (S) på tid 1 som svarer til:</a:t>
                </a:r>
              </a:p>
              <a:p>
                <a:pPr marL="0" indent="0" algn="ctr">
                  <a:buNone/>
                </a:pPr>
                <a:r>
                  <a:rPr lang="nb-NO" sz="2600" noProof="0" dirty="0"/>
                  <a:t> </a:t>
                </a:r>
                <a14:m>
                  <m:oMath xmlns:m="http://schemas.openxmlformats.org/officeDocument/2006/math">
                    <m:r>
                      <m:rPr>
                        <m:sty m:val="p"/>
                      </m:rPr>
                      <a:rPr lang="nb-NO" sz="2600" noProof="0">
                        <a:latin typeface="Cambria Math" panose="02040503050406030204" pitchFamily="18" charset="0"/>
                      </a:rPr>
                      <m:t>S</m:t>
                    </m:r>
                    <m:r>
                      <a:rPr lang="nb-NO" sz="2600" i="1" noProof="0">
                        <a:latin typeface="Cambria Math" panose="02040503050406030204" pitchFamily="18" charset="0"/>
                      </a:rPr>
                      <m:t>=0,3</m:t>
                    </m:r>
                    <m:r>
                      <a:rPr lang="nb-NO" sz="2600" b="0" i="1" noProof="0" smtClean="0">
                        <a:latin typeface="Cambria Math" panose="02040503050406030204" pitchFamily="18" charset="0"/>
                      </a:rPr>
                      <m:t>78</m:t>
                    </m:r>
                    <m:r>
                      <a:rPr lang="nb-NO" sz="2600" i="1" noProof="0">
                        <a:latin typeface="Cambria Math" panose="02040503050406030204" pitchFamily="18" charset="0"/>
                      </a:rPr>
                      <m:t>∗(1+</m:t>
                    </m:r>
                    <m:r>
                      <a:rPr lang="nb-NO" sz="2600" i="1" noProof="0">
                        <a:latin typeface="Cambria Math" panose="02040503050406030204" pitchFamily="18" charset="0"/>
                      </a:rPr>
                      <m:t>𝑟</m:t>
                    </m:r>
                    <m:d>
                      <m:dPr>
                        <m:ctrlPr>
                          <a:rPr lang="nb-NO" sz="2600" i="1" noProof="0">
                            <a:latin typeface="Cambria Math" panose="02040503050406030204" pitchFamily="18" charset="0"/>
                          </a:rPr>
                        </m:ctrlPr>
                      </m:dPr>
                      <m:e>
                        <m:r>
                          <a:rPr lang="nb-NO" sz="2600" i="1" noProof="0">
                            <a:latin typeface="Cambria Math" panose="02040503050406030204" pitchFamily="18" charset="0"/>
                          </a:rPr>
                          <m:t>1−</m:t>
                        </m:r>
                        <m:r>
                          <a:rPr lang="nb-NO" sz="2600" i="1" noProof="0">
                            <a:latin typeface="Cambria Math" panose="02040503050406030204" pitchFamily="18" charset="0"/>
                          </a:rPr>
                          <m:t>𝑡</m:t>
                        </m:r>
                      </m:e>
                    </m:d>
                    <m:r>
                      <a:rPr lang="nb-NO" sz="2600" i="1" noProof="0">
                        <a:latin typeface="Cambria Math" panose="02040503050406030204" pitchFamily="18" charset="0"/>
                      </a:rPr>
                      <m:t>)</m:t>
                    </m:r>
                  </m:oMath>
                </a14:m>
                <a:r>
                  <a:rPr lang="nb-NO" sz="2600" noProof="0" dirty="0"/>
                  <a:t>  </a:t>
                </a:r>
              </a:p>
              <a:p>
                <a:endParaRPr lang="nb-NO" sz="2600" noProof="0" dirty="0"/>
              </a:p>
              <a:p>
                <a:r>
                  <a:rPr lang="nb-NO" sz="2600" noProof="0" dirty="0"/>
                  <a:t>Utbytteskatten betales gjennom et lån som forfaller på t=1:</a:t>
                </a:r>
              </a:p>
              <a:p>
                <a:pPr marL="0" indent="0" algn="ctr">
                  <a:buNone/>
                </a:pPr>
                <a:r>
                  <a:rPr lang="nb-NO" sz="2600" noProof="0" dirty="0"/>
                  <a:t> </a:t>
                </a:r>
                <a14:m>
                  <m:oMath xmlns:m="http://schemas.openxmlformats.org/officeDocument/2006/math">
                    <m:r>
                      <a:rPr lang="nb-NO" sz="2600" i="1" noProof="0">
                        <a:latin typeface="Cambria Math" panose="02040503050406030204" pitchFamily="18" charset="0"/>
                      </a:rPr>
                      <m:t>𝐿</m:t>
                    </m:r>
                    <m:r>
                      <a:rPr lang="nb-NO" sz="2600" i="1" noProof="0">
                        <a:latin typeface="Cambria Math" panose="02040503050406030204" pitchFamily="18" charset="0"/>
                      </a:rPr>
                      <m:t>=0,378∗(1+</m:t>
                    </m:r>
                    <m:r>
                      <a:rPr lang="nb-NO" sz="2600" i="1" noProof="0">
                        <a:latin typeface="Cambria Math" panose="02040503050406030204" pitchFamily="18" charset="0"/>
                      </a:rPr>
                      <m:t>𝑅</m:t>
                    </m:r>
                    <m:d>
                      <m:dPr>
                        <m:ctrlPr>
                          <a:rPr lang="nb-NO" sz="2600" i="1" noProof="0">
                            <a:latin typeface="Cambria Math" panose="02040503050406030204" pitchFamily="18" charset="0"/>
                          </a:rPr>
                        </m:ctrlPr>
                      </m:dPr>
                      <m:e>
                        <m:r>
                          <a:rPr lang="nb-NO" sz="2600" i="1" noProof="0">
                            <a:latin typeface="Cambria Math" panose="02040503050406030204" pitchFamily="18" charset="0"/>
                          </a:rPr>
                          <m:t>1−</m:t>
                        </m:r>
                        <m:r>
                          <a:rPr lang="nb-NO" sz="2600" i="1" noProof="0">
                            <a:latin typeface="Cambria Math" panose="02040503050406030204" pitchFamily="18" charset="0"/>
                          </a:rPr>
                          <m:t>𝑡</m:t>
                        </m:r>
                      </m:e>
                    </m:d>
                    <m:r>
                      <a:rPr lang="nb-NO" sz="2600" i="1" noProof="0">
                        <a:latin typeface="Cambria Math" panose="02040503050406030204" pitchFamily="18" charset="0"/>
                      </a:rPr>
                      <m:t>)</m:t>
                    </m:r>
                  </m:oMath>
                </a14:m>
                <a:endParaRPr lang="nb-NO" sz="2600" noProof="0" dirty="0"/>
              </a:p>
              <a:p>
                <a:endParaRPr lang="nb-NO" sz="2600" noProof="0" dirty="0"/>
              </a:p>
              <a:p>
                <a:r>
                  <a:rPr lang="nb-NO" sz="2600" noProof="0" dirty="0"/>
                  <a:t>Skal det lønne seg å ta utbytte på t=0 må vi ha at</a:t>
                </a:r>
              </a:p>
              <a:p>
                <a:pPr marL="0" indent="0" algn="ctr">
                  <a:buNone/>
                </a:pPr>
                <a:r>
                  <a:rPr lang="nb-NO" sz="2600" noProof="0" dirty="0"/>
                  <a:t> </a:t>
                </a:r>
                <a14:m>
                  <m:oMath xmlns:m="http://schemas.openxmlformats.org/officeDocument/2006/math">
                    <m:r>
                      <a:rPr lang="nb-NO" sz="2600" b="0" i="1" noProof="0" smtClean="0">
                        <a:latin typeface="Cambria Math" panose="02040503050406030204" pitchFamily="18" charset="0"/>
                      </a:rPr>
                      <m:t>𝑆</m:t>
                    </m:r>
                    <m:r>
                      <a:rPr lang="nb-NO" sz="2600" i="1" noProof="0">
                        <a:latin typeface="Cambria Math" panose="02040503050406030204" pitchFamily="18" charset="0"/>
                      </a:rPr>
                      <m:t>−</m:t>
                    </m:r>
                    <m:r>
                      <a:rPr lang="nb-NO" sz="2600" i="1" noProof="0">
                        <a:latin typeface="Cambria Math" panose="02040503050406030204" pitchFamily="18" charset="0"/>
                      </a:rPr>
                      <m:t>𝐿</m:t>
                    </m:r>
                    <m:r>
                      <a:rPr lang="nb-NO" sz="2600" i="1" noProof="0">
                        <a:latin typeface="Cambria Math" panose="02040503050406030204" pitchFamily="18" charset="0"/>
                      </a:rPr>
                      <m:t>=0 →</m:t>
                    </m:r>
                    <m:r>
                      <m:rPr>
                        <m:sty m:val="p"/>
                      </m:rPr>
                      <a:rPr lang="nb-NO" sz="2600" b="0" i="0" noProof="0" smtClean="0">
                        <a:latin typeface="Cambria Math" panose="02040503050406030204" pitchFamily="18" charset="0"/>
                        <a:ea typeface="Cambria Math" panose="02040503050406030204" pitchFamily="18" charset="0"/>
                      </a:rPr>
                      <m:t>r</m:t>
                    </m:r>
                    <m:r>
                      <a:rPr lang="nb-NO" sz="2600" b="0" i="0" noProof="0" smtClean="0">
                        <a:latin typeface="Cambria Math" panose="02040503050406030204" pitchFamily="18" charset="0"/>
                        <a:ea typeface="Cambria Math" panose="02040503050406030204" pitchFamily="18" charset="0"/>
                      </a:rPr>
                      <m:t>=</m:t>
                    </m:r>
                    <m:r>
                      <m:rPr>
                        <m:sty m:val="p"/>
                      </m:rPr>
                      <a:rPr lang="nb-NO" sz="2600" b="0" i="0" noProof="0" smtClean="0">
                        <a:latin typeface="Cambria Math" panose="02040503050406030204" pitchFamily="18" charset="0"/>
                        <a:ea typeface="Cambria Math" panose="02040503050406030204" pitchFamily="18" charset="0"/>
                      </a:rPr>
                      <m:t>R</m:t>
                    </m:r>
                    <m:r>
                      <a:rPr lang="nb-NO" sz="2600" b="0" i="0" noProof="0" smtClean="0">
                        <a:latin typeface="Cambria Math" panose="02040503050406030204" pitchFamily="18" charset="0"/>
                        <a:ea typeface="Cambria Math" panose="02040503050406030204" pitchFamily="18" charset="0"/>
                      </a:rPr>
                      <m:t> </m:t>
                    </m:r>
                  </m:oMath>
                </a14:m>
                <a:endParaRPr lang="nb-NO" sz="2600" b="0" noProof="0" dirty="0">
                  <a:ea typeface="Cambria Math" panose="02040503050406030204" pitchFamily="18" charset="0"/>
                </a:endParaRPr>
              </a:p>
              <a:p>
                <a:pPr marL="0" indent="0">
                  <a:buNone/>
                </a:pPr>
                <a:r>
                  <a:rPr lang="nb-NO" sz="2600" noProof="0" dirty="0"/>
                  <a:t>Altså må skjermingsrenten være lik lånerenten.</a:t>
                </a:r>
              </a:p>
              <a:p>
                <a:endParaRPr lang="nb-NO" sz="2600" noProof="0" dirty="0"/>
              </a:p>
              <a:p>
                <a:r>
                  <a:rPr lang="nb-NO" sz="2600" noProof="0" dirty="0"/>
                  <a:t> Hvis lånerenten er større enn skjermingsrenten </a:t>
                </a:r>
                <a:r>
                  <a:rPr lang="nb-NO" sz="2600" noProof="0" dirty="0" err="1"/>
                  <a:t>dvs</a:t>
                </a:r>
                <a:r>
                  <a:rPr lang="nb-NO" sz="2600" noProof="0" dirty="0"/>
                  <a:t>  </a:t>
                </a:r>
                <a14:m>
                  <m:oMath xmlns:m="http://schemas.openxmlformats.org/officeDocument/2006/math">
                    <m:r>
                      <a:rPr lang="nb-NO" sz="2600" i="1" noProof="0">
                        <a:latin typeface="Cambria Math" panose="02040503050406030204" pitchFamily="18" charset="0"/>
                      </a:rPr>
                      <m:t>𝑅</m:t>
                    </m:r>
                    <m:r>
                      <a:rPr lang="nb-NO" sz="2600" i="1" noProof="0">
                        <a:latin typeface="Cambria Math" panose="02040503050406030204" pitchFamily="18" charset="0"/>
                      </a:rPr>
                      <m:t>&gt;</m:t>
                    </m:r>
                    <m:r>
                      <a:rPr lang="nb-NO" sz="2600" i="1" noProof="0">
                        <a:latin typeface="Cambria Math" panose="02040503050406030204" pitchFamily="18" charset="0"/>
                      </a:rPr>
                      <m:t>𝑟</m:t>
                    </m:r>
                    <m:r>
                      <a:rPr lang="nb-NO" sz="2600" i="1" noProof="0">
                        <a:latin typeface="Cambria Math" panose="02040503050406030204" pitchFamily="18" charset="0"/>
                      </a:rPr>
                      <m:t> ,</m:t>
                    </m:r>
                  </m:oMath>
                </a14:m>
                <a:r>
                  <a:rPr lang="nb-NO" sz="2600" noProof="0" dirty="0"/>
                  <a:t> kommer aksjonæren bedre ut ved å spare gjennom selskapet og heller ta utbytte på t=1.  Skjermingsrenten i Norge er betydelig lavere enn lånerenten.</a:t>
                </a:r>
              </a:p>
              <a:p>
                <a:endParaRPr lang="nb-NO" sz="2600" noProof="0" dirty="0"/>
              </a:p>
              <a:p>
                <a:endParaRPr lang="nb-NO" noProof="0" dirty="0"/>
              </a:p>
            </p:txBody>
          </p:sp>
        </mc:Choice>
        <mc:Fallback xmlns="">
          <p:sp>
            <p:nvSpPr>
              <p:cNvPr id="3" name="Content Placeholder 2">
                <a:extLst>
                  <a:ext uri="{FF2B5EF4-FFF2-40B4-BE49-F238E27FC236}">
                    <a16:creationId xmlns:a16="http://schemas.microsoft.com/office/drawing/2014/main" id="{2AACC6C3-217C-8C65-C09B-CC3EF2C3EFA4}"/>
                  </a:ext>
                </a:extLst>
              </p:cNvPr>
              <p:cNvSpPr>
                <a:spLocks noGrp="1" noRot="1" noChangeAspect="1" noMove="1" noResize="1" noEditPoints="1" noAdjustHandles="1" noChangeArrowheads="1" noChangeShapeType="1" noTextEdit="1"/>
              </p:cNvSpPr>
              <p:nvPr>
                <p:ph idx="1"/>
              </p:nvPr>
            </p:nvSpPr>
            <p:spPr>
              <a:xfrm>
                <a:off x="564229" y="1456089"/>
                <a:ext cx="11063542" cy="5265386"/>
              </a:xfrm>
              <a:blipFill>
                <a:blip r:embed="rId2"/>
                <a:stretch>
                  <a:fillRect l="-882" t="-2662" r="-937"/>
                </a:stretch>
              </a:blipFill>
            </p:spPr>
            <p:txBody>
              <a:bodyPr/>
              <a:lstStyle/>
              <a:p>
                <a:r>
                  <a:rPr lang="nb-NO">
                    <a:noFill/>
                  </a:rPr>
                  <a:t> </a:t>
                </a:r>
              </a:p>
            </p:txBody>
          </p:sp>
        </mc:Fallback>
      </mc:AlternateContent>
      <p:sp>
        <p:nvSpPr>
          <p:cNvPr id="4" name="Slide Number Placeholder 3">
            <a:extLst>
              <a:ext uri="{FF2B5EF4-FFF2-40B4-BE49-F238E27FC236}">
                <a16:creationId xmlns:a16="http://schemas.microsoft.com/office/drawing/2014/main" id="{7AEB99EC-6647-6A31-D891-0A7D07429436}"/>
              </a:ext>
            </a:extLst>
          </p:cNvPr>
          <p:cNvSpPr>
            <a:spLocks noGrp="1"/>
          </p:cNvSpPr>
          <p:nvPr>
            <p:ph type="sldNum" sz="quarter" idx="12"/>
          </p:nvPr>
        </p:nvSpPr>
        <p:spPr/>
        <p:txBody>
          <a:bodyPr/>
          <a:lstStyle/>
          <a:p>
            <a:fld id="{092CA8B5-DBB4-47BA-9127-F945AE107A35}" type="slidenum">
              <a:rPr lang="nb-NO" noProof="0" smtClean="0"/>
              <a:t>80</a:t>
            </a:fld>
            <a:endParaRPr lang="nb-NO" noProof="0" dirty="0"/>
          </a:p>
        </p:txBody>
      </p:sp>
    </p:spTree>
    <p:extLst>
      <p:ext uri="{BB962C8B-B14F-4D97-AF65-F5344CB8AC3E}">
        <p14:creationId xmlns:p14="http://schemas.microsoft.com/office/powerpoint/2010/main" val="7094986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5.2|13.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9109439179B544F8D88A46EC3854F27" ma:contentTypeVersion="5" ma:contentTypeDescription="Opprett et nytt dokument." ma:contentTypeScope="" ma:versionID="4bb9f8282ca7a551f0ba10e91695f6c3">
  <xsd:schema xmlns:xsd="http://www.w3.org/2001/XMLSchema" xmlns:xs="http://www.w3.org/2001/XMLSchema" xmlns:p="http://schemas.microsoft.com/office/2006/metadata/properties" xmlns:ns3="8a8bec52-5105-40cc-af25-cf9a7795bbdd" xmlns:ns4="a13eb870-6bde-4369-b1d2-97daffbf40d2" targetNamespace="http://schemas.microsoft.com/office/2006/metadata/properties" ma:root="true" ma:fieldsID="0142e39be93c634f04cae096ed1f1d11" ns3:_="" ns4:_="">
    <xsd:import namespace="8a8bec52-5105-40cc-af25-cf9a7795bbdd"/>
    <xsd:import namespace="a13eb870-6bde-4369-b1d2-97daffbf40d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8bec52-5105-40cc-af25-cf9a7795bbdd"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3eb870-6bde-4369-b1d2-97daffbf40d2" elementFormDefault="qualified">
    <xsd:import namespace="http://schemas.microsoft.com/office/2006/documentManagement/types"/>
    <xsd:import namespace="http://schemas.microsoft.com/office/infopath/2007/PartnerControls"/>
    <xsd:element name="SharedWithUsers" ma:index="10"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lingsdetaljer" ma:internalName="SharedWithDetails" ma:readOnly="true">
      <xsd:simpleType>
        <xsd:restriction base="dms:Note">
          <xsd:maxLength value="255"/>
        </xsd:restriction>
      </xsd:simpleType>
    </xsd:element>
    <xsd:element name="SharingHintHash" ma:index="12" nillable="true" ma:displayName="Hash for deling av tip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8E67CAD-25A6-4FBE-8805-B0F587A0A3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8bec52-5105-40cc-af25-cf9a7795bbdd"/>
    <ds:schemaRef ds:uri="a13eb870-6bde-4369-b1d2-97daffbf40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049ABED-C43C-473D-BE8A-30778FC111A4}">
  <ds:schemaRefs>
    <ds:schemaRef ds:uri="http://schemas.microsoft.com/office/2006/documentManagement/types"/>
    <ds:schemaRef ds:uri="http://purl.org/dc/terms/"/>
    <ds:schemaRef ds:uri="8a8bec52-5105-40cc-af25-cf9a7795bbdd"/>
    <ds:schemaRef ds:uri="http://purl.org/dc/dcmitype/"/>
    <ds:schemaRef ds:uri="a13eb870-6bde-4369-b1d2-97daffbf40d2"/>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purl.org/dc/elements/1.1/"/>
  </ds:schemaRefs>
</ds:datastoreItem>
</file>

<file path=customXml/itemProps3.xml><?xml version="1.0" encoding="utf-8"?>
<ds:datastoreItem xmlns:ds="http://schemas.openxmlformats.org/officeDocument/2006/customXml" ds:itemID="{CAACCAE0-D3D3-4910-810B-C7DE19DBDE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100390</TotalTime>
  <Words>5579</Words>
  <Application>Microsoft Macintosh PowerPoint</Application>
  <PresentationFormat>Widescreen</PresentationFormat>
  <Paragraphs>729</Paragraphs>
  <Slides>80</Slides>
  <Notes>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80</vt:i4>
      </vt:variant>
    </vt:vector>
  </HeadingPairs>
  <TitlesOfParts>
    <vt:vector size="92" baseType="lpstr">
      <vt:lpstr>Amasis MT Pro Black</vt:lpstr>
      <vt:lpstr>Aptos</vt:lpstr>
      <vt:lpstr>Aptos Display</vt:lpstr>
      <vt:lpstr>Arial</vt:lpstr>
      <vt:lpstr>Calibri</vt:lpstr>
      <vt:lpstr>Calibri Light</vt:lpstr>
      <vt:lpstr>Cambria</vt:lpstr>
      <vt:lpstr>Cambria Math</vt:lpstr>
      <vt:lpstr>Crimson Text</vt:lpstr>
      <vt:lpstr>Google Sans</vt:lpstr>
      <vt:lpstr>Office Theme</vt:lpstr>
      <vt:lpstr>1_Office Theme</vt:lpstr>
      <vt:lpstr>Aksjonærmodellen og Fritaksmetoden</vt:lpstr>
      <vt:lpstr>Disposisjon for forelesningene</vt:lpstr>
      <vt:lpstr>1. Skattereformen i 1992 og dens konsekvenser for skattepolitikken i dag </vt:lpstr>
      <vt:lpstr>Før skattereformen i 1992</vt:lpstr>
      <vt:lpstr>Skattereformen i 1992 </vt:lpstr>
      <vt:lpstr>Delingsmodellen </vt:lpstr>
      <vt:lpstr>Delingsmodellen i praksis</vt:lpstr>
      <vt:lpstr>Hva ville dere gjort om dere var ene-eier av et aksjeselskap og dermed eide 100% av aksjene og var aktiv eier (eide mer enn 2/3 av aksjene)?</vt:lpstr>
      <vt:lpstr>Dere ville solgt dere ned under grensen på 67,67% </vt:lpstr>
      <vt:lpstr>Norgesparadokset</vt:lpstr>
      <vt:lpstr>Bondevik II regjeringen (H + Krf + V) annonserte i 2004 ny skattereform</vt:lpstr>
      <vt:lpstr>Dette skjedde</vt:lpstr>
      <vt:lpstr>PowerPoint Presentation</vt:lpstr>
      <vt:lpstr>PowerPoint Presentation</vt:lpstr>
      <vt:lpstr>Skattemessige konsekvenser av nedskrivning av EK</vt:lpstr>
      <vt:lpstr>PowerPoint Presentation</vt:lpstr>
      <vt:lpstr>Hva er Oligark-øyeblikket ?</vt:lpstr>
      <vt:lpstr>PowerPoint Presentation</vt:lpstr>
      <vt:lpstr>2. Skattereformen i 2006:   Man innførte:  Fritaksmetoden  og Aksjonærmodellen  Begge er i bruk i dag</vt:lpstr>
      <vt:lpstr>Kapitalbeskatningen i 2026</vt:lpstr>
      <vt:lpstr>3. Fritaksmetoden</vt:lpstr>
      <vt:lpstr>Fritaksmetoden (selskapsaksjonærer)</vt:lpstr>
      <vt:lpstr>PowerPoint Presentation</vt:lpstr>
      <vt:lpstr>Selskapsorganisering pga fritaksmetoden</vt:lpstr>
      <vt:lpstr>Mer utfyllende om Fritaksmetoden</vt:lpstr>
      <vt:lpstr>Fritaksmetoden</vt:lpstr>
      <vt:lpstr>PowerPoint Presentation</vt:lpstr>
      <vt:lpstr>PowerPoint Presentation</vt:lpstr>
      <vt:lpstr>4. Aksjonærmodellen</vt:lpstr>
      <vt:lpstr>AKLSJONÆRMODELLEN</vt:lpstr>
      <vt:lpstr>PowerPoint Presentation</vt:lpstr>
      <vt:lpstr>Skjermingsrenten</vt:lpstr>
      <vt:lpstr>PowerPoint Presentation</vt:lpstr>
      <vt:lpstr>EKSEMPEL: Olsen eier 1 aksje i AS Industri, kjøpt årsskiftet 2014 for kr 1000 (aksjens kostpris). Aksjen ble solgt i 2019 før utbytte til kr 1100 så Olsen går glipp av utbytte og skjerming i 2019</vt:lpstr>
      <vt:lpstr>Beregning av aksjegevinst i eksemplet. Olsen kjøpte aksjen for 1000 og selger for 1100 og hadde ubenyttet skjermingsfradrag (30)</vt:lpstr>
      <vt:lpstr>PowerPoint Presentation</vt:lpstr>
      <vt:lpstr>Formuesskatt og utbytte</vt:lpstr>
      <vt:lpstr>Et eksempel: Norsk investor kjøper børsnoterte aksjer for 10 millioner. </vt:lpstr>
      <vt:lpstr>Til sammenlikning</vt:lpstr>
      <vt:lpstr>Skjermingsfradraget </vt:lpstr>
      <vt:lpstr>Pengene hoper seg opp i selskapene. Aksjonærene tar ikke utbytte.</vt:lpstr>
      <vt:lpstr>5 års regelen (opphørt fra og med 29. november 2022). </vt:lpstr>
      <vt:lpstr>EXIT skatten – skattlegging av aksjegevinster ved utflytting</vt:lpstr>
      <vt:lpstr>Kapitalen seg opp i selskapene: Det tas mindre utbytte etter skattereformen i 2006</vt:lpstr>
      <vt:lpstr>Referanser</vt:lpstr>
      <vt:lpstr>PowerPoint Presentation</vt:lpstr>
      <vt:lpstr>PowerPoint Presentation</vt:lpstr>
      <vt:lpstr>5. Inntektsskiftningsligningen</vt:lpstr>
      <vt:lpstr>PowerPoint Presentation</vt:lpstr>
      <vt:lpstr>INNTEKTS-SKIFTNIGSLIGNINGEN</vt:lpstr>
      <vt:lpstr>PowerPoint Presentation</vt:lpstr>
      <vt:lpstr>Er inntektsskiftningsligningen riktig? </vt:lpstr>
      <vt:lpstr>Antakelser om overveltning har konsekvenser for eierskatten</vt:lpstr>
      <vt:lpstr>PowerPoint Presentation</vt:lpstr>
      <vt:lpstr>PowerPoint Presentation</vt:lpstr>
      <vt:lpstr>Er det mer naturlig å anta at arbeidsgiveravgiften deles 50/50?</vt:lpstr>
      <vt:lpstr>Aksjonærlån </vt:lpstr>
      <vt:lpstr>6. Nominelle, effektive og marginale skattesater</vt:lpstr>
      <vt:lpstr>Nominelle , marginale og effektive skattesatser</vt:lpstr>
      <vt:lpstr>Gjennomsnittlig effektiv skattesats for bedriften  (AERT – Average Effective Tax Rate) </vt:lpstr>
      <vt:lpstr>Eksempel: AERT vs nominell skattesats</vt:lpstr>
      <vt:lpstr>Skattesystemet er nøytralt når bedriften kan avskrive alt med en gang</vt:lpstr>
      <vt:lpstr>PowerPoint Presentation</vt:lpstr>
      <vt:lpstr>Effektiv marginalskatt på eier av bedrift</vt:lpstr>
      <vt:lpstr>PowerPoint Presentation</vt:lpstr>
      <vt:lpstr>7. De rikeste og kapitalbeskatningen i Norge</vt:lpstr>
      <vt:lpstr>De 1 prosent rikeste (ca 50 000 personer) kjennetegnes ved: </vt:lpstr>
      <vt:lpstr>Hva er skattebelastningen  for en topp 1% rik investor  (vi skal sette oss inn i samme posisjon og se hva vi ender opp med i skatt)  </vt:lpstr>
      <vt:lpstr>Vi skal finne effektiv skatt (AERT) for en rik investor</vt:lpstr>
      <vt:lpstr>PowerPoint Presentation</vt:lpstr>
      <vt:lpstr>PowerPoint Presentation</vt:lpstr>
      <vt:lpstr>PowerPoint Presentation</vt:lpstr>
      <vt:lpstr>PowerPoint Presentation</vt:lpstr>
      <vt:lpstr>Appendiks</vt:lpstr>
      <vt:lpstr>Eksempel 1: Typisk eksamensoppgave (skatt på utbytte) </vt:lpstr>
      <vt:lpstr>PowerPoint Presentation</vt:lpstr>
      <vt:lpstr>Eksempel 2: Formuesskatt og utbytte.</vt:lpstr>
      <vt:lpstr> Bjerksund-Schjelderup modellen (BS-modellen)</vt:lpstr>
      <vt:lpstr>Aksjonæren tar ut utbytte på 1 krone på t=0 og skyter samtidig inn 1 krone inn som ny egenkapital.</vt:lpstr>
      <vt:lpstr>Forts. La oss sammenfatte. Aksjonæren tar ut utbytte på 1 krone nå (t=0) og skyter samtidig inn 1 krone inn som ny egenkapital.</vt:lpstr>
    </vt:vector>
  </TitlesOfParts>
  <Company>Norges Handelshoyskole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Guttorm Schjelderup</dc:creator>
  <cp:lastModifiedBy>Guttorm Schjelderup</cp:lastModifiedBy>
  <cp:revision>288</cp:revision>
  <cp:lastPrinted>2023-08-29T12:32:21Z</cp:lastPrinted>
  <dcterms:created xsi:type="dcterms:W3CDTF">2016-06-10T08:45:32Z</dcterms:created>
  <dcterms:modified xsi:type="dcterms:W3CDTF">2026-08-28T14:22:44Z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0x01010039109439179B544F8D88A46EC3854F27</vt:lpwstr>
  </property>
</Properties>
</file>