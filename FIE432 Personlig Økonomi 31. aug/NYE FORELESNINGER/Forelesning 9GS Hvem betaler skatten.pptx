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32"/>
  </p:handoutMasterIdLst>
  <p:sldIdLst>
    <p:sldId id="257" r:id="rId5"/>
    <p:sldId id="332" r:id="rId6"/>
    <p:sldId id="333" r:id="rId7"/>
    <p:sldId id="289" r:id="rId8"/>
    <p:sldId id="334" r:id="rId9"/>
    <p:sldId id="324" r:id="rId10"/>
    <p:sldId id="335" r:id="rId11"/>
    <p:sldId id="274" r:id="rId12"/>
    <p:sldId id="336" r:id="rId13"/>
    <p:sldId id="340" r:id="rId14"/>
    <p:sldId id="341" r:id="rId15"/>
    <p:sldId id="342" r:id="rId16"/>
    <p:sldId id="343" r:id="rId17"/>
    <p:sldId id="320" r:id="rId18"/>
    <p:sldId id="322" r:id="rId19"/>
    <p:sldId id="331" r:id="rId20"/>
    <p:sldId id="328" r:id="rId21"/>
    <p:sldId id="329" r:id="rId22"/>
    <p:sldId id="321" r:id="rId23"/>
    <p:sldId id="323" r:id="rId24"/>
    <p:sldId id="282" r:id="rId25"/>
    <p:sldId id="325" r:id="rId26"/>
    <p:sldId id="292" r:id="rId27"/>
    <p:sldId id="338" r:id="rId28"/>
    <p:sldId id="339" r:id="rId29"/>
    <p:sldId id="283" r:id="rId30"/>
    <p:sldId id="327" r:id="rId31"/>
  </p:sldIdLst>
  <p:sldSz cx="12192000" cy="6858000"/>
  <p:notesSz cx="6645275" cy="9775825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9A5BE-FBD3-44BE-BC67-61C5E019550B}" v="58" dt="2025-09-12T06:17:04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738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619" cy="490489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89904" tIns="44952" rIns="89904" bIns="44952" rtlCol="0"/>
          <a:lstStyle>
            <a:lvl1pPr algn="r">
              <a:defRPr sz="1200"/>
            </a:lvl1pPr>
          </a:lstStyle>
          <a:p>
            <a:fld id="{6916869E-8B79-4E4F-A696-8306A9E4CFCC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85338"/>
            <a:ext cx="2879619" cy="490488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4119" y="9285338"/>
            <a:ext cx="2879619" cy="490488"/>
          </a:xfrm>
          <a:prstGeom prst="rect">
            <a:avLst/>
          </a:prstGeom>
        </p:spPr>
        <p:txBody>
          <a:bodyPr vert="horz" lIns="89904" tIns="44952" rIns="89904" bIns="44952" rtlCol="0" anchor="b"/>
          <a:lstStyle>
            <a:lvl1pPr algn="r">
              <a:defRPr sz="1200"/>
            </a:lvl1pPr>
          </a:lstStyle>
          <a:p>
            <a:fld id="{710CB048-96F5-4C76-8D2B-77D574808B6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8014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884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491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3948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028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367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2732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691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859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171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710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966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1CDF8-3DAA-48C3-A4D0-D992ABE7C72E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261A1-85EB-4B24-AD7B-39C765DB798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15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>
                <a:solidFill>
                  <a:schemeClr val="bg1"/>
                </a:solidFill>
              </a:rPr>
              <a:t>Hvem betaler egentlig skatten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3200" dirty="0">
                <a:solidFill>
                  <a:schemeClr val="bg1"/>
                </a:solidFill>
              </a:rPr>
              <a:t>FIE 432 Personlig Økonomi</a:t>
            </a:r>
          </a:p>
          <a:p>
            <a:r>
              <a:rPr lang="nb-NO" sz="3200" dirty="0">
                <a:solidFill>
                  <a:schemeClr val="bg1"/>
                </a:solidFill>
              </a:rPr>
              <a:t>Professor Guttorm Schjelderup</a:t>
            </a:r>
          </a:p>
        </p:txBody>
      </p:sp>
    </p:spTree>
    <p:extLst>
      <p:ext uri="{BB962C8B-B14F-4D97-AF65-F5344CB8AC3E}">
        <p14:creationId xmlns:p14="http://schemas.microsoft.com/office/powerpoint/2010/main" val="73618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27"/>
    </mc:Choice>
    <mc:Fallback xmlns="">
      <p:transition spd="slow" advTm="543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C54E-A94E-CE10-7015-6E64971C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233" y="139700"/>
            <a:ext cx="11671299" cy="6591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Anta at regjeringen ilegger 25% moms på alle matvarer.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Matvarebutikken skal kreve inn momsen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Vil butikken heve prisen på en liter melk fra kr 20 til kr 25?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Er det profittmaksimerende å øke prisen med 25%?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Og hvis prisen ikke økes med 25% hvem betaler egentlig momsen (kunden eller butikken eller begge to?)</a:t>
            </a:r>
          </a:p>
        </p:txBody>
      </p:sp>
    </p:spTree>
    <p:extLst>
      <p:ext uri="{BB962C8B-B14F-4D97-AF65-F5344CB8AC3E}">
        <p14:creationId xmlns:p14="http://schemas.microsoft.com/office/powerpoint/2010/main" val="167911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F671-ACFE-098A-3D9D-680A34A7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028" y="350874"/>
            <a:ext cx="11435316" cy="6257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Anta at regjeringen øker skatten bedriftene betaler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Hva skjer med lønningene til arbeidstakerne?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Hva skjer med prisene til produktene bedriften selger?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Vil økt selskapsskatt føre til høyere priser og lavere lønninger?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I USA antar </a:t>
            </a:r>
            <a:r>
              <a:rPr lang="nb-NO" sz="3600" dirty="0" err="1">
                <a:solidFill>
                  <a:schemeClr val="bg1"/>
                </a:solidFill>
              </a:rPr>
              <a:t>Congressional</a:t>
            </a:r>
            <a:r>
              <a:rPr lang="nb-NO" sz="3600" dirty="0">
                <a:solidFill>
                  <a:schemeClr val="bg1"/>
                </a:solidFill>
              </a:rPr>
              <a:t> Budget Office at 50% av selskapsskatten </a:t>
            </a:r>
            <a:r>
              <a:rPr lang="nb-NO" sz="3600" dirty="0" err="1">
                <a:solidFill>
                  <a:schemeClr val="bg1"/>
                </a:solidFill>
              </a:rPr>
              <a:t>overveltes</a:t>
            </a:r>
            <a:r>
              <a:rPr lang="nb-NO" sz="3600" dirty="0">
                <a:solidFill>
                  <a:schemeClr val="bg1"/>
                </a:solidFill>
              </a:rPr>
              <a:t> på lønninger og produktpriser</a:t>
            </a:r>
          </a:p>
        </p:txBody>
      </p:sp>
    </p:spTree>
    <p:extLst>
      <p:ext uri="{BB962C8B-B14F-4D97-AF65-F5344CB8AC3E}">
        <p14:creationId xmlns:p14="http://schemas.microsoft.com/office/powerpoint/2010/main" val="375113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>
            <a:extLst>
              <a:ext uri="{FF2B5EF4-FFF2-40B4-BE49-F238E27FC236}">
                <a16:creationId xmlns:a16="http://schemas.microsoft.com/office/drawing/2014/main" id="{AB028E40-31DD-4DD3-A60D-A449BE4D8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1657350"/>
            <a:ext cx="119729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8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77"/>
    </mc:Choice>
    <mc:Fallback xmlns="">
      <p:transition spd="slow" advTm="5687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0D370-F19E-9D77-C8BE-DDB7121A5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69" y="294774"/>
            <a:ext cx="11863136" cy="5882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Skatter kan </a:t>
            </a:r>
            <a:r>
              <a:rPr lang="nb-NO" sz="3600" dirty="0" err="1">
                <a:solidFill>
                  <a:schemeClr val="bg1"/>
                </a:solidFill>
              </a:rPr>
              <a:t>overveltes</a:t>
            </a:r>
            <a:r>
              <a:rPr lang="nb-NO" sz="3600" dirty="0">
                <a:solidFill>
                  <a:schemeClr val="bg1"/>
                </a:solidFill>
              </a:rPr>
              <a:t> på andre enn de som betaler skatten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Økt selskapskatt kan gi tilsvarende økt pris på et produkt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Redusert matmoms fører ikke til tilsvarende lave matpriser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Hvem som egentlig betaler en skatt avhenger av flere forhold både på tilbudssiden og etterspørselssiden i en økonomi.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0009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3186-237D-E2C5-C8BA-D6FAB0428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281762"/>
            <a:ext cx="11818089" cy="6273209"/>
          </a:xfrm>
        </p:spPr>
        <p:txBody>
          <a:bodyPr>
            <a:normAutofit/>
          </a:bodyPr>
          <a:lstStyle/>
          <a:p>
            <a:r>
              <a:rPr lang="nb-NO" sz="4000" dirty="0">
                <a:solidFill>
                  <a:schemeClr val="bg1"/>
                </a:solidFill>
              </a:rPr>
              <a:t>Vi ønsker ikke å være låst fast i et marked eller en investeringsposisjon hvor innføringen av en skatt fører til at det er vi som betaler mesteparten av skatten.</a:t>
            </a:r>
          </a:p>
          <a:p>
            <a:endParaRPr lang="nb-NO" sz="4000" dirty="0">
              <a:solidFill>
                <a:schemeClr val="bg1"/>
              </a:solidFill>
            </a:endParaRPr>
          </a:p>
          <a:p>
            <a:r>
              <a:rPr lang="nb-NO" sz="4000" dirty="0">
                <a:solidFill>
                  <a:schemeClr val="bg1"/>
                </a:solidFill>
              </a:rPr>
              <a:t>To typer insidens (overvelting): </a:t>
            </a: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Direkte effekt av skatt</a:t>
            </a: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Den dynamiske effekten (tidsinkonsistensproblemet)</a:t>
            </a:r>
          </a:p>
          <a:p>
            <a:pPr lvl="1"/>
            <a:endParaRPr lang="nb-NO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51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3195-EA4D-98F3-E643-D00589FB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711" y="222584"/>
            <a:ext cx="11821025" cy="63827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Frikonkurranse (uendelig mange tilbydere)</a:t>
            </a: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Hellingen på tilbuds- og etterspørselskurven avgjør hvem som betaler en skatt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Monopol (en bedrift betjener hele markedet)</a:t>
            </a: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Bedriften vil aldri </a:t>
            </a:r>
            <a:r>
              <a:rPr lang="nb-NO" sz="3600" dirty="0" err="1">
                <a:solidFill>
                  <a:schemeClr val="bg1"/>
                </a:solidFill>
              </a:rPr>
              <a:t>overvelte</a:t>
            </a:r>
            <a:r>
              <a:rPr lang="nb-NO" sz="3600" dirty="0">
                <a:solidFill>
                  <a:schemeClr val="bg1"/>
                </a:solidFill>
              </a:rPr>
              <a:t> hele skatten på sine kunder fordi det ikke er lønnsomt (taper for mange kunder)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Oligopol (et lite antall bedrifter konkurrerer)</a:t>
            </a: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Vi vet lite om hvordan skatter </a:t>
            </a:r>
            <a:r>
              <a:rPr lang="nb-NO" sz="3600" dirty="0" err="1">
                <a:solidFill>
                  <a:schemeClr val="bg1"/>
                </a:solidFill>
              </a:rPr>
              <a:t>overveltes</a:t>
            </a: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Plattformer og tosidige markeder</a:t>
            </a: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Vi vet en del om </a:t>
            </a:r>
            <a:r>
              <a:rPr lang="nb-NO" sz="3600" dirty="0" err="1">
                <a:solidFill>
                  <a:schemeClr val="bg1"/>
                </a:solidFill>
              </a:rPr>
              <a:t>skatteoverveltningen</a:t>
            </a:r>
            <a:r>
              <a:rPr lang="nb-NO" sz="3600" dirty="0">
                <a:solidFill>
                  <a:schemeClr val="bg1"/>
                </a:solidFill>
              </a:rPr>
              <a:t> og resultatene er overraskende. En vare som skattlegges kan for eksempel falle i pris. </a:t>
            </a:r>
            <a:endParaRPr lang="nb-N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35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803189" y="970005"/>
            <a:ext cx="30892" cy="38058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03189" y="4775886"/>
            <a:ext cx="42260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941556" y="712746"/>
            <a:ext cx="2564460" cy="34267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248032" y="1526059"/>
            <a:ext cx="3954163" cy="26134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45444" y="1341393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773" y="3984881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3406361" y="2612623"/>
            <a:ext cx="123567" cy="1713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 flipH="1">
            <a:off x="3466341" y="2612623"/>
            <a:ext cx="5535" cy="222071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834081" y="2698278"/>
            <a:ext cx="2603126" cy="1239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183" y="2522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802" y="2511507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7552" y="30017"/>
            <a:ext cx="578914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Staten ilegger produsenten en skatt på </a:t>
            </a:r>
            <a:r>
              <a:rPr lang="nb-NO" dirty="0">
                <a:solidFill>
                  <a:srgbClr val="FF0000"/>
                </a:solidFill>
              </a:rPr>
              <a:t>1 kr pr enhet. </a:t>
            </a:r>
            <a:r>
              <a:rPr lang="nb-NO" dirty="0"/>
              <a:t>Tilbudskurven skifter opp til venstre fordi kostnaden til produsenten øker. Produsent ønsker å selge til kr 6 men kjøperne vil ikke kjøpe 100 enheter til pris kr 6.</a:t>
            </a:r>
          </a:p>
          <a:p>
            <a:endParaRPr lang="nb-NO" dirty="0"/>
          </a:p>
          <a:p>
            <a:r>
              <a:rPr lang="nb-NO" dirty="0"/>
              <a:t>Høyere pris gir lavere etterspørsel. Ny likevektspris kr 5,60</a:t>
            </a:r>
          </a:p>
          <a:p>
            <a:endParaRPr lang="nb-NO" dirty="0"/>
          </a:p>
          <a:p>
            <a:r>
              <a:rPr lang="nb-NO" dirty="0"/>
              <a:t>Prisen stiger fra kr 5 til 5,6 slik at konsumenten betaler 60 øre av skatten 0,6 (= 5,6 – 5).</a:t>
            </a:r>
          </a:p>
          <a:p>
            <a:endParaRPr lang="nb-NO" dirty="0"/>
          </a:p>
          <a:p>
            <a:r>
              <a:rPr lang="nb-NO" dirty="0"/>
              <a:t>Produsenten må betale kr 1 til staten av prisen og sitter igjen med kr 4,6 (= 5,6 – 1). Produsenten betaler 40 øre (=5- 4,6) av skatten.</a:t>
            </a:r>
          </a:p>
          <a:p>
            <a:endParaRPr lang="nb-NO" dirty="0"/>
          </a:p>
          <a:p>
            <a:r>
              <a:rPr lang="nb-NO" dirty="0"/>
              <a:t>Skatten deles altså 40/60.</a:t>
            </a:r>
          </a:p>
          <a:p>
            <a:endParaRPr lang="nb-NO" dirty="0"/>
          </a:p>
          <a:p>
            <a:r>
              <a:rPr lang="nb-NO" dirty="0"/>
              <a:t>Myndigheten får inn kr 90 (= 90 x 1) i skatt</a:t>
            </a:r>
          </a:p>
          <a:p>
            <a:endParaRPr lang="nb-NO" dirty="0"/>
          </a:p>
          <a:p>
            <a:r>
              <a:rPr lang="nb-NO" dirty="0"/>
              <a:t>Både produsenter og konsumenter taper på skatten. Produsentene selger mindre til lavere pris og  konsumentene kjøper færre enheter til høyere pris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109021" y="498217"/>
            <a:ext cx="3954163" cy="26134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818303" y="1857567"/>
            <a:ext cx="123567" cy="18844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137588" y="149994"/>
            <a:ext cx="40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  <a:r>
              <a:rPr lang="en-US" sz="2400" b="1" baseline="30000" dirty="0"/>
              <a:t>t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861860" y="1891441"/>
            <a:ext cx="7586" cy="28844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 flipH="1" flipV="1">
            <a:off x="867437" y="1922026"/>
            <a:ext cx="1954352" cy="1440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1837" y="175176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5,6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9592" y="1765998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9345" y="4833336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32261" y="482780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90</a:t>
            </a:r>
            <a:endParaRPr lang="en-US" dirty="0"/>
          </a:p>
        </p:txBody>
      </p:sp>
      <p:sp>
        <p:nvSpPr>
          <p:cNvPr id="49" name="Right Brace 48"/>
          <p:cNvSpPr/>
          <p:nvPr/>
        </p:nvSpPr>
        <p:spPr>
          <a:xfrm>
            <a:off x="3517802" y="1549469"/>
            <a:ext cx="166071" cy="1148809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765268" y="192202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kr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818635" y="3091011"/>
            <a:ext cx="2061450" cy="958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0222" y="289165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4,6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8354B6-BB13-0A5C-71FC-18E120B1AAA0}"/>
              </a:ext>
            </a:extLst>
          </p:cNvPr>
          <p:cNvCxnSpPr/>
          <p:nvPr/>
        </p:nvCxnSpPr>
        <p:spPr>
          <a:xfrm flipH="1">
            <a:off x="834081" y="1526059"/>
            <a:ext cx="2683721" cy="2341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4019DB-4CC8-224A-6154-CE0847EEB62E}"/>
              </a:ext>
            </a:extLst>
          </p:cNvPr>
          <p:cNvSpPr txBox="1"/>
          <p:nvPr/>
        </p:nvSpPr>
        <p:spPr>
          <a:xfrm flipH="1">
            <a:off x="466464" y="1341393"/>
            <a:ext cx="23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6</a:t>
            </a:r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BBB52AB1-D566-6385-3BFA-E6EAEB2C3D37}"/>
              </a:ext>
            </a:extLst>
          </p:cNvPr>
          <p:cNvSpPr/>
          <p:nvPr/>
        </p:nvSpPr>
        <p:spPr>
          <a:xfrm>
            <a:off x="1062820" y="2046008"/>
            <a:ext cx="46201" cy="59482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9F37C-8328-3E05-26B2-2C61D8D576B4}"/>
              </a:ext>
            </a:extLst>
          </p:cNvPr>
          <p:cNvSpPr txBox="1"/>
          <p:nvPr/>
        </p:nvSpPr>
        <p:spPr>
          <a:xfrm>
            <a:off x="1067881" y="1917913"/>
            <a:ext cx="1520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Kjøper betaler</a:t>
            </a:r>
          </a:p>
          <a:p>
            <a:r>
              <a:rPr lang="nb-NO" dirty="0"/>
              <a:t> 60 øre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C5264-F594-CB38-8B7A-D4D6DFB4092F}"/>
              </a:ext>
            </a:extLst>
          </p:cNvPr>
          <p:cNvSpPr txBox="1"/>
          <p:nvPr/>
        </p:nvSpPr>
        <p:spPr>
          <a:xfrm>
            <a:off x="1442364" y="2637242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Selger 40 øre</a:t>
            </a:r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0E9240A0-F261-D3BC-3A55-D139D91DE662}"/>
              </a:ext>
            </a:extLst>
          </p:cNvPr>
          <p:cNvSpPr/>
          <p:nvPr/>
        </p:nvSpPr>
        <p:spPr>
          <a:xfrm>
            <a:off x="1075666" y="2726484"/>
            <a:ext cx="55974" cy="294680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832DC-8954-40AB-7E57-1DD747FC9021}"/>
              </a:ext>
            </a:extLst>
          </p:cNvPr>
          <p:cNvSpPr txBox="1"/>
          <p:nvPr/>
        </p:nvSpPr>
        <p:spPr>
          <a:xfrm>
            <a:off x="745057" y="75257"/>
            <a:ext cx="2346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Frikonkurranse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6B251-B5BD-4261-CBAF-4BE984867402}"/>
              </a:ext>
            </a:extLst>
          </p:cNvPr>
          <p:cNvSpPr txBox="1"/>
          <p:nvPr/>
        </p:nvSpPr>
        <p:spPr>
          <a:xfrm>
            <a:off x="172622" y="5649095"/>
            <a:ext cx="6180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Under frikonkurranse er:</a:t>
            </a:r>
          </a:p>
          <a:p>
            <a:r>
              <a:rPr lang="nb-NO" dirty="0"/>
              <a:t>Tilbudskurven er summen av produsentene marginalkostnader</a:t>
            </a:r>
          </a:p>
          <a:p>
            <a:r>
              <a:rPr lang="nb-NO" dirty="0"/>
              <a:t>Etterspørselen er summen av konsumentenes marginalnytter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583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218"/>
    </mc:Choice>
    <mc:Fallback xmlns="">
      <p:transition spd="slow" advTm="2282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 animBg="1"/>
      <p:bldP spid="30" grpId="0"/>
      <p:bldP spid="35" grpId="0"/>
      <p:bldP spid="36" grpId="0"/>
      <p:bldP spid="48" grpId="0"/>
      <p:bldP spid="49" grpId="0" animBg="1"/>
      <p:bldP spid="50" grpId="0"/>
      <p:bldP spid="14" grpId="0"/>
      <p:bldP spid="6" grpId="0"/>
      <p:bldP spid="8" grpId="0" animBg="1"/>
      <p:bldP spid="9" grpId="0"/>
      <p:bldP spid="15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316E2-B428-2730-29A3-BC64E549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4CBFD-C70F-3EFE-44AC-1F77370ED5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" y="217968"/>
                <a:ext cx="11991975" cy="63902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sz="3600" dirty="0">
                    <a:solidFill>
                      <a:srgbClr val="FFFF00"/>
                    </a:solidFill>
                  </a:rPr>
                  <a:t>Konsumentpris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nb-NO" sz="3600" dirty="0">
                    <a:solidFill>
                      <a:srgbClr val="FFFF00"/>
                    </a:solidFill>
                  </a:rPr>
                  <a:t> og produsentpris =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b-NO" sz="36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rgbClr val="FFFF00"/>
                    </a:solidFill>
                  </a:rPr>
                  <a:t>Etterspørselen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600" b="0" dirty="0">
                    <a:solidFill>
                      <a:schemeClr val="bg1"/>
                    </a:solidFill>
                  </a:rPr>
                  <a:t> faller med </a:t>
                </a:r>
                <a:r>
                  <a:rPr lang="en-US" sz="3600" b="0" dirty="0" err="1">
                    <a:solidFill>
                      <a:schemeClr val="bg1"/>
                    </a:solidFill>
                  </a:rPr>
                  <a:t>økt</a:t>
                </a:r>
                <a:r>
                  <a:rPr lang="en-US" sz="3600" b="0" dirty="0">
                    <a:solidFill>
                      <a:schemeClr val="bg1"/>
                    </a:solidFill>
                  </a:rPr>
                  <a:t> pris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nb-NO" sz="3600" dirty="0">
                    <a:solidFill>
                      <a:srgbClr val="FFFF00"/>
                    </a:solidFill>
                  </a:rPr>
                  <a:t> </a:t>
                </a:r>
                <a:r>
                  <a:rPr lang="nb-NO" sz="36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a:rPr 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lvl="1"/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rgbClr val="FFFF00"/>
                    </a:solidFill>
                  </a:rPr>
                  <a:t>Tilbudet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ø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ker</m:t>
                    </m:r>
                    <m:r>
                      <a:rPr lang="en-US" sz="3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med høyere pris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nb-NO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rgbClr val="FFFF00"/>
                    </a:solidFill>
                  </a:rPr>
                  <a:t>Likevekt: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, hvor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med skatt</a:t>
                </a: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𝑒𝑙𝑙𝑒𝑟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sz="3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/>
              </a:p>
              <a:p>
                <a:pPr marL="0" indent="0">
                  <a:buNone/>
                </a:pPr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4CBFD-C70F-3EFE-44AC-1F77370ED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" y="217968"/>
                <a:ext cx="11991975" cy="6390222"/>
              </a:xfrm>
              <a:blipFill>
                <a:blip r:embed="rId2"/>
                <a:stretch>
                  <a:fillRect l="-1576" t="-238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92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80D37-A3B4-D3BD-95E7-F81EA522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61C59E-D4C1-B255-3F18-B8BE048E2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071" y="148856"/>
                <a:ext cx="11834036" cy="645933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Finner endring produsentpris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nb-NO" sz="36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) </a:t>
                </a:r>
                <a:r>
                  <a:rPr lang="nb-NO" sz="360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ved å uttrykke </a:t>
                </a:r>
                <a:r>
                  <a:rPr lang="nb-NO" sz="36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likevekten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siden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. </a:t>
                </a:r>
                <a:r>
                  <a:rPr lang="nb-NO" sz="36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Differensierer </a:t>
                </a:r>
                <a:r>
                  <a:rPr lang="nb-NO" sz="3600" dirty="0">
                    <a:solidFill>
                      <a:srgbClr val="FFFF00"/>
                    </a:solidFill>
                    <a:latin typeface="Cambria Math" panose="02040503050406030204" pitchFamily="18" charset="0"/>
                  </a:rPr>
                  <a:t>likevekten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nb-NO" sz="36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f>
                        <m:fPr>
                          <m:ctrlP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b-NO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b-NO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nb-NO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nb-NO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6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sz="3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nb-NO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61C59E-D4C1-B255-3F18-B8BE048E2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071" y="148856"/>
                <a:ext cx="11834036" cy="6459333"/>
              </a:xfrm>
              <a:blipFill>
                <a:blip r:embed="rId2"/>
                <a:stretch>
                  <a:fillRect l="-1597" t="-320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680D81D-229F-B0BD-2015-12E7E2CA4C3B}"/>
              </a:ext>
            </a:extLst>
          </p:cNvPr>
          <p:cNvSpPr txBox="1"/>
          <p:nvPr/>
        </p:nvSpPr>
        <p:spPr>
          <a:xfrm>
            <a:off x="5465979" y="62557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C000"/>
                </a:solidFill>
              </a:rPr>
              <a:t>(+)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F8DC3-7B3A-EB0C-32B4-0438D5626E6C}"/>
              </a:ext>
            </a:extLst>
          </p:cNvPr>
          <p:cNvSpPr txBox="1"/>
          <p:nvPr/>
        </p:nvSpPr>
        <p:spPr>
          <a:xfrm>
            <a:off x="7012278" y="6179097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C000"/>
                </a:solidFill>
              </a:rPr>
              <a:t>(-)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EA8B2-EFFB-15CF-77D5-71D16D122BD0}"/>
              </a:ext>
            </a:extLst>
          </p:cNvPr>
          <p:cNvSpPr txBox="1"/>
          <p:nvPr/>
        </p:nvSpPr>
        <p:spPr>
          <a:xfrm>
            <a:off x="6505467" y="4700392"/>
            <a:ext cx="465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>
                <a:solidFill>
                  <a:srgbClr val="FFC000"/>
                </a:solidFill>
              </a:rPr>
              <a:t>(-)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7513850-9BC6-B3C9-FE71-DB559D704607}"/>
              </a:ext>
            </a:extLst>
          </p:cNvPr>
          <p:cNvSpPr/>
          <p:nvPr/>
        </p:nvSpPr>
        <p:spPr>
          <a:xfrm rot="16200000">
            <a:off x="6303671" y="1745231"/>
            <a:ext cx="277358" cy="1070450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C6941E-C53F-BDD2-FA59-C40FB4F01474}"/>
                  </a:ext>
                </a:extLst>
              </p:cNvPr>
              <p:cNvSpPr txBox="1"/>
              <p:nvPr/>
            </p:nvSpPr>
            <p:spPr>
              <a:xfrm>
                <a:off x="6200279" y="1570775"/>
                <a:ext cx="6931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C6941E-C53F-BDD2-FA59-C40FB4F01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279" y="1570775"/>
                <a:ext cx="6931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78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384DF-1268-3DAB-73F3-78607D92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90EF-0D13-FE58-069F-21B1F9822F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095" y="94268"/>
                <a:ext cx="11935905" cy="666848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b-NO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b-NO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nb-NO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32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Siden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h𝑎𝑟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𝑣𝑖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   </m:t>
                    </m:r>
                    <m:f>
                      <m:f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bg1"/>
                    </a:solidFill>
                  </a:rPr>
                  <a:t>Hvis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nb-NO" sz="3200" dirty="0">
                    <a:solidFill>
                      <a:schemeClr val="bg1"/>
                    </a:solidFill>
                  </a:rPr>
                  <a:t> </a:t>
                </a:r>
                <a:r>
                  <a:rPr lang="nb-NO" sz="32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påvirker ikke skatten produsentprisen: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bg1"/>
                    </a:solidFill>
                  </a:rPr>
                  <a:t>Hvis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200" b="0" i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nb-NO" sz="3200" b="0" i="0" noProof="0" dirty="0">
                    <a:solidFill>
                      <a:schemeClr val="bg1"/>
                    </a:solidFill>
                    <a:latin typeface="Cambria "/>
                    <a:ea typeface="Cambria Math" panose="02040503050406030204" pitchFamily="18" charset="0"/>
                  </a:rPr>
                  <a:t>påvirker</a:t>
                </a:r>
                <a:r>
                  <a:rPr lang="nb-NO" sz="3200" b="0" i="0" noProof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ikke skatten konsumentene</a:t>
                </a:r>
                <a:r>
                  <a:rPr lang="en-US" sz="3200" b="0" i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b-NO" sz="3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0     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𝑜𝑔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0≤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90EF-0D13-FE58-069F-21B1F9822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095" y="94268"/>
                <a:ext cx="11935905" cy="6668481"/>
              </a:xfrm>
              <a:blipFill>
                <a:blip r:embed="rId2"/>
                <a:stretch>
                  <a:fillRect l="-127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81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2BE107-4180-F176-8F26-6A6DA1BE2BF0}"/>
                  </a:ext>
                </a:extLst>
              </p:cNvPr>
              <p:cNvSpPr txBox="1"/>
              <p:nvPr/>
            </p:nvSpPr>
            <p:spPr>
              <a:xfrm>
                <a:off x="285750" y="361950"/>
                <a:ext cx="11620500" cy="6133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nb-NO" sz="18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32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2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2BE107-4180-F176-8F26-6A6DA1BE2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361950"/>
                <a:ext cx="11620500" cy="6133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5B9343C8-CAB0-169D-1390-603FC430F2D4}"/>
              </a:ext>
            </a:extLst>
          </p:cNvPr>
          <p:cNvSpPr/>
          <p:nvPr/>
        </p:nvSpPr>
        <p:spPr>
          <a:xfrm rot="5400000">
            <a:off x="6331252" y="1950244"/>
            <a:ext cx="157163" cy="2800350"/>
          </a:xfrm>
          <a:prstGeom prst="righ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080105-4A3E-A460-CEC2-FF6EAFE37DAB}"/>
                  </a:ext>
                </a:extLst>
              </p:cNvPr>
              <p:cNvSpPr txBox="1"/>
              <p:nvPr/>
            </p:nvSpPr>
            <p:spPr>
              <a:xfrm>
                <a:off x="5619258" y="3527588"/>
                <a:ext cx="1581149" cy="1188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080105-4A3E-A460-CEC2-FF6EAFE37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258" y="3527588"/>
                <a:ext cx="1581149" cy="1188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3E480A1F-5477-5706-3282-409205E2C0DF}"/>
              </a:ext>
            </a:extLst>
          </p:cNvPr>
          <p:cNvSpPr/>
          <p:nvPr/>
        </p:nvSpPr>
        <p:spPr>
          <a:xfrm rot="5400000">
            <a:off x="5997941" y="5030788"/>
            <a:ext cx="277743" cy="2473144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B8B3D-6517-B8FD-A8DF-97E03C5055D2}"/>
              </a:ext>
            </a:extLst>
          </p:cNvPr>
          <p:cNvSpPr txBox="1"/>
          <p:nvPr/>
        </p:nvSpPr>
        <p:spPr>
          <a:xfrm>
            <a:off x="5953108" y="636746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>
                <a:solidFill>
                  <a:srgbClr val="FFFF00"/>
                </a:solidFill>
              </a:rPr>
              <a:t>1</a:t>
            </a:r>
            <a:endParaRPr lang="nb-NO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81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266A3-DECB-801C-B841-60DBAA3B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1C0C-683C-DC2A-3733-AC5628A72F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095" y="164805"/>
                <a:ext cx="11935905" cy="659794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b-NO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nb-NO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nb-NO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og</m:t>
                      </m:r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nb-NO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hvor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→  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b-NO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chemeClr val="bg1"/>
                  </a:solidFill>
                </a:endParaRPr>
              </a:p>
              <a:p>
                <a:r>
                  <a:rPr lang="nb-NO" b="1" dirty="0">
                    <a:solidFill>
                      <a:srgbClr val="FFFF00"/>
                    </a:solidFill>
                  </a:rPr>
                  <a:t>Konsumenten bærer hele skatten når</a:t>
                </a:r>
                <a:r>
                  <a:rPr lang="nb-NO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(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nb-NO" dirty="0">
                    <a:solidFill>
                      <a:srgbClr val="FFFF00"/>
                    </a:solidFill>
                  </a:rPr>
                  <a:t> Det skjer hvis: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 (uelastisk etterspørsel). For eksempel insulin.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nb-NO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)→∞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 (perfekt elastisk tilbud). Frikonkurranse (prisen er gitt) </a:t>
                </a:r>
              </a:p>
              <a:p>
                <a:r>
                  <a:rPr lang="nb-NO" b="1" dirty="0">
                    <a:solidFill>
                      <a:srgbClr val="FFFF00"/>
                    </a:solidFill>
                  </a:rPr>
                  <a:t>Produsenten bærer hele skatten når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(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lang="en-US" b="0" i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Det </a:t>
                </a:r>
                <a:r>
                  <a:rPr lang="en-US" b="0" i="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skjer</a:t>
                </a:r>
                <a:r>
                  <a:rPr lang="en-US" b="0" i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hvis</a:t>
                </a:r>
                <a:r>
                  <a:rPr lang="en-US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endParaRPr lang="en-US" b="0" i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 (uelastisk tilbud). Tilbyder selger fast kvantum uansett pris!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nb-NO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perfekt</m:t>
                    </m:r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elastisk</m:t>
                    </m:r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ettersp</m:t>
                    </m:r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ø</m:t>
                    </m:r>
                    <m:r>
                      <m:rPr>
                        <m:sty m:val="p"/>
                      </m:rP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rsel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nb-NO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nb-NO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nb-NO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1C0C-683C-DC2A-3733-AC5628A72F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095" y="164805"/>
                <a:ext cx="11935905" cy="6597944"/>
              </a:xfrm>
              <a:blipFill>
                <a:blip r:embed="rId2"/>
                <a:stretch>
                  <a:fillRect l="-107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38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7584-9524-7A8F-738E-DE551188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1"/>
            <a:ext cx="10515600" cy="871130"/>
          </a:xfrm>
        </p:spPr>
        <p:txBody>
          <a:bodyPr>
            <a:normAutofit/>
          </a:bodyPr>
          <a:lstStyle/>
          <a:p>
            <a:pPr algn="ctr"/>
            <a:r>
              <a:rPr lang="nb-NO" sz="4000" b="1" dirty="0" err="1">
                <a:solidFill>
                  <a:schemeClr val="bg1"/>
                </a:solidFill>
              </a:rPr>
              <a:t>Skatteoverveltning</a:t>
            </a:r>
            <a:r>
              <a:rPr lang="nb-NO" sz="4000" b="1" dirty="0">
                <a:solidFill>
                  <a:schemeClr val="bg1"/>
                </a:solidFill>
              </a:rPr>
              <a:t>: Nøkkelresultater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0C727-396E-9B64-5E0C-1D3304B1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28" y="1302930"/>
            <a:ext cx="10822172" cy="490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Hvem som krever inn skatten på vegne av staten betyr ingenting for hvem som reelt sett betaler en skatt.</a:t>
            </a:r>
          </a:p>
          <a:p>
            <a:endParaRPr lang="nb-NO" sz="3600" dirty="0">
              <a:solidFill>
                <a:schemeClr val="bg1"/>
              </a:solidFill>
            </a:endParaRPr>
          </a:p>
          <a:p>
            <a:r>
              <a:rPr lang="nb-NO" sz="3600" dirty="0">
                <a:solidFill>
                  <a:schemeClr val="bg1"/>
                </a:solidFill>
              </a:rPr>
              <a:t>Generelt bærer den part som er minst prisfølsom mesteparten av skatten uansett hvem som krever inn skatten på vegne av staten i markeder med frikonkurranse.</a:t>
            </a:r>
          </a:p>
        </p:txBody>
      </p:sp>
    </p:spTree>
    <p:extLst>
      <p:ext uri="{BB962C8B-B14F-4D97-AF65-F5344CB8AC3E}">
        <p14:creationId xmlns:p14="http://schemas.microsoft.com/office/powerpoint/2010/main" val="391979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EA359-B307-AD66-5363-144BFA695A6B}"/>
                  </a:ext>
                </a:extLst>
              </p:cNvPr>
              <p:cNvSpPr txBox="1"/>
              <p:nvPr/>
            </p:nvSpPr>
            <p:spPr>
              <a:xfrm>
                <a:off x="211668" y="308021"/>
                <a:ext cx="115724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erfekt</m:t>
                    </m:r>
                    <m: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elastisk</m:t>
                    </m:r>
                    <m: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ettersp</m:t>
                    </m:r>
                    <m: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ø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rsel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nb-NO" sz="2400" dirty="0"/>
                  <a:t>Konsumenten bærer hele skatten (eks insulin)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EA359-B307-AD66-5363-144BFA695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68" y="308021"/>
                <a:ext cx="11572463" cy="461665"/>
              </a:xfrm>
              <a:prstGeom prst="rect">
                <a:avLst/>
              </a:prstGeom>
              <a:blipFill>
                <a:blip r:embed="rId2"/>
                <a:stretch>
                  <a:fillRect l="-158" t="-10667" r="-580" b="-3066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EC4BDAA-201F-9590-763A-45DB06BED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8" y="837360"/>
            <a:ext cx="10097909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0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AF08E-EFC8-05FD-8293-60285FF3C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818307"/>
            <a:ext cx="10145541" cy="6039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ACD9B-C782-22C1-C7B3-02EC34669F3A}"/>
                  </a:ext>
                </a:extLst>
              </p:cNvPr>
              <p:cNvSpPr txBox="1"/>
              <p:nvPr/>
            </p:nvSpPr>
            <p:spPr>
              <a:xfrm>
                <a:off x="392784" y="295087"/>
                <a:ext cx="114064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800" dirty="0"/>
                  <a:t>Perfekt elastisk etterspørsel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nb-NO" sz="2800" dirty="0"/>
                  <a:t> ): Produsenten bærer hele skatten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FACD9B-C782-22C1-C7B3-02EC3466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84" y="295087"/>
                <a:ext cx="11406432" cy="523220"/>
              </a:xfrm>
              <a:prstGeom prst="rect">
                <a:avLst/>
              </a:prstGeom>
              <a:blipFill>
                <a:blip r:embed="rId3"/>
                <a:stretch>
                  <a:fillRect l="-1068" t="-10465" b="-3255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04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15E6A-FC54-8B32-BB89-D34AEA905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0"/>
            <a:ext cx="10088383" cy="5163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AF91A-F73E-A64A-C7EA-7860938DA348}"/>
              </a:ext>
            </a:extLst>
          </p:cNvPr>
          <p:cNvSpPr txBox="1"/>
          <p:nvPr/>
        </p:nvSpPr>
        <p:spPr>
          <a:xfrm>
            <a:off x="485423" y="5328356"/>
            <a:ext cx="54638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Tilbyderne bærer mesteparten av skatten når tilbudet er lite elastisk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11822-1CD3-C50A-BF9A-87D6FEDF45F3}"/>
              </a:ext>
            </a:extLst>
          </p:cNvPr>
          <p:cNvSpPr txBox="1"/>
          <p:nvPr/>
        </p:nvSpPr>
        <p:spPr>
          <a:xfrm>
            <a:off x="6308746" y="5328355"/>
            <a:ext cx="5710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Konsumentene betaler mesteparten av skatten når tilbudet er elastisk</a:t>
            </a:r>
          </a:p>
        </p:txBody>
      </p:sp>
    </p:spTree>
    <p:extLst>
      <p:ext uri="{BB962C8B-B14F-4D97-AF65-F5344CB8AC3E}">
        <p14:creationId xmlns:p14="http://schemas.microsoft.com/office/powerpoint/2010/main" val="166548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F92E2-A685-4F06-C32E-80AE92A8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0" y="123506"/>
            <a:ext cx="10962358" cy="64444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CE5438-D711-9F4F-B623-03DFAEEB55E8}"/>
              </a:ext>
            </a:extLst>
          </p:cNvPr>
          <p:cNvSpPr txBox="1"/>
          <p:nvPr/>
        </p:nvSpPr>
        <p:spPr>
          <a:xfrm>
            <a:off x="756492" y="5921594"/>
            <a:ext cx="4843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dirty="0"/>
              <a:t>Etterspørselen lite prisfølsom: konsumenten </a:t>
            </a:r>
          </a:p>
          <a:p>
            <a:r>
              <a:rPr lang="nb-NO" sz="2000" dirty="0"/>
              <a:t>bærer store deler av skatten. Lite velferdstap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266C3-412F-A1E0-DFF6-B1E3D5D9B72D}"/>
              </a:ext>
            </a:extLst>
          </p:cNvPr>
          <p:cNvSpPr txBox="1"/>
          <p:nvPr/>
        </p:nvSpPr>
        <p:spPr>
          <a:xfrm>
            <a:off x="7089422" y="6005689"/>
            <a:ext cx="4471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dirty="0"/>
              <a:t>Etterspørselen prisfølsom: tilbyder bærer</a:t>
            </a:r>
          </a:p>
          <a:p>
            <a:r>
              <a:rPr lang="nb-NO" sz="2000" dirty="0"/>
              <a:t>store deler av skatten.  Stort velferdstap</a:t>
            </a:r>
          </a:p>
        </p:txBody>
      </p:sp>
    </p:spTree>
    <p:extLst>
      <p:ext uri="{BB962C8B-B14F-4D97-AF65-F5344CB8AC3E}">
        <p14:creationId xmlns:p14="http://schemas.microsoft.com/office/powerpoint/2010/main" val="2622924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2A21-6B3A-B702-12C4-15B11B5DF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000"/>
          </a:xfrm>
        </p:spPr>
        <p:txBody>
          <a:bodyPr>
            <a:normAutofit/>
          </a:bodyPr>
          <a:lstStyle/>
          <a:p>
            <a:pPr algn="ctr"/>
            <a:r>
              <a:rPr lang="nb-NO" sz="3600" b="1" dirty="0">
                <a:solidFill>
                  <a:srgbClr val="FFFF00"/>
                </a:solidFill>
              </a:rPr>
              <a:t>Skatteinsidens under monopol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AD56-3590-2113-AED4-164DBCDA5F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276349"/>
                <a:ext cx="11818087" cy="548595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Etterspørselen utgjøres av hele markedet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Monopolistens tilpasning: </a:t>
                </a:r>
                <a:r>
                  <a:rPr lang="nb-NO" sz="3600" dirty="0">
                    <a:solidFill>
                      <a:srgbClr val="FFFF00"/>
                    </a:solidFill>
                  </a:rPr>
                  <a:t>MR=MC</a:t>
                </a:r>
                <a:r>
                  <a:rPr lang="nb-NO" sz="3600" dirty="0">
                    <a:solidFill>
                      <a:schemeClr val="bg1"/>
                    </a:solidFill>
                  </a:rPr>
                  <a:t>. Stykkskatt øker MC.</a:t>
                </a: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 MR kurven er fallende så økt MC reduserer tilbudt kvantum. </a:t>
                </a: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Hva med prisen til konsumentene. Den stiger, men hvor mye i forhold til skatteøkningen?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AD56-3590-2113-AED4-164DBCDA5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276349"/>
                <a:ext cx="11818087" cy="5485957"/>
              </a:xfrm>
              <a:blipFill>
                <a:blip r:embed="rId2"/>
                <a:stretch>
                  <a:fillRect l="-1600" t="-2667" r="-15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41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C4DFC-54EC-100A-CA11-35A951A2A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469" y="-1"/>
                <a:ext cx="11844670" cy="694755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Monopolistens profitt: </a:t>
                </a:r>
                <a14:m>
                  <m:oMath xmlns:m="http://schemas.openxmlformats.org/officeDocument/2006/math">
                    <m:r>
                      <a:rPr lang="nb-NO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hvor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Hvis etterspørselen er lineær: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og kostnaden er lineær: 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𝑜𝑔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er en stykkskatt har vi </a:t>
                </a:r>
              </a:p>
              <a:p>
                <a:pPr marL="0" indent="0">
                  <a:buNone/>
                </a:pPr>
                <a:endParaRPr lang="nb-NO" sz="36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=(1−</m:t>
                      </m:r>
                      <m:r>
                        <a:rPr 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b-NO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nb-NO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=1−2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Prisen øker kun med halve skatten (med lineære funksjoner).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C4DFC-54EC-100A-CA11-35A951A2A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469" y="-1"/>
                <a:ext cx="11844670" cy="6947555"/>
              </a:xfrm>
              <a:blipFill>
                <a:blip r:embed="rId2"/>
                <a:stretch>
                  <a:fillRect l="-1595" t="-2105" b="-140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7C9CF279-3506-EF21-E486-CDE4AFE41B49}"/>
              </a:ext>
            </a:extLst>
          </p:cNvPr>
          <p:cNvSpPr/>
          <p:nvPr/>
        </p:nvSpPr>
        <p:spPr>
          <a:xfrm rot="16200000">
            <a:off x="4157220" y="1706250"/>
            <a:ext cx="320512" cy="1008668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19033-E9DD-E5AC-5A33-DC6E0B8D57AA}"/>
              </a:ext>
            </a:extLst>
          </p:cNvPr>
          <p:cNvSpPr txBox="1"/>
          <p:nvPr/>
        </p:nvSpPr>
        <p:spPr>
          <a:xfrm>
            <a:off x="4136176" y="1545996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dirty="0">
                <a:solidFill>
                  <a:srgbClr val="FFFF00"/>
                </a:solidFill>
              </a:rPr>
              <a:t>x</a:t>
            </a:r>
            <a:endParaRPr lang="nb-NO" dirty="0">
              <a:solidFill>
                <a:srgbClr val="FFFF00"/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818841E-54C1-3D4F-CB8F-73CDF4A1FFC7}"/>
              </a:ext>
            </a:extLst>
          </p:cNvPr>
          <p:cNvSpPr/>
          <p:nvPr/>
        </p:nvSpPr>
        <p:spPr>
          <a:xfrm rot="16200000">
            <a:off x="6798297" y="1706250"/>
            <a:ext cx="320512" cy="1008668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5D30C-ED0A-57C6-E4DE-9DEE265B73EA}"/>
              </a:ext>
            </a:extLst>
          </p:cNvPr>
          <p:cNvSpPr txBox="1"/>
          <p:nvPr/>
        </p:nvSpPr>
        <p:spPr>
          <a:xfrm>
            <a:off x="6777253" y="1545996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dirty="0">
                <a:solidFill>
                  <a:srgbClr val="FFFF00"/>
                </a:solidFill>
              </a:rPr>
              <a:t>x</a:t>
            </a:r>
            <a:endParaRPr lang="nb-NO" dirty="0">
              <a:solidFill>
                <a:srgbClr val="FFFF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34B9896-2C96-6921-A1E7-EE8B83C51C88}"/>
              </a:ext>
            </a:extLst>
          </p:cNvPr>
          <p:cNvSpPr/>
          <p:nvPr/>
        </p:nvSpPr>
        <p:spPr>
          <a:xfrm rot="16200000">
            <a:off x="9274156" y="1706250"/>
            <a:ext cx="320512" cy="1008668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564CC-20AF-1E26-D58D-FBEC13BCC157}"/>
              </a:ext>
            </a:extLst>
          </p:cNvPr>
          <p:cNvSpPr txBox="1"/>
          <p:nvPr/>
        </p:nvSpPr>
        <p:spPr>
          <a:xfrm>
            <a:off x="9253112" y="1545996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dirty="0">
                <a:solidFill>
                  <a:srgbClr val="FFFF00"/>
                </a:solidFill>
              </a:rPr>
              <a:t>x</a:t>
            </a:r>
            <a:endParaRPr lang="nb-NO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692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734207" y="1391870"/>
            <a:ext cx="27026" cy="42116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752225" y="5531444"/>
            <a:ext cx="5225142" cy="720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05367" y="1337817"/>
            <a:ext cx="4558487" cy="310805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319783" y="1648623"/>
            <a:ext cx="3386325" cy="312537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1761233" y="3608051"/>
            <a:ext cx="5216134" cy="90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63854" y="2716556"/>
            <a:ext cx="763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 err="1">
                <a:solidFill>
                  <a:srgbClr val="FF0000"/>
                </a:solidFill>
              </a:rPr>
              <a:t>MC</a:t>
            </a:r>
            <a:r>
              <a:rPr lang="nb-NO" sz="2800" baseline="30000" dirty="0" err="1">
                <a:solidFill>
                  <a:srgbClr val="FF0000"/>
                </a:solidFill>
              </a:rPr>
              <a:t>t</a:t>
            </a:r>
            <a:endParaRPr lang="nb-NO" sz="2800" baseline="300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08815" y="4404662"/>
            <a:ext cx="40588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nb-NO" sz="2800" dirty="0"/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69" y="4652406"/>
            <a:ext cx="68800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nb-NO" sz="2800" dirty="0"/>
              <a:t>MR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439505" y="2711724"/>
            <a:ext cx="69754" cy="281972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51438" y="5269834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3600" y="5538590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x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734207" y="2721031"/>
            <a:ext cx="2689414" cy="8185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78580" y="2511721"/>
            <a:ext cx="303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p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755992" y="2967674"/>
            <a:ext cx="5216134" cy="90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52679" y="3095267"/>
            <a:ext cx="559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 </a:t>
            </a:r>
            <a:r>
              <a:rPr lang="el-GR" sz="2800" dirty="0"/>
              <a:t>Δ</a:t>
            </a:r>
            <a:r>
              <a:rPr lang="nb-NO" sz="2800" dirty="0"/>
              <a:t>t</a:t>
            </a:r>
          </a:p>
        </p:txBody>
      </p:sp>
      <p:cxnSp>
        <p:nvCxnSpPr>
          <p:cNvPr id="28" name="Straight Connector 27"/>
          <p:cNvCxnSpPr>
            <a:cxnSpLocks/>
          </p:cNvCxnSpPr>
          <p:nvPr/>
        </p:nvCxnSpPr>
        <p:spPr>
          <a:xfrm flipH="1" flipV="1">
            <a:off x="3788031" y="2287079"/>
            <a:ext cx="2472" cy="328040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13310" y="5546782"/>
            <a:ext cx="421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 err="1"/>
              <a:t>x</a:t>
            </a:r>
            <a:r>
              <a:rPr lang="nb-NO" sz="2800" baseline="30000" dirty="0" err="1"/>
              <a:t>t</a:t>
            </a:r>
            <a:endParaRPr lang="nb-NO" sz="2800" baseline="30000" dirty="0"/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 flipH="1" flipV="1">
            <a:off x="1734207" y="2271596"/>
            <a:ext cx="2053824" cy="2995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44652" y="2039937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 err="1"/>
              <a:t>p</a:t>
            </a:r>
            <a:r>
              <a:rPr lang="nb-NO" sz="2800" baseline="30000" dirty="0" err="1"/>
              <a:t>t</a:t>
            </a:r>
            <a:endParaRPr lang="nb-NO" sz="2800" baseline="30000" dirty="0"/>
          </a:p>
        </p:txBody>
      </p:sp>
      <p:sp>
        <p:nvSpPr>
          <p:cNvPr id="36" name="Oval 35"/>
          <p:cNvSpPr/>
          <p:nvPr/>
        </p:nvSpPr>
        <p:spPr>
          <a:xfrm>
            <a:off x="4372739" y="3542985"/>
            <a:ext cx="140840" cy="17266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Oval 36"/>
          <p:cNvSpPr/>
          <p:nvPr/>
        </p:nvSpPr>
        <p:spPr>
          <a:xfrm>
            <a:off x="3698417" y="2891846"/>
            <a:ext cx="140840" cy="17266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8" name="TextBox 37"/>
          <p:cNvSpPr txBox="1"/>
          <p:nvPr/>
        </p:nvSpPr>
        <p:spPr>
          <a:xfrm>
            <a:off x="1992870" y="2278395"/>
            <a:ext cx="575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/>
              <a:t>Δ</a:t>
            </a:r>
            <a:r>
              <a:rPr lang="nb-NO" sz="2800" dirty="0"/>
              <a:t>p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201016" y="3039745"/>
            <a:ext cx="0" cy="5442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09259" y="2025469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/>
              <a:t>Δ</a:t>
            </a:r>
            <a:r>
              <a:rPr lang="nb-NO" sz="2800" dirty="0"/>
              <a:t>p</a:t>
            </a:r>
            <a:r>
              <a:rPr lang="el-GR" sz="2800" dirty="0"/>
              <a:t> </a:t>
            </a:r>
            <a:r>
              <a:rPr lang="nb-NO" sz="2800" dirty="0"/>
              <a:t>&lt; </a:t>
            </a:r>
            <a:r>
              <a:rPr lang="el-GR" sz="2800" dirty="0"/>
              <a:t>Δ</a:t>
            </a:r>
            <a:r>
              <a:rPr lang="nb-NO" sz="2800" dirty="0"/>
              <a:t>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2580" y="486479"/>
            <a:ext cx="5175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Monopolistens tilpasning illustrert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74356" y="855818"/>
            <a:ext cx="49464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/>
              <a:t>Hvis monopolisten velter hele skatten</a:t>
            </a:r>
          </a:p>
          <a:p>
            <a:r>
              <a:rPr lang="nb-NO" sz="2400" dirty="0"/>
              <a:t>over på kundene vil for mange kunder</a:t>
            </a:r>
          </a:p>
          <a:p>
            <a:r>
              <a:rPr lang="nb-NO" sz="2400" dirty="0"/>
              <a:t>falle i fra. Da er det bedre å øke prisen</a:t>
            </a:r>
          </a:p>
          <a:p>
            <a:r>
              <a:rPr lang="nb-NO" sz="2400" dirty="0"/>
              <a:t>med mindre enn skatteøkningen</a:t>
            </a:r>
            <a:endParaRPr lang="en-US" sz="24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2623071" y="2336306"/>
            <a:ext cx="1747" cy="3520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B2A815-BFDB-0789-011D-CD10C4E8ABDD}"/>
              </a:ext>
            </a:extLst>
          </p:cNvPr>
          <p:cNvSpPr txBox="1"/>
          <p:nvPr/>
        </p:nvSpPr>
        <p:spPr>
          <a:xfrm>
            <a:off x="7205868" y="3396734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>
                <a:solidFill>
                  <a:srgbClr val="FF0000"/>
                </a:solidFill>
              </a:rPr>
              <a:t>MC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B3B026C8-B113-5410-26FC-657010CF68CF}"/>
              </a:ext>
            </a:extLst>
          </p:cNvPr>
          <p:cNvSpPr/>
          <p:nvPr/>
        </p:nvSpPr>
        <p:spPr>
          <a:xfrm>
            <a:off x="1816385" y="2278395"/>
            <a:ext cx="127732" cy="43553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65AD78E-D814-A31F-B75B-81A5060F165D}"/>
              </a:ext>
            </a:extLst>
          </p:cNvPr>
          <p:cNvSpPr/>
          <p:nvPr/>
        </p:nvSpPr>
        <p:spPr>
          <a:xfrm>
            <a:off x="1853392" y="3037178"/>
            <a:ext cx="127732" cy="43553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704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012"/>
    </mc:Choice>
    <mc:Fallback xmlns="">
      <p:transition spd="slow" advTm="2130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35" grpId="0"/>
      <p:bldP spid="37" grpId="0" animBg="1"/>
      <p:bldP spid="38" grpId="0"/>
      <p:bldP spid="42" grpId="0"/>
      <p:bldP spid="2" grpId="0"/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819F-8091-2B8B-EB0E-85CCA170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4"/>
            <a:ext cx="10515600" cy="681250"/>
          </a:xfrm>
        </p:spPr>
        <p:txBody>
          <a:bodyPr>
            <a:normAutofit fontScale="90000"/>
          </a:bodyPr>
          <a:lstStyle/>
          <a:p>
            <a:r>
              <a:rPr lang="nb-NO" sz="4000" dirty="0">
                <a:solidFill>
                  <a:schemeClr val="bg1"/>
                </a:solidFill>
              </a:rPr>
              <a:t>Hvorfor </a:t>
            </a:r>
            <a:r>
              <a:rPr lang="nb-NO" sz="4000" dirty="0" err="1">
                <a:solidFill>
                  <a:schemeClr val="bg1"/>
                </a:solidFill>
              </a:rPr>
              <a:t>overvelter</a:t>
            </a:r>
            <a:r>
              <a:rPr lang="nb-NO" sz="4000" dirty="0">
                <a:solidFill>
                  <a:schemeClr val="bg1"/>
                </a:solidFill>
              </a:rPr>
              <a:t> ikke monopolisten hele skatten?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A6BBE-85D8-7B42-86D1-F7660336E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43" y="1272619"/>
            <a:ext cx="11435645" cy="4904344"/>
          </a:xfrm>
        </p:spPr>
        <p:txBody>
          <a:bodyPr>
            <a:normAutofit fontScale="92500" lnSpcReduction="10000"/>
          </a:bodyPr>
          <a:lstStyle/>
          <a:p>
            <a:r>
              <a:rPr lang="nb-NO" sz="4000" dirty="0">
                <a:solidFill>
                  <a:schemeClr val="bg1"/>
                </a:solidFill>
              </a:rPr>
              <a:t>Ved lineære funksjoner taper monopolisten altfor mange kunder ved full overvelting.</a:t>
            </a:r>
          </a:p>
          <a:p>
            <a:endParaRPr lang="nb-NO" sz="4000" dirty="0">
              <a:solidFill>
                <a:schemeClr val="bg1"/>
              </a:solidFill>
            </a:endParaRPr>
          </a:p>
          <a:p>
            <a:r>
              <a:rPr lang="nb-NO" sz="4000" dirty="0">
                <a:solidFill>
                  <a:schemeClr val="bg1"/>
                </a:solidFill>
              </a:rPr>
              <a:t>Monopolisten tjener mer på å selv ta deler av skatten og beholde en større del av kundemassen.</a:t>
            </a:r>
          </a:p>
          <a:p>
            <a:endParaRPr lang="nb-NO" sz="4000" dirty="0">
              <a:solidFill>
                <a:schemeClr val="bg1"/>
              </a:solidFill>
            </a:endParaRPr>
          </a:p>
          <a:p>
            <a:r>
              <a:rPr lang="nb-NO" sz="4000" dirty="0">
                <a:solidFill>
                  <a:schemeClr val="bg1"/>
                </a:solidFill>
              </a:rPr>
              <a:t>Hvis funksjonen ikke er lineære viser forskningen at jo mindre prissensitiv markedet er, dess mer veltes over på konsumentene men vi får ikke fullstendig </a:t>
            </a:r>
            <a:r>
              <a:rPr lang="nb-NO" sz="4000" dirty="0" err="1">
                <a:solidFill>
                  <a:schemeClr val="bg1"/>
                </a:solidFill>
              </a:rPr>
              <a:t>overveltning</a:t>
            </a:r>
            <a:r>
              <a:rPr lang="nb-NO" sz="4000" dirty="0">
                <a:solidFill>
                  <a:schemeClr val="bg1"/>
                </a:solidFill>
              </a:rPr>
              <a:t>.</a:t>
            </a:r>
            <a:endParaRPr lang="nb-N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63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F2ABF0F-F4F5-4AAE-8608-8EB4958F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644" y="90311"/>
            <a:ext cx="11661422" cy="6434667"/>
          </a:xfrm>
        </p:spPr>
        <p:txBody>
          <a:bodyPr>
            <a:noAutofit/>
          </a:bodyPr>
          <a:lstStyle/>
          <a:p>
            <a:r>
              <a:rPr lang="nb-NO" sz="4000" dirty="0">
                <a:solidFill>
                  <a:schemeClr val="bg1"/>
                </a:solidFill>
              </a:rPr>
              <a:t>Frikonkurranse &lt; oligopol &lt; monopol</a:t>
            </a:r>
          </a:p>
          <a:p>
            <a:pPr marL="0" indent="0">
              <a:buNone/>
            </a:pPr>
            <a:endParaRPr lang="nb-NO" sz="4000" dirty="0">
              <a:solidFill>
                <a:schemeClr val="bg1"/>
              </a:solidFill>
            </a:endParaRPr>
          </a:p>
          <a:p>
            <a:r>
              <a:rPr lang="nb-NO" sz="4000" dirty="0">
                <a:solidFill>
                  <a:schemeClr val="bg1"/>
                </a:solidFill>
              </a:rPr>
              <a:t>Under oligopol avhenger skatteinsidensen av om </a:t>
            </a: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det er pris eller kvantumskonkurranse;  </a:t>
            </a: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hvor mange bedrifter som konkurrerer</a:t>
            </a: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Formen på tilbuds og etterspørselsfunksjonene </a:t>
            </a:r>
          </a:p>
          <a:p>
            <a:pPr lvl="1"/>
            <a:endParaRPr lang="nb-NO" sz="3600" dirty="0">
              <a:solidFill>
                <a:schemeClr val="bg1"/>
              </a:solidFill>
            </a:endParaRPr>
          </a:p>
          <a:p>
            <a:pPr lvl="1"/>
            <a:r>
              <a:rPr lang="nb-NO" sz="3600" dirty="0">
                <a:solidFill>
                  <a:schemeClr val="bg1"/>
                </a:solidFill>
              </a:rPr>
              <a:t>Vi kan ikke gi noe entydig svar, alt avhenger av forutsetningene. 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88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521"/>
    </mc:Choice>
    <mc:Fallback xmlns="">
      <p:transition spd="slow" advTm="845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AE264-8965-5910-E1F5-8AB9A7783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77" y="90312"/>
            <a:ext cx="11875911" cy="6604000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Plattformbedrifter (tosidige markeder) betjener to kundegrupper som er gjensidig avhengige). </a:t>
            </a:r>
          </a:p>
          <a:p>
            <a:pPr marL="0" indent="0">
              <a:buNone/>
            </a:pPr>
            <a:endParaRPr lang="nb-NO" sz="3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Eksempler: </a:t>
            </a: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Aviser</a:t>
            </a:r>
            <a:r>
              <a:rPr lang="nb-NO" sz="3600" dirty="0">
                <a:solidFill>
                  <a:schemeClr val="bg1"/>
                </a:solidFill>
              </a:rPr>
              <a:t>: Flere lesere øker betalingsviljen hos annonsører</a:t>
            </a:r>
          </a:p>
          <a:p>
            <a:pPr marL="0" indent="0">
              <a:buNone/>
            </a:pPr>
            <a:endParaRPr lang="nb-NO" sz="3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Sosiale medier (</a:t>
            </a:r>
            <a:r>
              <a:rPr lang="nb-NO" sz="3600" dirty="0" err="1">
                <a:solidFill>
                  <a:srgbClr val="FFFF00"/>
                </a:solidFill>
              </a:rPr>
              <a:t>X</a:t>
            </a:r>
            <a:r>
              <a:rPr lang="nb-NO" sz="3600" dirty="0">
                <a:solidFill>
                  <a:srgbClr val="FFFF00"/>
                </a:solidFill>
              </a:rPr>
              <a:t>, FB, </a:t>
            </a:r>
            <a:r>
              <a:rPr lang="nb-NO" sz="3600" dirty="0" err="1">
                <a:solidFill>
                  <a:srgbClr val="FFFF00"/>
                </a:solidFill>
              </a:rPr>
              <a:t>Insta</a:t>
            </a:r>
            <a:r>
              <a:rPr lang="nb-NO" sz="3600" dirty="0">
                <a:solidFill>
                  <a:srgbClr val="FFFF00"/>
                </a:solidFill>
              </a:rPr>
              <a:t>, </a:t>
            </a:r>
            <a:r>
              <a:rPr lang="nb-NO" sz="3600" dirty="0" err="1">
                <a:solidFill>
                  <a:srgbClr val="FFFF00"/>
                </a:solidFill>
              </a:rPr>
              <a:t>TikTok</a:t>
            </a:r>
            <a:r>
              <a:rPr lang="nb-NO" sz="3600" dirty="0">
                <a:solidFill>
                  <a:srgbClr val="FFFF00"/>
                </a:solidFill>
              </a:rPr>
              <a:t>): </a:t>
            </a:r>
            <a:r>
              <a:rPr lang="nb-NO" sz="3600" dirty="0">
                <a:solidFill>
                  <a:schemeClr val="bg1"/>
                </a:solidFill>
              </a:rPr>
              <a:t>Jo flere brukere, dess mer data samles inn og dess mer attraktivt å annonsere på plattformen.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Generelt er ikke </a:t>
            </a:r>
            <a:r>
              <a:rPr lang="nb-NO" sz="3600" dirty="0">
                <a:solidFill>
                  <a:srgbClr val="FFFF00"/>
                </a:solidFill>
              </a:rPr>
              <a:t>Pris = grensekostnad</a:t>
            </a:r>
            <a:r>
              <a:rPr lang="nb-NO" sz="3600" dirty="0">
                <a:solidFill>
                  <a:schemeClr val="bg1"/>
                </a:solidFill>
              </a:rPr>
              <a:t> tilpasningsbetingelsen</a:t>
            </a:r>
          </a:p>
        </p:txBody>
      </p:sp>
    </p:spTree>
    <p:extLst>
      <p:ext uri="{BB962C8B-B14F-4D97-AF65-F5344CB8AC3E}">
        <p14:creationId xmlns:p14="http://schemas.microsoft.com/office/powerpoint/2010/main" val="1941029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C759-EEAC-48BF-82E4-BD7398F40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11" y="169334"/>
            <a:ext cx="11717867" cy="65249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nb-NO" sz="3600" dirty="0">
                <a:solidFill>
                  <a:srgbClr val="FFFF00"/>
                </a:solidFill>
              </a:rPr>
              <a:t>Hva skjer om vi ilegger moms eller stykkskatt i et tosidig marked (plattform)?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En innsikt fra denne litteraturen er at en skatt på den ene kundegruppen for eksempel </a:t>
            </a:r>
            <a:r>
              <a:rPr lang="nb-NO" sz="3600" dirty="0" err="1">
                <a:solidFill>
                  <a:schemeClr val="bg1"/>
                </a:solidFill>
              </a:rPr>
              <a:t>mva</a:t>
            </a:r>
            <a:r>
              <a:rPr lang="nb-NO" sz="3600" dirty="0">
                <a:solidFill>
                  <a:schemeClr val="bg1"/>
                </a:solidFill>
              </a:rPr>
              <a:t> på aviser kan før til at plattformen senker avisprisen for å øke inntektene fra annonsørene! 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En skatt på data-innsamling på FB kan føre til at FB innfører månedsavgift for brukere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Generelt vil virkningen av en skatt avhenge av om den ilegges begge kundegruppene, hvilke </a:t>
            </a:r>
            <a:r>
              <a:rPr lang="nb-NO" sz="3600" dirty="0" err="1">
                <a:solidFill>
                  <a:schemeClr val="bg1"/>
                </a:solidFill>
              </a:rPr>
              <a:t>eksternaliteter</a:t>
            </a:r>
            <a:r>
              <a:rPr lang="nb-NO" sz="3600" dirty="0">
                <a:solidFill>
                  <a:schemeClr val="bg1"/>
                </a:solidFill>
              </a:rPr>
              <a:t> som er tilstede </a:t>
            </a:r>
            <a:r>
              <a:rPr lang="nb-NO" sz="3600" dirty="0" err="1">
                <a:solidFill>
                  <a:schemeClr val="bg1"/>
                </a:solidFill>
              </a:rPr>
              <a:t>etc</a:t>
            </a: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18238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14300"/>
            <a:ext cx="11868150" cy="6648450"/>
          </a:xfrm>
          <a:solidFill>
            <a:schemeClr val="accent5">
              <a:lumMod val="5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sz="3500" dirty="0">
                <a:solidFill>
                  <a:srgbClr val="FFFF00"/>
                </a:solidFill>
              </a:rPr>
              <a:t>Tidsinkonsistensproblemet: </a:t>
            </a:r>
            <a:r>
              <a:rPr lang="nb-NO" sz="3500" dirty="0">
                <a:solidFill>
                  <a:schemeClr val="bg1"/>
                </a:solidFill>
              </a:rPr>
              <a:t>Myndighetene fristes til å endre sin politikk over tid</a:t>
            </a:r>
          </a:p>
          <a:p>
            <a:pPr marL="0" indent="0">
              <a:buNone/>
            </a:pPr>
            <a:endParaRPr lang="nb-NO" sz="3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500" dirty="0">
                <a:solidFill>
                  <a:schemeClr val="bg1"/>
                </a:solidFill>
              </a:rPr>
              <a:t> </a:t>
            </a:r>
            <a:r>
              <a:rPr lang="nb-NO" sz="3500" dirty="0">
                <a:solidFill>
                  <a:srgbClr val="FFFF00"/>
                </a:solidFill>
              </a:rPr>
              <a:t>Eksempel: </a:t>
            </a:r>
            <a:r>
              <a:rPr lang="nb-NO" sz="3500" dirty="0">
                <a:solidFill>
                  <a:schemeClr val="bg1"/>
                </a:solidFill>
              </a:rPr>
              <a:t>Fritak for bompenger for el-biler reverseres når mange nok kjører elbil. Skaper et («hold-up» problem). Vil ikke kjøpe el-bil fordi lettelsene er midlertidige</a:t>
            </a:r>
          </a:p>
          <a:p>
            <a:endParaRPr lang="nb-NO" sz="3500" dirty="0">
              <a:solidFill>
                <a:schemeClr val="bg1"/>
              </a:solidFill>
            </a:endParaRPr>
          </a:p>
          <a:p>
            <a:r>
              <a:rPr lang="nb-NO" sz="3500" dirty="0">
                <a:solidFill>
                  <a:schemeClr val="bg1"/>
                </a:solidFill>
              </a:rPr>
              <a:t>Hvis staten kan </a:t>
            </a:r>
            <a:r>
              <a:rPr lang="nb-NO" sz="3500" i="1" u="sng" dirty="0">
                <a:solidFill>
                  <a:schemeClr val="bg1"/>
                </a:solidFill>
              </a:rPr>
              <a:t>binde seg troverdig </a:t>
            </a:r>
            <a:r>
              <a:rPr lang="nb-NO" sz="3500" dirty="0">
                <a:solidFill>
                  <a:schemeClr val="bg1"/>
                </a:solidFill>
              </a:rPr>
              <a:t>(</a:t>
            </a:r>
            <a:r>
              <a:rPr lang="nb-NO" sz="3500" dirty="0" err="1">
                <a:solidFill>
                  <a:schemeClr val="bg1"/>
                </a:solidFill>
              </a:rPr>
              <a:t>Jf</a:t>
            </a:r>
            <a:r>
              <a:rPr lang="nb-NO" sz="3500" dirty="0">
                <a:solidFill>
                  <a:schemeClr val="bg1"/>
                </a:solidFill>
              </a:rPr>
              <a:t> Ulysses og Sirene) til sin politikk kan man unngå tidsinkonsistensproblemet</a:t>
            </a:r>
          </a:p>
          <a:p>
            <a:endParaRPr lang="nb-NO" sz="3500" dirty="0">
              <a:solidFill>
                <a:schemeClr val="bg1"/>
              </a:solidFill>
            </a:endParaRPr>
          </a:p>
          <a:p>
            <a:r>
              <a:rPr lang="nb-NO" sz="3500" dirty="0">
                <a:solidFill>
                  <a:schemeClr val="bg1"/>
                </a:solidFill>
              </a:rPr>
              <a:t>Sentralbanken: Norges Bank har fått en uavhengig rolle slik at rentesettingen skal være troverdig (ikke settes av politikerne for å vinne valg) </a:t>
            </a:r>
          </a:p>
          <a:p>
            <a:endParaRPr lang="nb-NO" sz="3500" dirty="0"/>
          </a:p>
          <a:p>
            <a:endParaRPr lang="nb-N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5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366"/>
    </mc:Choice>
    <mc:Fallback xmlns="">
      <p:transition spd="slow" advTm="211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AD189-9978-E85B-A371-5FD186F16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323850"/>
            <a:ext cx="11563349" cy="5853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sz="3600" b="1" dirty="0">
                <a:solidFill>
                  <a:srgbClr val="FFFF00"/>
                </a:solidFill>
              </a:rPr>
              <a:t>Kan vi tjene på å forstå tidsinkonsistensproblemet?</a:t>
            </a:r>
          </a:p>
          <a:p>
            <a:pPr marL="0" indent="0">
              <a:buNone/>
            </a:pPr>
            <a:endParaRPr lang="nb-NO" sz="36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Kjøpe hytte i kommune som ikke har eiendomsskatt?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I kommuner med mange hytter eid av utenbys folk  er sjansen stor for at det innføres eiendomsskatt fordi hytteeierne ikke kan stemme ved lokalvalg. Burde vi vente med å kjøpe hytte til skatten innføres fordi da vil hytteprisene falle? </a:t>
            </a: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b-NO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600" dirty="0">
                <a:solidFill>
                  <a:schemeClr val="bg1"/>
                </a:solidFill>
              </a:rPr>
              <a:t>Hva koster det oss og vente og vil hytteprisene falle og hvor mye? </a:t>
            </a:r>
          </a:p>
          <a:p>
            <a:pPr lvl="1"/>
            <a:endParaRPr lang="nb-NO" dirty="0">
              <a:solidFill>
                <a:schemeClr val="bg1"/>
              </a:solidFill>
            </a:endParaRPr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35998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6|23.6|19.9|2.3|13.1|21.3|13.1|27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|62.3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2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16.4|46.7|6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9109439179B544F8D88A46EC3854F27" ma:contentTypeVersion="5" ma:contentTypeDescription="Opprett et nytt dokument." ma:contentTypeScope="" ma:versionID="4bb9f8282ca7a551f0ba10e91695f6c3">
  <xsd:schema xmlns:xsd="http://www.w3.org/2001/XMLSchema" xmlns:xs="http://www.w3.org/2001/XMLSchema" xmlns:p="http://schemas.microsoft.com/office/2006/metadata/properties" xmlns:ns3="8a8bec52-5105-40cc-af25-cf9a7795bbdd" xmlns:ns4="a13eb870-6bde-4369-b1d2-97daffbf40d2" targetNamespace="http://schemas.microsoft.com/office/2006/metadata/properties" ma:root="true" ma:fieldsID="0142e39be93c634f04cae096ed1f1d11" ns3:_="" ns4:_="">
    <xsd:import namespace="8a8bec52-5105-40cc-af25-cf9a7795bbdd"/>
    <xsd:import namespace="a13eb870-6bde-4369-b1d2-97daffbf40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bec52-5105-40cc-af25-cf9a7795b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b870-6bde-4369-b1d2-97daffbf40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F0A882-67C4-4AD3-8B45-64A11C4A8EC1}">
  <ds:schemaRefs>
    <ds:schemaRef ds:uri="http://purl.org/dc/terms/"/>
    <ds:schemaRef ds:uri="http://schemas.microsoft.com/office/2006/documentManagement/types"/>
    <ds:schemaRef ds:uri="a13eb870-6bde-4369-b1d2-97daffbf40d2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8a8bec52-5105-40cc-af25-cf9a7795bbd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E18916F-74A6-40E9-A109-F8E3E0B8AD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bec52-5105-40cc-af25-cf9a7795bbdd"/>
    <ds:schemaRef ds:uri="a13eb870-6bde-4369-b1d2-97daffbf4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454ACC-D069-43BC-AAB0-BB7871620D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27006</TotalTime>
  <Words>1520</Words>
  <Application>Microsoft Office PowerPoint</Application>
  <PresentationFormat>Widescreen</PresentationFormat>
  <Paragraphs>225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Cambria </vt:lpstr>
      <vt:lpstr>Cambria Math</vt:lpstr>
      <vt:lpstr>Office Theme</vt:lpstr>
      <vt:lpstr>Hvem betaler egentlig skatten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Skatteoverveltning: Nøkkelresultater</vt:lpstr>
      <vt:lpstr>PowerPoint Presentation</vt:lpstr>
      <vt:lpstr>PowerPoint Presentation</vt:lpstr>
      <vt:lpstr>PowerPoint Presentation</vt:lpstr>
      <vt:lpstr>PowerPoint Presentation</vt:lpstr>
      <vt:lpstr>Skatteinsidens under monopol</vt:lpstr>
      <vt:lpstr>PowerPoint Presentation</vt:lpstr>
      <vt:lpstr>PowerPoint Presentation</vt:lpstr>
      <vt:lpstr>Hvorfor overvelter ikke monopolisten hele skatten?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Norges Handelshoyskole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Hvem betaler egentlig skatten</dc:title>
  <dc:creator>Guttorm Schjelderup</dc:creator>
  <cp:lastModifiedBy>Guttorm Schjelderup</cp:lastModifiedBy>
  <cp:revision>86</cp:revision>
  <cp:lastPrinted>2018-09-06T07:22:56Z</cp:lastPrinted>
  <dcterms:created xsi:type="dcterms:W3CDTF">2016-07-26T09:55:57Z</dcterms:created>
  <dcterms:modified xsi:type="dcterms:W3CDTF">2026-06-05T08:18:58Z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0x01010039109439179B544F8D88A46EC3854F27</vt:lpwstr>
  </property>
</Properties>
</file>